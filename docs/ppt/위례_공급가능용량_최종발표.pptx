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· 위례열병합발전소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9601200" y="419100"/>
            <a:ext cx="190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2026. 09.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066800"/>
            <a:ext cx="5619750" cy="1056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산정,</a:t>
            </a:r>
            <a:endParaRPr lang="en-US" sz="3300" dirty="0"/>
          </a:p>
          <a:p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사람의 판단에서 </a:t>
            </a:r>
            <a:pPr algn="l" indent="0" marL="0">
              <a:lnSpc>
                <a:spcPts val="4158"/>
              </a:lnSpc>
              <a:buNone/>
            </a:pPr>
            <a:r>
              <a:rPr lang="en-US" sz="330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데이터로</a:t>
            </a:r>
            <a:endParaRPr lang="en-US" sz="3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667000"/>
            <a:ext cx="54102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하나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맞춰 온 신고를,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학습하는 모델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바꿨습니다.</a:t>
            </a:r>
            <a:endParaRPr lang="en-US" sz="15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733800"/>
            <a:ext cx="52578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조건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에서 채점한 결과입니다. 누적 36회차, 한 건씩 가려 맞혀봤습니다.</a:t>
            </a:r>
            <a:endParaRPr lang="en-US" sz="1125" dirty="0"/>
          </a:p>
        </p:txBody>
      </p:sp>
      <p:sp>
        <p:nvSpPr>
          <p:cNvPr id="8" name="Shape 6"/>
          <p:cNvSpPr/>
          <p:nvPr/>
        </p:nvSpPr>
        <p:spPr>
          <a:xfrm>
            <a:off x="6362700" y="1066800"/>
            <a:ext cx="5143500" cy="3009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15100" y="1200150"/>
            <a:ext cx="457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보정값 · 단위 MW  ·  외기온도 0 ~ 30℃</a:t>
            </a:r>
            <a:endParaRPr lang="en-US" sz="788" dirty="0"/>
          </a:p>
        </p:txBody>
      </p:sp>
      <p:sp>
        <p:nvSpPr>
          <p:cNvPr id="10" name="Shape 8"/>
          <p:cNvSpPr/>
          <p:nvPr/>
        </p:nvSpPr>
        <p:spPr>
          <a:xfrm>
            <a:off x="6896100" y="16668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896100" y="2657475"/>
            <a:ext cx="42862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3152775"/>
            <a:ext cx="42862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96100" y="1666875"/>
            <a:ext cx="0" cy="148590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15100" y="16287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5" name="Text 13"/>
          <p:cNvSpPr txBox="1"/>
          <p:nvPr/>
        </p:nvSpPr>
        <p:spPr>
          <a:xfrm>
            <a:off x="6515100" y="26193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6515100" y="3114675"/>
            <a:ext cx="3238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69723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7437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83248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0962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967740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44880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11029950" y="3152775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801350" y="3267075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6896100" y="2305050"/>
            <a:ext cx="42862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26" name="Text 24"/>
          <p:cNvSpPr txBox="1"/>
          <p:nvPr/>
        </p:nvSpPr>
        <p:spPr>
          <a:xfrm>
            <a:off x="6972300" y="2118360"/>
            <a:ext cx="2095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972300" y="1733550"/>
            <a:ext cx="1352550" cy="2857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4850" y="2019300"/>
            <a:ext cx="1352550" cy="20955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77400" y="2228850"/>
            <a:ext cx="1352550" cy="72390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34200" y="16954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1" name="Shape 29"/>
          <p:cNvSpPr/>
          <p:nvPr/>
        </p:nvSpPr>
        <p:spPr>
          <a:xfrm>
            <a:off x="8286750" y="198120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Shape 30"/>
          <p:cNvSpPr/>
          <p:nvPr/>
        </p:nvSpPr>
        <p:spPr>
          <a:xfrm>
            <a:off x="9639300" y="21907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3" name="Shape 31"/>
          <p:cNvSpPr/>
          <p:nvPr/>
        </p:nvSpPr>
        <p:spPr>
          <a:xfrm>
            <a:off x="10991850" y="2914650"/>
            <a:ext cx="76200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67550" y="184213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+7.5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10325100" y="3004185"/>
            <a:ext cx="6286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−2.4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972300" y="1790700"/>
            <a:ext cx="0" cy="4572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15150" y="17907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15150" y="22479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1029950" y="2362200"/>
            <a:ext cx="0" cy="53340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0972800" y="23622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0972800" y="289560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15100" y="3629025"/>
            <a:ext cx="2476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43" name="Text 41"/>
          <p:cNvSpPr txBox="1"/>
          <p:nvPr/>
        </p:nvSpPr>
        <p:spPr>
          <a:xfrm>
            <a:off x="683895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8896350" y="3629025"/>
            <a:ext cx="247650" cy="0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220200" y="3552825"/>
            <a:ext cx="190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온도별 곡선</a:t>
            </a:r>
            <a:endParaRPr lang="en-US" sz="900" dirty="0"/>
          </a:p>
        </p:txBody>
      </p:sp>
      <p:sp>
        <p:nvSpPr>
          <p:cNvPr id="46" name="Text 44"/>
          <p:cNvSpPr txBox="1"/>
          <p:nvPr/>
        </p:nvSpPr>
        <p:spPr>
          <a:xfrm>
            <a:off x="6515100" y="3781425"/>
            <a:ext cx="4572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4.7 MW 과소   ·   여름 30℃ 5.2 MW 과대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6362700" y="4305300"/>
            <a:ext cx="5143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점선 하나를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바꾼 것이 전부입니다.</a:t>
            </a:r>
            <a:endParaRPr lang="en-US" sz="1575" dirty="0"/>
          </a:p>
        </p:txBody>
      </p:sp>
      <p:sp>
        <p:nvSpPr>
          <p:cNvPr id="48" name="Shape 46"/>
          <p:cNvSpPr/>
          <p:nvPr/>
        </p:nvSpPr>
        <p:spPr>
          <a:xfrm>
            <a:off x="685800" y="48196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858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</a:t>
            </a:r>
            <a:endParaRPr lang="en-US" sz="788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66%↓</a:t>
            </a:r>
            <a:endParaRPr lang="en-US" sz="3600" dirty="0"/>
          </a:p>
        </p:txBody>
      </p:sp>
      <p:sp>
        <p:nvSpPr>
          <p:cNvPr id="51" name="Text 49"/>
          <p:cNvSpPr txBox="1"/>
          <p:nvPr/>
        </p:nvSpPr>
        <p:spPr>
          <a:xfrm>
            <a:off x="6858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 → 1.29 MW</a:t>
            </a:r>
            <a:endParaRPr lang="en-US" sz="1125" dirty="0"/>
          </a:p>
        </p:txBody>
      </p:sp>
      <p:sp>
        <p:nvSpPr>
          <p:cNvPr id="52" name="Text 50"/>
          <p:cNvSpPr txBox="1"/>
          <p:nvPr/>
        </p:nvSpPr>
        <p:spPr>
          <a:xfrm>
            <a:off x="291465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</a:t>
            </a:r>
            <a:endParaRPr lang="en-US" sz="788" dirty="0"/>
          </a:p>
        </p:txBody>
      </p:sp>
      <p:sp>
        <p:nvSpPr>
          <p:cNvPr id="53" name="Text 51"/>
          <p:cNvSpPr txBox="1"/>
          <p:nvPr/>
        </p:nvSpPr>
        <p:spPr>
          <a:xfrm>
            <a:off x="291465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79%↓</a:t>
            </a:r>
            <a:endParaRPr lang="en-US" sz="3600" dirty="0"/>
          </a:p>
        </p:txBody>
      </p:sp>
      <p:sp>
        <p:nvSpPr>
          <p:cNvPr id="54" name="Text 52"/>
          <p:cNvSpPr txBox="1"/>
          <p:nvPr/>
        </p:nvSpPr>
        <p:spPr>
          <a:xfrm>
            <a:off x="291465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→ 3 건</a:t>
            </a:r>
            <a:endParaRPr lang="en-US" sz="1125" dirty="0"/>
          </a:p>
        </p:txBody>
      </p:sp>
      <p:sp>
        <p:nvSpPr>
          <p:cNvPr id="55" name="Text 53"/>
          <p:cNvSpPr txBox="1"/>
          <p:nvPr/>
        </p:nvSpPr>
        <p:spPr>
          <a:xfrm>
            <a:off x="5143500" y="4914900"/>
            <a:ext cx="19812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</a:t>
            </a:r>
            <a:endParaRPr lang="en-US" sz="788" dirty="0"/>
          </a:p>
        </p:txBody>
      </p:sp>
      <p:sp>
        <p:nvSpPr>
          <p:cNvPr id="56" name="Text 54"/>
          <p:cNvSpPr txBox="1"/>
          <p:nvPr/>
        </p:nvSpPr>
        <p:spPr>
          <a:xfrm>
            <a:off x="5143500" y="5143500"/>
            <a:ext cx="19812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36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88%↓</a:t>
            </a:r>
            <a:endParaRPr lang="en-US" sz="3600" dirty="0"/>
          </a:p>
        </p:txBody>
      </p:sp>
      <p:sp>
        <p:nvSpPr>
          <p:cNvPr id="57" name="Text 55"/>
          <p:cNvSpPr txBox="1"/>
          <p:nvPr/>
        </p:nvSpPr>
        <p:spPr>
          <a:xfrm>
            <a:off x="5143500" y="5724525"/>
            <a:ext cx="1981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 → 7.6 MW</a:t>
            </a:r>
            <a:endParaRPr lang="en-US" sz="1125" dirty="0"/>
          </a:p>
        </p:txBody>
      </p:sp>
      <p:sp>
        <p:nvSpPr>
          <p:cNvPr id="58" name="Shape 56"/>
          <p:cNvSpPr/>
          <p:nvPr/>
        </p:nvSpPr>
        <p:spPr>
          <a:xfrm>
            <a:off x="26670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489585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124700" y="4914900"/>
            <a:ext cx="0" cy="10096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7372350" y="4914900"/>
            <a:ext cx="41338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무엇이 달라졌나</a:t>
            </a:r>
            <a:endParaRPr lang="en-US" sz="788" dirty="0"/>
          </a:p>
        </p:txBody>
      </p:sp>
      <p:sp>
        <p:nvSpPr>
          <p:cNvPr id="62" name="Text 60"/>
          <p:cNvSpPr txBox="1"/>
          <p:nvPr/>
        </p:nvSpPr>
        <p:spPr>
          <a:xfrm>
            <a:off x="7372350" y="5143500"/>
            <a:ext cx="413385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보정값 1개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사라졌습니다. 이제 온도별 실적이 값을 만들고, 회차가 쌓이면 스스로 다시 고릅니다.</a:t>
            </a:r>
            <a:endParaRPr lang="en-US" sz="1125" dirty="0"/>
          </a:p>
        </p:txBody>
      </p:sp>
      <p:sp>
        <p:nvSpPr>
          <p:cNvPr id="63" name="Shape 61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685800" y="6229350"/>
            <a:ext cx="5715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 정비기술팀  ·  주현M · 정상우M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7696200" y="6229350"/>
            <a:ext cx="381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발표 10분  ·  Tool 시연 4분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장 요약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914400"/>
            <a:ext cx="9906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판단 하나에 기대던 숫자를,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갱신합니다</a:t>
            </a:r>
            <a:endParaRPr lang="en-US" sz="2775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000250"/>
            <a:ext cx="100965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보정값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쓰던 방식을 온도별 실적을 학습하는 모델로 바꿨습니다. 같은 데이터로 채점했을 때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68580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예측 오차  ·  MW</a:t>
            </a:r>
            <a:endParaRPr lang="en-US" sz="788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3048000"/>
            <a:ext cx="98717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3150" dirty="0"/>
          </a:p>
        </p:txBody>
      </p:sp>
      <p:sp>
        <p:nvSpPr>
          <p:cNvPr id="9" name="Text 7"/>
          <p:cNvSpPr txBox="1"/>
          <p:nvPr/>
        </p:nvSpPr>
        <p:spPr>
          <a:xfrm>
            <a:off x="182537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3.83</a:t>
            </a:r>
            <a:endParaRPr lang="en-US" sz="1425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평균적으로 몇 MW 틀리는가</a:t>
            </a:r>
            <a:endParaRPr lang="en-US" sz="1125" dirty="0"/>
          </a:p>
        </p:txBody>
      </p:sp>
      <p:sp>
        <p:nvSpPr>
          <p:cNvPr id="11" name="Shape 9"/>
          <p:cNvSpPr/>
          <p:nvPr/>
        </p:nvSpPr>
        <p:spPr>
          <a:xfrm>
            <a:off x="68580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8954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3" name="Text 11"/>
          <p:cNvSpPr txBox="1"/>
          <p:nvPr/>
        </p:nvSpPr>
        <p:spPr>
          <a:xfrm>
            <a:off x="323850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80010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0100" y="4162425"/>
            <a:ext cx="1038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6" name="Shape 14"/>
          <p:cNvSpPr/>
          <p:nvPr/>
        </p:nvSpPr>
        <p:spPr>
          <a:xfrm>
            <a:off x="386715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448175" y="2686050"/>
            <a:ext cx="329565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448175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 미달 회차  ·  건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4448175" y="3048000"/>
            <a:ext cx="261080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150" dirty="0"/>
          </a:p>
        </p:txBody>
      </p:sp>
      <p:sp>
        <p:nvSpPr>
          <p:cNvPr id="20" name="Text 18"/>
          <p:cNvSpPr txBox="1"/>
          <p:nvPr/>
        </p:nvSpPr>
        <p:spPr>
          <a:xfrm>
            <a:off x="4861655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14</a:t>
            </a:r>
            <a:endParaRPr lang="en-US" sz="1425" dirty="0"/>
          </a:p>
        </p:txBody>
      </p:sp>
      <p:sp>
        <p:nvSpPr>
          <p:cNvPr id="21" name="Text 19"/>
          <p:cNvSpPr txBox="1"/>
          <p:nvPr/>
        </p:nvSpPr>
        <p:spPr>
          <a:xfrm>
            <a:off x="4448175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실제가 낮아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걸린 회차</a:t>
            </a:r>
            <a:endParaRPr lang="en-US" sz="1125" dirty="0"/>
          </a:p>
        </p:txBody>
      </p:sp>
      <p:sp>
        <p:nvSpPr>
          <p:cNvPr id="22" name="Shape 20"/>
          <p:cNvSpPr/>
          <p:nvPr/>
        </p:nvSpPr>
        <p:spPr>
          <a:xfrm>
            <a:off x="4448175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2768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700087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>
            <a:off x="4562475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62475" y="4162425"/>
            <a:ext cx="6572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7" name="Shape 25"/>
          <p:cNvSpPr/>
          <p:nvPr/>
        </p:nvSpPr>
        <p:spPr>
          <a:xfrm>
            <a:off x="7629525" y="4124325"/>
            <a:ext cx="0" cy="152400"/>
          </a:xfrm>
          <a:prstGeom prst="line">
            <a:avLst/>
          </a:prstGeom>
          <a:noFill/>
          <a:ln w="33020">
            <a:solidFill>
              <a:srgbClr val="FF4D6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210550" y="2686050"/>
            <a:ext cx="329565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210550" y="2819400"/>
            <a:ext cx="32956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과대 신고 누계  ·  MW</a:t>
            </a:r>
            <a:endParaRPr lang="en-US" sz="788" dirty="0"/>
          </a:p>
        </p:txBody>
      </p:sp>
      <p:sp>
        <p:nvSpPr>
          <p:cNvPr id="30" name="Text 28"/>
          <p:cNvSpPr txBox="1"/>
          <p:nvPr/>
        </p:nvSpPr>
        <p:spPr>
          <a:xfrm>
            <a:off x="8210550" y="3048000"/>
            <a:ext cx="745141" cy="4200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8"/>
              </a:lnSpc>
              <a:buNone/>
            </a:pPr>
            <a:r>
              <a:rPr lang="en-US" sz="31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3150" dirty="0"/>
          </a:p>
        </p:txBody>
      </p:sp>
      <p:sp>
        <p:nvSpPr>
          <p:cNvPr id="31" name="Text 29"/>
          <p:cNvSpPr txBox="1"/>
          <p:nvPr/>
        </p:nvSpPr>
        <p:spPr>
          <a:xfrm>
            <a:off x="9108091" y="3257550"/>
            <a:ext cx="1143000" cy="2171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10"/>
              </a:lnSpc>
              <a:buNone/>
            </a:pPr>
            <a:r>
              <a:rPr lang="en-US" sz="14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← 65.4</a:t>
            </a:r>
            <a:endParaRPr lang="en-US" sz="1425" dirty="0"/>
          </a:p>
        </p:txBody>
      </p:sp>
      <p:sp>
        <p:nvSpPr>
          <p:cNvPr id="32" name="Text 30"/>
          <p:cNvSpPr txBox="1"/>
          <p:nvPr/>
        </p:nvSpPr>
        <p:spPr>
          <a:xfrm>
            <a:off x="8210550" y="3571875"/>
            <a:ext cx="329565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실제보다 높게 신고한 양의 합계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210550" y="3924300"/>
            <a:ext cx="3295650" cy="457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734425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2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10763250" y="4010025"/>
            <a:ext cx="571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84"/>
              </a:lnSpc>
              <a:buNone/>
            </a:pPr>
            <a:r>
              <a:rPr lang="en-US" sz="788" spc="120" kern="0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324850" y="4200525"/>
            <a:ext cx="30670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324850" y="4162425"/>
            <a:ext cx="352425" cy="7620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8" name="Shape 36"/>
          <p:cNvSpPr/>
          <p:nvPr/>
        </p:nvSpPr>
        <p:spPr>
          <a:xfrm>
            <a:off x="11391900" y="4124325"/>
            <a:ext cx="0" cy="152400"/>
          </a:xfrm>
          <a:prstGeom prst="line">
            <a:avLst/>
          </a:prstGeom>
          <a:noFill/>
          <a:ln w="33020">
            <a:solidFill>
              <a:srgbClr val="8CA3B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85800" y="4629150"/>
            <a:ext cx="10820400" cy="12382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0" name="Shape 38"/>
          <p:cNvSpPr/>
          <p:nvPr/>
        </p:nvSpPr>
        <p:spPr>
          <a:xfrm>
            <a:off x="685800" y="4629150"/>
            <a:ext cx="54102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1" name="Shape 39"/>
          <p:cNvSpPr/>
          <p:nvPr/>
        </p:nvSpPr>
        <p:spPr>
          <a:xfrm>
            <a:off x="6096000" y="4629150"/>
            <a:ext cx="54102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2" name="Shape 40"/>
          <p:cNvSpPr/>
          <p:nvPr/>
        </p:nvSpPr>
        <p:spPr>
          <a:xfrm>
            <a:off x="6096000" y="4857750"/>
            <a:ext cx="0" cy="7810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867400" y="5067300"/>
            <a:ext cx="457200" cy="361950"/>
          </a:xfrm>
          <a:prstGeom prst="rect">
            <a:avLst/>
          </a:prstGeom>
          <a:solidFill>
            <a:srgbClr val="0A1320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867400" y="5105400"/>
            <a:ext cx="457200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75"/>
              </a:lnSpc>
              <a:buNone/>
            </a:pPr>
            <a:r>
              <a:rPr lang="en-US" sz="22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250" dirty="0"/>
          </a:p>
        </p:txBody>
      </p:sp>
      <p:sp>
        <p:nvSpPr>
          <p:cNvPr id="45" name="Text 43"/>
          <p:cNvSpPr txBox="1"/>
          <p:nvPr/>
        </p:nvSpPr>
        <p:spPr>
          <a:xfrm>
            <a:off x="9144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 ·  사람의 판단</a:t>
            </a:r>
            <a:endParaRPr lang="en-US" sz="788" dirty="0"/>
          </a:p>
        </p:txBody>
      </p:sp>
      <p:sp>
        <p:nvSpPr>
          <p:cNvPr id="46" name="Text 44"/>
          <p:cNvSpPr txBox="1"/>
          <p:nvPr/>
        </p:nvSpPr>
        <p:spPr>
          <a:xfrm>
            <a:off x="9144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사람이 정수로</a:t>
            </a:r>
            <a:endParaRPr lang="en-US" sz="1575" dirty="0"/>
          </a:p>
        </p:txBody>
      </p:sp>
      <p:sp>
        <p:nvSpPr>
          <p:cNvPr id="47" name="Text 45"/>
          <p:cNvSpPr txBox="1"/>
          <p:nvPr/>
        </p:nvSpPr>
        <p:spPr>
          <a:xfrm>
            <a:off x="6324600" y="4791075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  ·  데이터의 학습</a:t>
            </a:r>
            <a:endParaRPr lang="en-US" sz="788" dirty="0"/>
          </a:p>
        </p:txBody>
      </p:sp>
      <p:sp>
        <p:nvSpPr>
          <p:cNvPr id="48" name="Text 46"/>
          <p:cNvSpPr txBox="1"/>
          <p:nvPr/>
        </p:nvSpPr>
        <p:spPr>
          <a:xfrm>
            <a:off x="6324600" y="5010150"/>
            <a:ext cx="4762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갱신</a:t>
            </a:r>
            <a:endParaRPr lang="en-US" sz="1575" dirty="0"/>
          </a:p>
        </p:txBody>
      </p:sp>
      <p:sp>
        <p:nvSpPr>
          <p:cNvPr id="49" name="Shape 47"/>
          <p:cNvSpPr/>
          <p:nvPr/>
        </p:nvSpPr>
        <p:spPr>
          <a:xfrm>
            <a:off x="91440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100965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계산</a:t>
            </a:r>
            <a:endParaRPr lang="en-US" sz="975" dirty="0"/>
          </a:p>
        </p:txBody>
      </p:sp>
      <p:sp>
        <p:nvSpPr>
          <p:cNvPr id="51" name="Shape 49"/>
          <p:cNvSpPr/>
          <p:nvPr/>
        </p:nvSpPr>
        <p:spPr>
          <a:xfrm>
            <a:off x="2886075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298132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실적과 비교</a:t>
            </a:r>
            <a:endParaRPr lang="en-US" sz="975" dirty="0"/>
          </a:p>
        </p:txBody>
      </p:sp>
      <p:sp>
        <p:nvSpPr>
          <p:cNvPr id="53" name="Shape 51"/>
          <p:cNvSpPr/>
          <p:nvPr/>
        </p:nvSpPr>
        <p:spPr>
          <a:xfrm>
            <a:off x="4857750" y="542925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4953000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정수로 판단</a:t>
            </a:r>
            <a:endParaRPr lang="en-US" sz="975" dirty="0"/>
          </a:p>
        </p:txBody>
      </p:sp>
      <p:sp>
        <p:nvSpPr>
          <p:cNvPr id="55" name="Text 53"/>
          <p:cNvSpPr txBox="1"/>
          <p:nvPr/>
        </p:nvSpPr>
        <p:spPr>
          <a:xfrm>
            <a:off x="23050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6" name="Text 54"/>
          <p:cNvSpPr txBox="1"/>
          <p:nvPr/>
        </p:nvSpPr>
        <p:spPr>
          <a:xfrm>
            <a:off x="42767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57" name="Shape 55"/>
          <p:cNvSpPr/>
          <p:nvPr/>
        </p:nvSpPr>
        <p:spPr>
          <a:xfrm>
            <a:off x="6324600" y="5429250"/>
            <a:ext cx="90487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6419850" y="5495925"/>
            <a:ext cx="7143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59" name="Shape 57"/>
          <p:cNvSpPr/>
          <p:nvPr/>
        </p:nvSpPr>
        <p:spPr>
          <a:xfrm>
            <a:off x="8086725" y="5429250"/>
            <a:ext cx="1000125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8181975" y="549592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학습</a:t>
            </a:r>
            <a:endParaRPr lang="en-US" sz="975" dirty="0"/>
          </a:p>
        </p:txBody>
      </p:sp>
      <p:sp>
        <p:nvSpPr>
          <p:cNvPr id="61" name="Shape 59"/>
          <p:cNvSpPr/>
          <p:nvPr/>
        </p:nvSpPr>
        <p:spPr>
          <a:xfrm>
            <a:off x="9944100" y="542925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039350" y="549592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 방식 재선정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7562850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9420225" y="54959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65" name="Shape 63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정하던 값이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 실적이 스스로 만들어 내는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추진 배경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신고하는 숫자입니다,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양쪽으로 손실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주에 낼 수 있는 최대 출력을 매주 신고합니다. 그 숫자가 그대로 입찰이 되므로, 실제와 어긋나면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어긋난 방향에 따라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다른 손실이 생깁니다.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주간 신고 절차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예보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448050" y="3067050"/>
            <a:ext cx="19050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543300" y="3133725"/>
            <a:ext cx="1714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 계산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934200" y="3067050"/>
            <a:ext cx="123825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29450" y="3133725"/>
            <a:ext cx="1047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 적용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9753600" y="3067050"/>
            <a:ext cx="147637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848850" y="3133725"/>
            <a:ext cx="128587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신고 확정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6222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60483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67775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낮게 신고하면  ·  기회손실</a:t>
            </a:r>
            <a:endParaRPr lang="en-US" sz="788" dirty="0"/>
          </a:p>
        </p:txBody>
      </p:sp>
      <p:sp>
        <p:nvSpPr>
          <p:cNvPr id="28" name="Text 26"/>
          <p:cNvSpPr txBox="1"/>
          <p:nvPr/>
        </p:nvSpPr>
        <p:spPr>
          <a:xfrm>
            <a:off x="6858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 수 있었는데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못 팝니다</a:t>
            </a:r>
            <a:endParaRPr lang="en-US" sz="1575" dirty="0"/>
          </a:p>
        </p:txBody>
      </p:sp>
      <p:sp>
        <p:nvSpPr>
          <p:cNvPr id="29" name="Text 27"/>
          <p:cNvSpPr txBox="1"/>
          <p:nvPr/>
        </p:nvSpPr>
        <p:spPr>
          <a:xfrm>
            <a:off x="6858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낼 수 있는 출력보다 낮게 신고하면 그만큼 입찰에서 빠집니다.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0" name="Shape 28"/>
          <p:cNvSpPr/>
          <p:nvPr/>
        </p:nvSpPr>
        <p:spPr>
          <a:xfrm>
            <a:off x="6858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38200" y="548640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4.7</a:t>
            </a:r>
            <a:endParaRPr lang="en-US" sz="1950" dirty="0"/>
          </a:p>
        </p:txBody>
      </p:sp>
      <p:sp>
        <p:nvSpPr>
          <p:cNvPr id="32" name="Text 30"/>
          <p:cNvSpPr txBox="1"/>
          <p:nvPr/>
        </p:nvSpPr>
        <p:spPr>
          <a:xfrm>
            <a:off x="1363885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21145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겨울 0℃ 에서 낮게 잡힌 폭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+2.84 vs 실제 +7.50</a:t>
            </a:r>
            <a:endParaRPr lang="en-US" sz="863" dirty="0"/>
          </a:p>
        </p:txBody>
      </p:sp>
      <p:sp>
        <p:nvSpPr>
          <p:cNvPr id="34" name="Shape 32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높게 신고하면  ·  페널티</a:t>
            </a:r>
            <a:endParaRPr lang="en-US" sz="788" dirty="0"/>
          </a:p>
        </p:txBody>
      </p:sp>
      <p:sp>
        <p:nvSpPr>
          <p:cNvPr id="36" name="Text 34"/>
          <p:cNvSpPr txBox="1"/>
          <p:nvPr/>
        </p:nvSpPr>
        <p:spPr>
          <a:xfrm>
            <a:off x="6210300" y="4114800"/>
            <a:ext cx="5295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벌점이 걸립니다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6210300" y="47815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신고값에 실제가 못 미치면 미달입니다. 종전 방식은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여름에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이 방향으로 치우쳤습니다.</a:t>
            </a:r>
            <a:endParaRPr lang="en-US" sz="1125" dirty="0"/>
          </a:p>
        </p:txBody>
      </p:sp>
      <p:sp>
        <p:nvSpPr>
          <p:cNvPr id="38" name="Shape 36"/>
          <p:cNvSpPr/>
          <p:nvPr/>
        </p:nvSpPr>
        <p:spPr>
          <a:xfrm>
            <a:off x="6210300" y="5391150"/>
            <a:ext cx="5295900" cy="5143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362700" y="5486400"/>
            <a:ext cx="318707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950" dirty="0"/>
          </a:p>
        </p:txBody>
      </p:sp>
      <p:sp>
        <p:nvSpPr>
          <p:cNvPr id="40" name="Text 38"/>
          <p:cNvSpPr txBox="1"/>
          <p:nvPr/>
        </p:nvSpPr>
        <p:spPr>
          <a:xfrm>
            <a:off x="6738557" y="561022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</a:t>
            </a:r>
            <a:endParaRPr lang="en-US" sz="975" dirty="0"/>
          </a:p>
        </p:txBody>
      </p:sp>
      <p:sp>
        <p:nvSpPr>
          <p:cNvPr id="41" name="Text 39"/>
          <p:cNvSpPr txBox="1"/>
          <p:nvPr/>
        </p:nvSpPr>
        <p:spPr>
          <a:xfrm>
            <a:off x="7639050" y="5467350"/>
            <a:ext cx="371475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기준 미달 회차</a:t>
            </a:r>
            <a:endParaRPr lang="en-US" sz="863" dirty="0"/>
          </a:p>
          <a:p>
            <a:pPr algn="l" indent="0" marL="0">
              <a:lnSpc>
                <a:spcPts val="1294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누적 36회차 가운데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4" name="Text 4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쪽으로 틀려도 손실입니다 — 그래서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정확도가 곧 수익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현황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이론값과 실적의 차이를,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정수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메워 왔습니다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계산값과 실제 발전량의 차이를 담당자가 판단해 정수 하나로 정하고,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무관하게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 값을 그대로 적용해 왔습니다.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4000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4000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절차  ·  엑셀 3개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1242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1050" y="31908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이론 출력표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685800" y="363855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81050" y="370522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주간 실적과 대조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85800" y="4152900"/>
            <a:ext cx="23812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81050" y="4219575"/>
            <a:ext cx="21907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신고서 작성·제출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819150" y="34480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819150" y="39624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629150"/>
            <a:ext cx="40005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대조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단계에서 보정값이 정해집니다. 계산이 아니라 담당자의 판단이었고, 근거는 문서로 남지 않았습니다.</a:t>
            </a:r>
            <a:endParaRPr lang="en-US" sz="1125" dirty="0"/>
          </a:p>
        </p:txBody>
      </p:sp>
      <p:sp>
        <p:nvSpPr>
          <p:cNvPr id="24" name="Shape 22"/>
          <p:cNvSpPr/>
          <p:nvPr/>
        </p:nvSpPr>
        <p:spPr>
          <a:xfrm>
            <a:off x="4914900" y="2743200"/>
            <a:ext cx="65913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4914900" y="2876550"/>
            <a:ext cx="65913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담당자가 적용한 보정값  ·  2025 상반기 16회차  ·  단위 MW</a:t>
            </a:r>
            <a:endParaRPr lang="en-US" sz="788" dirty="0"/>
          </a:p>
        </p:txBody>
      </p:sp>
      <p:sp>
        <p:nvSpPr>
          <p:cNvPr id="26" name="Shape 24"/>
          <p:cNvSpPr/>
          <p:nvPr/>
        </p:nvSpPr>
        <p:spPr>
          <a:xfrm>
            <a:off x="4914900" y="3048000"/>
            <a:ext cx="6591300" cy="9906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06730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275" dirty="0"/>
          </a:p>
        </p:txBody>
      </p:sp>
      <p:sp>
        <p:nvSpPr>
          <p:cNvPr id="28" name="Text 26"/>
          <p:cNvSpPr txBox="1"/>
          <p:nvPr/>
        </p:nvSpPr>
        <p:spPr>
          <a:xfrm>
            <a:off x="506730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12.5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546020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0" name="Text 28"/>
          <p:cNvSpPr txBox="1"/>
          <p:nvPr/>
        </p:nvSpPr>
        <p:spPr>
          <a:xfrm>
            <a:off x="546020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585311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2" name="Text 30"/>
          <p:cNvSpPr txBox="1"/>
          <p:nvPr/>
        </p:nvSpPr>
        <p:spPr>
          <a:xfrm>
            <a:off x="585311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25.7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24601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4" name="Text 32"/>
          <p:cNvSpPr txBox="1"/>
          <p:nvPr/>
        </p:nvSpPr>
        <p:spPr>
          <a:xfrm>
            <a:off x="624601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16.0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663892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6" name="Text 34"/>
          <p:cNvSpPr txBox="1"/>
          <p:nvPr/>
        </p:nvSpPr>
        <p:spPr>
          <a:xfrm>
            <a:off x="663892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18.8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703183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38" name="Text 36"/>
          <p:cNvSpPr txBox="1"/>
          <p:nvPr/>
        </p:nvSpPr>
        <p:spPr>
          <a:xfrm>
            <a:off x="703183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13.7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7424737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40" name="Text 38"/>
          <p:cNvSpPr txBox="1"/>
          <p:nvPr/>
        </p:nvSpPr>
        <p:spPr>
          <a:xfrm>
            <a:off x="7424737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781764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2" name="Text 40"/>
          <p:cNvSpPr txBox="1"/>
          <p:nvPr/>
        </p:nvSpPr>
        <p:spPr>
          <a:xfrm>
            <a:off x="781764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21.4</a:t>
            </a:r>
            <a:endParaRPr lang="en-US" sz="750" dirty="0"/>
          </a:p>
        </p:txBody>
      </p:sp>
      <p:sp>
        <p:nvSpPr>
          <p:cNvPr id="43" name="Text 41"/>
          <p:cNvSpPr txBox="1"/>
          <p:nvPr/>
        </p:nvSpPr>
        <p:spPr>
          <a:xfrm>
            <a:off x="8210550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4" name="Text 42"/>
          <p:cNvSpPr txBox="1"/>
          <p:nvPr/>
        </p:nvSpPr>
        <p:spPr>
          <a:xfrm>
            <a:off x="8210550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20.0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8603456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275" dirty="0"/>
          </a:p>
        </p:txBody>
      </p:sp>
      <p:sp>
        <p:nvSpPr>
          <p:cNvPr id="46" name="Text 44"/>
          <p:cNvSpPr txBox="1"/>
          <p:nvPr/>
        </p:nvSpPr>
        <p:spPr>
          <a:xfrm>
            <a:off x="8603456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27.4</a:t>
            </a:r>
            <a:endParaRPr lang="en-US" sz="750" dirty="0"/>
          </a:p>
        </p:txBody>
      </p:sp>
      <p:sp>
        <p:nvSpPr>
          <p:cNvPr id="47" name="Text 45"/>
          <p:cNvSpPr txBox="1"/>
          <p:nvPr/>
        </p:nvSpPr>
        <p:spPr>
          <a:xfrm>
            <a:off x="8996363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48" name="Text 46"/>
          <p:cNvSpPr txBox="1"/>
          <p:nvPr/>
        </p:nvSpPr>
        <p:spPr>
          <a:xfrm>
            <a:off x="8996363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25.5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9389269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275" dirty="0"/>
          </a:p>
        </p:txBody>
      </p:sp>
      <p:sp>
        <p:nvSpPr>
          <p:cNvPr id="50" name="Text 48"/>
          <p:cNvSpPr txBox="1"/>
          <p:nvPr/>
        </p:nvSpPr>
        <p:spPr>
          <a:xfrm>
            <a:off x="9389269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28.9</a:t>
            </a:r>
            <a:endParaRPr lang="en-US" sz="750" dirty="0"/>
          </a:p>
        </p:txBody>
      </p:sp>
      <p:sp>
        <p:nvSpPr>
          <p:cNvPr id="51" name="Text 49"/>
          <p:cNvSpPr txBox="1"/>
          <p:nvPr/>
        </p:nvSpPr>
        <p:spPr>
          <a:xfrm>
            <a:off x="9782175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2" name="Text 50"/>
          <p:cNvSpPr txBox="1"/>
          <p:nvPr/>
        </p:nvSpPr>
        <p:spPr>
          <a:xfrm>
            <a:off x="9782175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29.9</a:t>
            </a:r>
            <a:endParaRPr lang="en-US" sz="750" dirty="0"/>
          </a:p>
        </p:txBody>
      </p:sp>
      <p:sp>
        <p:nvSpPr>
          <p:cNvPr id="53" name="Text 51"/>
          <p:cNvSpPr txBox="1"/>
          <p:nvPr/>
        </p:nvSpPr>
        <p:spPr>
          <a:xfrm>
            <a:off x="10175081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75" dirty="0"/>
          </a:p>
        </p:txBody>
      </p:sp>
      <p:sp>
        <p:nvSpPr>
          <p:cNvPr id="54" name="Text 52"/>
          <p:cNvSpPr txBox="1"/>
          <p:nvPr/>
        </p:nvSpPr>
        <p:spPr>
          <a:xfrm>
            <a:off x="10175081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27.6</a:t>
            </a:r>
            <a:endParaRPr lang="en-US" sz="750" dirty="0"/>
          </a:p>
        </p:txBody>
      </p:sp>
      <p:sp>
        <p:nvSpPr>
          <p:cNvPr id="55" name="Text 53"/>
          <p:cNvSpPr txBox="1"/>
          <p:nvPr/>
        </p:nvSpPr>
        <p:spPr>
          <a:xfrm>
            <a:off x="10567988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75" dirty="0"/>
          </a:p>
        </p:txBody>
      </p:sp>
      <p:sp>
        <p:nvSpPr>
          <p:cNvPr id="56" name="Text 54"/>
          <p:cNvSpPr txBox="1"/>
          <p:nvPr/>
        </p:nvSpPr>
        <p:spPr>
          <a:xfrm>
            <a:off x="10567988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31.9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10960894" y="3181350"/>
            <a:ext cx="392906" cy="2185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21"/>
              </a:lnSpc>
              <a:buNone/>
            </a:pPr>
            <a:r>
              <a:rPr lang="en-US" sz="1275" b="1" dirty="0">
                <a:solidFill>
                  <a:srgbClr val="EAE7E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endParaRPr lang="en-US" sz="1275" dirty="0"/>
          </a:p>
        </p:txBody>
      </p:sp>
      <p:sp>
        <p:nvSpPr>
          <p:cNvPr id="58" name="Text 56"/>
          <p:cNvSpPr txBox="1"/>
          <p:nvPr/>
        </p:nvSpPr>
        <p:spPr>
          <a:xfrm>
            <a:off x="10960894" y="3543300"/>
            <a:ext cx="392906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36.6</a:t>
            </a:r>
            <a:endParaRPr lang="en-US" sz="750" dirty="0"/>
          </a:p>
        </p:txBody>
      </p:sp>
      <p:sp>
        <p:nvSpPr>
          <p:cNvPr id="59" name="Shape 57"/>
          <p:cNvSpPr/>
          <p:nvPr/>
        </p:nvSpPr>
        <p:spPr>
          <a:xfrm>
            <a:off x="5067300" y="3467100"/>
            <a:ext cx="62865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5067300" y="37338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아래 줄은 그 회차의 외기온도 ℃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4914900" y="4171950"/>
            <a:ext cx="65913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7.3℃ 와 25.7℃ 에 똑같이 5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18℃ 차이인데 같은 값</a:t>
            </a:r>
            <a:endParaRPr lang="en-US" sz="1575" dirty="0"/>
          </a:p>
        </p:txBody>
      </p:sp>
      <p:sp>
        <p:nvSpPr>
          <p:cNvPr id="62" name="Shape 60"/>
          <p:cNvSpPr/>
          <p:nvPr/>
        </p:nvSpPr>
        <p:spPr>
          <a:xfrm>
            <a:off x="4914900" y="4610100"/>
            <a:ext cx="6591300" cy="7239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51054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5105400" y="4933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+3.69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5873115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2390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범위</a:t>
            </a:r>
            <a:endParaRPr lang="en-US" sz="788" dirty="0"/>
          </a:p>
        </p:txBody>
      </p:sp>
      <p:sp>
        <p:nvSpPr>
          <p:cNvPr id="67" name="Text 65"/>
          <p:cNvSpPr txBox="1"/>
          <p:nvPr/>
        </p:nvSpPr>
        <p:spPr>
          <a:xfrm>
            <a:off x="7239000" y="4933950"/>
            <a:ext cx="1100328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 ~ +6</a:t>
            </a:r>
            <a:endParaRPr lang="en-US" sz="1800" dirty="0"/>
          </a:p>
        </p:txBody>
      </p:sp>
      <p:sp>
        <p:nvSpPr>
          <p:cNvPr id="68" name="Text 66"/>
          <p:cNvSpPr txBox="1"/>
          <p:nvPr/>
        </p:nvSpPr>
        <p:spPr>
          <a:xfrm>
            <a:off x="8396478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9" name="Text 67"/>
          <p:cNvSpPr txBox="1"/>
          <p:nvPr/>
        </p:nvSpPr>
        <p:spPr>
          <a:xfrm>
            <a:off x="9372600" y="472440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적용 온도 폭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9372600" y="4933950"/>
            <a:ext cx="140208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7.3 ~ 36.6</a:t>
            </a:r>
            <a:endParaRPr lang="en-US" sz="1800" dirty="0"/>
          </a:p>
        </p:txBody>
      </p:sp>
      <p:sp>
        <p:nvSpPr>
          <p:cNvPr id="71" name="Text 69"/>
          <p:cNvSpPr txBox="1"/>
          <p:nvPr/>
        </p:nvSpPr>
        <p:spPr>
          <a:xfrm>
            <a:off x="10831830" y="5048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℃</a:t>
            </a:r>
            <a:endParaRPr lang="en-US" sz="975" dirty="0"/>
          </a:p>
        </p:txBody>
      </p:sp>
      <p:sp>
        <p:nvSpPr>
          <p:cNvPr id="72" name="Shape 70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4" name="Text 72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온도가 달라져도 값이 거의 그대로입니다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보지 않는 값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문제 정의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하나로는 맞출 수 없습니다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−4.9 에서 +12.9 까지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36회차의 실제 보정값을 온도 축에 찍었습니다. 값이 흩어진 것이 아닙니다.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방향으로 내려가는 기울기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7239000" cy="3200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8200" y="28384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회차별 실제 보정값  ·  누적 36회차  ·  가로 외기온도 ℃ / 세로 MW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162050" y="33623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62050" y="380047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62050" y="42386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162050" y="5114925"/>
            <a:ext cx="661035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162050" y="4676775"/>
            <a:ext cx="661035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62050" y="3143250"/>
            <a:ext cx="0" cy="219075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00100" y="32861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800100" y="37242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23" name="Text 21"/>
          <p:cNvSpPr txBox="1"/>
          <p:nvPr/>
        </p:nvSpPr>
        <p:spPr>
          <a:xfrm>
            <a:off x="800100" y="41624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800100" y="460057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25" name="Text 23"/>
          <p:cNvSpPr txBox="1"/>
          <p:nvPr/>
        </p:nvSpPr>
        <p:spPr>
          <a:xfrm>
            <a:off x="800100" y="5038725"/>
            <a:ext cx="3048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501045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272445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3196019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2967419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4890992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662392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585966" y="5334000"/>
            <a:ext cx="0" cy="47625"/>
          </a:xfrm>
          <a:prstGeom prst="line">
            <a:avLst/>
          </a:prstGeom>
          <a:noFill/>
          <a:ln w="12700">
            <a:solidFill>
              <a:srgbClr val="63798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357366" y="5410200"/>
            <a:ext cx="4572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1162050" y="4365689"/>
            <a:ext cx="6610350" cy="0"/>
          </a:xfrm>
          <a:prstGeom prst="line">
            <a:avLst/>
          </a:prstGeom>
          <a:noFill/>
          <a:ln w="33020">
            <a:solidFill>
              <a:srgbClr val="8CA3BC"/>
            </a:solidFill>
            <a:prstDash val="dash"/>
          </a:ln>
        </p:spPr>
      </p:sp>
      <p:sp>
        <p:nvSpPr>
          <p:cNvPr id="35" name="Text 33"/>
          <p:cNvSpPr txBox="1"/>
          <p:nvPr/>
        </p:nvSpPr>
        <p:spPr>
          <a:xfrm>
            <a:off x="5905500" y="4156139"/>
            <a:ext cx="18669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 +2.84</a:t>
            </a:r>
            <a:endParaRPr lang="en-US" sz="863" dirty="0"/>
          </a:p>
        </p:txBody>
      </p:sp>
      <p:sp>
        <p:nvSpPr>
          <p:cNvPr id="36" name="Shape 34"/>
          <p:cNvSpPr/>
          <p:nvPr/>
        </p:nvSpPr>
        <p:spPr>
          <a:xfrm>
            <a:off x="1131375" y="3210639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16123" y="3263217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38" name="Shape 36"/>
          <p:cNvSpPr/>
          <p:nvPr/>
        </p:nvSpPr>
        <p:spPr>
          <a:xfrm>
            <a:off x="1788800" y="368074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39" name="Shape 37"/>
          <p:cNvSpPr/>
          <p:nvPr/>
        </p:nvSpPr>
        <p:spPr>
          <a:xfrm>
            <a:off x="2127795" y="401702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0" name="Shape 38"/>
          <p:cNvSpPr/>
          <p:nvPr/>
        </p:nvSpPr>
        <p:spPr>
          <a:xfrm>
            <a:off x="2483739" y="404769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1" name="Shape 39"/>
          <p:cNvSpPr/>
          <p:nvPr/>
        </p:nvSpPr>
        <p:spPr>
          <a:xfrm>
            <a:off x="2653236" y="409698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2" name="Shape 40"/>
          <p:cNvSpPr/>
          <p:nvPr/>
        </p:nvSpPr>
        <p:spPr>
          <a:xfrm>
            <a:off x="2822734" y="414408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3" name="Shape 41"/>
          <p:cNvSpPr/>
          <p:nvPr/>
        </p:nvSpPr>
        <p:spPr>
          <a:xfrm>
            <a:off x="2975281" y="395897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076980" y="424157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365125" y="407946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19371" y="411341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70221" y="388448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721070" y="3932682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907517" y="3837384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924467" y="398416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1" name="Shape 49"/>
          <p:cNvSpPr/>
          <p:nvPr/>
        </p:nvSpPr>
        <p:spPr>
          <a:xfrm>
            <a:off x="4026165" y="403017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2" name="Shape 50"/>
          <p:cNvSpPr/>
          <p:nvPr/>
        </p:nvSpPr>
        <p:spPr>
          <a:xfrm>
            <a:off x="4280411" y="405426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3" name="Shape 51"/>
          <p:cNvSpPr/>
          <p:nvPr/>
        </p:nvSpPr>
        <p:spPr>
          <a:xfrm>
            <a:off x="4297361" y="401812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077049" y="435549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721139" y="4873609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755038" y="500176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71988" y="470601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822837" y="47191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10983" y="493495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317994" y="5161502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1" name="Shape 59"/>
          <p:cNvSpPr/>
          <p:nvPr/>
        </p:nvSpPr>
        <p:spPr>
          <a:xfrm>
            <a:off x="6585575" y="4817745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656989" y="5007054"/>
            <a:ext cx="95250" cy="95250"/>
          </a:xfrm>
          <a:prstGeom prst="ellipse">
            <a:avLst/>
          </a:prstGeom>
          <a:solidFill>
            <a:srgbClr val="FF4D63"/>
          </a:solidFill>
          <a:ln/>
        </p:spPr>
      </p:sp>
      <p:sp>
        <p:nvSpPr>
          <p:cNvPr id="63" name="Shape 61"/>
          <p:cNvSpPr/>
          <p:nvPr/>
        </p:nvSpPr>
        <p:spPr>
          <a:xfrm>
            <a:off x="6839822" y="4737783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958470" y="471039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5" name="Shape 63"/>
          <p:cNvSpPr/>
          <p:nvPr/>
        </p:nvSpPr>
        <p:spPr>
          <a:xfrm>
            <a:off x="7009319" y="492071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6" name="Shape 64"/>
          <p:cNvSpPr/>
          <p:nvPr/>
        </p:nvSpPr>
        <p:spPr>
          <a:xfrm>
            <a:off x="7026269" y="4490228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7" name="Shape 65"/>
          <p:cNvSpPr/>
          <p:nvPr/>
        </p:nvSpPr>
        <p:spPr>
          <a:xfrm>
            <a:off x="7026269" y="4411361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8" name="Shape 66"/>
          <p:cNvSpPr/>
          <p:nvPr/>
        </p:nvSpPr>
        <p:spPr>
          <a:xfrm>
            <a:off x="7161867" y="4568000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69" name="Shape 67"/>
          <p:cNvSpPr/>
          <p:nvPr/>
        </p:nvSpPr>
        <p:spPr>
          <a:xfrm>
            <a:off x="7195766" y="489770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0" name="Shape 68"/>
          <p:cNvSpPr/>
          <p:nvPr/>
        </p:nvSpPr>
        <p:spPr>
          <a:xfrm>
            <a:off x="7331364" y="4561427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1" name="Shape 69"/>
          <p:cNvSpPr/>
          <p:nvPr/>
        </p:nvSpPr>
        <p:spPr>
          <a:xfrm>
            <a:off x="7585610" y="4412456"/>
            <a:ext cx="68580" cy="68580"/>
          </a:xfrm>
          <a:prstGeom prst="ellipse">
            <a:avLst/>
          </a:prstGeom>
          <a:solidFill>
            <a:srgbClr val="BCC9D6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428750" y="3276600"/>
            <a:ext cx="238125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추울수록 크게 더해야 하고</a:t>
            </a:r>
            <a:endParaRPr lang="en-US" sz="938" dirty="0"/>
          </a:p>
        </p:txBody>
      </p:sp>
      <p:sp>
        <p:nvSpPr>
          <p:cNvPr id="73" name="Text 71"/>
          <p:cNvSpPr txBox="1"/>
          <p:nvPr/>
        </p:nvSpPr>
        <p:spPr>
          <a:xfrm>
            <a:off x="5676900" y="4876800"/>
            <a:ext cx="20955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더울수록 빼야 합니다</a:t>
            </a:r>
            <a:endParaRPr lang="en-US" sz="938" dirty="0"/>
          </a:p>
        </p:txBody>
      </p:sp>
      <p:sp>
        <p:nvSpPr>
          <p:cNvPr id="74" name="Shape 72"/>
          <p:cNvSpPr/>
          <p:nvPr/>
        </p:nvSpPr>
        <p:spPr>
          <a:xfrm>
            <a:off x="8115300" y="2705100"/>
            <a:ext cx="3390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8115300" y="28384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방식의 오차 상위 4회차  ·  MW</a:t>
            </a:r>
            <a:endParaRPr lang="en-US" sz="788" dirty="0"/>
          </a:p>
        </p:txBody>
      </p:sp>
      <p:sp>
        <p:nvSpPr>
          <p:cNvPr id="76" name="Shape 74"/>
          <p:cNvSpPr/>
          <p:nvPr/>
        </p:nvSpPr>
        <p:spPr>
          <a:xfrm>
            <a:off x="8115300" y="3009900"/>
            <a:ext cx="3390900" cy="1790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8267700" y="31718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26-01-13</a:t>
            </a:r>
            <a:endParaRPr lang="en-US" sz="863" dirty="0"/>
          </a:p>
        </p:txBody>
      </p:sp>
      <p:sp>
        <p:nvSpPr>
          <p:cNvPr id="78" name="Text 76"/>
          <p:cNvSpPr txBox="1"/>
          <p:nvPr/>
        </p:nvSpPr>
        <p:spPr>
          <a:xfrm>
            <a:off x="9067800" y="31718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79" name="Shape 77"/>
          <p:cNvSpPr/>
          <p:nvPr/>
        </p:nvSpPr>
        <p:spPr>
          <a:xfrm>
            <a:off x="9658350" y="3162300"/>
            <a:ext cx="990600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706100" y="31718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-10.40</a:t>
            </a:r>
            <a:endParaRPr lang="en-US" sz="938" dirty="0"/>
          </a:p>
        </p:txBody>
      </p:sp>
      <p:sp>
        <p:nvSpPr>
          <p:cNvPr id="81" name="Text 79"/>
          <p:cNvSpPr txBox="1"/>
          <p:nvPr/>
        </p:nvSpPr>
        <p:spPr>
          <a:xfrm>
            <a:off x="8267700" y="35337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26-01-08</a:t>
            </a:r>
            <a:endParaRPr lang="en-US" sz="863" dirty="0"/>
          </a:p>
        </p:txBody>
      </p:sp>
      <p:sp>
        <p:nvSpPr>
          <p:cNvPr id="82" name="Text 80"/>
          <p:cNvSpPr txBox="1"/>
          <p:nvPr/>
        </p:nvSpPr>
        <p:spPr>
          <a:xfrm>
            <a:off x="9067800" y="35337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</a:t>
            </a:r>
            <a:endParaRPr lang="en-US" sz="900" dirty="0"/>
          </a:p>
        </p:txBody>
      </p:sp>
      <p:sp>
        <p:nvSpPr>
          <p:cNvPr id="83" name="Shape 81"/>
          <p:cNvSpPr/>
          <p:nvPr/>
        </p:nvSpPr>
        <p:spPr>
          <a:xfrm>
            <a:off x="9658350" y="3524250"/>
            <a:ext cx="943928" cy="1524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706100" y="35337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-9.91</a:t>
            </a:r>
            <a:endParaRPr lang="en-US" sz="938" dirty="0"/>
          </a:p>
        </p:txBody>
      </p:sp>
      <p:sp>
        <p:nvSpPr>
          <p:cNvPr id="85" name="Text 83"/>
          <p:cNvSpPr txBox="1"/>
          <p:nvPr/>
        </p:nvSpPr>
        <p:spPr>
          <a:xfrm>
            <a:off x="8267700" y="389572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26-07-22</a:t>
            </a:r>
            <a:endParaRPr lang="en-US" sz="863" dirty="0"/>
          </a:p>
        </p:txBody>
      </p:sp>
      <p:sp>
        <p:nvSpPr>
          <p:cNvPr id="86" name="Text 84"/>
          <p:cNvSpPr txBox="1"/>
          <p:nvPr/>
        </p:nvSpPr>
        <p:spPr>
          <a:xfrm>
            <a:off x="9067800" y="389572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9658350" y="3886200"/>
            <a:ext cx="753427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10706100" y="38957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+7.91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8267700" y="4257675"/>
            <a:ext cx="74295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25-09-02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9067800" y="4257675"/>
            <a:ext cx="5334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</a:t>
            </a:r>
            <a:endParaRPr lang="en-US" sz="900" dirty="0"/>
          </a:p>
        </p:txBody>
      </p:sp>
      <p:sp>
        <p:nvSpPr>
          <p:cNvPr id="91" name="Shape 89"/>
          <p:cNvSpPr/>
          <p:nvPr/>
        </p:nvSpPr>
        <p:spPr>
          <a:xfrm>
            <a:off x="9658350" y="4248150"/>
            <a:ext cx="616268" cy="1524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10706100" y="425767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+6.47</a:t>
            </a:r>
            <a:endParaRPr lang="en-US" sz="938" dirty="0"/>
          </a:p>
        </p:txBody>
      </p:sp>
      <p:sp>
        <p:nvSpPr>
          <p:cNvPr id="93" name="Text 91"/>
          <p:cNvSpPr txBox="1"/>
          <p:nvPr/>
        </p:nvSpPr>
        <p:spPr>
          <a:xfrm>
            <a:off x="8267700" y="4533900"/>
            <a:ext cx="308610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= 팔 수 있었는데 못 팜   ·   높게 = 기준 미달</a:t>
            </a:r>
            <a:endParaRPr lang="en-US" sz="825" dirty="0"/>
          </a:p>
        </p:txBody>
      </p:sp>
      <p:sp>
        <p:nvSpPr>
          <p:cNvPr id="94" name="Text 92"/>
          <p:cNvSpPr txBox="1"/>
          <p:nvPr/>
        </p:nvSpPr>
        <p:spPr>
          <a:xfrm>
            <a:off x="8115300" y="49530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겨울과 여름이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반대로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틀립니다</a:t>
            </a:r>
            <a:endParaRPr lang="en-US" sz="1575" dirty="0"/>
          </a:p>
        </p:txBody>
      </p:sp>
      <p:sp>
        <p:nvSpPr>
          <p:cNvPr id="95" name="Text 93"/>
          <p:cNvSpPr txBox="1"/>
          <p:nvPr/>
        </p:nvSpPr>
        <p:spPr>
          <a:xfrm>
            <a:off x="8115300" y="5334000"/>
            <a:ext cx="3390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상수를 올리거나 내려서는 못 고칩니다.</a:t>
            </a:r>
            <a:endParaRPr lang="en-US" sz="1125" dirty="0"/>
          </a:p>
        </p:txBody>
      </p:sp>
      <p:sp>
        <p:nvSpPr>
          <p:cNvPr id="96" name="Shape 94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98" name="Text 96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고쳐야 할 것은 값의 크기가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온도를 따라가는 기울기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데이터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사람 손을 거치지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바로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가져옵니다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운전 서버와 표준 통신으로 직접 연결해 6가지 값을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받습니다. 옮겨 적는 단계가 없으니 오타도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742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취득 경로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914400" y="3067050"/>
            <a:ext cx="1047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9650" y="3133725"/>
            <a:ext cx="857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계측</a:t>
            </a:r>
            <a:endParaRPr lang="en-US" sz="975" dirty="0"/>
          </a:p>
        </p:txBody>
      </p:sp>
      <p:sp>
        <p:nvSpPr>
          <p:cNvPr id="17" name="Shape 15"/>
          <p:cNvSpPr/>
          <p:nvPr/>
        </p:nvSpPr>
        <p:spPr>
          <a:xfrm>
            <a:off x="3352800" y="3067050"/>
            <a:ext cx="1428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448050" y="3133725"/>
            <a:ext cx="1238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표준 통신 직결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6496050" y="3067050"/>
            <a:ext cx="180975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91300" y="3133725"/>
            <a:ext cx="16192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1시간 시간가중평균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10020300" y="3067050"/>
            <a:ext cx="12573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115550" y="3133725"/>
            <a:ext cx="10668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후 누적</a:t>
            </a:r>
            <a:endParaRPr lang="en-US" sz="975" dirty="0"/>
          </a:p>
        </p:txBody>
      </p:sp>
      <p:sp>
        <p:nvSpPr>
          <p:cNvPr id="23" name="Text 21"/>
          <p:cNvSpPr txBox="1"/>
          <p:nvPr/>
        </p:nvSpPr>
        <p:spPr>
          <a:xfrm>
            <a:off x="25336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592455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877300" y="313372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6858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858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받아 오는 값  ·  6가지</a:t>
            </a:r>
            <a:endParaRPr lang="en-US" sz="788" dirty="0"/>
          </a:p>
        </p:txBody>
      </p:sp>
      <p:sp>
        <p:nvSpPr>
          <p:cNvPr id="28" name="Shape 26"/>
          <p:cNvSpPr/>
          <p:nvPr/>
        </p:nvSpPr>
        <p:spPr>
          <a:xfrm>
            <a:off x="685800" y="4076700"/>
            <a:ext cx="5295900" cy="1600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38200" y="42100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2400300" y="42100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 고르는 기준</a:t>
            </a:r>
            <a:endParaRPr lang="en-US" sz="975" dirty="0"/>
          </a:p>
        </p:txBody>
      </p:sp>
      <p:sp>
        <p:nvSpPr>
          <p:cNvPr id="31" name="Shape 29"/>
          <p:cNvSpPr/>
          <p:nvPr/>
        </p:nvSpPr>
        <p:spPr>
          <a:xfrm>
            <a:off x="838200" y="44196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38200" y="44577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400300" y="44577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34" name="Shape 32"/>
          <p:cNvSpPr/>
          <p:nvPr/>
        </p:nvSpPr>
        <p:spPr>
          <a:xfrm>
            <a:off x="838200" y="46672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38200" y="47053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상대습도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400300" y="47053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계기 2대 교차 확인</a:t>
            </a:r>
            <a:endParaRPr lang="en-US" sz="975" dirty="0"/>
          </a:p>
        </p:txBody>
      </p:sp>
      <p:sp>
        <p:nvSpPr>
          <p:cNvPr id="37" name="Shape 35"/>
          <p:cNvSpPr/>
          <p:nvPr/>
        </p:nvSpPr>
        <p:spPr>
          <a:xfrm>
            <a:off x="838200" y="49149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38200" y="49530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400300" y="49530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 계산</a:t>
            </a:r>
            <a:endParaRPr lang="en-US" sz="975" dirty="0"/>
          </a:p>
        </p:txBody>
      </p:sp>
      <p:sp>
        <p:nvSpPr>
          <p:cNvPr id="40" name="Shape 38"/>
          <p:cNvSpPr/>
          <p:nvPr/>
        </p:nvSpPr>
        <p:spPr>
          <a:xfrm>
            <a:off x="838200" y="516255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8200" y="520065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발전량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400300" y="520065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대조</a:t>
            </a:r>
            <a:endParaRPr lang="en-US" sz="975" dirty="0"/>
          </a:p>
        </p:txBody>
      </p:sp>
      <p:sp>
        <p:nvSpPr>
          <p:cNvPr id="43" name="Shape 41"/>
          <p:cNvSpPr/>
          <p:nvPr/>
        </p:nvSpPr>
        <p:spPr>
          <a:xfrm>
            <a:off x="838200" y="5410200"/>
            <a:ext cx="49911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38200" y="5448300"/>
            <a:ext cx="142875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실시 여부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2400300" y="5448300"/>
            <a:ext cx="33909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미실시면 반영 차단</a:t>
            </a:r>
            <a:endParaRPr lang="en-US" sz="975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습도는 2대를 함께 봅니다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두 값이 벌어지면 반영을 보류합니다.</a:t>
            </a:r>
            <a:endParaRPr lang="en-US" sz="1125" dirty="0"/>
          </a:p>
        </p:txBody>
      </p:sp>
      <p:sp>
        <p:nvSpPr>
          <p:cNvPr id="47" name="Shape 45"/>
          <p:cNvSpPr/>
          <p:nvPr/>
        </p:nvSpPr>
        <p:spPr>
          <a:xfrm>
            <a:off x="6210300" y="377190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6210300" y="39052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 산정 탭  ·  최신 화면 삽입 자리</a:t>
            </a:r>
            <a:endParaRPr lang="en-US" sz="788" dirty="0"/>
          </a:p>
        </p:txBody>
      </p:sp>
      <p:sp>
        <p:nvSpPr>
          <p:cNvPr id="49" name="Shape 47"/>
          <p:cNvSpPr/>
          <p:nvPr/>
        </p:nvSpPr>
        <p:spPr>
          <a:xfrm>
            <a:off x="6210300" y="4076700"/>
            <a:ext cx="4991100" cy="1600200"/>
          </a:xfrm>
          <a:prstGeom prst="rect">
            <a:avLst/>
          </a:prstGeom>
          <a:solidFill>
            <a:srgbClr val="0A1320"/>
          </a:solidFill>
          <a:ln w="19050">
            <a:solidFill>
              <a:srgbClr val="22354A"/>
            </a:solidFill>
            <a:prstDash val="dash"/>
          </a:ln>
        </p:spPr>
      </p:sp>
      <p:sp>
        <p:nvSpPr>
          <p:cNvPr id="50" name="Text 48"/>
          <p:cNvSpPr txBox="1"/>
          <p:nvPr/>
        </p:nvSpPr>
        <p:spPr>
          <a:xfrm>
            <a:off x="6210300" y="4667250"/>
            <a:ext cx="4991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캡쳐를 여기에 넣습니다</a:t>
            </a:r>
            <a:endParaRPr lang="en-US" sz="1125" dirty="0"/>
          </a:p>
        </p:txBody>
      </p:sp>
      <p:sp>
        <p:nvSpPr>
          <p:cNvPr id="51" name="Text 49"/>
          <p:cNvSpPr txBox="1"/>
          <p:nvPr/>
        </p:nvSpPr>
        <p:spPr>
          <a:xfrm>
            <a:off x="6210300" y="4933950"/>
            <a:ext cx="4991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524 × 168 px  ·  가로 5.46 in</a:t>
            </a:r>
            <a:endParaRPr lang="en-US" sz="788" dirty="0"/>
          </a:p>
        </p:txBody>
      </p:sp>
      <p:sp>
        <p:nvSpPr>
          <p:cNvPr id="52" name="Text 50"/>
          <p:cNvSpPr txBox="1"/>
          <p:nvPr/>
        </p:nvSpPr>
        <p:spPr>
          <a:xfrm>
            <a:off x="6210300" y="575310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 결과 요약줄에 값·시각·검증 통과 여부가 함께 찍힙니다.</a:t>
            </a:r>
            <a:endParaRPr lang="en-US" sz="1125" dirty="0"/>
          </a:p>
        </p:txBody>
      </p:sp>
      <p:sp>
        <p:nvSpPr>
          <p:cNvPr id="53" name="Shape 5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출처가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그대로 남습니다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나중에 왜 그 값이었는지 되짚을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검증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그럴듯한 설명 4개를 의심했고,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3개는 틀렸습니다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온도에 따라 갈리는 이유를 설명할 후보를 세우고 데이터로 하나씩 검증했습니다.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살아남은 것은 하나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 상반기는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수준이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달랐다</a:t>
            </a:r>
            <a:endParaRPr lang="en-US" sz="1575" dirty="0"/>
          </a:p>
        </p:txBody>
      </p:sp>
      <p:sp>
        <p:nvSpPr>
          <p:cNvPr id="16" name="Shape 14"/>
          <p:cNvSpPr/>
          <p:nvPr/>
        </p:nvSpPr>
        <p:spPr>
          <a:xfrm>
            <a:off x="68580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해당 5건의 IGV 효과 평균이 +0.09 였습니다. 설비가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원인이었습니다.</a:t>
            </a:r>
            <a:endParaRPr lang="en-US" sz="1125" dirty="0"/>
          </a:p>
        </p:txBody>
      </p:sp>
      <p:sp>
        <p:nvSpPr>
          <p:cNvPr id="19" name="Shape 17"/>
          <p:cNvSpPr/>
          <p:nvPr/>
        </p:nvSpPr>
        <p:spPr>
          <a:xfrm>
            <a:off x="3438525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343852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2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343852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잔차로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보정값을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예측할 수 있다</a:t>
            </a:r>
            <a:endParaRPr lang="en-US" sz="1575" dirty="0"/>
          </a:p>
        </p:txBody>
      </p:sp>
      <p:sp>
        <p:nvSpPr>
          <p:cNvPr id="22" name="Shape 20"/>
          <p:cNvSpPr/>
          <p:nvPr/>
        </p:nvSpPr>
        <p:spPr>
          <a:xfrm>
            <a:off x="3438525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3852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343852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5건일 때 관련성 −0.85 로 강했지만,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36건에서 +0.09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로 사라졌습니다. 표본 5개의 과대해석이었습니다.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191250" y="2743200"/>
            <a:ext cx="2562225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191250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3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191250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 표와의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 차이는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 항 때문이다</a:t>
            </a:r>
            <a:endParaRPr lang="en-US" sz="1575" dirty="0"/>
          </a:p>
        </p:txBody>
      </p:sp>
      <p:sp>
        <p:nvSpPr>
          <p:cNvPr id="28" name="Shape 26"/>
          <p:cNvSpPr/>
          <p:nvPr/>
        </p:nvSpPr>
        <p:spPr>
          <a:xfrm>
            <a:off x="6191250" y="4038600"/>
            <a:ext cx="704850" cy="285750"/>
          </a:xfrm>
          <a:prstGeom prst="rect">
            <a:avLst/>
          </a:prstGeom>
          <a:ln w="17780">
            <a:solidFill>
              <a:srgbClr val="7E233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191250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기각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191250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58건을 대조하니 차이가 온도에 비례했습니다. 진공이 아니라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 자체의 차이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1125" dirty="0"/>
          </a:p>
        </p:txBody>
      </p:sp>
      <p:sp>
        <p:nvSpPr>
          <p:cNvPr id="31" name="Shape 29"/>
          <p:cNvSpPr/>
          <p:nvPr/>
        </p:nvSpPr>
        <p:spPr>
          <a:xfrm>
            <a:off x="8943975" y="2743200"/>
            <a:ext cx="2562225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943975" y="2876550"/>
            <a:ext cx="2562225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가설 4</a:t>
            </a:r>
            <a:endParaRPr lang="en-US" sz="788" dirty="0"/>
          </a:p>
        </p:txBody>
      </p:sp>
      <p:sp>
        <p:nvSpPr>
          <p:cNvPr id="33" name="Text 31"/>
          <p:cNvSpPr txBox="1"/>
          <p:nvPr/>
        </p:nvSpPr>
        <p:spPr>
          <a:xfrm>
            <a:off x="8943975" y="3086100"/>
            <a:ext cx="2562225" cy="8521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진공도는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외기온도의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함수다</a:t>
            </a:r>
            <a:endParaRPr lang="en-US" sz="1575" dirty="0"/>
          </a:p>
        </p:txBody>
      </p:sp>
      <p:sp>
        <p:nvSpPr>
          <p:cNvPr id="34" name="Shape 32"/>
          <p:cNvSpPr/>
          <p:nvPr/>
        </p:nvSpPr>
        <p:spPr>
          <a:xfrm>
            <a:off x="8943975" y="4038600"/>
            <a:ext cx="704850" cy="285750"/>
          </a:xfrm>
          <a:prstGeom prst="rect">
            <a:avLst/>
          </a:prstGeom>
          <a:ln w="17780">
            <a:solidFill>
              <a:srgbClr val="6B522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943975" y="4105275"/>
            <a:ext cx="70485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260"/>
              </a:lnSpc>
              <a:buNone/>
            </a:pPr>
            <a:r>
              <a:rPr lang="en-US" sz="10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채택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943975" y="4495800"/>
            <a:ext cx="256222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진공도 = 33.64 + 1.242 × 온도, 관련성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+0.947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온도 하나로 설명됩니다.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685800" y="5505450"/>
            <a:ext cx="10820400" cy="4000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14400" y="5619750"/>
            <a:ext cx="103632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5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 5개로 보였던 관련성 −0.85 는 36개에서 +0.09 로 사라졌습니다  ·  적은 데이터로 결론을 내리지 않는 것이 이 과제의 규칙입니다</a:t>
            </a:r>
            <a:endParaRPr lang="en-US" sz="975" dirty="0"/>
          </a:p>
        </p:txBody>
      </p:sp>
      <p:sp>
        <p:nvSpPr>
          <p:cNvPr id="39" name="Shape 3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1" name="Text 3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남은 설명은 하나였습니다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그래서 온도로 나눠 학습합니다.</a:t>
            </a:r>
            <a:endParaRPr lang="en-US" sz="1238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해결 구조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물리 이론은 손대지 않고,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온도별로 학습합니다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계산은 검증된 그대로 동결합니다. 학습하는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뿐이고, 그 차이를 온도별로 나눠 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7048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7048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2단 구조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3067050"/>
            <a:ext cx="7048500" cy="1905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38200" y="32004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1층  ·  동결 — 손대지 않는다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838200" y="34099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온도·대기압·습도·진공도로 계산하는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5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7719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성능 곡선과 사내 검증을 거친 계산식입니다. 데이터가 쌓여도 바뀌지 않습니다.</a:t>
            </a:r>
            <a:endParaRPr lang="en-US" sz="1125" dirty="0"/>
          </a:p>
        </p:txBody>
      </p:sp>
      <p:sp>
        <p:nvSpPr>
          <p:cNvPr id="20" name="Text 18"/>
          <p:cNvSpPr txBox="1"/>
          <p:nvPr/>
        </p:nvSpPr>
        <p:spPr>
          <a:xfrm>
            <a:off x="838200" y="42481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↓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1181100" y="4286250"/>
            <a:ext cx="28575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이론과 실제의 차이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685800" y="4552950"/>
            <a:ext cx="7048500" cy="1123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5800" y="4552950"/>
            <a:ext cx="7048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38200" y="46863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2층  ·  학습 — 데이터가 갱신한다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895850"/>
            <a:ext cx="66675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온도별로 나눠 학습하는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838200" y="5257800"/>
            <a:ext cx="66675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 다시 학습해 값을 갱신합니다. 사람이 정하는 상수는 여기에 없습니다.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8115300" y="2743200"/>
            <a:ext cx="3390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8115300" y="2876550"/>
            <a:ext cx="3390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최종 신고값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8115300" y="3067050"/>
            <a:ext cx="3390900" cy="914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67700" y="32385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출력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8267700" y="348615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 온도별 보정값</a:t>
            </a:r>
            <a:endParaRPr lang="en-US" sz="1125" dirty="0"/>
          </a:p>
        </p:txBody>
      </p:sp>
      <p:sp>
        <p:nvSpPr>
          <p:cNvPr id="32" name="Shape 30"/>
          <p:cNvSpPr/>
          <p:nvPr/>
        </p:nvSpPr>
        <p:spPr>
          <a:xfrm>
            <a:off x="8267700" y="3733800"/>
            <a:ext cx="30861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267700" y="3771900"/>
            <a:ext cx="30861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75"/>
              </a:lnSpc>
              <a:buNone/>
            </a:pPr>
            <a:r>
              <a:rPr lang="en-US" sz="1125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=  주간 신고값</a:t>
            </a:r>
            <a:endParaRPr lang="en-US" sz="1125" dirty="0"/>
          </a:p>
        </p:txBody>
      </p:sp>
      <p:sp>
        <p:nvSpPr>
          <p:cNvPr id="34" name="Text 32"/>
          <p:cNvSpPr txBox="1"/>
          <p:nvPr/>
        </p:nvSpPr>
        <p:spPr>
          <a:xfrm>
            <a:off x="8115300" y="4152900"/>
            <a:ext cx="3390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굳이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둘로 나눴나</a:t>
            </a:r>
            <a:endParaRPr lang="en-US" sz="1575" dirty="0"/>
          </a:p>
        </p:txBody>
      </p:sp>
      <p:sp>
        <p:nvSpPr>
          <p:cNvPr id="35" name="Text 33"/>
          <p:cNvSpPr txBox="1"/>
          <p:nvPr/>
        </p:nvSpPr>
        <p:spPr>
          <a:xfrm>
            <a:off x="8115300" y="45529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검증된 이론을 흔들지 않는다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8248650" y="47529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이론이 틀렸다는 말을 하지 않아도 된다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115300" y="50101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틀린 원인을 찾을 수 있다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8248650" y="52101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문제인지 보정 문제인지 갈린다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8115300" y="5467350"/>
            <a:ext cx="3390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다른 사업소에 옮길 수 있다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8248650" y="5667375"/>
            <a:ext cx="3257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 2층은 그대로다</a:t>
            </a:r>
            <a:endParaRPr lang="en-US" sz="938" dirty="0"/>
          </a:p>
        </p:txBody>
      </p:sp>
      <p:sp>
        <p:nvSpPr>
          <p:cNvPr id="41" name="Shape 39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3" name="Text 41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이론은 그대로 두고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 배웁니다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그래서 다른 사업소로 옮길 수 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36건뿐이라는 제약을,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설계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넘었습니다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구간마다 건수가 고르지 않습니다. 가장 빈약한 구간은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1건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적은 데이터로 과신하지 않도록 검증 방식을 먼저 정했습니다.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회차 수  ·  누적 36회차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23812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575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17" name="Shape 15"/>
          <p:cNvSpPr/>
          <p:nvPr/>
        </p:nvSpPr>
        <p:spPr>
          <a:xfrm>
            <a:off x="1828800" y="3238500"/>
            <a:ext cx="20669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971925" y="32670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75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004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20" name="Shape 18"/>
          <p:cNvSpPr/>
          <p:nvPr/>
        </p:nvSpPr>
        <p:spPr>
          <a:xfrm>
            <a:off x="1828800" y="3581400"/>
            <a:ext cx="1771650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676650" y="36099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22" name="Text 20"/>
          <p:cNvSpPr txBox="1"/>
          <p:nvPr/>
        </p:nvSpPr>
        <p:spPr>
          <a:xfrm>
            <a:off x="838200" y="39433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1828800" y="3924300"/>
            <a:ext cx="8858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790825" y="39528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838200" y="42862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1828800" y="4267200"/>
            <a:ext cx="295275" cy="19050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2200275" y="42957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838200" y="46291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29" name="Shape 27"/>
          <p:cNvSpPr/>
          <p:nvPr/>
        </p:nvSpPr>
        <p:spPr>
          <a:xfrm>
            <a:off x="1828800" y="4610100"/>
            <a:ext cx="1771650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3676650" y="46386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838200" y="4972050"/>
            <a:ext cx="8763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32" name="Shape 30"/>
          <p:cNvSpPr/>
          <p:nvPr/>
        </p:nvSpPr>
        <p:spPr>
          <a:xfrm>
            <a:off x="1828800" y="4953000"/>
            <a:ext cx="3248025" cy="190500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153025" y="4981575"/>
            <a:ext cx="571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75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562600"/>
            <a:ext cx="5676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20~25℃ 구간은 1건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 이 구간을 다른 구간과 같은 무게로 믿으면 안 됩니다.</a:t>
            </a:r>
            <a:endParaRPr lang="en-US" sz="1125" dirty="0"/>
          </a:p>
        </p:txBody>
      </p:sp>
      <p:sp>
        <p:nvSpPr>
          <p:cNvPr id="35" name="Shape 33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그래서 이렇게 검증했습니다</a:t>
            </a:r>
            <a:endParaRPr lang="en-US" sz="788" dirty="0"/>
          </a:p>
        </p:txBody>
      </p:sp>
      <p:sp>
        <p:nvSpPr>
          <p:cNvPr id="37" name="Shape 35"/>
          <p:cNvSpPr/>
          <p:nvPr/>
        </p:nvSpPr>
        <p:spPr>
          <a:xfrm>
            <a:off x="6591300" y="30670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743700" y="32004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7124700" y="32004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맞혀보기</a:t>
            </a:r>
            <a:endParaRPr lang="en-US" sz="1575" dirty="0"/>
          </a:p>
        </p:txBody>
      </p:sp>
      <p:sp>
        <p:nvSpPr>
          <p:cNvPr id="40" name="Text 38"/>
          <p:cNvSpPr txBox="1"/>
          <p:nvPr/>
        </p:nvSpPr>
        <p:spPr>
          <a:xfrm>
            <a:off x="7124700" y="35052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 하나를 가리고 나머지 35건으로 맞혀봅니다. 36번 반복하니 모의고사와 같습니다.</a:t>
            </a:r>
            <a:endParaRPr lang="en-US" sz="1125" dirty="0"/>
          </a:p>
        </p:txBody>
      </p:sp>
      <p:sp>
        <p:nvSpPr>
          <p:cNvPr id="41" name="Shape 39"/>
          <p:cNvSpPr/>
          <p:nvPr/>
        </p:nvSpPr>
        <p:spPr>
          <a:xfrm>
            <a:off x="6591300" y="403860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743700" y="417195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950" dirty="0"/>
          </a:p>
        </p:txBody>
      </p:sp>
      <p:sp>
        <p:nvSpPr>
          <p:cNvPr id="43" name="Text 41"/>
          <p:cNvSpPr txBox="1"/>
          <p:nvPr/>
        </p:nvSpPr>
        <p:spPr>
          <a:xfrm>
            <a:off x="7124700" y="417195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방식을 여럿 비교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7124700" y="447675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방식만 써서 잘 나왔다고 하지 않습니다. 7가지를 같은 자리에서 채점합니다.</a:t>
            </a:r>
            <a:endParaRPr lang="en-US" sz="1125" dirty="0"/>
          </a:p>
        </p:txBody>
      </p:sp>
      <p:sp>
        <p:nvSpPr>
          <p:cNvPr id="45" name="Shape 43"/>
          <p:cNvSpPr/>
          <p:nvPr/>
        </p:nvSpPr>
        <p:spPr>
          <a:xfrm>
            <a:off x="6591300" y="5010150"/>
            <a:ext cx="4914900" cy="8382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743700" y="5143500"/>
            <a:ext cx="3810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950" dirty="0"/>
          </a:p>
        </p:txBody>
      </p:sp>
      <p:sp>
        <p:nvSpPr>
          <p:cNvPr id="47" name="Text 45"/>
          <p:cNvSpPr txBox="1"/>
          <p:nvPr/>
        </p:nvSpPr>
        <p:spPr>
          <a:xfrm>
            <a:off x="7124700" y="5143500"/>
            <a:ext cx="42291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온도대별로 골고루 나눠 뽑기</a:t>
            </a:r>
            <a:endParaRPr lang="en-US" sz="1575" dirty="0"/>
          </a:p>
        </p:txBody>
      </p:sp>
      <p:sp>
        <p:nvSpPr>
          <p:cNvPr id="48" name="Text 46"/>
          <p:cNvSpPr txBox="1"/>
          <p:nvPr/>
        </p:nvSpPr>
        <p:spPr>
          <a:xfrm>
            <a:off x="7124700" y="5448300"/>
            <a:ext cx="42291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한쪽 온도대가 통째로 빠지면 채점이 왜곡됩니다. 구간마다 섞어 나눕니다.</a:t>
            </a:r>
            <a:endParaRPr lang="en-US" sz="1125" dirty="0"/>
          </a:p>
        </p:txBody>
      </p:sp>
      <p:sp>
        <p:nvSpPr>
          <p:cNvPr id="49" name="Shape 4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51" name="Text 4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적을 때 필요한 것은 더 좋은 수식이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엄한 채점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모델 개발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잇는 방식 7가지를 똑같은 조건에서 겨뤄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잘 맞히는 하나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골랐습니다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정답을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건씩 가리고 나머지로 맞혀보는 방식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으로 36번 채점했습니다.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가 평균 오차·큰 오차·설명력 세 지표 모두 1위였습니다.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05100"/>
            <a:ext cx="62865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384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  ·  단위 MW  ·  낮을수록 좋음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286500" cy="10096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004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· 하나의 값</a:t>
            </a:r>
            <a:endParaRPr lang="en-US" sz="863" dirty="0"/>
          </a:p>
        </p:txBody>
      </p:sp>
      <p:sp>
        <p:nvSpPr>
          <p:cNvPr id="17" name="Shape 15"/>
          <p:cNvSpPr/>
          <p:nvPr/>
        </p:nvSpPr>
        <p:spPr>
          <a:xfrm>
            <a:off x="838200" y="3371850"/>
            <a:ext cx="5337663" cy="142875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86500" y="3333750"/>
            <a:ext cx="666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b="1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38200" y="36195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 · GP · RBF</a:t>
            </a:r>
            <a:endParaRPr lang="en-US" sz="863" dirty="0"/>
          </a:p>
        </p:txBody>
      </p:sp>
      <p:sp>
        <p:nvSpPr>
          <p:cNvPr id="20" name="Shape 18"/>
          <p:cNvSpPr/>
          <p:nvPr/>
        </p:nvSpPr>
        <p:spPr>
          <a:xfrm>
            <a:off x="838200" y="3790950"/>
            <a:ext cx="1827032" cy="14287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2781300" y="3743325"/>
            <a:ext cx="857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</a:t>
            </a:r>
            <a:endParaRPr lang="en-US" sz="1875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4210050"/>
            <a:ext cx="6286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후보 7가지 정밀 비교  ·  1.30 ~ 1.50 구간만 확대</a:t>
            </a:r>
            <a:endParaRPr lang="en-US" sz="788" dirty="0"/>
          </a:p>
        </p:txBody>
      </p:sp>
      <p:sp>
        <p:nvSpPr>
          <p:cNvPr id="23" name="Shape 21"/>
          <p:cNvSpPr/>
          <p:nvPr/>
        </p:nvSpPr>
        <p:spPr>
          <a:xfrm>
            <a:off x="24765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433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6101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676900" y="4400550"/>
            <a:ext cx="0" cy="133350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85800" y="4429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2476500" y="4438650"/>
            <a:ext cx="256032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2808732" y="4429125"/>
            <a:ext cx="571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1.312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685800" y="4619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Rational Quadratic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2476500" y="4629150"/>
            <a:ext cx="59740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3150108" y="4619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1.328</a:t>
            </a:r>
            <a:endParaRPr lang="en-US" sz="938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4810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5/2</a:t>
            </a:r>
            <a:endParaRPr lang="en-US" sz="938" dirty="0"/>
          </a:p>
        </p:txBody>
      </p:sp>
      <p:sp>
        <p:nvSpPr>
          <p:cNvPr id="34" name="Shape 32"/>
          <p:cNvSpPr/>
          <p:nvPr/>
        </p:nvSpPr>
        <p:spPr>
          <a:xfrm>
            <a:off x="2476500" y="4819650"/>
            <a:ext cx="704088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56788" y="4810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1.333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685800" y="5000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Matérn 3/2</a:t>
            </a:r>
            <a:endParaRPr lang="en-US" sz="938" dirty="0"/>
          </a:p>
        </p:txBody>
      </p:sp>
      <p:sp>
        <p:nvSpPr>
          <p:cNvPr id="37" name="Shape 35"/>
          <p:cNvSpPr/>
          <p:nvPr/>
        </p:nvSpPr>
        <p:spPr>
          <a:xfrm>
            <a:off x="2476500" y="5010150"/>
            <a:ext cx="1045464" cy="123825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598164" y="5000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1.349</a:t>
            </a:r>
            <a:endParaRPr lang="en-US" sz="938" dirty="0"/>
          </a:p>
        </p:txBody>
      </p:sp>
      <p:sp>
        <p:nvSpPr>
          <p:cNvPr id="39" name="Text 37"/>
          <p:cNvSpPr txBox="1"/>
          <p:nvPr/>
        </p:nvSpPr>
        <p:spPr>
          <a:xfrm>
            <a:off x="685800" y="5191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지수형</a:t>
            </a:r>
            <a:endParaRPr lang="en-US" sz="938" dirty="0"/>
          </a:p>
        </p:txBody>
      </p:sp>
      <p:sp>
        <p:nvSpPr>
          <p:cNvPr id="40" name="Shape 38"/>
          <p:cNvSpPr/>
          <p:nvPr/>
        </p:nvSpPr>
        <p:spPr>
          <a:xfrm>
            <a:off x="2476500" y="5200650"/>
            <a:ext cx="2112264" cy="123825"/>
          </a:xfrm>
          <a:prstGeom prst="rect">
            <a:avLst/>
          </a:prstGeom>
          <a:solidFill>
            <a:srgbClr val="3F5468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4964" y="5191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1.399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53816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거리가중 평균</a:t>
            </a:r>
            <a:endParaRPr lang="en-US" sz="938" dirty="0"/>
          </a:p>
        </p:txBody>
      </p:sp>
      <p:sp>
        <p:nvSpPr>
          <p:cNvPr id="43" name="Shape 41"/>
          <p:cNvSpPr/>
          <p:nvPr/>
        </p:nvSpPr>
        <p:spPr>
          <a:xfrm>
            <a:off x="2476500" y="5391150"/>
            <a:ext cx="2645664" cy="123825"/>
          </a:xfrm>
          <a:prstGeom prst="rect">
            <a:avLst/>
          </a:prstGeom>
          <a:solidFill>
            <a:srgbClr val="3F5468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5198364" y="53816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1.424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685800" y="5572125"/>
            <a:ext cx="17335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온도구간 평균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2476500" y="5581650"/>
            <a:ext cx="3904488" cy="123825"/>
          </a:xfrm>
          <a:prstGeom prst="rect">
            <a:avLst/>
          </a:prstGeom>
          <a:solidFill>
            <a:srgbClr val="5E7793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57188" y="5572125"/>
            <a:ext cx="571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1.483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22479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33147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1.35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43815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5448300" y="579120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1.45</a:t>
            </a:r>
            <a:endParaRPr lang="en-US" sz="713" dirty="0"/>
          </a:p>
        </p:txBody>
      </p:sp>
      <p:sp>
        <p:nvSpPr>
          <p:cNvPr id="52" name="Shape 50"/>
          <p:cNvSpPr/>
          <p:nvPr/>
        </p:nvSpPr>
        <p:spPr>
          <a:xfrm>
            <a:off x="7353300" y="2705100"/>
            <a:ext cx="4152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7353300" y="2838450"/>
            <a:ext cx="4152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방식별 보정 곡선  ·  0 ~ 30℃  ·  MW</a:t>
            </a:r>
            <a:endParaRPr lang="en-US" sz="788" dirty="0"/>
          </a:p>
        </p:txBody>
      </p:sp>
      <p:sp>
        <p:nvSpPr>
          <p:cNvPr id="54" name="Shape 52"/>
          <p:cNvSpPr/>
          <p:nvPr/>
        </p:nvSpPr>
        <p:spPr>
          <a:xfrm>
            <a:off x="7353300" y="3067050"/>
            <a:ext cx="4152900" cy="20574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772400" y="3333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772400" y="4095750"/>
            <a:ext cx="35433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72400" y="4476750"/>
            <a:ext cx="35433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505700" y="3257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13" dirty="0"/>
          </a:p>
        </p:txBody>
      </p:sp>
      <p:sp>
        <p:nvSpPr>
          <p:cNvPr id="59" name="Text 57"/>
          <p:cNvSpPr txBox="1"/>
          <p:nvPr/>
        </p:nvSpPr>
        <p:spPr>
          <a:xfrm>
            <a:off x="7505700" y="4019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60" name="Text 58"/>
          <p:cNvSpPr txBox="1"/>
          <p:nvPr/>
        </p:nvSpPr>
        <p:spPr>
          <a:xfrm>
            <a:off x="7505700" y="4400550"/>
            <a:ext cx="24765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</a:t>
            </a:r>
            <a:endParaRPr lang="en-US" sz="713" dirty="0"/>
          </a:p>
        </p:txBody>
      </p:sp>
      <p:sp>
        <p:nvSpPr>
          <p:cNvPr id="61" name="Text 59"/>
          <p:cNvSpPr txBox="1"/>
          <p:nvPr/>
        </p:nvSpPr>
        <p:spPr>
          <a:xfrm>
            <a:off x="7620000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13" dirty="0"/>
          </a:p>
        </p:txBody>
      </p:sp>
      <p:sp>
        <p:nvSpPr>
          <p:cNvPr id="62" name="Text 60"/>
          <p:cNvSpPr txBox="1"/>
          <p:nvPr/>
        </p:nvSpPr>
        <p:spPr>
          <a:xfrm>
            <a:off x="8750618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13" dirty="0"/>
          </a:p>
        </p:txBody>
      </p:sp>
      <p:sp>
        <p:nvSpPr>
          <p:cNvPr id="63" name="Text 61"/>
          <p:cNvSpPr txBox="1"/>
          <p:nvPr/>
        </p:nvSpPr>
        <p:spPr>
          <a:xfrm>
            <a:off x="9881235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64" name="Text 62"/>
          <p:cNvSpPr txBox="1"/>
          <p:nvPr/>
        </p:nvSpPr>
        <p:spPr>
          <a:xfrm>
            <a:off x="11011852" y="4629150"/>
            <a:ext cx="457200" cy="1176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26"/>
              </a:lnSpc>
              <a:buNone/>
            </a:pPr>
            <a:r>
              <a:rPr lang="en-US" sz="71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13" dirty="0"/>
          </a:p>
        </p:txBody>
      </p:sp>
      <p:sp>
        <p:nvSpPr>
          <p:cNvPr id="65" name="Shape 63"/>
          <p:cNvSpPr/>
          <p:nvPr/>
        </p:nvSpPr>
        <p:spPr>
          <a:xfrm>
            <a:off x="7848600" y="3372803"/>
            <a:ext cx="1130618" cy="23812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979218" y="3610928"/>
            <a:ext cx="1130618" cy="157163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10109835" y="3768090"/>
            <a:ext cx="1130617" cy="56388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48600" y="3380423"/>
            <a:ext cx="1130618" cy="22860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8979218" y="3609023"/>
            <a:ext cx="1130618" cy="17145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10109835" y="3780472"/>
            <a:ext cx="1130617" cy="55054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848600" y="3378518"/>
            <a:ext cx="1130618" cy="25336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979218" y="3631883"/>
            <a:ext cx="1130618" cy="168592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109835" y="3800475"/>
            <a:ext cx="1130617" cy="526733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7848600" y="3370897"/>
            <a:ext cx="1130618" cy="240030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8979218" y="3610928"/>
            <a:ext cx="1130618" cy="153352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10109835" y="3764280"/>
            <a:ext cx="1130617" cy="565785"/>
          </a:xfrm>
          <a:prstGeom prst="line">
            <a:avLst/>
          </a:prstGeom>
          <a:noFill/>
          <a:ln w="19050">
            <a:solidFill>
              <a:srgbClr val="3F546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7848600" y="3381375"/>
            <a:ext cx="1130618" cy="22193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979218" y="3603308"/>
            <a:ext cx="1130618" cy="161925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10109835" y="3765233"/>
            <a:ext cx="1130617" cy="557213"/>
          </a:xfrm>
          <a:prstGeom prst="line">
            <a:avLst/>
          </a:prstGeom>
          <a:noFill/>
          <a:ln w="33020">
            <a:solidFill>
              <a:srgbClr val="EFB13C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10109835" y="3726180"/>
            <a:ext cx="0" cy="112395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10052685" y="3726180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10052685" y="3838575"/>
            <a:ext cx="114300" cy="0"/>
          </a:xfrm>
          <a:prstGeom prst="line">
            <a:avLst/>
          </a:prstGeom>
          <a:noFill/>
          <a:ln w="20320">
            <a:solidFill>
              <a:srgbClr val="FF4D63"/>
            </a:solidFill>
            <a:prstDash val="solid"/>
          </a:ln>
        </p:spPr>
      </p:sp>
      <p:sp>
        <p:nvSpPr>
          <p:cNvPr id="83" name="Text 81"/>
          <p:cNvSpPr txBox="1"/>
          <p:nvPr/>
        </p:nvSpPr>
        <p:spPr>
          <a:xfrm>
            <a:off x="10205085" y="3705225"/>
            <a:ext cx="1238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여기서 0.38 갈림</a:t>
            </a:r>
            <a:endParaRPr lang="en-US" sz="788" dirty="0"/>
          </a:p>
        </p:txBody>
      </p:sp>
      <p:sp>
        <p:nvSpPr>
          <p:cNvPr id="84" name="Text 82"/>
          <p:cNvSpPr txBox="1"/>
          <p:nvPr/>
        </p:nvSpPr>
        <p:spPr>
          <a:xfrm>
            <a:off x="10382250" y="4438650"/>
            <a:ext cx="9334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 끝은 0.10</a:t>
            </a:r>
            <a:endParaRPr lang="en-US" sz="788" dirty="0"/>
          </a:p>
        </p:txBody>
      </p:sp>
      <p:sp>
        <p:nvSpPr>
          <p:cNvPr id="85" name="Text 83"/>
          <p:cNvSpPr txBox="1"/>
          <p:nvPr/>
        </p:nvSpPr>
        <p:spPr>
          <a:xfrm>
            <a:off x="7353300" y="5257800"/>
            <a:ext cx="4152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가운데에서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갈립니다</a:t>
            </a:r>
            <a:endParaRPr lang="en-US" sz="1575" dirty="0"/>
          </a:p>
        </p:txBody>
      </p:sp>
      <p:sp>
        <p:nvSpPr>
          <p:cNvPr id="86" name="Text 84"/>
          <p:cNvSpPr txBox="1"/>
          <p:nvPr/>
        </p:nvSpPr>
        <p:spPr>
          <a:xfrm>
            <a:off x="7353300" y="5619750"/>
            <a:ext cx="4152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0℃ 와 30℃ 는 어느 방식이나 거의 같고, 10~20℃ 에서 벌어집니다. 눈으로는 고를 수 없습니다.</a:t>
            </a:r>
            <a:endParaRPr lang="en-US" sz="1125" dirty="0"/>
          </a:p>
        </p:txBody>
      </p:sp>
      <p:sp>
        <p:nvSpPr>
          <p:cNvPr id="87" name="Shape 8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89" name="Text 8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방식을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감으로 정하지 않았습니다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같은 조건에서 채점해 1위를 데이터가 지목했습니다.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모니터링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쌓이면,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스스로 다시 고릅니다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매주 받은 값이 검증을 통과하면 누적에 들어가고, 누적이 늘면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채점해 방식을 다시 고릅니다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사람이 손대는 지점이 없습니다.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676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676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갱신 순환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5676900" cy="10287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8200" y="3238500"/>
            <a:ext cx="952500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33450" y="3305175"/>
            <a:ext cx="762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975" dirty="0"/>
          </a:p>
        </p:txBody>
      </p:sp>
      <p:sp>
        <p:nvSpPr>
          <p:cNvPr id="18" name="Shape 16"/>
          <p:cNvSpPr/>
          <p:nvPr/>
        </p:nvSpPr>
        <p:spPr>
          <a:xfrm>
            <a:off x="2133600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228850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975" dirty="0"/>
          </a:p>
        </p:txBody>
      </p:sp>
      <p:sp>
        <p:nvSpPr>
          <p:cNvPr id="20" name="Shape 18"/>
          <p:cNvSpPr/>
          <p:nvPr/>
        </p:nvSpPr>
        <p:spPr>
          <a:xfrm>
            <a:off x="3476625" y="3238500"/>
            <a:ext cx="1000125" cy="285750"/>
          </a:xfrm>
          <a:prstGeom prst="rect">
            <a:avLst/>
          </a:prstGeom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3571875" y="3305175"/>
            <a:ext cx="809625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975" dirty="0"/>
          </a:p>
        </p:txBody>
      </p:sp>
      <p:sp>
        <p:nvSpPr>
          <p:cNvPr id="22" name="Shape 20"/>
          <p:cNvSpPr/>
          <p:nvPr/>
        </p:nvSpPr>
        <p:spPr>
          <a:xfrm>
            <a:off x="4819650" y="3238500"/>
            <a:ext cx="1333500" cy="285750"/>
          </a:xfrm>
          <a:prstGeom prst="rect">
            <a:avLst/>
          </a:prstGeom>
          <a:ln w="12700">
            <a:solidFill>
              <a:srgbClr val="6B522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914900" y="3305175"/>
            <a:ext cx="11430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186690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9925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6" name="Text 24"/>
          <p:cNvSpPr txBox="1"/>
          <p:nvPr/>
        </p:nvSpPr>
        <p:spPr>
          <a:xfrm>
            <a:off x="4552950" y="3305175"/>
            <a:ext cx="19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75" dirty="0"/>
          </a:p>
        </p:txBody>
      </p:sp>
      <p:sp>
        <p:nvSpPr>
          <p:cNvPr id="27" name="Shape 25"/>
          <p:cNvSpPr/>
          <p:nvPr/>
        </p:nvSpPr>
        <p:spPr>
          <a:xfrm>
            <a:off x="548640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14450" y="3810000"/>
            <a:ext cx="4171950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4450" y="3600450"/>
            <a:ext cx="0" cy="20955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257300" y="3524250"/>
            <a:ext cx="133350" cy="9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43"/>
              </a:lnSpc>
              <a:buNone/>
            </a:pPr>
            <a:r>
              <a:rPr lang="en-US" sz="675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▲</a:t>
            </a:r>
            <a:endParaRPr lang="en-US" sz="675" dirty="0"/>
          </a:p>
        </p:txBody>
      </p:sp>
      <p:sp>
        <p:nvSpPr>
          <p:cNvPr id="31" name="Text 29"/>
          <p:cNvSpPr txBox="1"/>
          <p:nvPr/>
        </p:nvSpPr>
        <p:spPr>
          <a:xfrm>
            <a:off x="2857500" y="384810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회차가 쌓일 때마다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286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취득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2000250" y="4286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설비에서 6가지 값을 직접 받습니다. 옮겨 적는 단계가 없습니다.</a:t>
            </a:r>
            <a:endParaRPr lang="en-US" sz="1013" dirty="0"/>
          </a:p>
        </p:txBody>
      </p:sp>
      <p:sp>
        <p:nvSpPr>
          <p:cNvPr id="34" name="Shape 32"/>
          <p:cNvSpPr/>
          <p:nvPr/>
        </p:nvSpPr>
        <p:spPr>
          <a:xfrm>
            <a:off x="685800" y="4572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85800" y="4667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가드</a:t>
            </a:r>
            <a:endParaRPr lang="en-US" sz="1013" dirty="0"/>
          </a:p>
        </p:txBody>
      </p:sp>
      <p:sp>
        <p:nvSpPr>
          <p:cNvPr id="36" name="Text 34"/>
          <p:cNvSpPr txBox="1"/>
          <p:nvPr/>
        </p:nvSpPr>
        <p:spPr>
          <a:xfrm>
            <a:off x="2000250" y="4667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미실시·습도계 이탈이면 그 회차는 누적에 넣지 않습니다.</a:t>
            </a:r>
            <a:endParaRPr lang="en-US" sz="1013" dirty="0"/>
          </a:p>
        </p:txBody>
      </p:sp>
      <p:sp>
        <p:nvSpPr>
          <p:cNvPr id="37" name="Shape 35"/>
          <p:cNvSpPr/>
          <p:nvPr/>
        </p:nvSpPr>
        <p:spPr>
          <a:xfrm>
            <a:off x="685800" y="4953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85800" y="5048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2000250" y="5048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통과한 회차만 학습 데이터가 됩니다. 이력은 그대로 남습니다.</a:t>
            </a:r>
            <a:endParaRPr lang="en-US" sz="1013" dirty="0"/>
          </a:p>
        </p:txBody>
      </p:sp>
      <p:sp>
        <p:nvSpPr>
          <p:cNvPr id="40" name="Shape 38"/>
          <p:cNvSpPr/>
          <p:nvPr/>
        </p:nvSpPr>
        <p:spPr>
          <a:xfrm>
            <a:off x="685800" y="5334000"/>
            <a:ext cx="56769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85800" y="5429250"/>
            <a:ext cx="12382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재학습·재선정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2000250" y="5429250"/>
            <a:ext cx="43624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누적이 늘면 7가지를 다시 채점해 1위를 다시 고릅니다.</a:t>
            </a:r>
            <a:endParaRPr lang="en-US" sz="1013" dirty="0"/>
          </a:p>
        </p:txBody>
      </p:sp>
      <p:sp>
        <p:nvSpPr>
          <p:cNvPr id="43" name="Shape 41"/>
          <p:cNvSpPr/>
          <p:nvPr/>
        </p:nvSpPr>
        <p:spPr>
          <a:xfrm>
            <a:off x="6591300" y="2743200"/>
            <a:ext cx="4914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91300" y="2876550"/>
            <a:ext cx="4914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온도 구간별 데이터 현황  ·  누적 36회차</a:t>
            </a:r>
            <a:endParaRPr lang="en-US" sz="788" dirty="0"/>
          </a:p>
        </p:txBody>
      </p:sp>
      <p:sp>
        <p:nvSpPr>
          <p:cNvPr id="45" name="Shape 43"/>
          <p:cNvSpPr/>
          <p:nvPr/>
        </p:nvSpPr>
        <p:spPr>
          <a:xfrm>
            <a:off x="6591300" y="3067050"/>
            <a:ext cx="4914900" cy="22669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43700" y="32766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953250" y="32480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~ 10℃</a:t>
            </a:r>
            <a:endParaRPr lang="en-US" sz="938" dirty="0"/>
          </a:p>
        </p:txBody>
      </p:sp>
      <p:sp>
        <p:nvSpPr>
          <p:cNvPr id="48" name="Shape 46"/>
          <p:cNvSpPr/>
          <p:nvPr/>
        </p:nvSpPr>
        <p:spPr>
          <a:xfrm>
            <a:off x="8001000" y="3276600"/>
            <a:ext cx="8001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429750" y="32480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7건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0668000" y="32480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1" name="Shape 49"/>
          <p:cNvSpPr/>
          <p:nvPr/>
        </p:nvSpPr>
        <p:spPr>
          <a:xfrm>
            <a:off x="6743700" y="36195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953250" y="35909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~ 15℃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8001000" y="36195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9429750" y="35909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10668000" y="35909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56" name="Shape 54"/>
          <p:cNvSpPr/>
          <p:nvPr/>
        </p:nvSpPr>
        <p:spPr>
          <a:xfrm>
            <a:off x="6743700" y="3962400"/>
            <a:ext cx="95250" cy="95250"/>
          </a:xfrm>
          <a:prstGeom prst="rect">
            <a:avLst/>
          </a:prstGeom>
          <a:solidFill>
            <a:srgbClr val="8CA3B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953250" y="39338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~ 20℃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001000" y="3962400"/>
            <a:ext cx="342900" cy="952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9429750" y="39338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3건</a:t>
            </a:r>
            <a:endParaRPr lang="en-US" sz="938" dirty="0"/>
          </a:p>
        </p:txBody>
      </p:sp>
      <p:sp>
        <p:nvSpPr>
          <p:cNvPr id="60" name="Text 58"/>
          <p:cNvSpPr txBox="1"/>
          <p:nvPr/>
        </p:nvSpPr>
        <p:spPr>
          <a:xfrm>
            <a:off x="10668000" y="39338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8CA3B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보통</a:t>
            </a:r>
            <a:endParaRPr lang="en-US" sz="938" dirty="0"/>
          </a:p>
        </p:txBody>
      </p:sp>
      <p:sp>
        <p:nvSpPr>
          <p:cNvPr id="61" name="Shape 59"/>
          <p:cNvSpPr/>
          <p:nvPr/>
        </p:nvSpPr>
        <p:spPr>
          <a:xfrm>
            <a:off x="6743700" y="4305300"/>
            <a:ext cx="95250" cy="95250"/>
          </a:xfrm>
          <a:prstGeom prst="rect">
            <a:avLst/>
          </a:prstGeom>
          <a:solidFill>
            <a:srgbClr val="FF4D63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953250" y="42767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 ~ 25℃</a:t>
            </a:r>
            <a:endParaRPr lang="en-US" sz="938" dirty="0"/>
          </a:p>
        </p:txBody>
      </p:sp>
      <p:sp>
        <p:nvSpPr>
          <p:cNvPr id="63" name="Shape 61"/>
          <p:cNvSpPr/>
          <p:nvPr/>
        </p:nvSpPr>
        <p:spPr>
          <a:xfrm>
            <a:off x="8001000" y="4305300"/>
            <a:ext cx="114300" cy="952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9429750" y="42767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1건</a:t>
            </a:r>
            <a:endParaRPr lang="en-US" sz="938" dirty="0"/>
          </a:p>
        </p:txBody>
      </p:sp>
      <p:sp>
        <p:nvSpPr>
          <p:cNvPr id="65" name="Text 63"/>
          <p:cNvSpPr txBox="1"/>
          <p:nvPr/>
        </p:nvSpPr>
        <p:spPr>
          <a:xfrm>
            <a:off x="10668000" y="42767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FF4D6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</a:t>
            </a:r>
            <a:endParaRPr lang="en-US" sz="938" dirty="0"/>
          </a:p>
        </p:txBody>
      </p:sp>
      <p:sp>
        <p:nvSpPr>
          <p:cNvPr id="66" name="Shape 64"/>
          <p:cNvSpPr/>
          <p:nvPr/>
        </p:nvSpPr>
        <p:spPr>
          <a:xfrm>
            <a:off x="6743700" y="46482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6953250" y="46196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25 ~ 30℃</a:t>
            </a:r>
            <a:endParaRPr lang="en-US" sz="938" dirty="0"/>
          </a:p>
        </p:txBody>
      </p:sp>
      <p:sp>
        <p:nvSpPr>
          <p:cNvPr id="68" name="Shape 66"/>
          <p:cNvSpPr/>
          <p:nvPr/>
        </p:nvSpPr>
        <p:spPr>
          <a:xfrm>
            <a:off x="8001000" y="4648200"/>
            <a:ext cx="6858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9429750" y="46196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6건</a:t>
            </a:r>
            <a:endParaRPr lang="en-US" sz="938" dirty="0"/>
          </a:p>
        </p:txBody>
      </p:sp>
      <p:sp>
        <p:nvSpPr>
          <p:cNvPr id="70" name="Text 68"/>
          <p:cNvSpPr txBox="1"/>
          <p:nvPr/>
        </p:nvSpPr>
        <p:spPr>
          <a:xfrm>
            <a:off x="10668000" y="46196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1" name="Shape 69"/>
          <p:cNvSpPr/>
          <p:nvPr/>
        </p:nvSpPr>
        <p:spPr>
          <a:xfrm>
            <a:off x="6743700" y="4991100"/>
            <a:ext cx="95250" cy="952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953250" y="4962525"/>
            <a:ext cx="9144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BCC9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 ~ 41℃</a:t>
            </a:r>
            <a:endParaRPr lang="en-US" sz="938" dirty="0"/>
          </a:p>
        </p:txBody>
      </p:sp>
      <p:sp>
        <p:nvSpPr>
          <p:cNvPr id="73" name="Shape 71"/>
          <p:cNvSpPr/>
          <p:nvPr/>
        </p:nvSpPr>
        <p:spPr>
          <a:xfrm>
            <a:off x="8001000" y="4991100"/>
            <a:ext cx="1257300" cy="95250"/>
          </a:xfrm>
          <a:prstGeom prst="rect">
            <a:avLst/>
          </a:prstGeom>
          <a:solidFill>
            <a:srgbClr val="8A6620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9429750" y="4962525"/>
            <a:ext cx="47625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11건</a:t>
            </a:r>
            <a:endParaRPr lang="en-US" sz="938" dirty="0"/>
          </a:p>
        </p:txBody>
      </p:sp>
      <p:sp>
        <p:nvSpPr>
          <p:cNvPr id="75" name="Text 73"/>
          <p:cNvSpPr txBox="1"/>
          <p:nvPr/>
        </p:nvSpPr>
        <p:spPr>
          <a:xfrm>
            <a:off x="10668000" y="4962525"/>
            <a:ext cx="685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충분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6591300" y="5486400"/>
            <a:ext cx="4914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부족한 구간은 화면에 그대로 뜹니다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그 구간의 값은 아직 믿지 말라는 표시입니다.</a:t>
            </a:r>
            <a:endParaRPr lang="en-US" sz="1125" dirty="0"/>
          </a:p>
        </p:txBody>
      </p:sp>
      <p:sp>
        <p:nvSpPr>
          <p:cNvPr id="77" name="Shape 75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9" name="Text 77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모델이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회차가 쌓일수록 좋아집니다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시운전에서 함정 3개를 만나,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코드로 못박았습니다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숫자가 자동으로 들어온다는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틀린 숫자도 자동으로 들어온다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는 뜻입니다. 만난 함정을 사람의 주의가 아니라 코드로 막았습니다.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1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 회차가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섞여 들어왔다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3회차가 4~6 MW 낮게 나왔습니다. 그대로 두면 미달로 잘못 판단됩니다.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858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382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6.0</a:t>
            </a:r>
            <a:endParaRPr lang="en-US" sz="1950" dirty="0"/>
          </a:p>
        </p:txBody>
      </p:sp>
      <p:sp>
        <p:nvSpPr>
          <p:cNvPr id="19" name="Text 17"/>
          <p:cNvSpPr txBox="1"/>
          <p:nvPr/>
        </p:nvSpPr>
        <p:spPr>
          <a:xfrm>
            <a:off x="13638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20" name="Text 18"/>
          <p:cNvSpPr txBox="1"/>
          <p:nvPr/>
        </p:nvSpPr>
        <p:spPr>
          <a:xfrm>
            <a:off x="21145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가장 크게 벌어진 폭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IGV 미실시로 기록된 회차는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반영을 차단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합니다. 값은 남기고 학습에서만 뺍니다.</a:t>
            </a:r>
            <a:endParaRPr lang="en-US" sz="1125" dirty="0"/>
          </a:p>
        </p:txBody>
      </p:sp>
      <p:sp>
        <p:nvSpPr>
          <p:cNvPr id="23" name="Shape 21"/>
          <p:cNvSpPr/>
          <p:nvPr/>
        </p:nvSpPr>
        <p:spPr>
          <a:xfrm>
            <a:off x="436245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36245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2</a:t>
            </a:r>
            <a:endParaRPr lang="en-US" sz="788" dirty="0"/>
          </a:p>
        </p:txBody>
      </p:sp>
      <p:sp>
        <p:nvSpPr>
          <p:cNvPr id="25" name="Text 23"/>
          <p:cNvSpPr txBox="1"/>
          <p:nvPr/>
        </p:nvSpPr>
        <p:spPr>
          <a:xfrm>
            <a:off x="436245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값이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서서히 어긋났다</a:t>
            </a:r>
            <a:endParaRPr lang="en-US" sz="1575" dirty="0"/>
          </a:p>
        </p:txBody>
      </p:sp>
      <p:sp>
        <p:nvSpPr>
          <p:cNvPr id="26" name="Text 24"/>
          <p:cNvSpPr txBox="1"/>
          <p:nvPr/>
        </p:nvSpPr>
        <p:spPr>
          <a:xfrm>
            <a:off x="436245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취득값 19.6% 인데 실제는 68.5% 였습니다. 계기 한 대만 믿으면 못 잡습니다.</a:t>
            </a:r>
            <a:endParaRPr lang="en-US" sz="1125" dirty="0"/>
          </a:p>
        </p:txBody>
      </p:sp>
      <p:sp>
        <p:nvSpPr>
          <p:cNvPr id="27" name="Shape 25"/>
          <p:cNvSpPr/>
          <p:nvPr/>
        </p:nvSpPr>
        <p:spPr>
          <a:xfrm>
            <a:off x="436245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514850" y="4591050"/>
            <a:ext cx="618363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4.57</a:t>
            </a:r>
            <a:endParaRPr lang="en-US" sz="1950" dirty="0"/>
          </a:p>
        </p:txBody>
      </p:sp>
      <p:sp>
        <p:nvSpPr>
          <p:cNvPr id="29" name="Text 27"/>
          <p:cNvSpPr txBox="1"/>
          <p:nvPr/>
        </p:nvSpPr>
        <p:spPr>
          <a:xfrm>
            <a:off x="5190363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30" name="Text 28"/>
          <p:cNvSpPr txBox="1"/>
          <p:nvPr/>
        </p:nvSpPr>
        <p:spPr>
          <a:xfrm>
            <a:off x="579120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 한 건의 오차 폭</a:t>
            </a:r>
            <a:endParaRPr lang="en-US" sz="863" dirty="0"/>
          </a:p>
        </p:txBody>
      </p:sp>
      <p:sp>
        <p:nvSpPr>
          <p:cNvPr id="31" name="Text 29"/>
          <p:cNvSpPr txBox="1"/>
          <p:nvPr/>
        </p:nvSpPr>
        <p:spPr>
          <a:xfrm>
            <a:off x="436245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32" name="Text 30"/>
          <p:cNvSpPr txBox="1"/>
          <p:nvPr/>
        </p:nvSpPr>
        <p:spPr>
          <a:xfrm>
            <a:off x="436245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습도계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2대를 교차 확인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벌어지면 그 회차는 반영 보류하고 화면에 띄웁니다.</a:t>
            </a:r>
            <a:endParaRPr lang="en-US" sz="1125" dirty="0"/>
          </a:p>
        </p:txBody>
      </p:sp>
      <p:sp>
        <p:nvSpPr>
          <p:cNvPr id="33" name="Shape 31"/>
          <p:cNvSpPr/>
          <p:nvPr/>
        </p:nvSpPr>
        <p:spPr>
          <a:xfrm>
            <a:off x="8039100" y="2743200"/>
            <a:ext cx="3467100" cy="19050"/>
          </a:xfrm>
          <a:prstGeom prst="rect">
            <a:avLst/>
          </a:prstGeom>
          <a:solidFill>
            <a:srgbClr val="7E2333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8039100" y="287655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함정 3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039100" y="3086100"/>
            <a:ext cx="34671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대기압 평균 기간이</a:t>
            </a:r>
            <a:endParaRPr lang="en-US" sz="1575" dirty="0"/>
          </a:p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서식과 달랐다</a:t>
            </a:r>
            <a:endParaRPr lang="en-US" sz="1575" dirty="0"/>
          </a:p>
        </p:txBody>
      </p:sp>
      <p:sp>
        <p:nvSpPr>
          <p:cNvPr id="36" name="Text 34"/>
          <p:cNvSpPr txBox="1"/>
          <p:nvPr/>
        </p:nvSpPr>
        <p:spPr>
          <a:xfrm>
            <a:off x="8039100" y="37338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우리는 7일 평균, 신고 서식은 5일 평균이었습니다. 조용히 어긋나는 종류입니다.</a:t>
            </a:r>
            <a:endParaRPr lang="en-US" sz="1125" dirty="0"/>
          </a:p>
        </p:txBody>
      </p:sp>
      <p:sp>
        <p:nvSpPr>
          <p:cNvPr id="37" name="Shape 35"/>
          <p:cNvSpPr/>
          <p:nvPr/>
        </p:nvSpPr>
        <p:spPr>
          <a:xfrm>
            <a:off x="8039100" y="4476750"/>
            <a:ext cx="3467100" cy="59055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191500" y="4591050"/>
            <a:ext cx="468535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48"/>
              </a:lnSpc>
              <a:buNone/>
            </a:pPr>
            <a:r>
              <a:rPr lang="en-US" sz="1950" b="1" dirty="0">
                <a:solidFill>
                  <a:srgbClr val="FF4D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endParaRPr lang="en-US" sz="1950" dirty="0"/>
          </a:p>
        </p:txBody>
      </p:sp>
      <p:sp>
        <p:nvSpPr>
          <p:cNvPr id="39" name="Text 37"/>
          <p:cNvSpPr txBox="1"/>
          <p:nvPr/>
        </p:nvSpPr>
        <p:spPr>
          <a:xfrm>
            <a:off x="8717185" y="4714875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40" name="Text 38"/>
          <p:cNvSpPr txBox="1"/>
          <p:nvPr/>
        </p:nvSpPr>
        <p:spPr>
          <a:xfrm>
            <a:off x="9467850" y="4667250"/>
            <a:ext cx="1905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어긋난 폭 (작지만 상시)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8039100" y="5219700"/>
            <a:ext cx="34671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심어 둔 가드</a:t>
            </a:r>
            <a:endParaRPr lang="en-US" sz="788" dirty="0"/>
          </a:p>
        </p:txBody>
      </p:sp>
      <p:sp>
        <p:nvSpPr>
          <p:cNvPr id="42" name="Text 40"/>
          <p:cNvSpPr txBox="1"/>
          <p:nvPr/>
        </p:nvSpPr>
        <p:spPr>
          <a:xfrm>
            <a:off x="8039100" y="5410200"/>
            <a:ext cx="34671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서식 수식을 그대로 읽어 대조하는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시험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을 걸어 두었습니다. 다시 어긋나면 실패합니다.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데이터를 믿는 것이 아니라,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의심하는 절차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코드에 심었습니다.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정량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지표만 좋아진 게 아닙니다 —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지표가 동시에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좋아졌습니다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36회차를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방식으로 채점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해 종전과 나란히 놓았습니다. 그리고 시운전 4회차에서 다시 확인했습니다.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66675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666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 ·  누적 36회차를 한 건씩 가려 채점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685800" y="3067050"/>
            <a:ext cx="6667500" cy="22860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8200" y="3219450"/>
            <a:ext cx="1905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지표</a:t>
            </a:r>
            <a:endParaRPr lang="en-US" sz="788" dirty="0"/>
          </a:p>
        </p:txBody>
      </p:sp>
      <p:sp>
        <p:nvSpPr>
          <p:cNvPr id="17" name="Text 15"/>
          <p:cNvSpPr txBox="1"/>
          <p:nvPr/>
        </p:nvSpPr>
        <p:spPr>
          <a:xfrm>
            <a:off x="28575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</a:t>
            </a:r>
            <a:endParaRPr lang="en-US" sz="788" dirty="0"/>
          </a:p>
        </p:txBody>
      </p:sp>
      <p:sp>
        <p:nvSpPr>
          <p:cNvPr id="18" name="Text 16"/>
          <p:cNvSpPr txBox="1"/>
          <p:nvPr/>
        </p:nvSpPr>
        <p:spPr>
          <a:xfrm>
            <a:off x="4191000" y="3219450"/>
            <a:ext cx="1047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5619750" y="3219450"/>
            <a:ext cx="14287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나아진 폭</a:t>
            </a:r>
            <a:endParaRPr lang="en-US" sz="788" dirty="0"/>
          </a:p>
        </p:txBody>
      </p:sp>
      <p:sp>
        <p:nvSpPr>
          <p:cNvPr id="20" name="Shape 18"/>
          <p:cNvSpPr/>
          <p:nvPr/>
        </p:nvSpPr>
        <p:spPr>
          <a:xfrm>
            <a:off x="838200" y="3409950"/>
            <a:ext cx="63627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38200" y="35433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2857500" y="35433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3.83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981450" y="35433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4191000" y="35337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1275" dirty="0"/>
          </a:p>
        </p:txBody>
      </p:sp>
      <p:sp>
        <p:nvSpPr>
          <p:cNvPr id="25" name="Text 23"/>
          <p:cNvSpPr txBox="1"/>
          <p:nvPr/>
        </p:nvSpPr>
        <p:spPr>
          <a:xfrm>
            <a:off x="5619750" y="35433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66% ↓</a:t>
            </a:r>
            <a:endParaRPr lang="en-US" sz="1013" dirty="0"/>
          </a:p>
        </p:txBody>
      </p:sp>
      <p:sp>
        <p:nvSpPr>
          <p:cNvPr id="26" name="Shape 24"/>
          <p:cNvSpPr/>
          <p:nvPr/>
        </p:nvSpPr>
        <p:spPr>
          <a:xfrm>
            <a:off x="838200" y="38290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38200" y="39052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큰 오차 가중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2857500" y="39052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4.49</a:t>
            </a:r>
            <a:endParaRPr lang="en-US" sz="1125" dirty="0"/>
          </a:p>
        </p:txBody>
      </p:sp>
      <p:sp>
        <p:nvSpPr>
          <p:cNvPr id="29" name="Text 27"/>
          <p:cNvSpPr txBox="1"/>
          <p:nvPr/>
        </p:nvSpPr>
        <p:spPr>
          <a:xfrm>
            <a:off x="3981450" y="39052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4191000" y="38957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1.72</a:t>
            </a:r>
            <a:endParaRPr lang="en-US" sz="1275" dirty="0"/>
          </a:p>
        </p:txBody>
      </p:sp>
      <p:sp>
        <p:nvSpPr>
          <p:cNvPr id="31" name="Text 29"/>
          <p:cNvSpPr txBox="1"/>
          <p:nvPr/>
        </p:nvSpPr>
        <p:spPr>
          <a:xfrm>
            <a:off x="5619750" y="39052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62% ↓</a:t>
            </a:r>
            <a:endParaRPr lang="en-US" sz="1013" dirty="0"/>
          </a:p>
        </p:txBody>
      </p:sp>
      <p:sp>
        <p:nvSpPr>
          <p:cNvPr id="32" name="Shape 30"/>
          <p:cNvSpPr/>
          <p:nvPr/>
        </p:nvSpPr>
        <p:spPr>
          <a:xfrm>
            <a:off x="838200" y="41910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38200" y="42672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설명력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2857500" y="42672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—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3981450" y="42672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4191000" y="42576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+0.85</a:t>
            </a:r>
            <a:endParaRPr lang="en-US" sz="1275" dirty="0"/>
          </a:p>
        </p:txBody>
      </p:sp>
      <p:sp>
        <p:nvSpPr>
          <p:cNvPr id="37" name="Text 35"/>
          <p:cNvSpPr txBox="1"/>
          <p:nvPr/>
        </p:nvSpPr>
        <p:spPr>
          <a:xfrm>
            <a:off x="5619750" y="42672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1에 가까울수록 좋음</a:t>
            </a:r>
            <a:endParaRPr lang="en-US" sz="1013" dirty="0"/>
          </a:p>
        </p:txBody>
      </p:sp>
      <p:sp>
        <p:nvSpPr>
          <p:cNvPr id="38" name="Shape 36"/>
          <p:cNvSpPr/>
          <p:nvPr/>
        </p:nvSpPr>
        <p:spPr>
          <a:xfrm>
            <a:off x="838200" y="455295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838200" y="462915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미달 회차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2857500" y="462915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25" dirty="0"/>
          </a:p>
        </p:txBody>
      </p:sp>
      <p:sp>
        <p:nvSpPr>
          <p:cNvPr id="41" name="Text 39"/>
          <p:cNvSpPr txBox="1"/>
          <p:nvPr/>
        </p:nvSpPr>
        <p:spPr>
          <a:xfrm>
            <a:off x="3981450" y="462915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4191000" y="461962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275" dirty="0"/>
          </a:p>
        </p:txBody>
      </p:sp>
      <p:sp>
        <p:nvSpPr>
          <p:cNvPr id="43" name="Text 41"/>
          <p:cNvSpPr txBox="1"/>
          <p:nvPr/>
        </p:nvSpPr>
        <p:spPr>
          <a:xfrm>
            <a:off x="5619750" y="462915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79% ↓</a:t>
            </a:r>
            <a:endParaRPr lang="en-US" sz="1013" dirty="0"/>
          </a:p>
        </p:txBody>
      </p:sp>
      <p:sp>
        <p:nvSpPr>
          <p:cNvPr id="44" name="Shape 42"/>
          <p:cNvSpPr/>
          <p:nvPr/>
        </p:nvSpPr>
        <p:spPr>
          <a:xfrm>
            <a:off x="838200" y="4914900"/>
            <a:ext cx="6362700" cy="0"/>
          </a:xfrm>
          <a:prstGeom prst="line">
            <a:avLst/>
          </a:prstGeom>
          <a:noFill/>
          <a:ln w="12700">
            <a:solidFill>
              <a:srgbClr val="182838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838200" y="4991100"/>
            <a:ext cx="19050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과대 신고 누계</a:t>
            </a:r>
            <a:endParaRPr lang="en-US" sz="1050" dirty="0"/>
          </a:p>
        </p:txBody>
      </p:sp>
      <p:sp>
        <p:nvSpPr>
          <p:cNvPr id="46" name="Text 44"/>
          <p:cNvSpPr txBox="1"/>
          <p:nvPr/>
        </p:nvSpPr>
        <p:spPr>
          <a:xfrm>
            <a:off x="2857500" y="4991100"/>
            <a:ext cx="1047750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63"/>
              </a:lnSpc>
              <a:buNone/>
            </a:pPr>
            <a:r>
              <a:rPr lang="en-US" sz="1125" dirty="0">
                <a:solidFill>
                  <a:srgbClr val="8CA3B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65.4</a:t>
            </a:r>
            <a:endParaRPr lang="en-US" sz="1125" dirty="0"/>
          </a:p>
        </p:txBody>
      </p:sp>
      <p:sp>
        <p:nvSpPr>
          <p:cNvPr id="47" name="Text 45"/>
          <p:cNvSpPr txBox="1"/>
          <p:nvPr/>
        </p:nvSpPr>
        <p:spPr>
          <a:xfrm>
            <a:off x="3981450" y="4991100"/>
            <a:ext cx="190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4191000" y="4981575"/>
            <a:ext cx="1047750" cy="2024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594"/>
              </a:lnSpc>
              <a:buNone/>
            </a:pPr>
            <a:r>
              <a:rPr lang="en-US" sz="1275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7.6</a:t>
            </a:r>
            <a:endParaRPr lang="en-US" sz="1275" dirty="0"/>
          </a:p>
        </p:txBody>
      </p:sp>
      <p:sp>
        <p:nvSpPr>
          <p:cNvPr id="49" name="Text 47"/>
          <p:cNvSpPr txBox="1"/>
          <p:nvPr/>
        </p:nvSpPr>
        <p:spPr>
          <a:xfrm>
            <a:off x="5619750" y="4991100"/>
            <a:ext cx="1428750" cy="173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7"/>
              </a:lnSpc>
              <a:buNone/>
            </a:pPr>
            <a:r>
              <a:rPr lang="en-US" sz="1013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88% ↓</a:t>
            </a:r>
            <a:endParaRPr lang="en-US" sz="1013" dirty="0"/>
          </a:p>
        </p:txBody>
      </p:sp>
      <p:sp>
        <p:nvSpPr>
          <p:cNvPr id="50" name="Text 48"/>
          <p:cNvSpPr txBox="1"/>
          <p:nvPr/>
        </p:nvSpPr>
        <p:spPr>
          <a:xfrm>
            <a:off x="685800" y="5505450"/>
            <a:ext cx="66675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오차는 MW, 미달은 회차, 과대 신고는 누계 MW 입니다. 설명력은 종전 방식에 대응하는 값이 없어 </a:t>
            </a:r>
            <a:pPr algn="l" indent="0" marL="0">
              <a:lnSpc>
                <a:spcPts val="1890"/>
              </a:lnSpc>
              <a:buNone/>
            </a:pPr>
            <a:r>
              <a:rPr lang="en-US" sz="112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비워 두었습니다</a:t>
            </a:r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125" dirty="0"/>
          </a:p>
        </p:txBody>
      </p:sp>
      <p:sp>
        <p:nvSpPr>
          <p:cNvPr id="51" name="Shape 49"/>
          <p:cNvSpPr/>
          <p:nvPr/>
        </p:nvSpPr>
        <p:spPr>
          <a:xfrm>
            <a:off x="7734300" y="2743200"/>
            <a:ext cx="3771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7734300" y="2876550"/>
            <a:ext cx="3771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시운전 실측  ·  4회차</a:t>
            </a:r>
            <a:endParaRPr lang="en-US" sz="788" dirty="0"/>
          </a:p>
        </p:txBody>
      </p:sp>
      <p:sp>
        <p:nvSpPr>
          <p:cNvPr id="53" name="Shape 51"/>
          <p:cNvSpPr/>
          <p:nvPr/>
        </p:nvSpPr>
        <p:spPr>
          <a:xfrm>
            <a:off x="7734300" y="3067050"/>
            <a:ext cx="3771900" cy="1447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78867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치우침</a:t>
            </a:r>
            <a:endParaRPr lang="en-US" sz="788" dirty="0"/>
          </a:p>
        </p:txBody>
      </p:sp>
      <p:sp>
        <p:nvSpPr>
          <p:cNvPr id="55" name="Text 53"/>
          <p:cNvSpPr txBox="1"/>
          <p:nvPr/>
        </p:nvSpPr>
        <p:spPr>
          <a:xfrm>
            <a:off x="7886700" y="3409950"/>
            <a:ext cx="71056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1800" dirty="0"/>
          </a:p>
        </p:txBody>
      </p:sp>
      <p:sp>
        <p:nvSpPr>
          <p:cNvPr id="56" name="Text 54"/>
          <p:cNvSpPr txBox="1"/>
          <p:nvPr/>
        </p:nvSpPr>
        <p:spPr>
          <a:xfrm>
            <a:off x="8654415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57" name="Text 55"/>
          <p:cNvSpPr txBox="1"/>
          <p:nvPr/>
        </p:nvSpPr>
        <p:spPr>
          <a:xfrm>
            <a:off x="9715500" y="321945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평균 오차</a:t>
            </a:r>
            <a:endParaRPr lang="en-US" sz="788" dirty="0"/>
          </a:p>
        </p:txBody>
      </p:sp>
      <p:sp>
        <p:nvSpPr>
          <p:cNvPr id="58" name="Text 56"/>
          <p:cNvSpPr txBox="1"/>
          <p:nvPr/>
        </p:nvSpPr>
        <p:spPr>
          <a:xfrm>
            <a:off x="9715500" y="340995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</a:t>
            </a:r>
            <a:endParaRPr lang="en-US" sz="1800" dirty="0"/>
          </a:p>
        </p:txBody>
      </p:sp>
      <p:sp>
        <p:nvSpPr>
          <p:cNvPr id="59" name="Text 57"/>
          <p:cNvSpPr txBox="1"/>
          <p:nvPr/>
        </p:nvSpPr>
        <p:spPr>
          <a:xfrm>
            <a:off x="10344912" y="352425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78867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큰 오차 가중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78867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1.57</a:t>
            </a:r>
            <a:endParaRPr lang="en-US" sz="1800" dirty="0"/>
          </a:p>
        </p:txBody>
      </p:sp>
      <p:sp>
        <p:nvSpPr>
          <p:cNvPr id="62" name="Text 60"/>
          <p:cNvSpPr txBox="1"/>
          <p:nvPr/>
        </p:nvSpPr>
        <p:spPr>
          <a:xfrm>
            <a:off x="85161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9715500" y="3886200"/>
            <a:ext cx="1714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종전 대비 개선율</a:t>
            </a:r>
            <a:endParaRPr lang="en-US" sz="788" dirty="0"/>
          </a:p>
        </p:txBody>
      </p:sp>
      <p:sp>
        <p:nvSpPr>
          <p:cNvPr id="64" name="Text 62"/>
          <p:cNvSpPr txBox="1"/>
          <p:nvPr/>
        </p:nvSpPr>
        <p:spPr>
          <a:xfrm>
            <a:off x="9715500" y="4076700"/>
            <a:ext cx="572262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800" b="1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91.3</a:t>
            </a:r>
            <a:endParaRPr lang="en-US" sz="1800" dirty="0"/>
          </a:p>
        </p:txBody>
      </p:sp>
      <p:sp>
        <p:nvSpPr>
          <p:cNvPr id="65" name="Text 63"/>
          <p:cNvSpPr txBox="1"/>
          <p:nvPr/>
        </p:nvSpPr>
        <p:spPr>
          <a:xfrm>
            <a:off x="10344912" y="4191000"/>
            <a:ext cx="4000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dirty="0">
                <a:solidFill>
                  <a:srgbClr val="93A6B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975" dirty="0"/>
          </a:p>
        </p:txBody>
      </p:sp>
      <p:sp>
        <p:nvSpPr>
          <p:cNvPr id="66" name="Text 64"/>
          <p:cNvSpPr txBox="1"/>
          <p:nvPr/>
        </p:nvSpPr>
        <p:spPr>
          <a:xfrm>
            <a:off x="7734300" y="4705350"/>
            <a:ext cx="3771900" cy="5680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학습에 쓰지 않은 회차에서도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수준</a:t>
            </a:r>
            <a:endParaRPr lang="en-US" sz="1575" dirty="0"/>
          </a:p>
        </p:txBody>
      </p:sp>
      <p:sp>
        <p:nvSpPr>
          <p:cNvPr id="67" name="Text 65"/>
          <p:cNvSpPr txBox="1"/>
          <p:nvPr/>
        </p:nvSpPr>
        <p:spPr>
          <a:xfrm>
            <a:off x="7734300" y="5353050"/>
            <a:ext cx="377190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4회차는 학습에 넣지 않고 예측만 했습니다. 누적 36회차 채점과 비슷하게 나왔습니다.</a:t>
            </a:r>
            <a:endParaRPr lang="en-US" sz="1125" dirty="0"/>
          </a:p>
        </p:txBody>
      </p:sp>
      <p:sp>
        <p:nvSpPr>
          <p:cNvPr id="68" name="Shape 66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70" name="Text 68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지표를 좋게 만들려고 다른 지표를 희생하지 않았습니다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같은 방향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으로 움직였습니다.</a:t>
            </a:r>
            <a:endParaRPr lang="en-US" sz="1238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정성 효과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숫자보다 오래 남는 것은,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설명할 수 있게 됐다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 점입니다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 개선치는 회차마다 달라집니다. 그러나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숫자인지 말할 수 있게 된 것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은 되돌아가지 않습니다.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858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재현성</a:t>
            </a:r>
            <a:endParaRPr lang="en-US" sz="788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답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나옵니다</a:t>
            </a:r>
            <a:endParaRPr lang="en-US" sz="1575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데이터와 같은 코드면 누가 돌려도 같은 값입니다. 사람의 판단이 끼어들 자리가 없습니다.</a:t>
            </a:r>
            <a:endParaRPr lang="en-US" sz="1125" dirty="0"/>
          </a:p>
        </p:txBody>
      </p:sp>
      <p:sp>
        <p:nvSpPr>
          <p:cNvPr id="17" name="Shape 15"/>
          <p:cNvSpPr/>
          <p:nvPr/>
        </p:nvSpPr>
        <p:spPr>
          <a:xfrm>
            <a:off x="6210300" y="27432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210300" y="28765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추적성</a:t>
            </a:r>
            <a:endParaRPr lang="en-US" sz="788" dirty="0"/>
          </a:p>
        </p:txBody>
      </p:sp>
      <p:sp>
        <p:nvSpPr>
          <p:cNvPr id="19" name="Text 17"/>
          <p:cNvSpPr txBox="1"/>
          <p:nvPr/>
        </p:nvSpPr>
        <p:spPr>
          <a:xfrm>
            <a:off x="6210300" y="30861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그 값인지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되짚을 수 있습니다</a:t>
            </a:r>
            <a:endParaRPr lang="en-US" sz="1575" dirty="0"/>
          </a:p>
        </p:txBody>
      </p:sp>
      <p:sp>
        <p:nvSpPr>
          <p:cNvPr id="20" name="Text 18"/>
          <p:cNvSpPr txBox="1"/>
          <p:nvPr/>
        </p:nvSpPr>
        <p:spPr>
          <a:xfrm>
            <a:off x="6210300" y="34861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회차마다 취득 시각·검증 통과 여부·선택된 방식이 남습니다. 감사도 설명도 이 기록으로 합니다.</a:t>
            </a:r>
            <a:endParaRPr lang="en-US" sz="1125" dirty="0"/>
          </a:p>
        </p:txBody>
      </p:sp>
      <p:sp>
        <p:nvSpPr>
          <p:cNvPr id="21" name="Shape 19"/>
          <p:cNvSpPr/>
          <p:nvPr/>
        </p:nvSpPr>
        <p:spPr>
          <a:xfrm>
            <a:off x="6858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858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이관성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이어집니다</a:t>
            </a:r>
            <a:endParaRPr lang="en-US" sz="1575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값을 만드는 것이 사람의 감이 아니라 절차입니다. 인수인계 문서가 아니라 코드가 기준입니다.</a:t>
            </a:r>
            <a:endParaRPr lang="en-US" sz="1125" dirty="0"/>
          </a:p>
        </p:txBody>
      </p:sp>
      <p:sp>
        <p:nvSpPr>
          <p:cNvPr id="25" name="Shape 23"/>
          <p:cNvSpPr/>
          <p:nvPr/>
        </p:nvSpPr>
        <p:spPr>
          <a:xfrm>
            <a:off x="6210300" y="438150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210300" y="451485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확장성</a:t>
            </a:r>
            <a:endParaRPr lang="en-US" sz="788" dirty="0"/>
          </a:p>
        </p:txBody>
      </p:sp>
      <p:sp>
        <p:nvSpPr>
          <p:cNvPr id="27" name="Text 25"/>
          <p:cNvSpPr txBox="1"/>
          <p:nvPr/>
        </p:nvSpPr>
        <p:spPr>
          <a:xfrm>
            <a:off x="6210300" y="472440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사업소로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옮길 수 있습니다</a:t>
            </a:r>
            <a:endParaRPr lang="en-US" sz="1575" dirty="0"/>
          </a:p>
        </p:txBody>
      </p:sp>
      <p:sp>
        <p:nvSpPr>
          <p:cNvPr id="28" name="Text 26"/>
          <p:cNvSpPr txBox="1"/>
          <p:nvPr/>
        </p:nvSpPr>
        <p:spPr>
          <a:xfrm>
            <a:off x="6210300" y="5124450"/>
            <a:ext cx="529590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계산식만 갈아끼우면 학습 층과 검증 가드는 그대로 씁니다. 처음부터 다시 만들지 않습니다.</a:t>
            </a:r>
            <a:endParaRPr lang="en-US" sz="1125" dirty="0"/>
          </a:p>
        </p:txBody>
      </p:sp>
      <p:sp>
        <p:nvSpPr>
          <p:cNvPr id="29" name="Shape 27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바꾼 것은 숫자가 아니라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숫자를 정하는 방법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238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19100"/>
            <a:ext cx="5715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125"/>
              </a:lnSpc>
              <a:buNone/>
            </a:pPr>
            <a:r>
              <a:rPr lang="en-US" sz="900" b="1" spc="190" kern="0" dirty="0">
                <a:solidFill>
                  <a:srgbClr val="93A6B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마일스톤</a:t>
            </a:r>
            <a:endParaRPr lang="en-US" sz="900" dirty="0"/>
          </a:p>
        </p:txBody>
      </p:sp>
      <p:sp>
        <p:nvSpPr>
          <p:cNvPr id="3" name="Shape 1"/>
          <p:cNvSpPr/>
          <p:nvPr/>
        </p:nvSpPr>
        <p:spPr>
          <a:xfrm>
            <a:off x="106775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4" name="Shape 2"/>
          <p:cNvSpPr/>
          <p:nvPr/>
        </p:nvSpPr>
        <p:spPr>
          <a:xfrm>
            <a:off x="108108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5" name="Shape 3"/>
          <p:cNvSpPr/>
          <p:nvPr/>
        </p:nvSpPr>
        <p:spPr>
          <a:xfrm>
            <a:off x="109442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6" name="Shape 4"/>
          <p:cNvSpPr/>
          <p:nvPr/>
        </p:nvSpPr>
        <p:spPr>
          <a:xfrm>
            <a:off x="110775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7" name="Shape 5"/>
          <p:cNvSpPr/>
          <p:nvPr/>
        </p:nvSpPr>
        <p:spPr>
          <a:xfrm>
            <a:off x="1121092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8" name="Shape 6"/>
          <p:cNvSpPr/>
          <p:nvPr/>
        </p:nvSpPr>
        <p:spPr>
          <a:xfrm>
            <a:off x="11344275" y="504825"/>
            <a:ext cx="28575" cy="47625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9" name="Shape 7"/>
          <p:cNvSpPr/>
          <p:nvPr/>
        </p:nvSpPr>
        <p:spPr>
          <a:xfrm>
            <a:off x="11477625" y="428625"/>
            <a:ext cx="28575" cy="123825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10" name="Shape 8"/>
          <p:cNvSpPr/>
          <p:nvPr/>
        </p:nvSpPr>
        <p:spPr>
          <a:xfrm>
            <a:off x="685800" y="6858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914400"/>
            <a:ext cx="10287000" cy="8881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이론만 갈아끼우면,</a:t>
            </a:r>
            <a:endParaRPr lang="en-US" sz="2775" dirty="0"/>
          </a:p>
          <a:p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구조의 사업소에</a:t>
            </a:r>
            <a:pPr algn="l" indent="0" marL="0">
              <a:lnSpc>
                <a:spcPts val="3496"/>
              </a:lnSpc>
              <a:buNone/>
            </a:pPr>
            <a:r>
              <a:rPr lang="en-US" sz="27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그대로 적용됩니다</a:t>
            </a:r>
            <a:endParaRPr lang="en-US" sz="2775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000250"/>
            <a:ext cx="10287000" cy="5692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과제가 만든 것의 대부분은 특정 설비와 무관합니다. 옮길 때 다시 만드는 것은 </a:t>
            </a:r>
            <a:pPr algn="l" indent="0" marL="0">
              <a:lnSpc>
                <a:spcPts val="2241"/>
              </a:lnSpc>
              <a:buNone/>
            </a:pPr>
            <a:r>
              <a:rPr lang="en-US" sz="1350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계산식 한 층</a:t>
            </a:r>
            <a:pPr algn="l" indent="0" marL="0">
              <a:lnSpc>
                <a:spcPts val="2241"/>
              </a:lnSpc>
              <a:buNone/>
            </a:pPr>
            <a:r>
              <a:rPr lang="en-US" sz="13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뿐입니다.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85800" y="2743200"/>
            <a:ext cx="10820400" cy="1066800"/>
          </a:xfrm>
          <a:prstGeom prst="rect">
            <a:avLst/>
          </a:prstGeom>
          <a:solidFill>
            <a:srgbClr val="0A1320"/>
          </a:solidFill>
          <a:ln w="12700">
            <a:solidFill>
              <a:srgbClr val="18283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" y="2857500"/>
            <a:ext cx="3810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63798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진행 경과</a:t>
            </a:r>
            <a:endParaRPr lang="en-US" sz="788" dirty="0"/>
          </a:p>
        </p:txBody>
      </p:sp>
      <p:sp>
        <p:nvSpPr>
          <p:cNvPr id="15" name="Shape 13"/>
          <p:cNvSpPr/>
          <p:nvPr/>
        </p:nvSpPr>
        <p:spPr>
          <a:xfrm>
            <a:off x="1733550" y="3390900"/>
            <a:ext cx="8724900" cy="0"/>
          </a:xfrm>
          <a:prstGeom prst="line">
            <a:avLst/>
          </a:prstGeom>
          <a:noFill/>
          <a:ln w="17780">
            <a:solidFill>
              <a:srgbClr val="2235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3550" y="3390900"/>
            <a:ext cx="6543675" cy="0"/>
          </a:xfrm>
          <a:prstGeom prst="line">
            <a:avLst/>
          </a:prstGeom>
          <a:noFill/>
          <a:ln w="17780">
            <a:solidFill>
              <a:srgbClr val="EFB1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8116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6858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착수</a:t>
            </a:r>
            <a:endParaRPr lang="en-US" sz="975" dirty="0"/>
          </a:p>
        </p:txBody>
      </p:sp>
      <p:sp>
        <p:nvSpPr>
          <p:cNvPr id="19" name="Shape 17"/>
          <p:cNvSpPr/>
          <p:nvPr/>
        </p:nvSpPr>
        <p:spPr>
          <a:xfrm>
            <a:off x="3862387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6702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재현</a:t>
            </a:r>
            <a:endParaRPr lang="en-US" sz="975" dirty="0"/>
          </a:p>
        </p:txBody>
      </p:sp>
      <p:sp>
        <p:nvSpPr>
          <p:cNvPr id="21" name="Shape 19"/>
          <p:cNvSpPr/>
          <p:nvPr/>
        </p:nvSpPr>
        <p:spPr>
          <a:xfrm>
            <a:off x="6043613" y="3338513"/>
            <a:ext cx="104775" cy="104775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04825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36회차 적층</a:t>
            </a:r>
            <a:endParaRPr lang="en-US" sz="975" dirty="0"/>
          </a:p>
        </p:txBody>
      </p:sp>
      <p:sp>
        <p:nvSpPr>
          <p:cNvPr id="23" name="Shape 21"/>
          <p:cNvSpPr/>
          <p:nvPr/>
        </p:nvSpPr>
        <p:spPr>
          <a:xfrm>
            <a:off x="8201025" y="3314700"/>
            <a:ext cx="152400" cy="152400"/>
          </a:xfrm>
          <a:prstGeom prst="ellipse">
            <a:avLst/>
          </a:prstGeom>
          <a:solidFill>
            <a:srgbClr val="EFB13C"/>
          </a:solidFill>
          <a:ln/>
        </p:spPr>
      </p:sp>
      <p:sp>
        <p:nvSpPr>
          <p:cNvPr id="24" name="Shape 22"/>
          <p:cNvSpPr/>
          <p:nvPr/>
        </p:nvSpPr>
        <p:spPr>
          <a:xfrm>
            <a:off x="8243888" y="3357563"/>
            <a:ext cx="66675" cy="66675"/>
          </a:xfrm>
          <a:prstGeom prst="ellipse">
            <a:avLst/>
          </a:prstGeom>
          <a:solidFill>
            <a:srgbClr val="0A132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7229475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시운전 4회차 실측</a:t>
            </a:r>
            <a:endParaRPr lang="en-US" sz="975" dirty="0"/>
          </a:p>
        </p:txBody>
      </p:sp>
      <p:sp>
        <p:nvSpPr>
          <p:cNvPr id="26" name="Shape 24"/>
          <p:cNvSpPr/>
          <p:nvPr/>
        </p:nvSpPr>
        <p:spPr>
          <a:xfrm>
            <a:off x="10406063" y="3338513"/>
            <a:ext cx="104775" cy="104775"/>
          </a:xfrm>
          <a:prstGeom prst="ellipse">
            <a:avLst/>
          </a:prstGeom>
          <a:solidFill>
            <a:srgbClr val="22354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410700" y="3543300"/>
            <a:ext cx="20955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6379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수평 전개</a:t>
            </a:r>
            <a:endParaRPr lang="en-US" sz="975" dirty="0"/>
          </a:p>
        </p:txBody>
      </p:sp>
      <p:sp>
        <p:nvSpPr>
          <p:cNvPr id="28" name="Text 26"/>
          <p:cNvSpPr txBox="1"/>
          <p:nvPr/>
        </p:nvSpPr>
        <p:spPr>
          <a:xfrm>
            <a:off x="7896225" y="3162300"/>
            <a:ext cx="7620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현재</a:t>
            </a:r>
            <a:endParaRPr lang="en-US" sz="788" dirty="0"/>
          </a:p>
        </p:txBody>
      </p:sp>
      <p:sp>
        <p:nvSpPr>
          <p:cNvPr id="29" name="Shape 27"/>
          <p:cNvSpPr/>
          <p:nvPr/>
        </p:nvSpPr>
        <p:spPr>
          <a:xfrm>
            <a:off x="685800" y="4095750"/>
            <a:ext cx="5295900" cy="19050"/>
          </a:xfrm>
          <a:prstGeom prst="rect">
            <a:avLst/>
          </a:prstGeom>
          <a:solidFill>
            <a:srgbClr val="EFB13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그대로 옮기는 것</a:t>
            </a:r>
            <a:endParaRPr lang="en-US" sz="788" dirty="0"/>
          </a:p>
        </p:txBody>
      </p:sp>
      <p:sp>
        <p:nvSpPr>
          <p:cNvPr id="31" name="Text 29"/>
          <p:cNvSpPr txBox="1"/>
          <p:nvPr/>
        </p:nvSpPr>
        <p:spPr>
          <a:xfrm>
            <a:off x="6858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전체의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대부분</a:t>
            </a:r>
            <a:endParaRPr lang="en-US" sz="1575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온도별로 학습하는 구조와 채점 방식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6858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검증 가드 3종 (IGV·습도 교차·수식 대조)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6858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취득 파이프와 누적 이력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85800" y="56197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현황 화면과 신호등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0300" y="4095750"/>
            <a:ext cx="5295900" cy="19050"/>
          </a:xfrm>
          <a:prstGeom prst="rect">
            <a:avLst/>
          </a:prstGeom>
          <a:solidFill>
            <a:srgbClr val="22354A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0300" y="4229100"/>
            <a:ext cx="52959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5E779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갈아끼우는 것</a:t>
            </a:r>
            <a:endParaRPr lang="en-US" sz="788" dirty="0"/>
          </a:p>
        </p:txBody>
      </p:sp>
      <p:sp>
        <p:nvSpPr>
          <p:cNvPr id="38" name="Text 36"/>
          <p:cNvSpPr txBox="1"/>
          <p:nvPr/>
        </p:nvSpPr>
        <p:spPr>
          <a:xfrm>
            <a:off x="6210300" y="4438650"/>
            <a:ext cx="5295900" cy="284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EAE7E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사업소마다 </a:t>
            </a:r>
            <a:pPr algn="l" indent="0" marL="0">
              <a:lnSpc>
                <a:spcPts val="2237"/>
              </a:lnSpc>
              <a:buNone/>
            </a:pPr>
            <a:r>
              <a:rPr lang="en-US" sz="1575" b="1" dirty="0">
                <a:solidFill>
                  <a:srgbClr val="5E779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것</a:t>
            </a:r>
            <a:endParaRPr lang="en-US" sz="1575" dirty="0"/>
          </a:p>
        </p:txBody>
      </p:sp>
      <p:sp>
        <p:nvSpPr>
          <p:cNvPr id="39" name="Text 37"/>
          <p:cNvSpPr txBox="1"/>
          <p:nvPr/>
        </p:nvSpPr>
        <p:spPr>
          <a:xfrm>
            <a:off x="6210300" y="48196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그 설비의 이론 출력 계산식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6210300" y="50863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설비 상수와 성능 곡선</a:t>
            </a:r>
            <a:endParaRPr lang="en-US" sz="1050" dirty="0"/>
          </a:p>
        </p:txBody>
      </p:sp>
      <p:sp>
        <p:nvSpPr>
          <p:cNvPr id="41" name="Text 39"/>
          <p:cNvSpPr txBox="1"/>
          <p:nvPr/>
        </p:nvSpPr>
        <p:spPr>
          <a:xfrm>
            <a:off x="6210300" y="5353050"/>
            <a:ext cx="5295900" cy="1800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8"/>
              </a:lnSpc>
              <a:buNone/>
            </a:pPr>
            <a:r>
              <a:rPr lang="en-US" sz="1050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신고 서식의 수식 규칙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210300" y="5657850"/>
            <a:ext cx="5295900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125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먼저 이론값을 그 사업소 실적으로 재현하는 것이 첫 단계입니다.</a:t>
            </a:r>
            <a:endParaRPr lang="en-US" sz="1125" dirty="0"/>
          </a:p>
        </p:txBody>
      </p:sp>
      <p:sp>
        <p:nvSpPr>
          <p:cNvPr id="43" name="Shape 41"/>
          <p:cNvSpPr/>
          <p:nvPr/>
        </p:nvSpPr>
        <p:spPr>
          <a:xfrm>
            <a:off x="685800" y="6057900"/>
            <a:ext cx="10820400" cy="0"/>
          </a:xfrm>
          <a:prstGeom prst="line">
            <a:avLst/>
          </a:prstGeom>
          <a:noFill/>
          <a:ln w="12700">
            <a:solidFill>
              <a:srgbClr val="22354A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85800" y="6267450"/>
            <a:ext cx="4762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spc="180" kern="0" dirty="0">
                <a:solidFill>
                  <a:srgbClr val="EFB1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결론</a:t>
            </a:r>
            <a:endParaRPr lang="en-US" sz="788" dirty="0"/>
          </a:p>
        </p:txBody>
      </p:sp>
      <p:sp>
        <p:nvSpPr>
          <p:cNvPr id="45" name="Text 43"/>
          <p:cNvSpPr txBox="1"/>
          <p:nvPr/>
        </p:nvSpPr>
        <p:spPr>
          <a:xfrm>
            <a:off x="1219200" y="6229350"/>
            <a:ext cx="10287000" cy="2200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사업소를 위해 만든 것이 아닙니다 — </a:t>
            </a:r>
            <a:pPr algn="l" indent="0" marL="0">
              <a:lnSpc>
                <a:spcPts val="1733"/>
              </a:lnSpc>
              <a:buNone/>
            </a:pPr>
            <a:r>
              <a:rPr lang="en-US" sz="1238" b="1" dirty="0">
                <a:solidFill>
                  <a:srgbClr val="EFB1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구조라면 이론만 바꿔 씁니다</a:t>
            </a:r>
            <a:pPr algn="l" indent="0" marL="0">
              <a:lnSpc>
                <a:spcPts val="1733"/>
              </a:lnSpc>
              <a:buNone/>
            </a:pPr>
            <a:r>
              <a:rPr lang="en-US" sz="1238" dirty="0">
                <a:solidFill>
                  <a:srgbClr val="BCC9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1238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2026-08-31T22:48:39Z</dcterms:created>
  <dcterms:modified xsi:type="dcterms:W3CDTF">2026-08-31T22:48:39Z</dcterms:modified>
</cp:coreProperties>
</file>