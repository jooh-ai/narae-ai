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· 위례열병합발전소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0" y="381000"/>
            <a:ext cx="190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2026. 09.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066800"/>
            <a:ext cx="5676900" cy="1128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42"/>
              </a:lnSpc>
              <a:buNone/>
            </a:pPr>
            <a:r>
              <a:rPr lang="en-US" sz="35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산정,</a:t>
            </a:r>
            <a:endParaRPr lang="en-US" sz="3525" dirty="0"/>
          </a:p>
          <a:p>
            <a:pPr algn="l" indent="0" marL="0">
              <a:lnSpc>
                <a:spcPts val="4442"/>
              </a:lnSpc>
              <a:buNone/>
            </a:pPr>
            <a:r>
              <a:rPr lang="en-US" sz="35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사람의 판단에서 </a:t>
            </a:r>
            <a:pPr algn="l" indent="0" marL="0">
              <a:lnSpc>
                <a:spcPts val="4442"/>
              </a:lnSpc>
              <a:buNone/>
            </a:pPr>
            <a:r>
              <a:rPr lang="en-US" sz="35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데이터로</a:t>
            </a:r>
            <a:endParaRPr lang="en-US" sz="3525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667000"/>
            <a:ext cx="54102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온도가 달라도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5E77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 하나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맞춰 온 신고를,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온도별로 학습하는 모델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바꿨습니다.</a:t>
            </a:r>
            <a:endParaRPr lang="en-US" sz="1575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733800"/>
            <a:ext cx="52578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방식과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데이터 · 같은 조건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에서 채점한 결과입니다. 누적 36회차, 한 건씩 가려 맞혀봤습니다.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362700" y="1066800"/>
            <a:ext cx="5143500" cy="30099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15100" y="1200150"/>
            <a:ext cx="4572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보정값 · 단위 MW  ·  외기온도 0 ~ 30℃</a:t>
            </a:r>
            <a:endParaRPr lang="en-US" sz="788" dirty="0"/>
          </a:p>
        </p:txBody>
      </p:sp>
      <p:sp>
        <p:nvSpPr>
          <p:cNvPr id="10" name="Shape 8"/>
          <p:cNvSpPr/>
          <p:nvPr/>
        </p:nvSpPr>
        <p:spPr>
          <a:xfrm>
            <a:off x="6896100" y="1666875"/>
            <a:ext cx="4286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96100" y="2657475"/>
            <a:ext cx="42862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96100" y="3152775"/>
            <a:ext cx="4286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96100" y="1666875"/>
            <a:ext cx="0" cy="14859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5100" y="1628775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6515100" y="2619375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6515100" y="3114675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972300" y="3152775"/>
            <a:ext cx="0" cy="47625"/>
          </a:xfrm>
          <a:prstGeom prst="line">
            <a:avLst/>
          </a:prstGeom>
          <a:noFill/>
          <a:ln w="12700">
            <a:solidFill>
              <a:srgbClr val="63798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74370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8324850" y="3152775"/>
            <a:ext cx="0" cy="47625"/>
          </a:xfrm>
          <a:prstGeom prst="line">
            <a:avLst/>
          </a:prstGeom>
          <a:noFill/>
          <a:ln w="12700">
            <a:solidFill>
              <a:srgbClr val="63798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9625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9677400" y="3152775"/>
            <a:ext cx="0" cy="47625"/>
          </a:xfrm>
          <a:prstGeom prst="line">
            <a:avLst/>
          </a:prstGeom>
          <a:noFill/>
          <a:ln w="12700">
            <a:solidFill>
              <a:srgbClr val="63798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44880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11029950" y="3152775"/>
            <a:ext cx="0" cy="47625"/>
          </a:xfrm>
          <a:prstGeom prst="line">
            <a:avLst/>
          </a:prstGeom>
          <a:noFill/>
          <a:ln w="12700">
            <a:solidFill>
              <a:srgbClr val="63798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80135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6896100" y="2305050"/>
            <a:ext cx="4286250" cy="0"/>
          </a:xfrm>
          <a:prstGeom prst="line">
            <a:avLst/>
          </a:prstGeom>
          <a:noFill/>
          <a:ln w="33020">
            <a:solidFill>
              <a:srgbClr val="8CA3BC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6972300" y="2118360"/>
            <a:ext cx="2095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CA3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· 하나의 값 +2.84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972300" y="1733550"/>
            <a:ext cx="1352550" cy="28575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4850" y="2019300"/>
            <a:ext cx="1352550" cy="20955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677400" y="2228850"/>
            <a:ext cx="1352550" cy="72390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34200" y="1695450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1" name="Shape 29"/>
          <p:cNvSpPr/>
          <p:nvPr/>
        </p:nvSpPr>
        <p:spPr>
          <a:xfrm>
            <a:off x="8286750" y="1981200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2" name="Shape 30"/>
          <p:cNvSpPr/>
          <p:nvPr/>
        </p:nvSpPr>
        <p:spPr>
          <a:xfrm>
            <a:off x="9639300" y="2190750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3" name="Shape 31"/>
          <p:cNvSpPr/>
          <p:nvPr/>
        </p:nvSpPr>
        <p:spPr>
          <a:xfrm>
            <a:off x="10991850" y="2914650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067550" y="1842135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+7.5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0325100" y="3004185"/>
            <a:ext cx="6286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−2.4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972300" y="1790700"/>
            <a:ext cx="0" cy="45720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915150" y="1790700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915150" y="2247900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1029950" y="2362200"/>
            <a:ext cx="0" cy="53340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972800" y="2362200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972800" y="2895600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15100" y="3629025"/>
            <a:ext cx="247650" cy="0"/>
          </a:xfrm>
          <a:prstGeom prst="line">
            <a:avLst/>
          </a:prstGeom>
          <a:noFill/>
          <a:ln w="33020">
            <a:solidFill>
              <a:srgbClr val="8CA3BC"/>
            </a:solidFill>
            <a:prstDash val="dash"/>
          </a:ln>
        </p:spPr>
      </p:sp>
      <p:sp>
        <p:nvSpPr>
          <p:cNvPr id="43" name="Text 41"/>
          <p:cNvSpPr txBox="1"/>
          <p:nvPr/>
        </p:nvSpPr>
        <p:spPr>
          <a:xfrm>
            <a:off x="6838950" y="3552825"/>
            <a:ext cx="190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C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하나의 값 +2.84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896350" y="3629025"/>
            <a:ext cx="247650" cy="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220200" y="3552825"/>
            <a:ext cx="190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 · 온도별 곡선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6515100" y="3781425"/>
            <a:ext cx="4572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겨울 0℃ 4.7 MW 과소   ·   여름 30℃ 5.2 MW 과대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6362700" y="4305300"/>
            <a:ext cx="5143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점선 하나를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바꾼 것이 전부입니다.</a:t>
            </a:r>
            <a:endParaRPr lang="en-US" sz="1575" dirty="0"/>
          </a:p>
        </p:txBody>
      </p:sp>
      <p:sp>
        <p:nvSpPr>
          <p:cNvPr id="48" name="Shape 46"/>
          <p:cNvSpPr/>
          <p:nvPr/>
        </p:nvSpPr>
        <p:spPr>
          <a:xfrm>
            <a:off x="685800" y="48196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85800" y="491490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</a:t>
            </a:r>
            <a:endParaRPr lang="en-US" sz="788" dirty="0"/>
          </a:p>
        </p:txBody>
      </p:sp>
      <p:sp>
        <p:nvSpPr>
          <p:cNvPr id="50" name="Text 48"/>
          <p:cNvSpPr txBox="1"/>
          <p:nvPr/>
        </p:nvSpPr>
        <p:spPr>
          <a:xfrm>
            <a:off x="685800" y="5143500"/>
            <a:ext cx="1981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66%↓</a:t>
            </a:r>
            <a:endParaRPr lang="en-US" sz="3600" dirty="0"/>
          </a:p>
        </p:txBody>
      </p:sp>
      <p:sp>
        <p:nvSpPr>
          <p:cNvPr id="51" name="Text 49"/>
          <p:cNvSpPr txBox="1"/>
          <p:nvPr/>
        </p:nvSpPr>
        <p:spPr>
          <a:xfrm>
            <a:off x="685800" y="5724525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3.83 → 1.29 MW</a:t>
            </a:r>
            <a:endParaRPr lang="en-US" sz="1125" dirty="0"/>
          </a:p>
        </p:txBody>
      </p:sp>
      <p:sp>
        <p:nvSpPr>
          <p:cNvPr id="52" name="Text 50"/>
          <p:cNvSpPr txBox="1"/>
          <p:nvPr/>
        </p:nvSpPr>
        <p:spPr>
          <a:xfrm>
            <a:off x="2914650" y="491490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</a:t>
            </a:r>
            <a:endParaRPr lang="en-US" sz="788" dirty="0"/>
          </a:p>
        </p:txBody>
      </p:sp>
      <p:sp>
        <p:nvSpPr>
          <p:cNvPr id="53" name="Text 51"/>
          <p:cNvSpPr txBox="1"/>
          <p:nvPr/>
        </p:nvSpPr>
        <p:spPr>
          <a:xfrm>
            <a:off x="2914650" y="5143500"/>
            <a:ext cx="1981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79%↓</a:t>
            </a:r>
            <a:endParaRPr lang="en-US" sz="3600" dirty="0"/>
          </a:p>
        </p:txBody>
      </p:sp>
      <p:sp>
        <p:nvSpPr>
          <p:cNvPr id="54" name="Text 52"/>
          <p:cNvSpPr txBox="1"/>
          <p:nvPr/>
        </p:nvSpPr>
        <p:spPr>
          <a:xfrm>
            <a:off x="2914650" y="5724525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→ 3 건</a:t>
            </a:r>
            <a:endParaRPr lang="en-US" sz="1125" dirty="0"/>
          </a:p>
        </p:txBody>
      </p:sp>
      <p:sp>
        <p:nvSpPr>
          <p:cNvPr id="55" name="Text 53"/>
          <p:cNvSpPr txBox="1"/>
          <p:nvPr/>
        </p:nvSpPr>
        <p:spPr>
          <a:xfrm>
            <a:off x="5143500" y="491490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</a:t>
            </a:r>
            <a:endParaRPr lang="en-US" sz="788" dirty="0"/>
          </a:p>
        </p:txBody>
      </p:sp>
      <p:sp>
        <p:nvSpPr>
          <p:cNvPr id="56" name="Text 54"/>
          <p:cNvSpPr txBox="1"/>
          <p:nvPr/>
        </p:nvSpPr>
        <p:spPr>
          <a:xfrm>
            <a:off x="5143500" y="5143500"/>
            <a:ext cx="1981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88%↓</a:t>
            </a:r>
            <a:endParaRPr lang="en-US" sz="3600" dirty="0"/>
          </a:p>
        </p:txBody>
      </p:sp>
      <p:sp>
        <p:nvSpPr>
          <p:cNvPr id="57" name="Text 55"/>
          <p:cNvSpPr txBox="1"/>
          <p:nvPr/>
        </p:nvSpPr>
        <p:spPr>
          <a:xfrm>
            <a:off x="5143500" y="5724525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65.4 → 7.6 MW</a:t>
            </a:r>
            <a:endParaRPr lang="en-US" sz="1125" dirty="0"/>
          </a:p>
        </p:txBody>
      </p:sp>
      <p:sp>
        <p:nvSpPr>
          <p:cNvPr id="58" name="Shape 56"/>
          <p:cNvSpPr/>
          <p:nvPr/>
        </p:nvSpPr>
        <p:spPr>
          <a:xfrm>
            <a:off x="2667000" y="491490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895850" y="491490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124700" y="491490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372350" y="4914900"/>
            <a:ext cx="41338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무엇이 달라졌나</a:t>
            </a:r>
            <a:endParaRPr lang="en-US" sz="788" dirty="0"/>
          </a:p>
        </p:txBody>
      </p:sp>
      <p:sp>
        <p:nvSpPr>
          <p:cNvPr id="62" name="Text 60"/>
          <p:cNvSpPr txBox="1"/>
          <p:nvPr/>
        </p:nvSpPr>
        <p:spPr>
          <a:xfrm>
            <a:off x="7372350" y="5143500"/>
            <a:ext cx="413385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정하던 보정값 1개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사라졌습니다. 이제 온도별 실적이 값을 만들고, 회차가 쌓이면 스스로 다시 고릅니다.</a:t>
            </a:r>
            <a:endParaRPr lang="en-US" sz="1125" dirty="0"/>
          </a:p>
        </p:txBody>
      </p:sp>
      <p:sp>
        <p:nvSpPr>
          <p:cNvPr id="63" name="Shape 61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85800" y="6229350"/>
            <a:ext cx="571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 정비기술팀  ·  주현M · 정상우M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7696200" y="6229350"/>
            <a:ext cx="3810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발표 10분  ·  Tool 시연 4분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한 장 요약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9906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하나에 기대던 숫자를,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스스로 갱신합니다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00250"/>
            <a:ext cx="100965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온도가 달라도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보정값 하나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쓰던 방식을 온도별 실적을 학습하는 모델로 바꿨습니다. 같은 데이터로 채점했을 때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지표가 동시에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좋아졌습니다.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26860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8194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  ·  MW</a:t>
            </a:r>
            <a:endParaRPr lang="en-US" sz="788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048000"/>
            <a:ext cx="1905000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1.29</a:t>
            </a:r>
            <a:endParaRPr lang="en-US" sz="3150" dirty="0"/>
          </a:p>
        </p:txBody>
      </p:sp>
      <p:sp>
        <p:nvSpPr>
          <p:cNvPr id="9" name="Text 7"/>
          <p:cNvSpPr txBox="1"/>
          <p:nvPr/>
        </p:nvSpPr>
        <p:spPr>
          <a:xfrm>
            <a:off x="1847850" y="3257550"/>
            <a:ext cx="114300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425" dirty="0">
                <a:solidFill>
                  <a:srgbClr val="8C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3.83</a:t>
            </a:r>
            <a:endParaRPr lang="en-US" sz="1425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571875"/>
            <a:ext cx="32956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평균적으로 몇 MW 틀리는가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685800" y="3924300"/>
            <a:ext cx="3295650" cy="457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895475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13" name="Text 11"/>
          <p:cNvSpPr txBox="1"/>
          <p:nvPr/>
        </p:nvSpPr>
        <p:spPr>
          <a:xfrm>
            <a:off x="3238500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spc="120" kern="0" dirty="0">
                <a:solidFill>
                  <a:srgbClr val="8C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14" name="Shape 12"/>
          <p:cNvSpPr/>
          <p:nvPr/>
        </p:nvSpPr>
        <p:spPr>
          <a:xfrm>
            <a:off x="800100" y="4200525"/>
            <a:ext cx="30670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0100" y="4162425"/>
            <a:ext cx="1038225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6" name="Shape 14"/>
          <p:cNvSpPr/>
          <p:nvPr/>
        </p:nvSpPr>
        <p:spPr>
          <a:xfrm>
            <a:off x="3867150" y="4124325"/>
            <a:ext cx="0" cy="152400"/>
          </a:xfrm>
          <a:prstGeom prst="line">
            <a:avLst/>
          </a:prstGeom>
          <a:noFill/>
          <a:ln w="33020">
            <a:solidFill>
              <a:srgbClr val="8CA3B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448175" y="2686050"/>
            <a:ext cx="329565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448175" y="28194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  ·  건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4448175" y="3048000"/>
            <a:ext cx="1905000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3150" dirty="0"/>
          </a:p>
        </p:txBody>
      </p:sp>
      <p:sp>
        <p:nvSpPr>
          <p:cNvPr id="20" name="Text 18"/>
          <p:cNvSpPr txBox="1"/>
          <p:nvPr/>
        </p:nvSpPr>
        <p:spPr>
          <a:xfrm>
            <a:off x="5610225" y="3257550"/>
            <a:ext cx="114300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425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14</a:t>
            </a:r>
            <a:endParaRPr lang="en-US" sz="1425" dirty="0"/>
          </a:p>
        </p:txBody>
      </p:sp>
      <p:sp>
        <p:nvSpPr>
          <p:cNvPr id="21" name="Text 19"/>
          <p:cNvSpPr txBox="1"/>
          <p:nvPr/>
        </p:nvSpPr>
        <p:spPr>
          <a:xfrm>
            <a:off x="4448175" y="3571875"/>
            <a:ext cx="32956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실제가 낮아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벌점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걸린 회차</a:t>
            </a:r>
            <a:endParaRPr lang="en-US" sz="1125" dirty="0"/>
          </a:p>
        </p:txBody>
      </p:sp>
      <p:sp>
        <p:nvSpPr>
          <p:cNvPr id="22" name="Shape 20"/>
          <p:cNvSpPr/>
          <p:nvPr/>
        </p:nvSpPr>
        <p:spPr>
          <a:xfrm>
            <a:off x="4448175" y="3924300"/>
            <a:ext cx="3295650" cy="457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76850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24" name="Text 22"/>
          <p:cNvSpPr txBox="1"/>
          <p:nvPr/>
        </p:nvSpPr>
        <p:spPr>
          <a:xfrm>
            <a:off x="7000875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spc="12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25" name="Shape 23"/>
          <p:cNvSpPr/>
          <p:nvPr/>
        </p:nvSpPr>
        <p:spPr>
          <a:xfrm>
            <a:off x="4562475" y="4200525"/>
            <a:ext cx="30670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62475" y="4162425"/>
            <a:ext cx="657225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7" name="Shape 25"/>
          <p:cNvSpPr/>
          <p:nvPr/>
        </p:nvSpPr>
        <p:spPr>
          <a:xfrm>
            <a:off x="7629525" y="4124325"/>
            <a:ext cx="0" cy="152400"/>
          </a:xfrm>
          <a:prstGeom prst="line">
            <a:avLst/>
          </a:prstGeom>
          <a:noFill/>
          <a:ln w="33020">
            <a:solidFill>
              <a:srgbClr val="FF4D6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10550" y="26860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210550" y="28194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  ·  MW</a:t>
            </a:r>
            <a:endParaRPr lang="en-US" sz="788" dirty="0"/>
          </a:p>
        </p:txBody>
      </p:sp>
      <p:sp>
        <p:nvSpPr>
          <p:cNvPr id="30" name="Text 28"/>
          <p:cNvSpPr txBox="1"/>
          <p:nvPr/>
        </p:nvSpPr>
        <p:spPr>
          <a:xfrm>
            <a:off x="8210550" y="3048000"/>
            <a:ext cx="1905000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7.6</a:t>
            </a:r>
            <a:endParaRPr lang="en-US" sz="3150" dirty="0"/>
          </a:p>
        </p:txBody>
      </p:sp>
      <p:sp>
        <p:nvSpPr>
          <p:cNvPr id="31" name="Text 29"/>
          <p:cNvSpPr txBox="1"/>
          <p:nvPr/>
        </p:nvSpPr>
        <p:spPr>
          <a:xfrm>
            <a:off x="9372600" y="3257550"/>
            <a:ext cx="114300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425" dirty="0">
                <a:solidFill>
                  <a:srgbClr val="8C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65.4</a:t>
            </a:r>
            <a:endParaRPr lang="en-US" sz="1425" dirty="0"/>
          </a:p>
        </p:txBody>
      </p:sp>
      <p:sp>
        <p:nvSpPr>
          <p:cNvPr id="32" name="Text 30"/>
          <p:cNvSpPr txBox="1"/>
          <p:nvPr/>
        </p:nvSpPr>
        <p:spPr>
          <a:xfrm>
            <a:off x="8210550" y="3571875"/>
            <a:ext cx="32956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실제보다 높게 신고한 양의 합계</a:t>
            </a:r>
            <a:endParaRPr lang="en-US" sz="1125" dirty="0"/>
          </a:p>
        </p:txBody>
      </p:sp>
      <p:sp>
        <p:nvSpPr>
          <p:cNvPr id="33" name="Shape 31"/>
          <p:cNvSpPr/>
          <p:nvPr/>
        </p:nvSpPr>
        <p:spPr>
          <a:xfrm>
            <a:off x="8210550" y="3924300"/>
            <a:ext cx="3295650" cy="457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734425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10763250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spc="120" kern="0" dirty="0">
                <a:solidFill>
                  <a:srgbClr val="8C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36" name="Shape 34"/>
          <p:cNvSpPr/>
          <p:nvPr/>
        </p:nvSpPr>
        <p:spPr>
          <a:xfrm>
            <a:off x="8324850" y="4200525"/>
            <a:ext cx="30670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324850" y="4162425"/>
            <a:ext cx="352425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8" name="Shape 36"/>
          <p:cNvSpPr/>
          <p:nvPr/>
        </p:nvSpPr>
        <p:spPr>
          <a:xfrm>
            <a:off x="11391900" y="4124325"/>
            <a:ext cx="0" cy="152400"/>
          </a:xfrm>
          <a:prstGeom prst="line">
            <a:avLst/>
          </a:prstGeom>
          <a:noFill/>
          <a:ln w="33020">
            <a:solidFill>
              <a:srgbClr val="8CA3B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85800" y="4629150"/>
            <a:ext cx="10820400" cy="123825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40" name="Shape 38"/>
          <p:cNvSpPr/>
          <p:nvPr/>
        </p:nvSpPr>
        <p:spPr>
          <a:xfrm>
            <a:off x="685800" y="4629150"/>
            <a:ext cx="5410200" cy="19050"/>
          </a:xfrm>
          <a:prstGeom prst="rect">
            <a:avLst/>
          </a:prstGeom>
          <a:solidFill>
            <a:srgbClr val="5E7793"/>
          </a:solidFill>
          <a:ln/>
        </p:spPr>
      </p:sp>
      <p:sp>
        <p:nvSpPr>
          <p:cNvPr id="41" name="Shape 39"/>
          <p:cNvSpPr/>
          <p:nvPr/>
        </p:nvSpPr>
        <p:spPr>
          <a:xfrm>
            <a:off x="6096000" y="4629150"/>
            <a:ext cx="54102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2" name="Shape 40"/>
          <p:cNvSpPr/>
          <p:nvPr/>
        </p:nvSpPr>
        <p:spPr>
          <a:xfrm>
            <a:off x="6096000" y="4857750"/>
            <a:ext cx="0" cy="7810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867400" y="5067300"/>
            <a:ext cx="457200" cy="36195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867400" y="5105400"/>
            <a:ext cx="4572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75"/>
              </a:lnSpc>
              <a:buNone/>
            </a:pPr>
            <a:r>
              <a:rPr lang="en-US" sz="225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50" dirty="0"/>
          </a:p>
        </p:txBody>
      </p:sp>
      <p:sp>
        <p:nvSpPr>
          <p:cNvPr id="45" name="Text 43"/>
          <p:cNvSpPr txBox="1"/>
          <p:nvPr/>
        </p:nvSpPr>
        <p:spPr>
          <a:xfrm>
            <a:off x="914400" y="4791075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5E77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 ·  사람의 판단</a:t>
            </a:r>
            <a:endParaRPr lang="en-US" sz="788" dirty="0"/>
          </a:p>
        </p:txBody>
      </p:sp>
      <p:sp>
        <p:nvSpPr>
          <p:cNvPr id="46" name="Text 44"/>
          <p:cNvSpPr txBox="1"/>
          <p:nvPr/>
        </p:nvSpPr>
        <p:spPr>
          <a:xfrm>
            <a:off x="914400" y="5010150"/>
            <a:ext cx="476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5E77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5E77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5E77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사람이 정수로</a:t>
            </a:r>
            <a:endParaRPr lang="en-US" sz="1575" dirty="0"/>
          </a:p>
        </p:txBody>
      </p:sp>
      <p:sp>
        <p:nvSpPr>
          <p:cNvPr id="47" name="Text 45"/>
          <p:cNvSpPr txBox="1"/>
          <p:nvPr/>
        </p:nvSpPr>
        <p:spPr>
          <a:xfrm>
            <a:off x="6324600" y="4791075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현재  ·  데이터의 학습</a:t>
            </a:r>
            <a:endParaRPr lang="en-US" sz="788" dirty="0"/>
          </a:p>
        </p:txBody>
      </p:sp>
      <p:sp>
        <p:nvSpPr>
          <p:cNvPr id="48" name="Text 46"/>
          <p:cNvSpPr txBox="1"/>
          <p:nvPr/>
        </p:nvSpPr>
        <p:spPr>
          <a:xfrm>
            <a:off x="6324600" y="5010150"/>
            <a:ext cx="476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곡선을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갱신</a:t>
            </a:r>
            <a:endParaRPr lang="en-US" sz="1575" dirty="0"/>
          </a:p>
        </p:txBody>
      </p:sp>
      <p:sp>
        <p:nvSpPr>
          <p:cNvPr id="49" name="Shape 47"/>
          <p:cNvSpPr/>
          <p:nvPr/>
        </p:nvSpPr>
        <p:spPr>
          <a:xfrm>
            <a:off x="914400" y="542925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1009650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 계산</a:t>
            </a:r>
            <a:endParaRPr lang="en-US" sz="975" dirty="0"/>
          </a:p>
        </p:txBody>
      </p:sp>
      <p:sp>
        <p:nvSpPr>
          <p:cNvPr id="51" name="Shape 49"/>
          <p:cNvSpPr/>
          <p:nvPr/>
        </p:nvSpPr>
        <p:spPr>
          <a:xfrm>
            <a:off x="2886075" y="542925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2981325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실적과 비교</a:t>
            </a:r>
            <a:endParaRPr lang="en-US" sz="975" dirty="0"/>
          </a:p>
        </p:txBody>
      </p:sp>
      <p:sp>
        <p:nvSpPr>
          <p:cNvPr id="53" name="Shape 51"/>
          <p:cNvSpPr/>
          <p:nvPr/>
        </p:nvSpPr>
        <p:spPr>
          <a:xfrm>
            <a:off x="4857750" y="542925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953000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정수로 판단</a:t>
            </a:r>
            <a:endParaRPr lang="en-US" sz="975" dirty="0"/>
          </a:p>
        </p:txBody>
      </p:sp>
      <p:sp>
        <p:nvSpPr>
          <p:cNvPr id="55" name="Text 53"/>
          <p:cNvSpPr txBox="1"/>
          <p:nvPr/>
        </p:nvSpPr>
        <p:spPr>
          <a:xfrm>
            <a:off x="2305050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56" name="Text 54"/>
          <p:cNvSpPr txBox="1"/>
          <p:nvPr/>
        </p:nvSpPr>
        <p:spPr>
          <a:xfrm>
            <a:off x="4276725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57" name="Shape 55"/>
          <p:cNvSpPr/>
          <p:nvPr/>
        </p:nvSpPr>
        <p:spPr>
          <a:xfrm>
            <a:off x="6324600" y="5429250"/>
            <a:ext cx="904875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419850" y="5495925"/>
            <a:ext cx="71437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취득</a:t>
            </a:r>
            <a:endParaRPr lang="en-US" sz="975" dirty="0"/>
          </a:p>
        </p:txBody>
      </p:sp>
      <p:sp>
        <p:nvSpPr>
          <p:cNvPr id="59" name="Shape 57"/>
          <p:cNvSpPr/>
          <p:nvPr/>
        </p:nvSpPr>
        <p:spPr>
          <a:xfrm>
            <a:off x="8086725" y="5429250"/>
            <a:ext cx="1000125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8181975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학습</a:t>
            </a:r>
            <a:endParaRPr lang="en-US" sz="975" dirty="0"/>
          </a:p>
        </p:txBody>
      </p:sp>
      <p:sp>
        <p:nvSpPr>
          <p:cNvPr id="61" name="Shape 59"/>
          <p:cNvSpPr/>
          <p:nvPr/>
        </p:nvSpPr>
        <p:spPr>
          <a:xfrm>
            <a:off x="9944100" y="5429250"/>
            <a:ext cx="1333500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0039350" y="5495925"/>
            <a:ext cx="1143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 방식 재선정</a:t>
            </a:r>
            <a:endParaRPr lang="en-US" sz="975" dirty="0"/>
          </a:p>
        </p:txBody>
      </p:sp>
      <p:sp>
        <p:nvSpPr>
          <p:cNvPr id="63" name="Text 61"/>
          <p:cNvSpPr txBox="1"/>
          <p:nvPr/>
        </p:nvSpPr>
        <p:spPr>
          <a:xfrm>
            <a:off x="7562850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64" name="Text 62"/>
          <p:cNvSpPr txBox="1"/>
          <p:nvPr/>
        </p:nvSpPr>
        <p:spPr>
          <a:xfrm>
            <a:off x="9420225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65" name="Shape 6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67" name="Text 65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정하던 값이 아니라,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36회차 실적이 스스로 만들어 내는 값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추진 배경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3905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60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2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신고하는 숫자, 틀리면 양방향으로 손실이 납니다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685800" y="2857500"/>
            <a:ext cx="10820400" cy="2095500"/>
          </a:xfrm>
          <a:prstGeom prst="rect">
            <a:avLst/>
          </a:prstGeom>
          <a:solidFill>
            <a:srgbClr val="0A1320"/>
          </a:solidFill>
          <a:ln w="19050">
            <a:solidFill>
              <a:srgbClr val="22354A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685800" y="3695700"/>
            <a:ext cx="10820400" cy="226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85"/>
              </a:lnSpc>
              <a:buNone/>
            </a:pPr>
            <a:r>
              <a:rPr lang="en-US" sz="12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예정 — 이 장은 아직 만들지 않았습니다.</a:t>
            </a:r>
            <a:endParaRPr lang="en-US" sz="12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038600"/>
            <a:ext cx="108204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E2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03  ·  TODO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현황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3905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60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2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지금까지는 하나의 숫자로 맞춰 왔습니다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685800" y="2857500"/>
            <a:ext cx="10820400" cy="2095500"/>
          </a:xfrm>
          <a:prstGeom prst="rect">
            <a:avLst/>
          </a:prstGeom>
          <a:solidFill>
            <a:srgbClr val="0A1320"/>
          </a:solidFill>
          <a:ln w="19050">
            <a:solidFill>
              <a:srgbClr val="22354A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685800" y="3695700"/>
            <a:ext cx="10820400" cy="226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85"/>
              </a:lnSpc>
              <a:buNone/>
            </a:pPr>
            <a:r>
              <a:rPr lang="en-US" sz="12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예정 — 이 장은 아직 만들지 않았습니다.</a:t>
            </a:r>
            <a:endParaRPr lang="en-US" sz="12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038600"/>
            <a:ext cx="108204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E2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04  ·  TODO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3905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60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2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하나로는 맞출 수 없습니다 — 온도에 따라 갈립니다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685800" y="2857500"/>
            <a:ext cx="10820400" cy="2095500"/>
          </a:xfrm>
          <a:prstGeom prst="rect">
            <a:avLst/>
          </a:prstGeom>
          <a:solidFill>
            <a:srgbClr val="0A1320"/>
          </a:solidFill>
          <a:ln w="19050">
            <a:solidFill>
              <a:srgbClr val="22354A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685800" y="3695700"/>
            <a:ext cx="10820400" cy="226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85"/>
              </a:lnSpc>
              <a:buNone/>
            </a:pPr>
            <a:r>
              <a:rPr lang="en-US" sz="12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예정 — 이 장은 아직 만들지 않았습니다.</a:t>
            </a:r>
            <a:endParaRPr lang="en-US" sz="12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038600"/>
            <a:ext cx="108204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E2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05  ·  TODO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데이터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3905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60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2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사람 손을 거치지 않고 가져옵니다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685800" y="2857500"/>
            <a:ext cx="10820400" cy="2095500"/>
          </a:xfrm>
          <a:prstGeom prst="rect">
            <a:avLst/>
          </a:prstGeom>
          <a:solidFill>
            <a:srgbClr val="0A1320"/>
          </a:solidFill>
          <a:ln w="19050">
            <a:solidFill>
              <a:srgbClr val="22354A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685800" y="3695700"/>
            <a:ext cx="10820400" cy="226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85"/>
              </a:lnSpc>
              <a:buNone/>
            </a:pPr>
            <a:r>
              <a:rPr lang="en-US" sz="12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예정 — 이 장은 아직 만들지 않았습니다.</a:t>
            </a:r>
            <a:endParaRPr lang="en-US" sz="12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038600"/>
            <a:ext cx="108204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E2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06  ·  TODO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검증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3905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60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2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그럴듯한 설명 4개를 의심했고, 3개는 틀렸습니다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685800" y="2857500"/>
            <a:ext cx="10820400" cy="2095500"/>
          </a:xfrm>
          <a:prstGeom prst="rect">
            <a:avLst/>
          </a:prstGeom>
          <a:solidFill>
            <a:srgbClr val="0A1320"/>
          </a:solidFill>
          <a:ln w="19050">
            <a:solidFill>
              <a:srgbClr val="22354A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685800" y="3695700"/>
            <a:ext cx="10820400" cy="226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85"/>
              </a:lnSpc>
              <a:buNone/>
            </a:pPr>
            <a:r>
              <a:rPr lang="en-US" sz="12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예정 — 이 장은 아직 만들지 않았습니다.</a:t>
            </a:r>
            <a:endParaRPr lang="en-US" sz="12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038600"/>
            <a:ext cx="108204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E2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07  ·  TODO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해결 구조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3905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60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2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물리는 동결하고, 통계만 학습합니다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685800" y="2857500"/>
            <a:ext cx="10820400" cy="2095500"/>
          </a:xfrm>
          <a:prstGeom prst="rect">
            <a:avLst/>
          </a:prstGeom>
          <a:solidFill>
            <a:srgbClr val="0A1320"/>
          </a:solidFill>
          <a:ln w="19050">
            <a:solidFill>
              <a:srgbClr val="22354A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685800" y="3695700"/>
            <a:ext cx="10820400" cy="226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85"/>
              </a:lnSpc>
              <a:buNone/>
            </a:pPr>
            <a:r>
              <a:rPr lang="en-US" sz="12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예정 — 이 장은 아직 만들지 않았습니다.</a:t>
            </a:r>
            <a:endParaRPr lang="en-US" sz="12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038600"/>
            <a:ext cx="108204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E2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08  ·  TODO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모델 개발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3905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60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2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36건이라는 제약을 이렇게 넘었습니다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685800" y="2857500"/>
            <a:ext cx="10820400" cy="2095500"/>
          </a:xfrm>
          <a:prstGeom prst="rect">
            <a:avLst/>
          </a:prstGeom>
          <a:solidFill>
            <a:srgbClr val="0A1320"/>
          </a:solidFill>
          <a:ln w="19050">
            <a:solidFill>
              <a:srgbClr val="22354A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685800" y="3695700"/>
            <a:ext cx="10820400" cy="226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85"/>
              </a:lnSpc>
              <a:buNone/>
            </a:pPr>
            <a:r>
              <a:rPr lang="en-US" sz="12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예정 — 이 장은 아직 만들지 않았습니다.</a:t>
            </a:r>
            <a:endParaRPr lang="en-US" sz="12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038600"/>
            <a:ext cx="108204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E2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09  ·  TODO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모델 개발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3905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60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2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잇는 방식 7가지를 똑같은 조건에서 겨뤄 가장 잘 맞히는 하나를 골랐습니다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685800" y="2857500"/>
            <a:ext cx="10820400" cy="2095500"/>
          </a:xfrm>
          <a:prstGeom prst="rect">
            <a:avLst/>
          </a:prstGeom>
          <a:solidFill>
            <a:srgbClr val="0A1320"/>
          </a:solidFill>
          <a:ln w="19050">
            <a:solidFill>
              <a:srgbClr val="22354A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685800" y="3695700"/>
            <a:ext cx="10820400" cy="226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85"/>
              </a:lnSpc>
              <a:buNone/>
            </a:pPr>
            <a:r>
              <a:rPr lang="en-US" sz="12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예정 — 이 장은 아직 만들지 않았습니다.</a:t>
            </a:r>
            <a:endParaRPr lang="en-US" sz="12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038600"/>
            <a:ext cx="108204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E2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10  ·  TODO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모니터링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3905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60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2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회차가 쌓이면 스스로 다시 고릅니다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685800" y="2857500"/>
            <a:ext cx="10820400" cy="2095500"/>
          </a:xfrm>
          <a:prstGeom prst="rect">
            <a:avLst/>
          </a:prstGeom>
          <a:solidFill>
            <a:srgbClr val="0A1320"/>
          </a:solidFill>
          <a:ln w="19050">
            <a:solidFill>
              <a:srgbClr val="22354A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685800" y="3695700"/>
            <a:ext cx="10820400" cy="226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85"/>
              </a:lnSpc>
              <a:buNone/>
            </a:pPr>
            <a:r>
              <a:rPr lang="en-US" sz="12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예정 — 이 장은 아직 만들지 않았습니다.</a:t>
            </a:r>
            <a:endParaRPr lang="en-US" sz="12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038600"/>
            <a:ext cx="108204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E2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11  ·  TODO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시운전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3905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60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2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시운전에서 함정 3개를 만나 전부 코드로 못박았습니다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685800" y="2857500"/>
            <a:ext cx="10820400" cy="2095500"/>
          </a:xfrm>
          <a:prstGeom prst="rect">
            <a:avLst/>
          </a:prstGeom>
          <a:solidFill>
            <a:srgbClr val="0A1320"/>
          </a:solidFill>
          <a:ln w="19050">
            <a:solidFill>
              <a:srgbClr val="22354A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685800" y="3695700"/>
            <a:ext cx="10820400" cy="226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85"/>
              </a:lnSpc>
              <a:buNone/>
            </a:pPr>
            <a:r>
              <a:rPr lang="en-US" sz="12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예정 — 이 장은 아직 만들지 않았습니다.</a:t>
            </a:r>
            <a:endParaRPr lang="en-US" sz="12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038600"/>
            <a:ext cx="108204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E2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12  ·  TODO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정량 효과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3905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60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2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지표가 동시에 좋아졌습니다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685800" y="2857500"/>
            <a:ext cx="10820400" cy="2095500"/>
          </a:xfrm>
          <a:prstGeom prst="rect">
            <a:avLst/>
          </a:prstGeom>
          <a:solidFill>
            <a:srgbClr val="0A1320"/>
          </a:solidFill>
          <a:ln w="19050">
            <a:solidFill>
              <a:srgbClr val="22354A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685800" y="3695700"/>
            <a:ext cx="10820400" cy="226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85"/>
              </a:lnSpc>
              <a:buNone/>
            </a:pPr>
            <a:r>
              <a:rPr lang="en-US" sz="12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예정 — 이 장은 아직 만들지 않았습니다.</a:t>
            </a:r>
            <a:endParaRPr lang="en-US" sz="12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038600"/>
            <a:ext cx="108204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E2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13  ·  TODO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정성 효과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3905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60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2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숫자보다 오래 남는 것은 설명할 수 있게 됐다는 점입니다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685800" y="2857500"/>
            <a:ext cx="10820400" cy="2095500"/>
          </a:xfrm>
          <a:prstGeom prst="rect">
            <a:avLst/>
          </a:prstGeom>
          <a:solidFill>
            <a:srgbClr val="0A1320"/>
          </a:solidFill>
          <a:ln w="19050">
            <a:solidFill>
              <a:srgbClr val="22354A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685800" y="3695700"/>
            <a:ext cx="10820400" cy="226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85"/>
              </a:lnSpc>
              <a:buNone/>
            </a:pPr>
            <a:r>
              <a:rPr lang="en-US" sz="12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예정 — 이 장은 아직 만들지 않았습니다.</a:t>
            </a:r>
            <a:endParaRPr lang="en-US" sz="12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038600"/>
            <a:ext cx="108204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E2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14  ·  TODO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마일스톤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3905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60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2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이론만 갈아끼우면 같은 구조의 사업소에 그대로 적용됩니다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685800" y="2857500"/>
            <a:ext cx="10820400" cy="2095500"/>
          </a:xfrm>
          <a:prstGeom prst="rect">
            <a:avLst/>
          </a:prstGeom>
          <a:solidFill>
            <a:srgbClr val="0A1320"/>
          </a:solidFill>
          <a:ln w="19050">
            <a:solidFill>
              <a:srgbClr val="22354A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685800" y="3695700"/>
            <a:ext cx="10820400" cy="226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85"/>
              </a:lnSpc>
              <a:buNone/>
            </a:pPr>
            <a:r>
              <a:rPr lang="en-US" sz="12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예정 — 이 장은 아직 만들지 않았습니다.</a:t>
            </a:r>
            <a:endParaRPr lang="en-US" sz="12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038600"/>
            <a:ext cx="108204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E2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15  ·  TODO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나래에너지서비스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공급가능용량 산정 Tool — 최종 발표</dc:title>
  <dc:subject>위례열병합발전소 공급가능용량 산정 체계 개선</dc:subject>
  <dc:creator>주현M, 정상우M</dc:creator>
  <cp:lastModifiedBy>주현M, 정상우M</cp:lastModifiedBy>
  <cp:revision>1</cp:revision>
  <dcterms:created xsi:type="dcterms:W3CDTF">2026-08-31T15:18:29Z</dcterms:created>
  <dcterms:modified xsi:type="dcterms:W3CDTF">2026-08-31T15:18:29Z</dcterms:modified>
</cp:coreProperties>
</file>