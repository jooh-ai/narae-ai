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36회차,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05050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18360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33550"/>
            <a:ext cx="1352550" cy="2857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9300"/>
            <a:ext cx="1352550" cy="2095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28850"/>
            <a:ext cx="1352550" cy="72390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54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81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907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146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4213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3004185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90700"/>
            <a:ext cx="0" cy="45720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907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479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362200"/>
            <a:ext cx="0" cy="53340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3622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956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4.7 MW 과소   ·   여름 30℃ 5.2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 → 1.29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→ 3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 → 7.6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240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바꿔야 했는지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바꿨고 무엇이 좋아졌는지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 txBox="1"/>
          <p:nvPr/>
        </p:nvSpPr>
        <p:spPr>
          <a:xfrm>
            <a:off x="1333500" y="2343150"/>
            <a:ext cx="3429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4953000" y="2362200"/>
            <a:ext cx="5334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숫자, 틀리면 양쪽으로 손실이 납니다</a:t>
            </a:r>
            <a:endParaRPr lang="en-US" sz="1125" dirty="0"/>
          </a:p>
        </p:txBody>
      </p:sp>
      <p:sp>
        <p:nvSpPr>
          <p:cNvPr id="9" name="Text 7"/>
          <p:cNvSpPr txBox="1"/>
          <p:nvPr/>
        </p:nvSpPr>
        <p:spPr>
          <a:xfrm>
            <a:off x="10363200" y="239077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27051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8479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1333500" y="2867025"/>
            <a:ext cx="3429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및 문제점</a:t>
            </a:r>
            <a:endParaRPr lang="en-US" sz="1575" dirty="0"/>
          </a:p>
        </p:txBody>
      </p:sp>
      <p:sp>
        <p:nvSpPr>
          <p:cNvPr id="13" name="Text 11"/>
          <p:cNvSpPr txBox="1"/>
          <p:nvPr/>
        </p:nvSpPr>
        <p:spPr>
          <a:xfrm>
            <a:off x="4953000" y="2886075"/>
            <a:ext cx="5334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하나로 메워 온 방식과, 그것으로는 맞출 수 없는 이유</a:t>
            </a:r>
            <a:endParaRPr lang="en-US" sz="1125" dirty="0"/>
          </a:p>
        </p:txBody>
      </p:sp>
      <p:sp>
        <p:nvSpPr>
          <p:cNvPr id="14" name="Text 12"/>
          <p:cNvSpPr txBox="1"/>
          <p:nvPr/>
        </p:nvSpPr>
        <p:spPr>
          <a:xfrm>
            <a:off x="10363200" y="2914650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~ 06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85800" y="32289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3718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50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390900"/>
            <a:ext cx="3429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확보 및 분석</a:t>
            </a:r>
            <a:endParaRPr lang="en-US" sz="1575" dirty="0"/>
          </a:p>
        </p:txBody>
      </p:sp>
      <p:sp>
        <p:nvSpPr>
          <p:cNvPr id="18" name="Text 16"/>
          <p:cNvSpPr txBox="1"/>
          <p:nvPr/>
        </p:nvSpPr>
        <p:spPr>
          <a:xfrm>
            <a:off x="4953000" y="3409950"/>
            <a:ext cx="5334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손을 거치지 않는 취득과, 가설 4개의 검증</a:t>
            </a:r>
            <a:endParaRPr lang="en-US" sz="1125" dirty="0"/>
          </a:p>
        </p:txBody>
      </p:sp>
      <p:sp>
        <p:nvSpPr>
          <p:cNvPr id="19" name="Text 17"/>
          <p:cNvSpPr txBox="1"/>
          <p:nvPr/>
        </p:nvSpPr>
        <p:spPr>
          <a:xfrm>
            <a:off x="10363200" y="34385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08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89572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1333500" y="3914775"/>
            <a:ext cx="3429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개발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4953000" y="3933825"/>
            <a:ext cx="5334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동결하고 차이만 학습 · 잇는 방식 7가지 채점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10363200" y="3962400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~ 11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85800" y="427672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41960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950" dirty="0"/>
          </a:p>
        </p:txBody>
      </p:sp>
      <p:sp>
        <p:nvSpPr>
          <p:cNvPr id="27" name="Text 25"/>
          <p:cNvSpPr txBox="1"/>
          <p:nvPr/>
        </p:nvSpPr>
        <p:spPr>
          <a:xfrm>
            <a:off x="1333500" y="4438650"/>
            <a:ext cx="3429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및 모니터링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4953000" y="4457700"/>
            <a:ext cx="5334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갱신하는 체계와, 시운전에서 만난 함정 3개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10363200" y="448627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~ 13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4943475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33500" y="4962525"/>
            <a:ext cx="3429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효과</a:t>
            </a:r>
            <a:endParaRPr lang="en-US" sz="1575" dirty="0"/>
          </a:p>
        </p:txBody>
      </p:sp>
      <p:sp>
        <p:nvSpPr>
          <p:cNvPr id="33" name="Text 31"/>
          <p:cNvSpPr txBox="1"/>
          <p:nvPr/>
        </p:nvSpPr>
        <p:spPr>
          <a:xfrm>
            <a:off x="4953000" y="4981575"/>
            <a:ext cx="5334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3지표와 정성 4관점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10363200" y="5010150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~ 15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85800" y="5324475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5467350"/>
            <a:ext cx="4953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950" dirty="0"/>
          </a:p>
        </p:txBody>
      </p:sp>
      <p:sp>
        <p:nvSpPr>
          <p:cNvPr id="37" name="Text 35"/>
          <p:cNvSpPr txBox="1"/>
          <p:nvPr/>
        </p:nvSpPr>
        <p:spPr>
          <a:xfrm>
            <a:off x="1333500" y="5486400"/>
            <a:ext cx="3429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75" dirty="0"/>
          </a:p>
        </p:txBody>
      </p:sp>
      <p:sp>
        <p:nvSpPr>
          <p:cNvPr id="38" name="Text 36"/>
          <p:cNvSpPr txBox="1"/>
          <p:nvPr/>
        </p:nvSpPr>
        <p:spPr>
          <a:xfrm>
            <a:off x="4953000" y="5505450"/>
            <a:ext cx="5334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마일스톤과 수평 전개</a:t>
            </a:r>
            <a:endParaRPr lang="en-US" sz="1125" dirty="0"/>
          </a:p>
        </p:txBody>
      </p:sp>
      <p:sp>
        <p:nvSpPr>
          <p:cNvPr id="39" name="Text 37"/>
          <p:cNvSpPr txBox="1"/>
          <p:nvPr/>
        </p:nvSpPr>
        <p:spPr>
          <a:xfrm>
            <a:off x="10363200" y="55340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10분 +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 4분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오른쪽 숫자는 해당 장입니다.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98717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2537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3.83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54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38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26108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486165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14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768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657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74514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7.6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10809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65.4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442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3524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A8BCD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매주 신고합니다. 그 숫자가 그대로 입찰이 되므로, 실제와 어긋나면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어긋난 방향에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손실이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주간 신고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예보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448050" y="3067050"/>
            <a:ext cx="19050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3300" y="3133725"/>
            <a:ext cx="1714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 계산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934200" y="3067050"/>
            <a:ext cx="123825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9450" y="3133725"/>
            <a:ext cx="1047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적용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753600" y="3067050"/>
            <a:ext cx="147637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850" y="3133725"/>
            <a:ext cx="12858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 확정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6222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60483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677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신고하면  ·  기회손실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팝니다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낼 수 있는 출력보다 낮게 신고하면 그만큼 입찰에서 빠집니다.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858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8200" y="548640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4.7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63885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21145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에서 낮게 잡힌 폭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+2.84 vs 실제 +7.50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높게 신고하면  ·  페널티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62103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벌점이 걸립니다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62103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신고값에 실제가 못 미치면 미달입니다.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2103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2700" y="5486400"/>
            <a:ext cx="318707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950" dirty="0"/>
          </a:p>
        </p:txBody>
      </p:sp>
      <p:sp>
        <p:nvSpPr>
          <p:cNvPr id="40" name="Text 38"/>
          <p:cNvSpPr txBox="1"/>
          <p:nvPr/>
        </p:nvSpPr>
        <p:spPr>
          <a:xfrm>
            <a:off x="6738557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6390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기준 미달 회차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36회차 가운데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및 문제점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현황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실적의 차이를,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메워 왔습니다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계산값과 실제 발전량의 차이를 담당자가 판단해 정수 하나로 정하고,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무관하게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값을 그대로 적용해 왔습니다.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4000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4000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3개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1242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050" y="31908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출력표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85800" y="363855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050" y="370522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실적과 대조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41529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050" y="42195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신고서 작성·제출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819150" y="34480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9150" y="39624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629150"/>
            <a:ext cx="40005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단계에서 보정값이 정해집니다. 계산이 아니라 담당자의 판단이었고, 근거는 문서로 남지 않았습니다.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914900" y="2743200"/>
            <a:ext cx="6591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4900" y="2876550"/>
            <a:ext cx="6591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담당자가 적용한 보정값  ·  2025 상반기 16회차  ·  단위 MW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4914900" y="3048000"/>
            <a:ext cx="65913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30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506730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6020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546020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585311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2" name="Text 30"/>
          <p:cNvSpPr txBox="1"/>
          <p:nvPr/>
        </p:nvSpPr>
        <p:spPr>
          <a:xfrm>
            <a:off x="585311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24601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624601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663892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663892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703183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8" name="Text 36"/>
          <p:cNvSpPr txBox="1"/>
          <p:nvPr/>
        </p:nvSpPr>
        <p:spPr>
          <a:xfrm>
            <a:off x="703183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24737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40" name="Text 38"/>
          <p:cNvSpPr txBox="1"/>
          <p:nvPr/>
        </p:nvSpPr>
        <p:spPr>
          <a:xfrm>
            <a:off x="7424737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781764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781764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821055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4" name="Text 42"/>
          <p:cNvSpPr txBox="1"/>
          <p:nvPr/>
        </p:nvSpPr>
        <p:spPr>
          <a:xfrm>
            <a:off x="821055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60345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6" name="Text 44"/>
          <p:cNvSpPr txBox="1"/>
          <p:nvPr/>
        </p:nvSpPr>
        <p:spPr>
          <a:xfrm>
            <a:off x="860345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99636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899636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38926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50" name="Text 48"/>
          <p:cNvSpPr txBox="1"/>
          <p:nvPr/>
        </p:nvSpPr>
        <p:spPr>
          <a:xfrm>
            <a:off x="938926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978217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978217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17508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1017508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0567988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10567988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096089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58" name="Text 56"/>
          <p:cNvSpPr txBox="1"/>
          <p:nvPr/>
        </p:nvSpPr>
        <p:spPr>
          <a:xfrm>
            <a:off x="1096089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067300" y="34671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67300" y="3733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줄은 그 회차의 외기온도 ℃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4914900" y="4171950"/>
            <a:ext cx="65913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18℃ 차이인데 같은 값</a:t>
            </a:r>
            <a:endParaRPr lang="en-US" sz="1575" dirty="0"/>
          </a:p>
        </p:txBody>
      </p:sp>
      <p:sp>
        <p:nvSpPr>
          <p:cNvPr id="62" name="Shape 60"/>
          <p:cNvSpPr/>
          <p:nvPr/>
        </p:nvSpPr>
        <p:spPr>
          <a:xfrm>
            <a:off x="4914900" y="4610100"/>
            <a:ext cx="6591300" cy="723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1054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5105400" y="4933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+3.69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873115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2390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범위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7239000" y="4933950"/>
            <a:ext cx="110032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 ~ +6</a:t>
            </a:r>
            <a:endParaRPr lang="en-US" sz="1800" dirty="0"/>
          </a:p>
        </p:txBody>
      </p:sp>
      <p:sp>
        <p:nvSpPr>
          <p:cNvPr id="68" name="Text 66"/>
          <p:cNvSpPr txBox="1"/>
          <p:nvPr/>
        </p:nvSpPr>
        <p:spPr>
          <a:xfrm>
            <a:off x="8396478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 온도 폭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933950"/>
            <a:ext cx="14020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 ~ 36.6</a:t>
            </a:r>
            <a:endParaRPr lang="en-US" sz="1800" dirty="0"/>
          </a:p>
        </p:txBody>
      </p:sp>
      <p:sp>
        <p:nvSpPr>
          <p:cNvPr id="71" name="Text 69"/>
          <p:cNvSpPr txBox="1"/>
          <p:nvPr/>
        </p:nvSpPr>
        <p:spPr>
          <a:xfrm>
            <a:off x="10831830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4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달라져도 값이 거의 그대로입니다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및 문제점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 정의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에서 +12.9 까지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36회차의 실제 보정값을 온도 축에 찍었습니다. 값이 흩어진 것이 아닙니다.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내려가는 기울기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7239000" cy="3200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2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36회차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162050" y="33623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2050" y="380047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050" y="42386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050" y="51149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2050" y="4676775"/>
            <a:ext cx="66103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2050" y="3143250"/>
            <a:ext cx="0" cy="21907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" y="32861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" y="37242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" y="41624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" y="46005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" y="5038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501045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72445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196019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7419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90992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2392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5966" y="53340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7366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62050" y="4365689"/>
            <a:ext cx="66103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905500" y="4156139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131375" y="3210639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16123" y="3263217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1788800" y="368074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7795" y="401702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2483739" y="404769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3236" y="409698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2822734" y="414408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2975281" y="395897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3076980" y="424157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3365125" y="4079462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9371" y="411341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3670221" y="388448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3721070" y="3932682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3907517" y="3837384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3924467" y="398416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6165" y="403017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0411" y="405426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4297361" y="401812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5077049" y="435549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5721139" y="4873609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55038" y="500176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5771988" y="470601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5822837" y="47191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6110983" y="493495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6317994" y="516150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6585575" y="4817745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6656989" y="5007054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3" name="Shape 61"/>
          <p:cNvSpPr/>
          <p:nvPr/>
        </p:nvSpPr>
        <p:spPr>
          <a:xfrm>
            <a:off x="6839822" y="4737783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6958470" y="471039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7009319" y="492071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69" y="4490228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7026269" y="4411361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7161867" y="4568000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7195766" y="489770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7331364" y="4561427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7585610" y="4412456"/>
            <a:ext cx="68580" cy="6858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428750" y="32766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938" dirty="0"/>
          </a:p>
        </p:txBody>
      </p:sp>
      <p:sp>
        <p:nvSpPr>
          <p:cNvPr id="73" name="Text 71"/>
          <p:cNvSpPr txBox="1"/>
          <p:nvPr/>
        </p:nvSpPr>
        <p:spPr>
          <a:xfrm>
            <a:off x="5676900" y="4876800"/>
            <a:ext cx="20955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938" dirty="0"/>
          </a:p>
        </p:txBody>
      </p:sp>
      <p:sp>
        <p:nvSpPr>
          <p:cNvPr id="74" name="Shape 72"/>
          <p:cNvSpPr/>
          <p:nvPr/>
        </p:nvSpPr>
        <p:spPr>
          <a:xfrm>
            <a:off x="8115300" y="2705100"/>
            <a:ext cx="3390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115300" y="28384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오차 상위 4회차  ·  MW</a:t>
            </a:r>
            <a:endParaRPr lang="en-US" sz="788" dirty="0"/>
          </a:p>
        </p:txBody>
      </p:sp>
      <p:sp>
        <p:nvSpPr>
          <p:cNvPr id="76" name="Shape 74"/>
          <p:cNvSpPr/>
          <p:nvPr/>
        </p:nvSpPr>
        <p:spPr>
          <a:xfrm>
            <a:off x="8115300" y="3009900"/>
            <a:ext cx="3390900" cy="1790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267700" y="31718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26-01-13</a:t>
            </a:r>
            <a:endParaRPr lang="en-US" sz="863" dirty="0"/>
          </a:p>
        </p:txBody>
      </p:sp>
      <p:sp>
        <p:nvSpPr>
          <p:cNvPr id="78" name="Text 76"/>
          <p:cNvSpPr txBox="1"/>
          <p:nvPr/>
        </p:nvSpPr>
        <p:spPr>
          <a:xfrm>
            <a:off x="9067800" y="31718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9658350" y="3162300"/>
            <a:ext cx="990600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706100" y="31718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-10.40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8267700" y="35337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26-01-08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9067800" y="35337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9658350" y="3524250"/>
            <a:ext cx="943928" cy="1524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706100" y="35337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-9.91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8267700" y="38957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26-07-22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9067800" y="38957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9658350" y="3886200"/>
            <a:ext cx="753427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706100" y="38957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+7.91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8267700" y="42576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25-09-02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9067800" y="42576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658350" y="4248150"/>
            <a:ext cx="616268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0706100" y="42576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+6.47</a:t>
            </a:r>
            <a:endParaRPr lang="en-US" sz="938" dirty="0"/>
          </a:p>
        </p:txBody>
      </p:sp>
      <p:sp>
        <p:nvSpPr>
          <p:cNvPr id="93" name="Text 91"/>
          <p:cNvSpPr txBox="1"/>
          <p:nvPr/>
        </p:nvSpPr>
        <p:spPr>
          <a:xfrm>
            <a:off x="8267700" y="4533900"/>
            <a:ext cx="30861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= 팔 수 있었는데 못 팜   ·   높게 = 기준 미달</a:t>
            </a:r>
            <a:endParaRPr lang="en-US" sz="825" dirty="0"/>
          </a:p>
        </p:txBody>
      </p:sp>
      <p:sp>
        <p:nvSpPr>
          <p:cNvPr id="94" name="Text 92"/>
          <p:cNvSpPr txBox="1"/>
          <p:nvPr/>
        </p:nvSpPr>
        <p:spPr>
          <a:xfrm>
            <a:off x="8115300" y="49530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틀립니다</a:t>
            </a:r>
            <a:endParaRPr lang="en-US" sz="1575" dirty="0"/>
          </a:p>
        </p:txBody>
      </p:sp>
      <p:sp>
        <p:nvSpPr>
          <p:cNvPr id="95" name="Text 93"/>
          <p:cNvSpPr txBox="1"/>
          <p:nvPr/>
        </p:nvSpPr>
        <p:spPr>
          <a:xfrm>
            <a:off x="8115300" y="5334000"/>
            <a:ext cx="3390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상수를 올리거나 내려서는 못 고칩니다.</a:t>
            </a:r>
            <a:endParaRPr lang="en-US" sz="1125" dirty="0"/>
          </a:p>
        </p:txBody>
      </p:sp>
      <p:sp>
        <p:nvSpPr>
          <p:cNvPr id="96" name="Shape 9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8" name="Text 9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확보 및 분석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데이터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바로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가져옵니다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서버와 표준 통신으로 직접 연결해 6가지 값을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받습니다. 옮겨 적는 단계가 없으니 오타도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취득 경로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1047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857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계측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352800" y="3067050"/>
            <a:ext cx="1428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8050" y="3133725"/>
            <a:ext cx="1238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통신 직결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496050" y="3067050"/>
            <a:ext cx="1809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91300" y="3133725"/>
            <a:ext cx="1619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10020300" y="3067050"/>
            <a:ext cx="12573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15550" y="3133725"/>
            <a:ext cx="1066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후 누적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336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59245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7730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받아 오는 값  ·  6가지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685800" y="4076700"/>
            <a:ext cx="52959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8200" y="42100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2400300" y="42100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고르는 기준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838200" y="44196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8200" y="44577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400300" y="44577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38200" y="46672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8200" y="47053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400300" y="47053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 2대 교차 확인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838200" y="49149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8200" y="49530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400300" y="49530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838200" y="51625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8200" y="52006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400300" y="52006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대조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838200" y="54102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8200" y="54483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실시 여부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2400300" y="54483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미실시면 반영 차단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2대를 함께 봅니다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두 값이 벌어지면 반영을 보류합니다.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산정 탭  ·  최신 화면 삽입 자리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210300" y="4076700"/>
            <a:ext cx="4991100" cy="16002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6210300" y="4667250"/>
            <a:ext cx="4991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캡쳐를 여기에 넣습니다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6210300" y="4933950"/>
            <a:ext cx="4991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524 × 168 px  ·  가로 5.46 in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2103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 결과 요약줄에 값·시각·검증 통과 여부가 함께 찍힙니다.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출처가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그대로 남습니다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나중에 왜 그 값이었는지 되짚을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확보 및 분석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가설 검증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4개를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갈리는 이유를 설명할 후보를 세우고 데이터로 하나씩 검증했습니다.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살아남은 것은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수준이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달랐다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685800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5건의 IGV 효과 평균이 +0.09 였습니다. 설비가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원인이었습니다.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38525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2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3438525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잔차로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예측할 수 있다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3438525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38525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438525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5건일 때 관련성 −0.85 로 강했지만,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36건에서 +0.09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사라졌습니다. 표본 5개의 과대해석이었습니다.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91250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3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191250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표와의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차이는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항 때문이다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6191250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91250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191250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58건을 대조하니 차이가 온도에 비례했습니다. 진공이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자체의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943975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4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8943975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외기온도의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함수다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8943975" y="4038600"/>
            <a:ext cx="704850" cy="28575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43975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943975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33.64 + 1.242 × 온도, 관련성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+0.947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온도 하나로 설명됩니다.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685800" y="5505450"/>
            <a:ext cx="10820400" cy="400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5619750"/>
            <a:ext cx="103632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 5개로 보였던 관련성 −0.85 는 36개에서 +0.09 로 사라졌습니다  ·  적은 데이터로 결론을 내리지 않는 것이 이 과제의 규칙입니다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하나였습니다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온도로 나눠 학습합니다.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이론은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학습합니다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계산은 검증된 그대로 동결합니다. 학습하는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뿐이고, 그 차이를 온도별로 나눠 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7048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704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2단 구조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67050"/>
            <a:ext cx="70485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8200" y="32004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동결 — 손대지 않는다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838200" y="34099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7719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데이터가 쌓여도 바뀌지 않습니다.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42481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42862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685800" y="45529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4552950"/>
            <a:ext cx="7048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8200" y="46863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학습 — 데이터가 갱신한다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8958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나눠 학습하는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838200" y="52578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학습해 값을 갱신합니다. 사람이 정하는 상수는 여기에 없습니다.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115300" y="2743200"/>
            <a:ext cx="3390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5300" y="28765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신고값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8115300" y="3067050"/>
            <a:ext cx="3390900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7700" y="32385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8267700" y="348615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온도별 보정값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8267700" y="3733800"/>
            <a:ext cx="30861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7700" y="37719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 주간 신고값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8115300" y="41529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굳이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둘로 나눴나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8115300" y="45529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검증된 이론을 흔들지 않는다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48650" y="47529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이론이 틀렸다는 말을 하지 않아도 된다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115300" y="50101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틀린 원인을 찾을 수 있다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48650" y="52101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문제인지 보정 문제인지 갈린다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8115300" y="54673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다른 사업소에 옮길 수 있다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48650" y="56673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2층은 그대로다</a:t>
            </a:r>
            <a:endParaRPr lang="en-US" sz="938" dirty="0"/>
          </a:p>
        </p:txBody>
      </p:sp>
      <p:sp>
        <p:nvSpPr>
          <p:cNvPr id="41" name="Shape 3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 두고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배웁니다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다른 사업소로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36건뿐이라는 제약을,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설계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넘었습니다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구간마다 건수가 고르지 않습니다. 가장 빈약한 구간은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적은 데이터로 과신하지 않도록 검증 방식을 먼저 정했습니다.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회차 수  ·  누적 36회차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57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17" name="Shape 15"/>
          <p:cNvSpPr/>
          <p:nvPr/>
        </p:nvSpPr>
        <p:spPr>
          <a:xfrm>
            <a:off x="1828800" y="3238500"/>
            <a:ext cx="2066925" cy="1905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71925" y="32670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004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20" name="Shape 18"/>
          <p:cNvSpPr/>
          <p:nvPr/>
        </p:nvSpPr>
        <p:spPr>
          <a:xfrm>
            <a:off x="1828800" y="3581400"/>
            <a:ext cx="1771650" cy="1905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76650" y="36099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838200" y="3943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1828800" y="3924300"/>
            <a:ext cx="885825" cy="1905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790825" y="39528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2862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1828800" y="4267200"/>
            <a:ext cx="295275" cy="1905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200275" y="42957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838200" y="46291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828800" y="4610100"/>
            <a:ext cx="1771650" cy="1905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676650" y="46386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838200" y="49720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1828800" y="4953000"/>
            <a:ext cx="3248025" cy="1905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153025" y="49815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11건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562600"/>
            <a:ext cx="5676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구간은 1건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이 구간을 다른 구간과 같은 무게로 믿으면 안 됩니다.</a:t>
            </a:r>
            <a:endParaRPr lang="en-US" sz="1125" dirty="0"/>
          </a:p>
        </p:txBody>
      </p:sp>
      <p:sp>
        <p:nvSpPr>
          <p:cNvPr id="35" name="Shape 33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이렇게 검증했습니다</a:t>
            </a:r>
            <a:endParaRPr lang="en-US" sz="788" dirty="0"/>
          </a:p>
        </p:txBody>
      </p:sp>
      <p:sp>
        <p:nvSpPr>
          <p:cNvPr id="37" name="Shape 35"/>
          <p:cNvSpPr/>
          <p:nvPr/>
        </p:nvSpPr>
        <p:spPr>
          <a:xfrm>
            <a:off x="6591300" y="30670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43700" y="32004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7124700" y="32004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맞혀보기</a:t>
            </a:r>
            <a:endParaRPr lang="en-US" sz="1575" dirty="0"/>
          </a:p>
        </p:txBody>
      </p:sp>
      <p:sp>
        <p:nvSpPr>
          <p:cNvPr id="40" name="Text 38"/>
          <p:cNvSpPr txBox="1"/>
          <p:nvPr/>
        </p:nvSpPr>
        <p:spPr>
          <a:xfrm>
            <a:off x="7124700" y="35052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하나를 가리고 나머지 35건으로 맞혀봅니다. 36번 반복하니 모의고사와 같습니다.</a:t>
            </a:r>
            <a:endParaRPr lang="en-US" sz="1125" dirty="0"/>
          </a:p>
        </p:txBody>
      </p:sp>
      <p:sp>
        <p:nvSpPr>
          <p:cNvPr id="41" name="Shape 39"/>
          <p:cNvSpPr/>
          <p:nvPr/>
        </p:nvSpPr>
        <p:spPr>
          <a:xfrm>
            <a:off x="6591300" y="403860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743700" y="417195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950" dirty="0"/>
          </a:p>
        </p:txBody>
      </p:sp>
      <p:sp>
        <p:nvSpPr>
          <p:cNvPr id="43" name="Text 41"/>
          <p:cNvSpPr txBox="1"/>
          <p:nvPr/>
        </p:nvSpPr>
        <p:spPr>
          <a:xfrm>
            <a:off x="7124700" y="417195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방식을 여럿 비교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7124700" y="447675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방식만 써서 잘 나왔다고 하지 않습니다. 7가지를 같은 자리에서 채점합니다.</a:t>
            </a:r>
            <a:endParaRPr lang="en-US" sz="1125" dirty="0"/>
          </a:p>
        </p:txBody>
      </p:sp>
      <p:sp>
        <p:nvSpPr>
          <p:cNvPr id="45" name="Shape 43"/>
          <p:cNvSpPr/>
          <p:nvPr/>
        </p:nvSpPr>
        <p:spPr>
          <a:xfrm>
            <a:off x="6591300" y="50101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43700" y="51435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47" name="Text 45"/>
          <p:cNvSpPr txBox="1"/>
          <p:nvPr/>
        </p:nvSpPr>
        <p:spPr>
          <a:xfrm>
            <a:off x="7124700" y="51435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온도대별로 골고루 나눠 뽑기</a:t>
            </a:r>
            <a:endParaRPr lang="en-US" sz="1575" dirty="0"/>
          </a:p>
        </p:txBody>
      </p:sp>
      <p:sp>
        <p:nvSpPr>
          <p:cNvPr id="48" name="Text 46"/>
          <p:cNvSpPr txBox="1"/>
          <p:nvPr/>
        </p:nvSpPr>
        <p:spPr>
          <a:xfrm>
            <a:off x="7124700" y="54483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온도대가 통째로 빠지면 채점이 왜곡됩니다. 구간마다 섞어 나눕니다.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적을 때 필요한 것은 더 좋은 수식이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엄한 채점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개발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맞히는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나머지로 맞혀보는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36번 채점했습니다.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평균 오차·큰 오차·설명력 세 지표 모두 1위였습니다.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6286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  ·  단위 MW  ·  낮을수록 좋음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286500" cy="1009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004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838200" y="3371850"/>
            <a:ext cx="5337663" cy="1428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86500" y="3333750"/>
            <a:ext cx="666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195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GP · RBF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838200" y="3790950"/>
            <a:ext cx="1827032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81300" y="3743325"/>
            <a:ext cx="85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</a:t>
            </a:r>
            <a:endParaRPr lang="en-US" sz="1875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2100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후보 7가지 정밀 비교  ·  1.30 ~ 1.50 구간만 확대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24765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433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01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769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429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2476500" y="4438650"/>
            <a:ext cx="256032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808732" y="4429125"/>
            <a:ext cx="571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1.312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619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 Quadratic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2476500" y="4629150"/>
            <a:ext cx="597408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50108" y="4619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1.328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810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5/2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2476500" y="4819650"/>
            <a:ext cx="704088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56788" y="4810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1.333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000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3/2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2476500" y="5010150"/>
            <a:ext cx="1045464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98164" y="5000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1.349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191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지수형</a:t>
            </a:r>
            <a:endParaRPr lang="en-US" sz="938" dirty="0"/>
          </a:p>
        </p:txBody>
      </p:sp>
      <p:sp>
        <p:nvSpPr>
          <p:cNvPr id="40" name="Shape 38"/>
          <p:cNvSpPr/>
          <p:nvPr/>
        </p:nvSpPr>
        <p:spPr>
          <a:xfrm>
            <a:off x="2476500" y="5200650"/>
            <a:ext cx="2112264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664964" y="5191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1.399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381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 평균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2476500" y="5391150"/>
            <a:ext cx="2645664" cy="12382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198364" y="5381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1.424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5572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온도구간 평균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2476500" y="5581650"/>
            <a:ext cx="3904488" cy="12382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57188" y="5572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1.483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22479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33147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1.35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43815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54483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713" dirty="0"/>
          </a:p>
        </p:txBody>
      </p:sp>
      <p:sp>
        <p:nvSpPr>
          <p:cNvPr id="52" name="Shape 50"/>
          <p:cNvSpPr/>
          <p:nvPr/>
        </p:nvSpPr>
        <p:spPr>
          <a:xfrm>
            <a:off x="7353300" y="2705100"/>
            <a:ext cx="4152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353300" y="2838450"/>
            <a:ext cx="4152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방식별 보정 곡선  ·  0 ~ 30℃  ·  MW</a:t>
            </a:r>
            <a:endParaRPr lang="en-US" sz="788" dirty="0"/>
          </a:p>
        </p:txBody>
      </p:sp>
      <p:sp>
        <p:nvSpPr>
          <p:cNvPr id="54" name="Shape 52"/>
          <p:cNvSpPr/>
          <p:nvPr/>
        </p:nvSpPr>
        <p:spPr>
          <a:xfrm>
            <a:off x="7353300" y="3067050"/>
            <a:ext cx="41529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3333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72400" y="4095750"/>
            <a:ext cx="3543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72400" y="4476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505700" y="3257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59" name="Text 57"/>
          <p:cNvSpPr txBox="1"/>
          <p:nvPr/>
        </p:nvSpPr>
        <p:spPr>
          <a:xfrm>
            <a:off x="7505700" y="4019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60" name="Text 58"/>
          <p:cNvSpPr txBox="1"/>
          <p:nvPr/>
        </p:nvSpPr>
        <p:spPr>
          <a:xfrm>
            <a:off x="7505700" y="4400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13" dirty="0"/>
          </a:p>
        </p:txBody>
      </p:sp>
      <p:sp>
        <p:nvSpPr>
          <p:cNvPr id="61" name="Text 59"/>
          <p:cNvSpPr txBox="1"/>
          <p:nvPr/>
        </p:nvSpPr>
        <p:spPr>
          <a:xfrm>
            <a:off x="76200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62" name="Text 60"/>
          <p:cNvSpPr txBox="1"/>
          <p:nvPr/>
        </p:nvSpPr>
        <p:spPr>
          <a:xfrm>
            <a:off x="8750618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63" name="Text 61"/>
          <p:cNvSpPr txBox="1"/>
          <p:nvPr/>
        </p:nvSpPr>
        <p:spPr>
          <a:xfrm>
            <a:off x="9881235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64" name="Text 62"/>
          <p:cNvSpPr txBox="1"/>
          <p:nvPr/>
        </p:nvSpPr>
        <p:spPr>
          <a:xfrm>
            <a:off x="11011852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65" name="Shape 63"/>
          <p:cNvSpPr/>
          <p:nvPr/>
        </p:nvSpPr>
        <p:spPr>
          <a:xfrm>
            <a:off x="7848600" y="3372803"/>
            <a:ext cx="1130618" cy="23812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979218" y="3610928"/>
            <a:ext cx="1130618" cy="15716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09835" y="3768090"/>
            <a:ext cx="1130617" cy="56388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48600" y="3380423"/>
            <a:ext cx="1130618" cy="22860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79218" y="3609023"/>
            <a:ext cx="1130618" cy="17145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9835" y="3780472"/>
            <a:ext cx="1130617" cy="55054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8600" y="3378518"/>
            <a:ext cx="1130618" cy="25336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79218" y="3631883"/>
            <a:ext cx="1130618" cy="16859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09835" y="3800475"/>
            <a:ext cx="1130617" cy="52673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848600" y="3370897"/>
            <a:ext cx="1130618" cy="24003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979218" y="3610928"/>
            <a:ext cx="1130618" cy="15335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109835" y="3764280"/>
            <a:ext cx="1130617" cy="56578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848600" y="3381375"/>
            <a:ext cx="1130618" cy="22193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979218" y="3603308"/>
            <a:ext cx="1130618" cy="16192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09835" y="3765233"/>
            <a:ext cx="1130617" cy="55721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09835" y="3726180"/>
            <a:ext cx="0" cy="112395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52685" y="372618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052685" y="383857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205085" y="3705225"/>
            <a:ext cx="1238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0.38 갈림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0382250" y="4438650"/>
            <a:ext cx="9334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 끝은 0.10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7353300" y="5257800"/>
            <a:ext cx="4152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1575" dirty="0"/>
          </a:p>
        </p:txBody>
      </p:sp>
      <p:sp>
        <p:nvSpPr>
          <p:cNvPr id="86" name="Text 84"/>
          <p:cNvSpPr txBox="1"/>
          <p:nvPr/>
        </p:nvSpPr>
        <p:spPr>
          <a:xfrm>
            <a:off x="7353300" y="5619750"/>
            <a:ext cx="4152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와 30℃ 는 어느 방식이나 거의 같고, 10~20℃ 에서 벌어집니다. 눈으로는 고를 수 없습니다.</a:t>
            </a:r>
            <a:endParaRPr lang="en-US" sz="1125" dirty="0"/>
          </a:p>
        </p:txBody>
      </p:sp>
      <p:sp>
        <p:nvSpPr>
          <p:cNvPr id="87" name="Shape 8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9" name="Text 8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정하지 않았습니다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조건에서 채점해 1위를 데이터가 지목했습니다.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및 모니터링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다시 고릅니다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받은 값이 검증을 통과하면 누적에 들어가고, 누적이 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채점해 방식을 다시 고릅니다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사람이 손대는 지점이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갱신 순환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1028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8200" y="323850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3450" y="330517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2133600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28850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3476625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71875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819650" y="323850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4900" y="330517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186690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9925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455295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548640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14450" y="3810000"/>
            <a:ext cx="4171950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445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24250"/>
            <a:ext cx="133350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3"/>
              </a:lnSpc>
              <a:buNone/>
            </a:pPr>
            <a:r>
              <a:rPr lang="en-US" sz="6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675" dirty="0"/>
          </a:p>
        </p:txBody>
      </p:sp>
      <p:sp>
        <p:nvSpPr>
          <p:cNvPr id="31" name="Text 29"/>
          <p:cNvSpPr txBox="1"/>
          <p:nvPr/>
        </p:nvSpPr>
        <p:spPr>
          <a:xfrm>
            <a:off x="2857500" y="38481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회차가 쌓일 때마다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286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000250" y="4286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6가지 값을 직접 받습니다. 옮겨 적는 단계가 없습니다.</a:t>
            </a:r>
            <a:endParaRPr lang="en-US" sz="1013" dirty="0"/>
          </a:p>
        </p:txBody>
      </p:sp>
      <p:sp>
        <p:nvSpPr>
          <p:cNvPr id="34" name="Shape 32"/>
          <p:cNvSpPr/>
          <p:nvPr/>
        </p:nvSpPr>
        <p:spPr>
          <a:xfrm>
            <a:off x="685800" y="4572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667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000250" y="4667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미실시·습도계 이탈이면 그 회차는 누적에 넣지 않습니다.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953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5048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000250" y="5048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회차만 학습 데이터가 됩니다. 이력은 그대로 남습니다.</a:t>
            </a:r>
            <a:endParaRPr lang="en-US" sz="1013" dirty="0"/>
          </a:p>
        </p:txBody>
      </p:sp>
      <p:sp>
        <p:nvSpPr>
          <p:cNvPr id="40" name="Shape 38"/>
          <p:cNvSpPr/>
          <p:nvPr/>
        </p:nvSpPr>
        <p:spPr>
          <a:xfrm>
            <a:off x="685800" y="5334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5429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000250" y="5429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누적이 늘면 7가지를 다시 채점해 1위를 다시 고릅니다.</a:t>
            </a:r>
            <a:endParaRPr lang="en-US" sz="1013" dirty="0"/>
          </a:p>
        </p:txBody>
      </p:sp>
      <p:sp>
        <p:nvSpPr>
          <p:cNvPr id="43" name="Shape 41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데이터 현황  ·  누적 36회차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6591300" y="3067050"/>
            <a:ext cx="4914900" cy="2266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43700" y="32766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53250" y="3248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8001000" y="3276600"/>
            <a:ext cx="8001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429750" y="3248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0668000" y="3248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1" name="Shape 49"/>
          <p:cNvSpPr/>
          <p:nvPr/>
        </p:nvSpPr>
        <p:spPr>
          <a:xfrm>
            <a:off x="6743700" y="36195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953250" y="35909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8001000" y="3619500"/>
            <a:ext cx="6858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9429750" y="35909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0668000" y="35909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6743700" y="3962400"/>
            <a:ext cx="95250" cy="95250"/>
          </a:xfrm>
          <a:prstGeom prst="rect">
            <a:avLst/>
          </a:prstGeom>
          <a:solidFill>
            <a:srgbClr val="A8BCD1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953250" y="3933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001000" y="3962400"/>
            <a:ext cx="342900" cy="952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429750" y="3933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10668000" y="3933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en-US" sz="938" dirty="0"/>
          </a:p>
        </p:txBody>
      </p:sp>
      <p:sp>
        <p:nvSpPr>
          <p:cNvPr id="61" name="Shape 59"/>
          <p:cNvSpPr/>
          <p:nvPr/>
        </p:nvSpPr>
        <p:spPr>
          <a:xfrm>
            <a:off x="6743700" y="43053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53250" y="42767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63" name="Shape 61"/>
          <p:cNvSpPr/>
          <p:nvPr/>
        </p:nvSpPr>
        <p:spPr>
          <a:xfrm>
            <a:off x="8001000" y="4305300"/>
            <a:ext cx="11430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429750" y="42767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38" dirty="0"/>
          </a:p>
        </p:txBody>
      </p:sp>
      <p:sp>
        <p:nvSpPr>
          <p:cNvPr id="65" name="Text 63"/>
          <p:cNvSpPr txBox="1"/>
          <p:nvPr/>
        </p:nvSpPr>
        <p:spPr>
          <a:xfrm>
            <a:off x="10668000" y="42767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66" name="Shape 64"/>
          <p:cNvSpPr/>
          <p:nvPr/>
        </p:nvSpPr>
        <p:spPr>
          <a:xfrm>
            <a:off x="6743700" y="46482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953250" y="46196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68" name="Shape 66"/>
          <p:cNvSpPr/>
          <p:nvPr/>
        </p:nvSpPr>
        <p:spPr>
          <a:xfrm>
            <a:off x="8001000" y="4648200"/>
            <a:ext cx="6858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429750" y="46196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70" name="Text 68"/>
          <p:cNvSpPr txBox="1"/>
          <p:nvPr/>
        </p:nvSpPr>
        <p:spPr>
          <a:xfrm>
            <a:off x="10668000" y="46196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1" name="Shape 69"/>
          <p:cNvSpPr/>
          <p:nvPr/>
        </p:nvSpPr>
        <p:spPr>
          <a:xfrm>
            <a:off x="6743700" y="49911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953250" y="49625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73" name="Shape 71"/>
          <p:cNvSpPr/>
          <p:nvPr/>
        </p:nvSpPr>
        <p:spPr>
          <a:xfrm>
            <a:off x="8001000" y="4991100"/>
            <a:ext cx="12573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429750" y="49625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11건</a:t>
            </a:r>
            <a:endParaRPr lang="en-US" sz="938" dirty="0"/>
          </a:p>
        </p:txBody>
      </p:sp>
      <p:sp>
        <p:nvSpPr>
          <p:cNvPr id="75" name="Text 73"/>
          <p:cNvSpPr txBox="1"/>
          <p:nvPr/>
        </p:nvSpPr>
        <p:spPr>
          <a:xfrm>
            <a:off x="10668000" y="49625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6591300" y="5486400"/>
            <a:ext cx="4914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 구간은 화면에 그대로 뜹니다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구간의 값은 아직 믿지 말라는 표시입니다.</a:t>
            </a:r>
            <a:endParaRPr lang="en-US" sz="1125" dirty="0"/>
          </a:p>
        </p:txBody>
      </p:sp>
      <p:sp>
        <p:nvSpPr>
          <p:cNvPr id="77" name="Shape 7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9" name="Text 7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모델이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쌓일수록 좋아집니다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및 모니터링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시운전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못박았습니다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자동으로 들어온다는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숫자도 자동으로 들어온다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뜻입니다. 만난 함정을 사람의 주의가 아니라 코드로 막았습니다.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 회차가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들어왔다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3회차가 4~6 MW 낮게 나왔습니다. 그대로 두면 미달로 잘못 판단됩니다.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858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2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1950" dirty="0"/>
          </a:p>
        </p:txBody>
      </p:sp>
      <p:sp>
        <p:nvSpPr>
          <p:cNvPr id="19" name="Text 17"/>
          <p:cNvSpPr txBox="1"/>
          <p:nvPr/>
        </p:nvSpPr>
        <p:spPr>
          <a:xfrm>
            <a:off x="13638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0" name="Text 18"/>
          <p:cNvSpPr txBox="1"/>
          <p:nvPr/>
        </p:nvSpPr>
        <p:spPr>
          <a:xfrm>
            <a:off x="21145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가장 크게 벌어진 폭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미실시로 기록된 회차는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반영을 차단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 값은 남기고 학습에서만 뺍니다.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436245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6245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2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436245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값이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서서히 어긋났다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436245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취득값 19.6% 인데 실제는 68.5% 였습니다. 계기 한 대만 믿으면 못 잡습니다.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36245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14850" y="4591050"/>
            <a:ext cx="618363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4.57</a:t>
            </a:r>
            <a:endParaRPr lang="en-US" sz="1950" dirty="0"/>
          </a:p>
        </p:txBody>
      </p:sp>
      <p:sp>
        <p:nvSpPr>
          <p:cNvPr id="29" name="Text 27"/>
          <p:cNvSpPr txBox="1"/>
          <p:nvPr/>
        </p:nvSpPr>
        <p:spPr>
          <a:xfrm>
            <a:off x="5190363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579120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한 건의 오차 폭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436245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32" name="Text 30"/>
          <p:cNvSpPr txBox="1"/>
          <p:nvPr/>
        </p:nvSpPr>
        <p:spPr>
          <a:xfrm>
            <a:off x="436245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2대를 교차 확인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벌어지면 그 회차는 반영 보류하고 화면에 띄웁니다.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0391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91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3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0391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평균 기간이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서식과 달랐다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80391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7일 평균, 신고 서식은 5일 평균이었습니다. 조용히 어긋나는 종류입니다.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0391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915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87171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94678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어긋난 폭 (작지만 상시)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80391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80391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서식 수식을 그대로 읽어 대조하는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시험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을 걸어 두었습니다. 다시 어긋나면 실패합니다.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믿는 것이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의심하는 절차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코드에 심었습니다.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효과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정량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지표만 좋아진 게 아닙니다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36회차를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방식으로 채점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종전과 나란히 놓았습니다. 그리고 시운전 4회차에서 다시 확인했습니다.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6667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 ·  누적 36회차를 한 건씩 가려 채점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667500" cy="2286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194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지표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28575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41910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5619750" y="3219450"/>
            <a:ext cx="1428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나아진 폭</a:t>
            </a:r>
            <a:endParaRPr lang="en-US" sz="788" dirty="0"/>
          </a:p>
        </p:txBody>
      </p:sp>
      <p:sp>
        <p:nvSpPr>
          <p:cNvPr id="20" name="Shape 18"/>
          <p:cNvSpPr/>
          <p:nvPr/>
        </p:nvSpPr>
        <p:spPr>
          <a:xfrm>
            <a:off x="838200" y="3409950"/>
            <a:ext cx="63627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8200" y="35433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57500" y="35433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981450" y="35433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91000" y="35337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5619750" y="35433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 ↓</a:t>
            </a:r>
            <a:endParaRPr lang="en-US" sz="1013" dirty="0"/>
          </a:p>
        </p:txBody>
      </p:sp>
      <p:sp>
        <p:nvSpPr>
          <p:cNvPr id="26" name="Shape 24"/>
          <p:cNvSpPr/>
          <p:nvPr/>
        </p:nvSpPr>
        <p:spPr>
          <a:xfrm>
            <a:off x="838200" y="38290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8200" y="39052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오차 가중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57500" y="39052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4.49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3981450" y="39052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191000" y="38957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1.72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5619750" y="39052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62% ↓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838200" y="41910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8200" y="42672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설명력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857500" y="42672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3981450" y="42672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191000" y="42576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+0.85</a:t>
            </a:r>
            <a:endParaRPr lang="en-US" sz="1275" dirty="0"/>
          </a:p>
        </p:txBody>
      </p:sp>
      <p:sp>
        <p:nvSpPr>
          <p:cNvPr id="37" name="Text 35"/>
          <p:cNvSpPr txBox="1"/>
          <p:nvPr/>
        </p:nvSpPr>
        <p:spPr>
          <a:xfrm>
            <a:off x="5619750" y="42672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좋음</a:t>
            </a:r>
            <a:endParaRPr lang="en-US" sz="1013" dirty="0"/>
          </a:p>
        </p:txBody>
      </p:sp>
      <p:sp>
        <p:nvSpPr>
          <p:cNvPr id="38" name="Shape 36"/>
          <p:cNvSpPr/>
          <p:nvPr/>
        </p:nvSpPr>
        <p:spPr>
          <a:xfrm>
            <a:off x="838200" y="45529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8200" y="46291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 회차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857500" y="46291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125" dirty="0"/>
          </a:p>
        </p:txBody>
      </p:sp>
      <p:sp>
        <p:nvSpPr>
          <p:cNvPr id="41" name="Text 39"/>
          <p:cNvSpPr txBox="1"/>
          <p:nvPr/>
        </p:nvSpPr>
        <p:spPr>
          <a:xfrm>
            <a:off x="3981450" y="46291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191000" y="46196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3" name="Text 41"/>
          <p:cNvSpPr txBox="1"/>
          <p:nvPr/>
        </p:nvSpPr>
        <p:spPr>
          <a:xfrm>
            <a:off x="5619750" y="46291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 ↓</a:t>
            </a:r>
            <a:endParaRPr lang="en-US" sz="1013" dirty="0"/>
          </a:p>
        </p:txBody>
      </p:sp>
      <p:sp>
        <p:nvSpPr>
          <p:cNvPr id="44" name="Shape 42"/>
          <p:cNvSpPr/>
          <p:nvPr/>
        </p:nvSpPr>
        <p:spPr>
          <a:xfrm>
            <a:off x="838200" y="49149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8200" y="49911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과대 신고 누계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2857500" y="49911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3981450" y="49911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191000" y="49815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7.6</a:t>
            </a:r>
            <a:endParaRPr lang="en-US" sz="1275" dirty="0"/>
          </a:p>
        </p:txBody>
      </p:sp>
      <p:sp>
        <p:nvSpPr>
          <p:cNvPr id="49" name="Text 47"/>
          <p:cNvSpPr txBox="1"/>
          <p:nvPr/>
        </p:nvSpPr>
        <p:spPr>
          <a:xfrm>
            <a:off x="5619750" y="49911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 ↓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505450"/>
            <a:ext cx="6667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오차는 MW, 미달은 회차, 과대 신고는 누계 MW 입니다. 설명력은 종전 방식에 대응하는 값이 없어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비워 두었습니다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51" name="Shape 49"/>
          <p:cNvSpPr/>
          <p:nvPr/>
        </p:nvSpPr>
        <p:spPr>
          <a:xfrm>
            <a:off x="7734300" y="2743200"/>
            <a:ext cx="3771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734300" y="2876550"/>
            <a:ext cx="3771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실측  ·  4회차</a:t>
            </a:r>
            <a:endParaRPr lang="en-US" sz="788" dirty="0"/>
          </a:p>
        </p:txBody>
      </p:sp>
      <p:sp>
        <p:nvSpPr>
          <p:cNvPr id="53" name="Shape 51"/>
          <p:cNvSpPr/>
          <p:nvPr/>
        </p:nvSpPr>
        <p:spPr>
          <a:xfrm>
            <a:off x="7734300" y="3067050"/>
            <a:ext cx="37719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8867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치우침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886700" y="3409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8654415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57" name="Text 55"/>
          <p:cNvSpPr txBox="1"/>
          <p:nvPr/>
        </p:nvSpPr>
        <p:spPr>
          <a:xfrm>
            <a:off x="97155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9715500" y="340995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</a:t>
            </a:r>
            <a:endParaRPr lang="en-US" sz="1800" dirty="0"/>
          </a:p>
        </p:txBody>
      </p:sp>
      <p:sp>
        <p:nvSpPr>
          <p:cNvPr id="59" name="Text 57"/>
          <p:cNvSpPr txBox="1"/>
          <p:nvPr/>
        </p:nvSpPr>
        <p:spPr>
          <a:xfrm>
            <a:off x="1034491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78867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큰 오차 가중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78867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1.57</a:t>
            </a:r>
            <a:endParaRPr lang="en-US" sz="1800" dirty="0"/>
          </a:p>
        </p:txBody>
      </p:sp>
      <p:sp>
        <p:nvSpPr>
          <p:cNvPr id="62" name="Text 60"/>
          <p:cNvSpPr txBox="1"/>
          <p:nvPr/>
        </p:nvSpPr>
        <p:spPr>
          <a:xfrm>
            <a:off x="85161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97155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개선율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97155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91.3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103449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734300" y="4705350"/>
            <a:ext cx="3771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회차에서도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수준</a:t>
            </a:r>
            <a:endParaRPr lang="en-US" sz="1575" dirty="0"/>
          </a:p>
        </p:txBody>
      </p:sp>
      <p:sp>
        <p:nvSpPr>
          <p:cNvPr id="67" name="Text 65"/>
          <p:cNvSpPr txBox="1"/>
          <p:nvPr/>
        </p:nvSpPr>
        <p:spPr>
          <a:xfrm>
            <a:off x="7734300" y="5353050"/>
            <a:ext cx="37719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4회차는 학습에 넣지 않고 예측만 했습니다. 누적 36회차 채점과 비슷하게 나왔습니다.</a:t>
            </a:r>
            <a:endParaRPr lang="en-US" sz="1125" dirty="0"/>
          </a:p>
        </p:txBody>
      </p:sp>
      <p:sp>
        <p:nvSpPr>
          <p:cNvPr id="68" name="Shape 6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지표를 좋게 만들려고 다른 지표를 희생하지 않았습니다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같은 방향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움직였습니다.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 효과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정성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있게 됐다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 개선치는 회차마다 달라집니다. 그러나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말할 수 있게 된 것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은 되돌아가지 않습니다.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재현성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나옵니다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데이터와 같은 코드면 누가 돌려도 같은 값입니다. 사람의 판단이 끼어들 자리가 없습니다.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2103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03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추적성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62103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값인지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되짚을 수 있습니다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62103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회차마다 취득 시각·검증 통과 여부·선택된 방식이 남습니다. 감사도 설명도 이 기록으로 합니다.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6858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이관성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이어집니다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만드는 것이 사람의 감이 아니라 절차입니다. 인수인계 문서가 아니라 코드가 기준입니다.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2103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03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확장성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2103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옮길 수 있습니다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62103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계산식만 갈아끼우면 학습 층과 검증 가드는 그대로 씁니다. 처음부터 다시 만들지 않습니다.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정하는 방법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마일스톤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구조의 사업소에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그대로 적용됩니다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만든 것의 대부분은 특정 설비와 무관합니다. 옮길 때 다시 만드는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 한 층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1066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진행 경과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733550" y="3390900"/>
            <a:ext cx="872490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3550" y="3390900"/>
            <a:ext cx="6543675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8116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3862387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702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재현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604361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4825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36회차 적층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8201025" y="3314700"/>
            <a:ext cx="152400" cy="1524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4" name="Shape 22"/>
          <p:cNvSpPr/>
          <p:nvPr/>
        </p:nvSpPr>
        <p:spPr>
          <a:xfrm>
            <a:off x="8243888" y="3357563"/>
            <a:ext cx="66675" cy="66675"/>
          </a:xfrm>
          <a:prstGeom prst="ellipse">
            <a:avLst/>
          </a:prstGeom>
          <a:solidFill>
            <a:srgbClr val="0A132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2947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 실측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10406063" y="3338513"/>
            <a:ext cx="104775" cy="104775"/>
          </a:xfrm>
          <a:prstGeom prst="ellipse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4107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7896225" y="316230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685800" y="409575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옮기는 것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전체의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온도별로 학습하는 구조와 채점 방식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가드 3종 (IGV·습도 교차·수식 대조)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취득 파이프와 누적 이력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6197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현황 화면과 신호등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0300" y="409575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03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갈아끼우는 것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62103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사업소마다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것</a:t>
            </a:r>
            <a:endParaRPr lang="en-US" sz="1575" dirty="0"/>
          </a:p>
        </p:txBody>
      </p:sp>
      <p:sp>
        <p:nvSpPr>
          <p:cNvPr id="39" name="Text 37"/>
          <p:cNvSpPr txBox="1"/>
          <p:nvPr/>
        </p:nvSpPr>
        <p:spPr>
          <a:xfrm>
            <a:off x="62103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 설비의 이론 출력 계산식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2103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설비 상수와 성능 곡선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2103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신고 서식의 수식 규칙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10300" y="565785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이론값을 그 사업소 실적으로 재현하는 것이 첫 단계입니다.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사업소를 위해 만든 것이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구조라면 이론만 바꿔 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 시연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말씀드린 것을,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화면으로 보여드리겠습니다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지금부터 4분 동안 Tool 을 직접 돌려 보겠습니다. 앞에서 설명한 절차가 실제로 어떻게 도는지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지점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만 보시면 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275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날짜를 넣으면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알아서 들어옵니다</a:t>
            </a:r>
            <a:endParaRPr lang="en-US" sz="1575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하나만 넣습니다. 6가지 값과 취득 시각, 검증 통과 여부가 한 줄로 뜹니다.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68580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915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2" name="Text 10"/>
          <p:cNvSpPr txBox="1"/>
          <p:nvPr/>
        </p:nvSpPr>
        <p:spPr>
          <a:xfrm>
            <a:off x="81915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숫자를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입력하는 칸이 없다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3852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275" dirty="0"/>
          </a:p>
        </p:txBody>
      </p:sp>
      <p:sp>
        <p:nvSpPr>
          <p:cNvPr id="15" name="Text 13"/>
          <p:cNvSpPr txBox="1"/>
          <p:nvPr/>
        </p:nvSpPr>
        <p:spPr>
          <a:xfrm>
            <a:off x="343852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구간별 현황을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신호등으로 봅니다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343852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구간마다 회차가 몇 건 쌓였는지, 그 구간의 값을 믿어도 되는지 색으로 표시합니다.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343852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7187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357187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떠 있는 것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91250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6191250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채점합니다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6191250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데이터로 7가지를 다시 채점하고 1위를 고릅니다. 순위표가 그대로 나옵니다.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191250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4600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26" name="Text 24"/>
          <p:cNvSpPr txBox="1"/>
          <p:nvPr/>
        </p:nvSpPr>
        <p:spPr>
          <a:xfrm>
            <a:off x="6324600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고르지 않는다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것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943975" y="2876550"/>
            <a:ext cx="3810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275" dirty="0"/>
          </a:p>
        </p:txBody>
      </p:sp>
      <p:sp>
        <p:nvSpPr>
          <p:cNvPr id="29" name="Text 27"/>
          <p:cNvSpPr txBox="1"/>
          <p:nvPr/>
        </p:nvSpPr>
        <p:spPr>
          <a:xfrm>
            <a:off x="8943975" y="3124200"/>
            <a:ext cx="2562225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가드가 걸리면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반영을 멈춥니다</a:t>
            </a:r>
            <a:endParaRPr lang="en-US" sz="1575" dirty="0"/>
          </a:p>
        </p:txBody>
      </p:sp>
      <p:sp>
        <p:nvSpPr>
          <p:cNvPr id="30" name="Text 28"/>
          <p:cNvSpPr txBox="1"/>
          <p:nvPr/>
        </p:nvSpPr>
        <p:spPr>
          <a:xfrm>
            <a:off x="8943975" y="37719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두 대가 벌어진 회차를 넣어 보겠습니다. 값은 남고 학습에서만 빠집니다.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4724400"/>
            <a:ext cx="2562225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77325" y="48577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보실 지점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9077325" y="5067300"/>
            <a:ext cx="229552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경고가 뜨고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누적에 들어가지 않는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</a:t>
            </a:r>
            <a:endParaRPr lang="en-US" sz="1125" dirty="0"/>
          </a:p>
        </p:txBody>
      </p:sp>
      <p:sp>
        <p:nvSpPr>
          <p:cNvPr id="34" name="Shape 3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누적 데이터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그 자리에서 돌립니다 — 준비된 화면이 아닙니다.</a:t>
            </a:r>
            <a:endParaRPr lang="en-US" sz="1238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257300"/>
            <a:ext cx="666750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450" dirty="0"/>
          </a:p>
          <a:p>
            <a:pPr algn="l" indent="0" marL="0">
              <a:lnSpc>
                <a:spcPts val="4347"/>
              </a:lnSpc>
              <a:buNone/>
            </a:pPr>
            <a:r>
              <a:rPr lang="en-US" sz="34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받겠습니다</a:t>
            </a:r>
            <a:endParaRPr lang="en-US" sz="34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57500"/>
            <a:ext cx="66675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 하나였던 보정값을,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스스로 갱신하는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19500"/>
            <a:ext cx="6286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숫자를 정하는 방법입니다. 같은 구조의 사업소라면 이론만 갈아끼워 그대로 씁니다.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85800" y="4476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 → 1.29 MW</a:t>
            </a:r>
            <a:endParaRPr lang="en-US" sz="1125" dirty="0"/>
          </a:p>
        </p:txBody>
      </p:sp>
      <p:sp>
        <p:nvSpPr>
          <p:cNvPr id="12" name="Text 10"/>
          <p:cNvSpPr txBox="1"/>
          <p:nvPr/>
        </p:nvSpPr>
        <p:spPr>
          <a:xfrm>
            <a:off x="291465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291465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79%↓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291465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→ 3 건</a:t>
            </a:r>
            <a:endParaRPr lang="en-US" sz="1125" dirty="0"/>
          </a:p>
        </p:txBody>
      </p:sp>
      <p:sp>
        <p:nvSpPr>
          <p:cNvPr id="15" name="Text 13"/>
          <p:cNvSpPr txBox="1"/>
          <p:nvPr/>
        </p:nvSpPr>
        <p:spPr>
          <a:xfrm>
            <a:off x="5143500" y="466725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5143500" y="4895850"/>
            <a:ext cx="1981200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88%↓</a:t>
            </a:r>
            <a:endParaRPr lang="en-US" sz="3300" dirty="0"/>
          </a:p>
        </p:txBody>
      </p:sp>
      <p:sp>
        <p:nvSpPr>
          <p:cNvPr id="17" name="Text 15"/>
          <p:cNvSpPr txBox="1"/>
          <p:nvPr/>
        </p:nvSpPr>
        <p:spPr>
          <a:xfrm>
            <a:off x="5143500" y="5448300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 → 7.6 MW</a:t>
            </a:r>
            <a:endParaRPr lang="en-US" sz="1125" dirty="0"/>
          </a:p>
        </p:txBody>
      </p:sp>
      <p:sp>
        <p:nvSpPr>
          <p:cNvPr id="18" name="Shape 16"/>
          <p:cNvSpPr/>
          <p:nvPr/>
        </p:nvSpPr>
        <p:spPr>
          <a:xfrm>
            <a:off x="26670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9585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24700" y="466725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72350" y="466725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검증 방식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372350" y="4895850"/>
            <a:ext cx="41338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36회차를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맞혀본 결과입니다. 시운전 4회차에서 다시 확인했습니다.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2026-08-31T23:17:45Z</dcterms:created>
  <dcterms:modified xsi:type="dcterms:W3CDTF">2026-08-31T23:17:45Z</dcterms:modified>
</cp:coreProperties>
</file>