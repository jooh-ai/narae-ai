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858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419100"/>
            <a:ext cx="5715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spc="18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나래에너지서비스 · 위례열병합발전소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0" y="419100"/>
            <a:ext cx="1905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spc="18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2026. 09.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066800"/>
            <a:ext cx="5619750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8"/>
              </a:lnSpc>
              <a:buNone/>
            </a:pPr>
            <a:r>
              <a:rPr lang="en-US" sz="3300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공급가능용량 산정,</a:t>
            </a:r>
            <a:endParaRPr lang="en-US" sz="3300" dirty="0"/>
          </a:p>
          <a:p>
            <a:pPr algn="l" indent="0" marL="0">
              <a:lnSpc>
                <a:spcPts val="4158"/>
              </a:lnSpc>
              <a:buNone/>
            </a:pPr>
            <a:r>
              <a:rPr lang="en-US" sz="3300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판단에서 </a:t>
            </a:r>
            <a:pPr algn="l" indent="0" marL="0">
              <a:lnSpc>
                <a:spcPts val="4158"/>
              </a:lnSpc>
              <a:buNone/>
            </a:pPr>
            <a:r>
              <a:rPr lang="en-US" sz="3300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67000"/>
            <a:ext cx="5410200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온도가 달라도 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718B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보정값 하나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맞춰 온 신고를, 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온도별로 학습하는 모델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바꿨습니다.</a:t>
            </a:r>
            <a:endParaRPr lang="en-US" sz="1575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733800"/>
            <a:ext cx="5257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종전 방식과 </a:t>
            </a:r>
            <a:pPr algn="l" indent="0" marL="0">
              <a:lnSpc>
                <a:spcPts val="1890"/>
              </a:lnSpc>
              <a:buNone/>
            </a:pPr>
            <a:r>
              <a:rPr lang="en-US" sz="112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데이터 · 같은 조건</a:t>
            </a:r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에서 채점한 결과입니다. 누적 40회차, 한 건씩 가려 맞혀봤습니다.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6362700" y="1066800"/>
            <a:ext cx="5143500" cy="30099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5100" y="1200150"/>
            <a:ext cx="45720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보정값 · 단위 MW  ·  외기온도 0 ~ 30℃</a:t>
            </a:r>
            <a:endParaRPr lang="en-US" sz="788" dirty="0"/>
          </a:p>
        </p:txBody>
      </p:sp>
      <p:sp>
        <p:nvSpPr>
          <p:cNvPr id="10" name="Shape 8"/>
          <p:cNvSpPr/>
          <p:nvPr/>
        </p:nvSpPr>
        <p:spPr>
          <a:xfrm>
            <a:off x="6896100" y="1666875"/>
            <a:ext cx="428625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96100" y="2657475"/>
            <a:ext cx="428625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96100" y="3152775"/>
            <a:ext cx="428625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96100" y="1666875"/>
            <a:ext cx="0" cy="148590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5100" y="1628775"/>
            <a:ext cx="323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6515100" y="2619375"/>
            <a:ext cx="323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6515100" y="3114675"/>
            <a:ext cx="323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−4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972300" y="3152775"/>
            <a:ext cx="0" cy="47625"/>
          </a:xfrm>
          <a:prstGeom prst="line">
            <a:avLst/>
          </a:prstGeom>
          <a:noFill/>
          <a:ln w="12700">
            <a:solidFill>
              <a:srgbClr val="8A888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43700" y="3267075"/>
            <a:ext cx="4572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0℃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324850" y="3152775"/>
            <a:ext cx="0" cy="47625"/>
          </a:xfrm>
          <a:prstGeom prst="line">
            <a:avLst/>
          </a:prstGeom>
          <a:noFill/>
          <a:ln w="12700">
            <a:solidFill>
              <a:srgbClr val="8A888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96250" y="3267075"/>
            <a:ext cx="4572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677400" y="3152775"/>
            <a:ext cx="0" cy="47625"/>
          </a:xfrm>
          <a:prstGeom prst="line">
            <a:avLst/>
          </a:prstGeom>
          <a:noFill/>
          <a:ln w="12700">
            <a:solidFill>
              <a:srgbClr val="8A88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48800" y="3267075"/>
            <a:ext cx="4572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1029950" y="3152775"/>
            <a:ext cx="0" cy="47625"/>
          </a:xfrm>
          <a:prstGeom prst="line">
            <a:avLst/>
          </a:prstGeom>
          <a:noFill/>
          <a:ln w="12700">
            <a:solidFill>
              <a:srgbClr val="8A888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801350" y="3267075"/>
            <a:ext cx="4572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896100" y="2353485"/>
            <a:ext cx="4286250" cy="0"/>
          </a:xfrm>
          <a:prstGeom prst="line">
            <a:avLst/>
          </a:prstGeom>
          <a:noFill/>
          <a:ln w="33020">
            <a:solidFill>
              <a:srgbClr val="A8BCD1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6972300" y="2166795"/>
            <a:ext cx="2095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8BC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종전 · 하나의 값 +2.46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72300" y="1731264"/>
            <a:ext cx="1352550" cy="286036"/>
          </a:xfrm>
          <a:prstGeom prst="line">
            <a:avLst/>
          </a:prstGeom>
          <a:noFill/>
          <a:ln w="33020">
            <a:solidFill>
              <a:srgbClr val="EFB1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4850" y="2017300"/>
            <a:ext cx="1352550" cy="215455"/>
          </a:xfrm>
          <a:prstGeom prst="line">
            <a:avLst/>
          </a:prstGeom>
          <a:noFill/>
          <a:ln w="33020">
            <a:solidFill>
              <a:srgbClr val="EFB1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77400" y="2232755"/>
            <a:ext cx="1352550" cy="708279"/>
          </a:xfrm>
          <a:prstGeom prst="line">
            <a:avLst/>
          </a:prstGeom>
          <a:noFill/>
          <a:ln w="33020">
            <a:solidFill>
              <a:srgbClr val="EFB1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34200" y="1693164"/>
            <a:ext cx="76200" cy="7620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31" name="Shape 29"/>
          <p:cNvSpPr/>
          <p:nvPr/>
        </p:nvSpPr>
        <p:spPr>
          <a:xfrm>
            <a:off x="8286750" y="1979200"/>
            <a:ext cx="76200" cy="7620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32" name="Shape 30"/>
          <p:cNvSpPr/>
          <p:nvPr/>
        </p:nvSpPr>
        <p:spPr>
          <a:xfrm>
            <a:off x="9639300" y="2194655"/>
            <a:ext cx="76200" cy="7620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33" name="Shape 31"/>
          <p:cNvSpPr/>
          <p:nvPr/>
        </p:nvSpPr>
        <p:spPr>
          <a:xfrm>
            <a:off x="10991850" y="2902934"/>
            <a:ext cx="76200" cy="7620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067550" y="1839849"/>
            <a:ext cx="571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+7.5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325100" y="2992469"/>
            <a:ext cx="62865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−2.3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72300" y="1788414"/>
            <a:ext cx="0" cy="507921"/>
          </a:xfrm>
          <a:prstGeom prst="line">
            <a:avLst/>
          </a:prstGeom>
          <a:noFill/>
          <a:ln w="20320">
            <a:solidFill>
              <a:srgbClr val="FF4D6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15150" y="1788414"/>
            <a:ext cx="114300" cy="0"/>
          </a:xfrm>
          <a:prstGeom prst="line">
            <a:avLst/>
          </a:prstGeom>
          <a:noFill/>
          <a:ln w="20320">
            <a:solidFill>
              <a:srgbClr val="FF4D6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15150" y="2296335"/>
            <a:ext cx="114300" cy="0"/>
          </a:xfrm>
          <a:prstGeom prst="line">
            <a:avLst/>
          </a:prstGeom>
          <a:noFill/>
          <a:ln w="20320">
            <a:solidFill>
              <a:srgbClr val="FF4D6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029950" y="2410635"/>
            <a:ext cx="0" cy="473250"/>
          </a:xfrm>
          <a:prstGeom prst="line">
            <a:avLst/>
          </a:prstGeom>
          <a:noFill/>
          <a:ln w="20320">
            <a:solidFill>
              <a:srgbClr val="FF4D6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972800" y="2410635"/>
            <a:ext cx="114300" cy="0"/>
          </a:xfrm>
          <a:prstGeom prst="line">
            <a:avLst/>
          </a:prstGeom>
          <a:noFill/>
          <a:ln w="20320">
            <a:solidFill>
              <a:srgbClr val="FF4D6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972800" y="2883884"/>
            <a:ext cx="114300" cy="0"/>
          </a:xfrm>
          <a:prstGeom prst="line">
            <a:avLst/>
          </a:prstGeom>
          <a:noFill/>
          <a:ln w="20320">
            <a:solidFill>
              <a:srgbClr val="FF4D6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15100" y="3629025"/>
            <a:ext cx="247650" cy="0"/>
          </a:xfrm>
          <a:prstGeom prst="line">
            <a:avLst/>
          </a:prstGeom>
          <a:noFill/>
          <a:ln w="33020">
            <a:solidFill>
              <a:srgbClr val="A8BCD1"/>
            </a:solidFill>
            <a:prstDash val="dash"/>
          </a:ln>
        </p:spPr>
      </p:sp>
      <p:sp>
        <p:nvSpPr>
          <p:cNvPr id="43" name="Text 41"/>
          <p:cNvSpPr txBox="1"/>
          <p:nvPr/>
        </p:nvSpPr>
        <p:spPr>
          <a:xfrm>
            <a:off x="6838950" y="3552825"/>
            <a:ext cx="1905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8BC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종전 · 하나의 값 +2.46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896350" y="3629025"/>
            <a:ext cx="247650" cy="0"/>
          </a:xfrm>
          <a:prstGeom prst="line">
            <a:avLst/>
          </a:prstGeom>
          <a:noFill/>
          <a:ln w="33020">
            <a:solidFill>
              <a:srgbClr val="EFB13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220200" y="3552825"/>
            <a:ext cx="1905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개선 · 온도별 곡선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6515100" y="3781425"/>
            <a:ext cx="4572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4D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겨울 0℃ 5.0 MW 과소   ·   여름 30℃ 4.7 MW 과대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6362700" y="4305300"/>
            <a:ext cx="5143500" cy="28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하나를 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곡선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바꾼 것이 전부입니다.</a:t>
            </a:r>
            <a:endParaRPr lang="en-US" sz="1575" dirty="0"/>
          </a:p>
        </p:txBody>
      </p:sp>
      <p:sp>
        <p:nvSpPr>
          <p:cNvPr id="48" name="Shape 46"/>
          <p:cNvSpPr/>
          <p:nvPr/>
        </p:nvSpPr>
        <p:spPr>
          <a:xfrm>
            <a:off x="685800" y="481965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85800" y="4914900"/>
            <a:ext cx="19812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예측 오차</a:t>
            </a:r>
            <a:endParaRPr lang="en-US" sz="788" dirty="0"/>
          </a:p>
        </p:txBody>
      </p:sp>
      <p:sp>
        <p:nvSpPr>
          <p:cNvPr id="50" name="Text 48"/>
          <p:cNvSpPr txBox="1"/>
          <p:nvPr/>
        </p:nvSpPr>
        <p:spPr>
          <a:xfrm>
            <a:off x="685800" y="5143500"/>
            <a:ext cx="1981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67%↓</a:t>
            </a:r>
            <a:endParaRPr lang="en-US" sz="3600" dirty="0"/>
          </a:p>
        </p:txBody>
      </p:sp>
      <p:sp>
        <p:nvSpPr>
          <p:cNvPr id="51" name="Text 49"/>
          <p:cNvSpPr txBox="1"/>
          <p:nvPr/>
        </p:nvSpPr>
        <p:spPr>
          <a:xfrm>
            <a:off x="685800" y="5724525"/>
            <a:ext cx="1981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EA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3.90 → 1.30 MW</a:t>
            </a:r>
            <a:endParaRPr lang="en-US" sz="1125" dirty="0"/>
          </a:p>
        </p:txBody>
      </p:sp>
      <p:sp>
        <p:nvSpPr>
          <p:cNvPr id="52" name="Text 50"/>
          <p:cNvSpPr txBox="1"/>
          <p:nvPr/>
        </p:nvSpPr>
        <p:spPr>
          <a:xfrm>
            <a:off x="2914650" y="4914900"/>
            <a:ext cx="19812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기준 미달 회차</a:t>
            </a:r>
            <a:endParaRPr lang="en-US" sz="788" dirty="0"/>
          </a:p>
        </p:txBody>
      </p:sp>
      <p:sp>
        <p:nvSpPr>
          <p:cNvPr id="53" name="Text 51"/>
          <p:cNvSpPr txBox="1"/>
          <p:nvPr/>
        </p:nvSpPr>
        <p:spPr>
          <a:xfrm>
            <a:off x="2914650" y="5143500"/>
            <a:ext cx="1981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73%↓</a:t>
            </a:r>
            <a:endParaRPr lang="en-US" sz="3600" dirty="0"/>
          </a:p>
        </p:txBody>
      </p:sp>
      <p:sp>
        <p:nvSpPr>
          <p:cNvPr id="54" name="Text 52"/>
          <p:cNvSpPr txBox="1"/>
          <p:nvPr/>
        </p:nvSpPr>
        <p:spPr>
          <a:xfrm>
            <a:off x="2914650" y="5724525"/>
            <a:ext cx="1981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EA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→ 4 건</a:t>
            </a:r>
            <a:endParaRPr lang="en-US" sz="1125" dirty="0"/>
          </a:p>
        </p:txBody>
      </p:sp>
      <p:sp>
        <p:nvSpPr>
          <p:cNvPr id="55" name="Text 53"/>
          <p:cNvSpPr txBox="1"/>
          <p:nvPr/>
        </p:nvSpPr>
        <p:spPr>
          <a:xfrm>
            <a:off x="5143500" y="4914900"/>
            <a:ext cx="19812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과대 신고 누계</a:t>
            </a:r>
            <a:endParaRPr lang="en-US" sz="788" dirty="0"/>
          </a:p>
        </p:txBody>
      </p:sp>
      <p:sp>
        <p:nvSpPr>
          <p:cNvPr id="56" name="Text 54"/>
          <p:cNvSpPr txBox="1"/>
          <p:nvPr/>
        </p:nvSpPr>
        <p:spPr>
          <a:xfrm>
            <a:off x="5143500" y="5143500"/>
            <a:ext cx="1981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87%↓</a:t>
            </a:r>
            <a:endParaRPr lang="en-US" sz="3600" dirty="0"/>
          </a:p>
        </p:txBody>
      </p:sp>
      <p:sp>
        <p:nvSpPr>
          <p:cNvPr id="57" name="Text 55"/>
          <p:cNvSpPr txBox="1"/>
          <p:nvPr/>
        </p:nvSpPr>
        <p:spPr>
          <a:xfrm>
            <a:off x="5143500" y="5724525"/>
            <a:ext cx="1981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EA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69.5 → 9.3 MW</a:t>
            </a:r>
            <a:endParaRPr lang="en-US" sz="1125" dirty="0"/>
          </a:p>
        </p:txBody>
      </p:sp>
      <p:sp>
        <p:nvSpPr>
          <p:cNvPr id="58" name="Shape 56"/>
          <p:cNvSpPr/>
          <p:nvPr/>
        </p:nvSpPr>
        <p:spPr>
          <a:xfrm>
            <a:off x="2667000" y="4914900"/>
            <a:ext cx="0" cy="100965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95850" y="4914900"/>
            <a:ext cx="0" cy="100965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124700" y="4914900"/>
            <a:ext cx="0" cy="100965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372350" y="4914900"/>
            <a:ext cx="413385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무엇이 달라졌나</a:t>
            </a:r>
            <a:endParaRPr lang="en-US" sz="788" dirty="0"/>
          </a:p>
        </p:txBody>
      </p:sp>
      <p:sp>
        <p:nvSpPr>
          <p:cNvPr id="62" name="Text 60"/>
          <p:cNvSpPr txBox="1"/>
          <p:nvPr/>
        </p:nvSpPr>
        <p:spPr>
          <a:xfrm>
            <a:off x="7372350" y="5143500"/>
            <a:ext cx="413385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정하던 보정값 1개</a:t>
            </a:r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 사라졌습니다. 이제 온도별 실적이 값을 만들고, 회차가 쌓이면 스스로 다시 고릅니다.</a:t>
            </a:r>
            <a:endParaRPr lang="en-US" sz="1125" dirty="0"/>
          </a:p>
        </p:txBody>
      </p:sp>
      <p:sp>
        <p:nvSpPr>
          <p:cNvPr id="63" name="Shape 61"/>
          <p:cNvSpPr/>
          <p:nvPr/>
        </p:nvSpPr>
        <p:spPr>
          <a:xfrm>
            <a:off x="685800" y="603885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85800" y="6229350"/>
            <a:ext cx="5715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spc="160" kern="0" dirty="0">
                <a:solidFill>
                  <a:srgbClr val="A9A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위례 정비기술팀  ·  주현M · 정상우M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7696200" y="6229350"/>
            <a:ext cx="3810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spc="16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발표 10분  ·  Tool 시연 4분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9100"/>
            <a:ext cx="762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1125" dirty="0"/>
          </a:p>
        </p:txBody>
      </p:sp>
      <p:sp>
        <p:nvSpPr>
          <p:cNvPr id="3" name="Shape 1"/>
          <p:cNvSpPr/>
          <p:nvPr/>
        </p:nvSpPr>
        <p:spPr>
          <a:xfrm>
            <a:off x="685800" y="6858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914400"/>
            <a:ext cx="10287000" cy="44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말씀드릴 순서입니다</a:t>
            </a:r>
            <a:endParaRPr lang="en-US" sz="27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24000"/>
            <a:ext cx="10287000" cy="28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앞의 세 항목이 </a:t>
            </a:r>
            <a:pPr algn="l" indent="0" marL="0">
              <a:lnSpc>
                <a:spcPts val="2241"/>
              </a:lnSpc>
              <a:buNone/>
            </a:pPr>
            <a:r>
              <a:rPr lang="en-US" sz="1350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바꿔야 했는지</a:t>
            </a:r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뒤의 네 항목이 </a:t>
            </a:r>
            <a:pPr algn="l" indent="0" marL="0">
              <a:lnSpc>
                <a:spcPts val="2241"/>
              </a:lnSpc>
              <a:buNone/>
            </a:pPr>
            <a:r>
              <a:rPr lang="en-US" sz="1350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어떻게 바꿨고 무엇이 좋아졌는지</a:t>
            </a:r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입니다.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24100"/>
            <a:ext cx="49530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en-US" sz="1950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5"/>
          <p:cNvSpPr txBox="1"/>
          <p:nvPr/>
        </p:nvSpPr>
        <p:spPr>
          <a:xfrm>
            <a:off x="1333500" y="2343150"/>
            <a:ext cx="5715000" cy="28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및 추진 배경</a:t>
            </a:r>
            <a:endParaRPr lang="en-US" sz="1575" dirty="0"/>
          </a:p>
        </p:txBody>
      </p:sp>
      <p:sp>
        <p:nvSpPr>
          <p:cNvPr id="8" name="Text 6"/>
          <p:cNvSpPr txBox="1"/>
          <p:nvPr/>
        </p:nvSpPr>
        <p:spPr>
          <a:xfrm>
            <a:off x="7239000" y="2390775"/>
            <a:ext cx="314325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신고하는 숫자, 양쪽 손실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553700" y="2400300"/>
            <a:ext cx="952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2705100"/>
            <a:ext cx="1082040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847975"/>
            <a:ext cx="49530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en-US" sz="1950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1333500" y="2867025"/>
            <a:ext cx="5715000" cy="28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파악 및 문제 정의</a:t>
            </a:r>
            <a:endParaRPr lang="en-US" sz="1575" dirty="0"/>
          </a:p>
        </p:txBody>
      </p:sp>
      <p:sp>
        <p:nvSpPr>
          <p:cNvPr id="13" name="Text 11"/>
          <p:cNvSpPr txBox="1"/>
          <p:nvPr/>
        </p:nvSpPr>
        <p:spPr>
          <a:xfrm>
            <a:off x="7239000" y="2914650"/>
            <a:ext cx="314325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정수 하나로는 맞출 수 없다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0553700" y="2924175"/>
            <a:ext cx="952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~ 06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3228975"/>
            <a:ext cx="1082040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371850"/>
            <a:ext cx="49530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en-US" sz="1950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950" dirty="0"/>
          </a:p>
        </p:txBody>
      </p:sp>
      <p:sp>
        <p:nvSpPr>
          <p:cNvPr id="17" name="Text 15"/>
          <p:cNvSpPr txBox="1"/>
          <p:nvPr/>
        </p:nvSpPr>
        <p:spPr>
          <a:xfrm>
            <a:off x="1333500" y="3390900"/>
            <a:ext cx="5715000" cy="28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분석 및 원인 규명(가설 검증)</a:t>
            </a:r>
            <a:endParaRPr lang="en-US" sz="1575" dirty="0"/>
          </a:p>
        </p:txBody>
      </p:sp>
      <p:sp>
        <p:nvSpPr>
          <p:cNvPr id="18" name="Text 16"/>
          <p:cNvSpPr txBox="1"/>
          <p:nvPr/>
        </p:nvSpPr>
        <p:spPr>
          <a:xfrm>
            <a:off x="7239000" y="3438525"/>
            <a:ext cx="314325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4개 중 3개를 기각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0553700" y="3448050"/>
            <a:ext cx="952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~ 08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3752850"/>
            <a:ext cx="1082040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895725"/>
            <a:ext cx="49530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en-US" sz="1950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950" dirty="0"/>
          </a:p>
        </p:txBody>
      </p:sp>
      <p:sp>
        <p:nvSpPr>
          <p:cNvPr id="22" name="Text 20"/>
          <p:cNvSpPr txBox="1"/>
          <p:nvPr/>
        </p:nvSpPr>
        <p:spPr>
          <a:xfrm>
            <a:off x="1333500" y="3914775"/>
            <a:ext cx="5715000" cy="28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방안 도출 및 예측/보정 모델 개발</a:t>
            </a:r>
            <a:endParaRPr lang="en-US" sz="1575" dirty="0"/>
          </a:p>
        </p:txBody>
      </p:sp>
      <p:sp>
        <p:nvSpPr>
          <p:cNvPr id="23" name="Text 21"/>
          <p:cNvSpPr txBox="1"/>
          <p:nvPr/>
        </p:nvSpPr>
        <p:spPr>
          <a:xfrm>
            <a:off x="7239000" y="3962400"/>
            <a:ext cx="314325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동결 · 방식 7가지 채점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0553700" y="3971925"/>
            <a:ext cx="952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~ 11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" y="4276725"/>
            <a:ext cx="1082040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419600"/>
            <a:ext cx="49530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en-US" sz="1950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950" dirty="0"/>
          </a:p>
        </p:txBody>
      </p:sp>
      <p:sp>
        <p:nvSpPr>
          <p:cNvPr id="27" name="Text 25"/>
          <p:cNvSpPr txBox="1"/>
          <p:nvPr/>
        </p:nvSpPr>
        <p:spPr>
          <a:xfrm>
            <a:off x="1333500" y="4438650"/>
            <a:ext cx="5715000" cy="28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추이 분석(모니터링 체계 구축)</a:t>
            </a:r>
            <a:endParaRPr lang="en-US" sz="1575" dirty="0"/>
          </a:p>
        </p:txBody>
      </p:sp>
      <p:sp>
        <p:nvSpPr>
          <p:cNvPr id="28" name="Text 26"/>
          <p:cNvSpPr txBox="1"/>
          <p:nvPr/>
        </p:nvSpPr>
        <p:spPr>
          <a:xfrm>
            <a:off x="7239000" y="4486275"/>
            <a:ext cx="314325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회차가 쌓이면 다시 고른다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0553700" y="4495800"/>
            <a:ext cx="952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~ 13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" y="4800600"/>
            <a:ext cx="1082040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4943475"/>
            <a:ext cx="49530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en-US" sz="1950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950" dirty="0"/>
          </a:p>
        </p:txBody>
      </p:sp>
      <p:sp>
        <p:nvSpPr>
          <p:cNvPr id="32" name="Text 30"/>
          <p:cNvSpPr txBox="1"/>
          <p:nvPr/>
        </p:nvSpPr>
        <p:spPr>
          <a:xfrm>
            <a:off x="1333500" y="4962525"/>
            <a:ext cx="5715000" cy="28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효과(정량적/정성적)</a:t>
            </a:r>
            <a:endParaRPr lang="en-US" sz="1575" dirty="0"/>
          </a:p>
        </p:txBody>
      </p:sp>
      <p:sp>
        <p:nvSpPr>
          <p:cNvPr id="33" name="Text 31"/>
          <p:cNvSpPr txBox="1"/>
          <p:nvPr/>
        </p:nvSpPr>
        <p:spPr>
          <a:xfrm>
            <a:off x="7239000" y="5010150"/>
            <a:ext cx="314325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3지표 · 정성 4관점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0553700" y="5019675"/>
            <a:ext cx="952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~ 15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5800" y="5324475"/>
            <a:ext cx="1082040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5467350"/>
            <a:ext cx="49530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en-US" sz="1950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950" dirty="0"/>
          </a:p>
        </p:txBody>
      </p:sp>
      <p:sp>
        <p:nvSpPr>
          <p:cNvPr id="37" name="Text 35"/>
          <p:cNvSpPr txBox="1"/>
          <p:nvPr/>
        </p:nvSpPr>
        <p:spPr>
          <a:xfrm>
            <a:off x="1333500" y="5486400"/>
            <a:ext cx="5715000" cy="28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계획 및 수평 전개 방안</a:t>
            </a:r>
            <a:endParaRPr lang="en-US" sz="1575" dirty="0"/>
          </a:p>
        </p:txBody>
      </p:sp>
      <p:sp>
        <p:nvSpPr>
          <p:cNvPr id="38" name="Text 36"/>
          <p:cNvSpPr txBox="1"/>
          <p:nvPr/>
        </p:nvSpPr>
        <p:spPr>
          <a:xfrm>
            <a:off x="7239000" y="5534025"/>
            <a:ext cx="314325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마일스톤과 수평 전개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0553700" y="5543550"/>
            <a:ext cx="952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5800" y="60579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" y="6267450"/>
            <a:ext cx="47625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8" b="1" spc="18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결론</a:t>
            </a:r>
            <a:endParaRPr lang="en-US" sz="788" dirty="0"/>
          </a:p>
        </p:txBody>
      </p:sp>
      <p:sp>
        <p:nvSpPr>
          <p:cNvPr id="42" name="Text 40"/>
          <p:cNvSpPr txBox="1"/>
          <p:nvPr/>
        </p:nvSpPr>
        <p:spPr>
          <a:xfrm>
            <a:off x="1219200" y="6229350"/>
            <a:ext cx="10287000" cy="22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10분 + </a:t>
            </a:r>
            <a:pPr algn="l" indent="0" marL="0">
              <a:lnSpc>
                <a:spcPts val="1733"/>
              </a:lnSpc>
              <a:buNone/>
            </a:pPr>
            <a:r>
              <a:rPr lang="en-US" sz="1238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시연 4분</a:t>
            </a:r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오른쪽 숫자는 해당 장입니다.</a:t>
            </a:r>
            <a:endParaRPr lang="en-US" sz="123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9100"/>
            <a:ext cx="762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</a:t>
            </a:r>
            <a:endParaRPr lang="en-US" sz="1125" dirty="0"/>
          </a:p>
        </p:txBody>
      </p:sp>
      <p:sp>
        <p:nvSpPr>
          <p:cNvPr id="3" name="Shape 1"/>
          <p:cNvSpPr/>
          <p:nvPr/>
        </p:nvSpPr>
        <p:spPr>
          <a:xfrm>
            <a:off x="685800" y="6858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914400"/>
            <a:ext cx="9906000" cy="888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하나에 기대던 숫자를,</a:t>
            </a:r>
            <a:endParaRPr lang="en-US" sz="2775" dirty="0"/>
          </a:p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</a:t>
            </a:r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갱신합니다</a:t>
            </a:r>
            <a:endParaRPr lang="en-US" sz="27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00250"/>
            <a:ext cx="10096500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온도가 달라도 </a:t>
            </a:r>
            <a:pPr algn="l" indent="0" marL="0">
              <a:lnSpc>
                <a:spcPts val="2241"/>
              </a:lnSpc>
              <a:buNone/>
            </a:pPr>
            <a:r>
              <a:rPr lang="en-US" sz="1350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보정값 하나</a:t>
            </a:r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쓰던 방식을 온도별 실적을 학습하는 모델로 바꿨습니다. 같은 데이터로 채점했을 때 </a:t>
            </a:r>
            <a:pPr algn="l" indent="0" marL="0">
              <a:lnSpc>
                <a:spcPts val="2241"/>
              </a:lnSpc>
              <a:buNone/>
            </a:pPr>
            <a:r>
              <a:rPr lang="en-US" sz="1350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지표가 동시에</a:t>
            </a:r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좋아졌습니다.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686050"/>
            <a:ext cx="3295650" cy="1905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819400"/>
            <a:ext cx="329565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예측 오차  ·  MW</a:t>
            </a:r>
            <a:endParaRPr lang="en-US" sz="788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48000"/>
            <a:ext cx="987171" cy="42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8"/>
              </a:lnSpc>
              <a:buNone/>
            </a:pPr>
            <a:r>
              <a:rPr lang="en-US" sz="3150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1.30</a:t>
            </a:r>
            <a:endParaRPr lang="en-US" sz="3150" dirty="0"/>
          </a:p>
        </p:txBody>
      </p:sp>
      <p:sp>
        <p:nvSpPr>
          <p:cNvPr id="9" name="Text 7"/>
          <p:cNvSpPr txBox="1"/>
          <p:nvPr/>
        </p:nvSpPr>
        <p:spPr>
          <a:xfrm>
            <a:off x="1825371" y="3257550"/>
            <a:ext cx="1143000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A8BC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3.90</a:t>
            </a:r>
            <a:endParaRPr lang="en-US" sz="1425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571875"/>
            <a:ext cx="32956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평균적으로 몇 MW 틀리는가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685800" y="3924300"/>
            <a:ext cx="3295650" cy="4572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85950" y="4010025"/>
            <a:ext cx="5715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2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개선</a:t>
            </a:r>
            <a:endParaRPr lang="en-US" sz="788" dirty="0"/>
          </a:p>
        </p:txBody>
      </p:sp>
      <p:sp>
        <p:nvSpPr>
          <p:cNvPr id="13" name="Text 11"/>
          <p:cNvSpPr txBox="1"/>
          <p:nvPr/>
        </p:nvSpPr>
        <p:spPr>
          <a:xfrm>
            <a:off x="3238500" y="4010025"/>
            <a:ext cx="5715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4"/>
              </a:lnSpc>
              <a:buNone/>
            </a:pPr>
            <a:r>
              <a:rPr lang="en-US" sz="788" spc="120" kern="0" dirty="0">
                <a:solidFill>
                  <a:srgbClr val="A8BC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종전</a:t>
            </a:r>
            <a:endParaRPr lang="en-US" sz="788" dirty="0"/>
          </a:p>
        </p:txBody>
      </p:sp>
      <p:sp>
        <p:nvSpPr>
          <p:cNvPr id="14" name="Shape 12"/>
          <p:cNvSpPr/>
          <p:nvPr/>
        </p:nvSpPr>
        <p:spPr>
          <a:xfrm>
            <a:off x="800100" y="4200525"/>
            <a:ext cx="306705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" y="4162425"/>
            <a:ext cx="1028700" cy="7620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16" name="Shape 14"/>
          <p:cNvSpPr/>
          <p:nvPr/>
        </p:nvSpPr>
        <p:spPr>
          <a:xfrm>
            <a:off x="3867150" y="4124325"/>
            <a:ext cx="0" cy="152400"/>
          </a:xfrm>
          <a:prstGeom prst="line">
            <a:avLst/>
          </a:prstGeom>
          <a:noFill/>
          <a:ln w="33020">
            <a:solidFill>
              <a:srgbClr val="A8BC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48175" y="2686050"/>
            <a:ext cx="3295650" cy="19050"/>
          </a:xfrm>
          <a:prstGeom prst="rect">
            <a:avLst/>
          </a:prstGeom>
          <a:solidFill>
            <a:srgbClr val="7E233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48175" y="2819400"/>
            <a:ext cx="329565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기준 미달 회차  ·  건</a:t>
            </a:r>
            <a:endParaRPr lang="en-US" sz="788" dirty="0"/>
          </a:p>
        </p:txBody>
      </p:sp>
      <p:sp>
        <p:nvSpPr>
          <p:cNvPr id="19" name="Text 17"/>
          <p:cNvSpPr txBox="1"/>
          <p:nvPr/>
        </p:nvSpPr>
        <p:spPr>
          <a:xfrm>
            <a:off x="4448175" y="3048000"/>
            <a:ext cx="261080" cy="42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8"/>
              </a:lnSpc>
              <a:buNone/>
            </a:pPr>
            <a:r>
              <a:rPr lang="en-US" sz="3150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3150" dirty="0"/>
          </a:p>
        </p:txBody>
      </p:sp>
      <p:sp>
        <p:nvSpPr>
          <p:cNvPr id="20" name="Text 18"/>
          <p:cNvSpPr txBox="1"/>
          <p:nvPr/>
        </p:nvSpPr>
        <p:spPr>
          <a:xfrm>
            <a:off x="4861655" y="3257550"/>
            <a:ext cx="1143000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4D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15</a:t>
            </a:r>
            <a:endParaRPr lang="en-US" sz="1425" dirty="0"/>
          </a:p>
        </p:txBody>
      </p:sp>
      <p:sp>
        <p:nvSpPr>
          <p:cNvPr id="21" name="Text 19"/>
          <p:cNvSpPr txBox="1"/>
          <p:nvPr/>
        </p:nvSpPr>
        <p:spPr>
          <a:xfrm>
            <a:off x="4448175" y="3571875"/>
            <a:ext cx="32956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실제가 낮아 </a:t>
            </a:r>
            <a:pPr algn="l" indent="0" marL="0">
              <a:lnSpc>
                <a:spcPts val="1890"/>
              </a:lnSpc>
              <a:buNone/>
            </a:pPr>
            <a:r>
              <a:rPr lang="en-US" sz="112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벌점</a:t>
            </a:r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걸린 회차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4448175" y="3924300"/>
            <a:ext cx="3295650" cy="4572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38775" y="4010025"/>
            <a:ext cx="5715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2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개선</a:t>
            </a:r>
            <a:endParaRPr lang="en-US" sz="788" dirty="0"/>
          </a:p>
        </p:txBody>
      </p:sp>
      <p:sp>
        <p:nvSpPr>
          <p:cNvPr id="24" name="Text 22"/>
          <p:cNvSpPr txBox="1"/>
          <p:nvPr/>
        </p:nvSpPr>
        <p:spPr>
          <a:xfrm>
            <a:off x="7000875" y="4010025"/>
            <a:ext cx="5715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4"/>
              </a:lnSpc>
              <a:buNone/>
            </a:pPr>
            <a:r>
              <a:rPr lang="en-US" sz="788" spc="120" kern="0" dirty="0">
                <a:solidFill>
                  <a:srgbClr val="FF4D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종전</a:t>
            </a:r>
            <a:endParaRPr lang="en-US" sz="788" dirty="0"/>
          </a:p>
        </p:txBody>
      </p:sp>
      <p:sp>
        <p:nvSpPr>
          <p:cNvPr id="25" name="Shape 23"/>
          <p:cNvSpPr/>
          <p:nvPr/>
        </p:nvSpPr>
        <p:spPr>
          <a:xfrm>
            <a:off x="4562475" y="4200525"/>
            <a:ext cx="306705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62475" y="4162425"/>
            <a:ext cx="819150" cy="7620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27" name="Shape 25"/>
          <p:cNvSpPr/>
          <p:nvPr/>
        </p:nvSpPr>
        <p:spPr>
          <a:xfrm>
            <a:off x="7629525" y="4124325"/>
            <a:ext cx="0" cy="152400"/>
          </a:xfrm>
          <a:prstGeom prst="line">
            <a:avLst/>
          </a:prstGeom>
          <a:noFill/>
          <a:ln w="33020">
            <a:solidFill>
              <a:srgbClr val="FF4D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10550" y="2686050"/>
            <a:ext cx="3295650" cy="1905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10550" y="2819400"/>
            <a:ext cx="329565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과대 신고 누계  ·  MW</a:t>
            </a:r>
            <a:endParaRPr lang="en-US" sz="788" dirty="0"/>
          </a:p>
        </p:txBody>
      </p:sp>
      <p:sp>
        <p:nvSpPr>
          <p:cNvPr id="30" name="Text 28"/>
          <p:cNvSpPr txBox="1"/>
          <p:nvPr/>
        </p:nvSpPr>
        <p:spPr>
          <a:xfrm>
            <a:off x="8210550" y="3048000"/>
            <a:ext cx="745141" cy="42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8"/>
              </a:lnSpc>
              <a:buNone/>
            </a:pPr>
            <a:r>
              <a:rPr lang="en-US" sz="3150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9.3</a:t>
            </a:r>
            <a:endParaRPr lang="en-US" sz="3150" dirty="0"/>
          </a:p>
        </p:txBody>
      </p:sp>
      <p:sp>
        <p:nvSpPr>
          <p:cNvPr id="31" name="Text 29"/>
          <p:cNvSpPr txBox="1"/>
          <p:nvPr/>
        </p:nvSpPr>
        <p:spPr>
          <a:xfrm>
            <a:off x="9108091" y="3257550"/>
            <a:ext cx="1143000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A8BC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69.5</a:t>
            </a:r>
            <a:endParaRPr lang="en-US" sz="1425" dirty="0"/>
          </a:p>
        </p:txBody>
      </p:sp>
      <p:sp>
        <p:nvSpPr>
          <p:cNvPr id="32" name="Text 30"/>
          <p:cNvSpPr txBox="1"/>
          <p:nvPr/>
        </p:nvSpPr>
        <p:spPr>
          <a:xfrm>
            <a:off x="8210550" y="3571875"/>
            <a:ext cx="32956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실제보다 높게 신고한 양의 합계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8210550" y="3924300"/>
            <a:ext cx="3295650" cy="4572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791575" y="4010025"/>
            <a:ext cx="5715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2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개선</a:t>
            </a:r>
            <a:endParaRPr lang="en-US" sz="788" dirty="0"/>
          </a:p>
        </p:txBody>
      </p:sp>
      <p:sp>
        <p:nvSpPr>
          <p:cNvPr id="35" name="Text 33"/>
          <p:cNvSpPr txBox="1"/>
          <p:nvPr/>
        </p:nvSpPr>
        <p:spPr>
          <a:xfrm>
            <a:off x="10763250" y="4010025"/>
            <a:ext cx="5715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4"/>
              </a:lnSpc>
              <a:buNone/>
            </a:pPr>
            <a:r>
              <a:rPr lang="en-US" sz="788" spc="120" kern="0" dirty="0">
                <a:solidFill>
                  <a:srgbClr val="A8BC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종전</a:t>
            </a:r>
            <a:endParaRPr lang="en-US" sz="788" dirty="0"/>
          </a:p>
        </p:txBody>
      </p:sp>
      <p:sp>
        <p:nvSpPr>
          <p:cNvPr id="36" name="Shape 34"/>
          <p:cNvSpPr/>
          <p:nvPr/>
        </p:nvSpPr>
        <p:spPr>
          <a:xfrm>
            <a:off x="8324850" y="4200525"/>
            <a:ext cx="306705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4850" y="4162425"/>
            <a:ext cx="409575" cy="7620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38" name="Shape 36"/>
          <p:cNvSpPr/>
          <p:nvPr/>
        </p:nvSpPr>
        <p:spPr>
          <a:xfrm>
            <a:off x="11391900" y="4124325"/>
            <a:ext cx="0" cy="152400"/>
          </a:xfrm>
          <a:prstGeom prst="line">
            <a:avLst/>
          </a:prstGeom>
          <a:noFill/>
          <a:ln w="33020">
            <a:solidFill>
              <a:srgbClr val="A8BC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5800" y="4629150"/>
            <a:ext cx="10820400" cy="1238250"/>
          </a:xfrm>
          <a:prstGeom prst="rect">
            <a:avLst/>
          </a:prstGeom>
          <a:solidFill>
            <a:srgbClr val="0A1320"/>
          </a:solidFill>
          <a:ln/>
        </p:spPr>
      </p:sp>
      <p:sp>
        <p:nvSpPr>
          <p:cNvPr id="40" name="Shape 38"/>
          <p:cNvSpPr/>
          <p:nvPr/>
        </p:nvSpPr>
        <p:spPr>
          <a:xfrm>
            <a:off x="685800" y="4629150"/>
            <a:ext cx="5410200" cy="19050"/>
          </a:xfrm>
          <a:prstGeom prst="rect">
            <a:avLst/>
          </a:prstGeom>
          <a:solidFill>
            <a:srgbClr val="718BA6"/>
          </a:solidFill>
          <a:ln/>
        </p:spPr>
      </p:sp>
      <p:sp>
        <p:nvSpPr>
          <p:cNvPr id="41" name="Shape 39"/>
          <p:cNvSpPr/>
          <p:nvPr/>
        </p:nvSpPr>
        <p:spPr>
          <a:xfrm>
            <a:off x="6096000" y="4629150"/>
            <a:ext cx="5410200" cy="1905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42" name="Shape 40"/>
          <p:cNvSpPr/>
          <p:nvPr/>
        </p:nvSpPr>
        <p:spPr>
          <a:xfrm>
            <a:off x="6096000" y="4857750"/>
            <a:ext cx="0" cy="78105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67400" y="5067300"/>
            <a:ext cx="457200" cy="361950"/>
          </a:xfrm>
          <a:prstGeom prst="rect">
            <a:avLst/>
          </a:prstGeom>
          <a:solidFill>
            <a:srgbClr val="0A1320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867400" y="5105400"/>
            <a:ext cx="4572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50" dirty="0"/>
          </a:p>
        </p:txBody>
      </p:sp>
      <p:sp>
        <p:nvSpPr>
          <p:cNvPr id="45" name="Text 43"/>
          <p:cNvSpPr txBox="1"/>
          <p:nvPr/>
        </p:nvSpPr>
        <p:spPr>
          <a:xfrm>
            <a:off x="914400" y="4791075"/>
            <a:ext cx="47625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718B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종전  ·  사람의 판단</a:t>
            </a:r>
            <a:endParaRPr lang="en-US" sz="788" dirty="0"/>
          </a:p>
        </p:txBody>
      </p:sp>
      <p:sp>
        <p:nvSpPr>
          <p:cNvPr id="46" name="Text 44"/>
          <p:cNvSpPr txBox="1"/>
          <p:nvPr/>
        </p:nvSpPr>
        <p:spPr>
          <a:xfrm>
            <a:off x="914400" y="5010150"/>
            <a:ext cx="4762500" cy="28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718B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보정값 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718B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718B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사람이 정수로</a:t>
            </a:r>
            <a:endParaRPr lang="en-US" sz="1575" dirty="0"/>
          </a:p>
        </p:txBody>
      </p:sp>
      <p:sp>
        <p:nvSpPr>
          <p:cNvPr id="47" name="Text 45"/>
          <p:cNvSpPr txBox="1"/>
          <p:nvPr/>
        </p:nvSpPr>
        <p:spPr>
          <a:xfrm>
            <a:off x="6324600" y="4791075"/>
            <a:ext cx="47625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현재  ·  데이터의 학습</a:t>
            </a:r>
            <a:endParaRPr lang="en-US" sz="788" dirty="0"/>
          </a:p>
        </p:txBody>
      </p:sp>
      <p:sp>
        <p:nvSpPr>
          <p:cNvPr id="48" name="Text 46"/>
          <p:cNvSpPr txBox="1"/>
          <p:nvPr/>
        </p:nvSpPr>
        <p:spPr>
          <a:xfrm>
            <a:off x="6324600" y="5010150"/>
            <a:ext cx="4762500" cy="28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온도별 곡선을 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갱신</a:t>
            </a:r>
            <a:endParaRPr lang="en-US" sz="1575" dirty="0"/>
          </a:p>
        </p:txBody>
      </p:sp>
      <p:sp>
        <p:nvSpPr>
          <p:cNvPr id="49" name="Shape 47"/>
          <p:cNvSpPr/>
          <p:nvPr/>
        </p:nvSpPr>
        <p:spPr>
          <a:xfrm>
            <a:off x="914400" y="5429250"/>
            <a:ext cx="1000125" cy="285750"/>
          </a:xfrm>
          <a:prstGeom prst="rect">
            <a:avLst/>
          </a:prstGeom>
          <a:ln w="12700">
            <a:solidFill>
              <a:srgbClr val="22354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09650" y="5495925"/>
            <a:ext cx="809625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이론값 계산</a:t>
            </a:r>
            <a:endParaRPr lang="en-US" sz="975" dirty="0"/>
          </a:p>
        </p:txBody>
      </p:sp>
      <p:sp>
        <p:nvSpPr>
          <p:cNvPr id="51" name="Shape 49"/>
          <p:cNvSpPr/>
          <p:nvPr/>
        </p:nvSpPr>
        <p:spPr>
          <a:xfrm>
            <a:off x="2886075" y="5429250"/>
            <a:ext cx="1000125" cy="285750"/>
          </a:xfrm>
          <a:prstGeom prst="rect">
            <a:avLst/>
          </a:prstGeom>
          <a:ln w="12700">
            <a:solidFill>
              <a:srgbClr val="22354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981325" y="5495925"/>
            <a:ext cx="809625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실적과 비교</a:t>
            </a:r>
            <a:endParaRPr lang="en-US" sz="975" dirty="0"/>
          </a:p>
        </p:txBody>
      </p:sp>
      <p:sp>
        <p:nvSpPr>
          <p:cNvPr id="53" name="Shape 51"/>
          <p:cNvSpPr/>
          <p:nvPr/>
        </p:nvSpPr>
        <p:spPr>
          <a:xfrm>
            <a:off x="4857750" y="5429250"/>
            <a:ext cx="1000125" cy="285750"/>
          </a:xfrm>
          <a:prstGeom prst="rect">
            <a:avLst/>
          </a:prstGeom>
          <a:ln w="12700">
            <a:solidFill>
              <a:srgbClr val="22354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953000" y="5495925"/>
            <a:ext cx="809625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정수로 판단</a:t>
            </a:r>
            <a:endParaRPr lang="en-US" sz="975" dirty="0"/>
          </a:p>
        </p:txBody>
      </p:sp>
      <p:sp>
        <p:nvSpPr>
          <p:cNvPr id="55" name="Text 53"/>
          <p:cNvSpPr txBox="1"/>
          <p:nvPr/>
        </p:nvSpPr>
        <p:spPr>
          <a:xfrm>
            <a:off x="2305050" y="5495925"/>
            <a:ext cx="190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975" dirty="0"/>
          </a:p>
        </p:txBody>
      </p:sp>
      <p:sp>
        <p:nvSpPr>
          <p:cNvPr id="56" name="Text 54"/>
          <p:cNvSpPr txBox="1"/>
          <p:nvPr/>
        </p:nvSpPr>
        <p:spPr>
          <a:xfrm>
            <a:off x="4276725" y="5495925"/>
            <a:ext cx="190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975" dirty="0"/>
          </a:p>
        </p:txBody>
      </p:sp>
      <p:sp>
        <p:nvSpPr>
          <p:cNvPr id="57" name="Shape 55"/>
          <p:cNvSpPr/>
          <p:nvPr/>
        </p:nvSpPr>
        <p:spPr>
          <a:xfrm>
            <a:off x="6324600" y="5429250"/>
            <a:ext cx="904875" cy="285750"/>
          </a:xfrm>
          <a:prstGeom prst="rect">
            <a:avLst/>
          </a:prstGeom>
          <a:ln w="12700">
            <a:solidFill>
              <a:srgbClr val="6B522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419850" y="5495925"/>
            <a:ext cx="714375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취득</a:t>
            </a:r>
            <a:endParaRPr lang="en-US" sz="975" dirty="0"/>
          </a:p>
        </p:txBody>
      </p:sp>
      <p:sp>
        <p:nvSpPr>
          <p:cNvPr id="59" name="Shape 57"/>
          <p:cNvSpPr/>
          <p:nvPr/>
        </p:nvSpPr>
        <p:spPr>
          <a:xfrm>
            <a:off x="8086725" y="5429250"/>
            <a:ext cx="1000125" cy="285750"/>
          </a:xfrm>
          <a:prstGeom prst="rect">
            <a:avLst/>
          </a:prstGeom>
          <a:ln w="12700">
            <a:solidFill>
              <a:srgbClr val="6B5220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181975" y="5495925"/>
            <a:ext cx="809625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온도별 학습</a:t>
            </a:r>
            <a:endParaRPr lang="en-US" sz="975" dirty="0"/>
          </a:p>
        </p:txBody>
      </p:sp>
      <p:sp>
        <p:nvSpPr>
          <p:cNvPr id="61" name="Shape 59"/>
          <p:cNvSpPr/>
          <p:nvPr/>
        </p:nvSpPr>
        <p:spPr>
          <a:xfrm>
            <a:off x="9944100" y="5429250"/>
            <a:ext cx="1333500" cy="285750"/>
          </a:xfrm>
          <a:prstGeom prst="rect">
            <a:avLst/>
          </a:prstGeom>
          <a:ln w="12700">
            <a:solidFill>
              <a:srgbClr val="6B522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039350" y="5495925"/>
            <a:ext cx="11430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 방식 재선정</a:t>
            </a:r>
            <a:endParaRPr lang="en-US" sz="975" dirty="0"/>
          </a:p>
        </p:txBody>
      </p:sp>
      <p:sp>
        <p:nvSpPr>
          <p:cNvPr id="63" name="Text 61"/>
          <p:cNvSpPr txBox="1"/>
          <p:nvPr/>
        </p:nvSpPr>
        <p:spPr>
          <a:xfrm>
            <a:off x="7562850" y="5495925"/>
            <a:ext cx="190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975" dirty="0"/>
          </a:p>
        </p:txBody>
      </p:sp>
      <p:sp>
        <p:nvSpPr>
          <p:cNvPr id="64" name="Text 62"/>
          <p:cNvSpPr txBox="1"/>
          <p:nvPr/>
        </p:nvSpPr>
        <p:spPr>
          <a:xfrm>
            <a:off x="9420225" y="5495925"/>
            <a:ext cx="190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975" dirty="0"/>
          </a:p>
        </p:txBody>
      </p:sp>
      <p:sp>
        <p:nvSpPr>
          <p:cNvPr id="65" name="Shape 63"/>
          <p:cNvSpPr/>
          <p:nvPr/>
        </p:nvSpPr>
        <p:spPr>
          <a:xfrm>
            <a:off x="685800" y="60579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85800" y="6267450"/>
            <a:ext cx="47625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8" b="1" spc="18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결론</a:t>
            </a:r>
            <a:endParaRPr lang="en-US" sz="788" dirty="0"/>
          </a:p>
        </p:txBody>
      </p:sp>
      <p:sp>
        <p:nvSpPr>
          <p:cNvPr id="67" name="Text 65"/>
          <p:cNvSpPr txBox="1"/>
          <p:nvPr/>
        </p:nvSpPr>
        <p:spPr>
          <a:xfrm>
            <a:off x="1219200" y="6229350"/>
            <a:ext cx="10287000" cy="22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정하던 값이 아니라, </a:t>
            </a:r>
            <a:pPr algn="l" indent="0" marL="0">
              <a:lnSpc>
                <a:spcPts val="1733"/>
              </a:lnSpc>
              <a:buNone/>
            </a:pPr>
            <a:r>
              <a:rPr lang="en-US" sz="1238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40회차 실적이 스스로 만들어 내는 값</a:t>
            </a:r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23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9100"/>
            <a:ext cx="762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 </a:t>
            </a:r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및 추진 배경</a:t>
            </a:r>
            <a:pPr algn="l" indent="0" marL="0">
              <a:lnSpc>
                <a:spcPts val="1440"/>
              </a:lnSpc>
              <a:buNone/>
            </a:pPr>
            <a:r>
              <a:rPr lang="en-US" sz="975" spc="60" kern="0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추진 배경</a:t>
            </a:r>
            <a:endParaRPr lang="en-US" sz="1125" dirty="0"/>
          </a:p>
        </p:txBody>
      </p:sp>
      <p:sp>
        <p:nvSpPr>
          <p:cNvPr id="3" name="Shape 1"/>
          <p:cNvSpPr/>
          <p:nvPr/>
        </p:nvSpPr>
        <p:spPr>
          <a:xfrm>
            <a:off x="10668000" y="419100"/>
            <a:ext cx="38100" cy="142875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4" name="Shape 2"/>
          <p:cNvSpPr/>
          <p:nvPr/>
        </p:nvSpPr>
        <p:spPr>
          <a:xfrm>
            <a:off x="108013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5" name="Shape 3"/>
          <p:cNvSpPr/>
          <p:nvPr/>
        </p:nvSpPr>
        <p:spPr>
          <a:xfrm>
            <a:off x="109347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6" name="Shape 4"/>
          <p:cNvSpPr/>
          <p:nvPr/>
        </p:nvSpPr>
        <p:spPr>
          <a:xfrm>
            <a:off x="110680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7" name="Shape 5"/>
          <p:cNvSpPr/>
          <p:nvPr/>
        </p:nvSpPr>
        <p:spPr>
          <a:xfrm>
            <a:off x="112014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8" name="Shape 6"/>
          <p:cNvSpPr/>
          <p:nvPr/>
        </p:nvSpPr>
        <p:spPr>
          <a:xfrm>
            <a:off x="113347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9" name="Shape 7"/>
          <p:cNvSpPr/>
          <p:nvPr/>
        </p:nvSpPr>
        <p:spPr>
          <a:xfrm>
            <a:off x="114681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6858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914400"/>
            <a:ext cx="10287000" cy="888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신고하는 숫자입니다,</a:t>
            </a:r>
            <a:endParaRPr lang="en-US" sz="2775" dirty="0"/>
          </a:p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틀리면 </a:t>
            </a:r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양쪽으로 손실</a:t>
            </a:r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납니다</a:t>
            </a:r>
            <a:endParaRPr lang="en-US" sz="2775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000250"/>
            <a:ext cx="10287000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주에 낼 수 있는 최대 출력을 매주 신고합니다. 그 숫자가 그대로 입찰이 되므로, 실제와 어긋나면 </a:t>
            </a:r>
            <a:pPr algn="l" indent="0" marL="0">
              <a:lnSpc>
                <a:spcPts val="2241"/>
              </a:lnSpc>
              <a:buNone/>
            </a:pPr>
            <a:r>
              <a:rPr lang="en-US" sz="1350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어긋난 방향에 따라</a:t>
            </a:r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다른 손실이 생깁니다.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2743200"/>
            <a:ext cx="10820400" cy="74295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857500"/>
            <a:ext cx="38100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주간 신고 절차</a:t>
            </a:r>
            <a:endParaRPr lang="en-US" sz="788" dirty="0"/>
          </a:p>
        </p:txBody>
      </p:sp>
      <p:sp>
        <p:nvSpPr>
          <p:cNvPr id="15" name="Shape 13"/>
          <p:cNvSpPr/>
          <p:nvPr/>
        </p:nvSpPr>
        <p:spPr>
          <a:xfrm>
            <a:off x="914400" y="3067050"/>
            <a:ext cx="952500" cy="285750"/>
          </a:xfrm>
          <a:prstGeom prst="rect">
            <a:avLst/>
          </a:prstGeom>
          <a:ln w="12700">
            <a:solidFill>
              <a:srgbClr val="2235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9650" y="3133725"/>
            <a:ext cx="7620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 예보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3448050" y="3067050"/>
            <a:ext cx="1905000" cy="285750"/>
          </a:xfrm>
          <a:prstGeom prst="rect">
            <a:avLst/>
          </a:prstGeom>
          <a:ln w="12700">
            <a:solidFill>
              <a:srgbClr val="2235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43300" y="3133725"/>
            <a:ext cx="1714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온도별 이론 출력 계산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6934200" y="3067050"/>
            <a:ext cx="1238250" cy="285750"/>
          </a:xfrm>
          <a:prstGeom prst="rect">
            <a:avLst/>
          </a:prstGeom>
          <a:ln w="12700">
            <a:solidFill>
              <a:srgbClr val="6B522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29450" y="3133725"/>
            <a:ext cx="104775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보정값 적용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9753600" y="3067050"/>
            <a:ext cx="1476375" cy="285750"/>
          </a:xfrm>
          <a:prstGeom prst="rect">
            <a:avLst/>
          </a:prstGeom>
          <a:ln w="12700">
            <a:solidFill>
              <a:srgbClr val="2235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48850" y="3133725"/>
            <a:ext cx="1285875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신고 확정</a:t>
            </a:r>
            <a:endParaRPr lang="en-US" sz="975" dirty="0"/>
          </a:p>
        </p:txBody>
      </p:sp>
      <p:sp>
        <p:nvSpPr>
          <p:cNvPr id="23" name="Text 21"/>
          <p:cNvSpPr txBox="1"/>
          <p:nvPr/>
        </p:nvSpPr>
        <p:spPr>
          <a:xfrm>
            <a:off x="2562225" y="3133725"/>
            <a:ext cx="190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975" dirty="0"/>
          </a:p>
        </p:txBody>
      </p:sp>
      <p:sp>
        <p:nvSpPr>
          <p:cNvPr id="24" name="Text 22"/>
          <p:cNvSpPr txBox="1"/>
          <p:nvPr/>
        </p:nvSpPr>
        <p:spPr>
          <a:xfrm>
            <a:off x="6048375" y="3133725"/>
            <a:ext cx="190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975" dirty="0"/>
          </a:p>
        </p:txBody>
      </p:sp>
      <p:sp>
        <p:nvSpPr>
          <p:cNvPr id="25" name="Text 23"/>
          <p:cNvSpPr txBox="1"/>
          <p:nvPr/>
        </p:nvSpPr>
        <p:spPr>
          <a:xfrm>
            <a:off x="8867775" y="3133725"/>
            <a:ext cx="190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685800" y="3771900"/>
            <a:ext cx="5295900" cy="19050"/>
          </a:xfrm>
          <a:prstGeom prst="rect">
            <a:avLst/>
          </a:prstGeom>
          <a:solidFill>
            <a:srgbClr val="7E233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" y="3905250"/>
            <a:ext cx="52959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FF4D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낮게 신고하면  ·  기회손실</a:t>
            </a:r>
            <a:endParaRPr lang="en-US" sz="788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4114800"/>
            <a:ext cx="5295900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 수 있었는데 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팝니다</a:t>
            </a:r>
            <a:endParaRPr lang="en-US" sz="1575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4781550"/>
            <a:ext cx="52959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낼 수 있는 출력보다 낮게 신고하면 그만큼 입찰에서 빠집니다. 종전 방식은 </a:t>
            </a:r>
            <a:pPr algn="l" indent="0" marL="0">
              <a:lnSpc>
                <a:spcPts val="1890"/>
              </a:lnSpc>
              <a:buNone/>
            </a:pPr>
            <a:r>
              <a:rPr lang="en-US" sz="112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겨울에</a:t>
            </a:r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방향으로 치우쳤습니다.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685800" y="5391150"/>
            <a:ext cx="5295900" cy="51435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8200" y="5486400"/>
            <a:ext cx="46853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en-US" sz="1950" b="1" dirty="0">
                <a:solidFill>
                  <a:srgbClr val="FF4D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5.0</a:t>
            </a:r>
            <a:endParaRPr lang="en-US" sz="1950" dirty="0"/>
          </a:p>
        </p:txBody>
      </p:sp>
      <p:sp>
        <p:nvSpPr>
          <p:cNvPr id="32" name="Text 30"/>
          <p:cNvSpPr txBox="1"/>
          <p:nvPr/>
        </p:nvSpPr>
        <p:spPr>
          <a:xfrm>
            <a:off x="1363885" y="5610225"/>
            <a:ext cx="40005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MW</a:t>
            </a:r>
            <a:endParaRPr lang="en-US" sz="975" dirty="0"/>
          </a:p>
        </p:txBody>
      </p:sp>
      <p:sp>
        <p:nvSpPr>
          <p:cNvPr id="33" name="Text 31"/>
          <p:cNvSpPr txBox="1"/>
          <p:nvPr/>
        </p:nvSpPr>
        <p:spPr>
          <a:xfrm>
            <a:off x="2114550" y="5467350"/>
            <a:ext cx="37147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겨울 0℃ 에서 낮게 잡힌 폭</a:t>
            </a:r>
            <a:endParaRPr lang="en-US" sz="863" dirty="0"/>
          </a:p>
          <a:p>
            <a:pPr algn="l" indent="0" marL="0">
              <a:lnSpc>
                <a:spcPts val="1294"/>
              </a:lnSpc>
              <a:buNone/>
            </a:pPr>
            <a:r>
              <a:rPr lang="en-US" sz="863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종전 +2.46 vs 실제 +7.48</a:t>
            </a:r>
            <a:endParaRPr lang="en-US" sz="863" dirty="0"/>
          </a:p>
        </p:txBody>
      </p:sp>
      <p:sp>
        <p:nvSpPr>
          <p:cNvPr id="34" name="Shape 32"/>
          <p:cNvSpPr/>
          <p:nvPr/>
        </p:nvSpPr>
        <p:spPr>
          <a:xfrm>
            <a:off x="6210300" y="3771900"/>
            <a:ext cx="5295900" cy="19050"/>
          </a:xfrm>
          <a:prstGeom prst="rect">
            <a:avLst/>
          </a:prstGeom>
          <a:solidFill>
            <a:srgbClr val="7E233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210300" y="3905250"/>
            <a:ext cx="52959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FF4D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높게 신고하면  ·  페널티</a:t>
            </a:r>
            <a:endParaRPr lang="en-US" sz="788" dirty="0"/>
          </a:p>
        </p:txBody>
      </p:sp>
      <p:sp>
        <p:nvSpPr>
          <p:cNvPr id="36" name="Text 34"/>
          <p:cNvSpPr txBox="1"/>
          <p:nvPr/>
        </p:nvSpPr>
        <p:spPr>
          <a:xfrm>
            <a:off x="6210300" y="4114800"/>
            <a:ext cx="5295900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미달로 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벌점이 걸립니다</a:t>
            </a:r>
            <a:endParaRPr lang="en-US" sz="1575" dirty="0"/>
          </a:p>
        </p:txBody>
      </p:sp>
      <p:sp>
        <p:nvSpPr>
          <p:cNvPr id="37" name="Text 35"/>
          <p:cNvSpPr txBox="1"/>
          <p:nvPr/>
        </p:nvSpPr>
        <p:spPr>
          <a:xfrm>
            <a:off x="6210300" y="4781550"/>
            <a:ext cx="52959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신고값에 실제가 못 미치면 미달입니다. 종전 방식은 </a:t>
            </a:r>
            <a:pPr algn="l" indent="0" marL="0">
              <a:lnSpc>
                <a:spcPts val="1890"/>
              </a:lnSpc>
              <a:buNone/>
            </a:pPr>
            <a:r>
              <a:rPr lang="en-US" sz="112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여름에</a:t>
            </a:r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방향으로 치우쳤습니다.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6210300" y="5391150"/>
            <a:ext cx="5295900" cy="51435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62700" y="5486400"/>
            <a:ext cx="318707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en-US" sz="1950" b="1" dirty="0">
                <a:solidFill>
                  <a:srgbClr val="FF4D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950" dirty="0"/>
          </a:p>
        </p:txBody>
      </p:sp>
      <p:sp>
        <p:nvSpPr>
          <p:cNvPr id="40" name="Text 38"/>
          <p:cNvSpPr txBox="1"/>
          <p:nvPr/>
        </p:nvSpPr>
        <p:spPr>
          <a:xfrm>
            <a:off x="6738557" y="5610225"/>
            <a:ext cx="40005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회차</a:t>
            </a:r>
            <a:endParaRPr lang="en-US" sz="975" dirty="0"/>
          </a:p>
        </p:txBody>
      </p:sp>
      <p:sp>
        <p:nvSpPr>
          <p:cNvPr id="41" name="Text 39"/>
          <p:cNvSpPr txBox="1"/>
          <p:nvPr/>
        </p:nvSpPr>
        <p:spPr>
          <a:xfrm>
            <a:off x="7639050" y="5467350"/>
            <a:ext cx="37147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종전 방식의 기준 미달 회차</a:t>
            </a:r>
            <a:endParaRPr lang="en-US" sz="863" dirty="0"/>
          </a:p>
          <a:p>
            <a:pPr algn="l" indent="0" marL="0">
              <a:lnSpc>
                <a:spcPts val="1294"/>
              </a:lnSpc>
              <a:buNone/>
            </a:pPr>
            <a:r>
              <a:rPr lang="en-US" sz="863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누적 40회차 가운데</a:t>
            </a:r>
            <a:endParaRPr lang="en-US" sz="863" dirty="0"/>
          </a:p>
        </p:txBody>
      </p:sp>
      <p:sp>
        <p:nvSpPr>
          <p:cNvPr id="42" name="Shape 40"/>
          <p:cNvSpPr/>
          <p:nvPr/>
        </p:nvSpPr>
        <p:spPr>
          <a:xfrm>
            <a:off x="685800" y="60579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5800" y="6267450"/>
            <a:ext cx="47625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8" b="1" spc="18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결론</a:t>
            </a:r>
            <a:endParaRPr lang="en-US" sz="788" dirty="0"/>
          </a:p>
        </p:txBody>
      </p:sp>
      <p:sp>
        <p:nvSpPr>
          <p:cNvPr id="44" name="Text 42"/>
          <p:cNvSpPr txBox="1"/>
          <p:nvPr/>
        </p:nvSpPr>
        <p:spPr>
          <a:xfrm>
            <a:off x="1219200" y="6229350"/>
            <a:ext cx="10287000" cy="22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쪽으로 틀려도 손실입니다 — 그래서 </a:t>
            </a:r>
            <a:pPr algn="l" indent="0" marL="0">
              <a:lnSpc>
                <a:spcPts val="1733"/>
              </a:lnSpc>
              <a:buNone/>
            </a:pPr>
            <a:r>
              <a:rPr lang="en-US" sz="1238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정확도가 곧 수익</a:t>
            </a:r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23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9100"/>
            <a:ext cx="762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 </a:t>
            </a:r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파악 및 문제 정의</a:t>
            </a:r>
            <a:pPr algn="l" indent="0" marL="0">
              <a:lnSpc>
                <a:spcPts val="1440"/>
              </a:lnSpc>
              <a:buNone/>
            </a:pPr>
            <a:r>
              <a:rPr lang="en-US" sz="975" spc="60" kern="0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현황</a:t>
            </a:r>
            <a:endParaRPr lang="en-US" sz="1125" dirty="0"/>
          </a:p>
        </p:txBody>
      </p:sp>
      <p:sp>
        <p:nvSpPr>
          <p:cNvPr id="3" name="Shape 1"/>
          <p:cNvSpPr/>
          <p:nvPr/>
        </p:nvSpPr>
        <p:spPr>
          <a:xfrm>
            <a:off x="106680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4" name="Shape 2"/>
          <p:cNvSpPr/>
          <p:nvPr/>
        </p:nvSpPr>
        <p:spPr>
          <a:xfrm>
            <a:off x="10801350" y="419100"/>
            <a:ext cx="38100" cy="142875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5" name="Shape 3"/>
          <p:cNvSpPr/>
          <p:nvPr/>
        </p:nvSpPr>
        <p:spPr>
          <a:xfrm>
            <a:off x="109347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6" name="Shape 4"/>
          <p:cNvSpPr/>
          <p:nvPr/>
        </p:nvSpPr>
        <p:spPr>
          <a:xfrm>
            <a:off x="110680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7" name="Shape 5"/>
          <p:cNvSpPr/>
          <p:nvPr/>
        </p:nvSpPr>
        <p:spPr>
          <a:xfrm>
            <a:off x="112014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8" name="Shape 6"/>
          <p:cNvSpPr/>
          <p:nvPr/>
        </p:nvSpPr>
        <p:spPr>
          <a:xfrm>
            <a:off x="113347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9" name="Shape 7"/>
          <p:cNvSpPr/>
          <p:nvPr/>
        </p:nvSpPr>
        <p:spPr>
          <a:xfrm>
            <a:off x="114681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6858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914400"/>
            <a:ext cx="10287000" cy="888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이론값과 실적의 차이를,</a:t>
            </a:r>
            <a:endParaRPr lang="en-US" sz="2775" dirty="0"/>
          </a:p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정수 하나</a:t>
            </a:r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메워 왔습니다</a:t>
            </a:r>
            <a:endParaRPr lang="en-US" sz="2775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000250"/>
            <a:ext cx="10287000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계산값과 실제 발전량의 차이를 담당자가 판단해 정수 하나로 정하고, </a:t>
            </a:r>
            <a:pPr algn="l" indent="0" marL="0">
              <a:lnSpc>
                <a:spcPts val="2241"/>
              </a:lnSpc>
              <a:buNone/>
            </a:pPr>
            <a:r>
              <a:rPr lang="en-US" sz="1350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온도와 무관하게</a:t>
            </a:r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값을 그대로 적용해 왔습니다.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2743200"/>
            <a:ext cx="4000500" cy="19050"/>
          </a:xfrm>
          <a:prstGeom prst="rect">
            <a:avLst/>
          </a:prstGeom>
          <a:solidFill>
            <a:srgbClr val="2235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876550"/>
            <a:ext cx="40005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종전 절차  ·  엑셀 3개</a:t>
            </a:r>
            <a:endParaRPr lang="en-US" sz="788" dirty="0"/>
          </a:p>
        </p:txBody>
      </p:sp>
      <p:sp>
        <p:nvSpPr>
          <p:cNvPr id="15" name="Shape 13"/>
          <p:cNvSpPr/>
          <p:nvPr/>
        </p:nvSpPr>
        <p:spPr>
          <a:xfrm>
            <a:off x="685800" y="3124200"/>
            <a:ext cx="2381250" cy="285750"/>
          </a:xfrm>
          <a:prstGeom prst="rect">
            <a:avLst/>
          </a:prstGeom>
          <a:ln w="12700">
            <a:solidFill>
              <a:srgbClr val="2235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1050" y="3190875"/>
            <a:ext cx="219075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온도별 이론 출력표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685800" y="3638550"/>
            <a:ext cx="2381250" cy="285750"/>
          </a:xfrm>
          <a:prstGeom prst="rect">
            <a:avLst/>
          </a:prstGeom>
          <a:ln w="12700">
            <a:solidFill>
              <a:srgbClr val="2235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1050" y="3705225"/>
            <a:ext cx="219075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실적과 대조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685800" y="4152900"/>
            <a:ext cx="2381250" cy="285750"/>
          </a:xfrm>
          <a:prstGeom prst="rect">
            <a:avLst/>
          </a:prstGeom>
          <a:ln w="12700">
            <a:solidFill>
              <a:srgbClr val="2235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1050" y="4219575"/>
            <a:ext cx="219075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신고서 작성·제출</a:t>
            </a:r>
            <a:endParaRPr lang="en-US" sz="975" dirty="0"/>
          </a:p>
        </p:txBody>
      </p:sp>
      <p:sp>
        <p:nvSpPr>
          <p:cNvPr id="21" name="Text 19"/>
          <p:cNvSpPr txBox="1"/>
          <p:nvPr/>
        </p:nvSpPr>
        <p:spPr>
          <a:xfrm>
            <a:off x="819150" y="3448050"/>
            <a:ext cx="1905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19150" y="3962400"/>
            <a:ext cx="1905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629150"/>
            <a:ext cx="40005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가운데 </a:t>
            </a:r>
            <a:pPr algn="l" indent="0" marL="0">
              <a:lnSpc>
                <a:spcPts val="1890"/>
              </a:lnSpc>
              <a:buNone/>
            </a:pPr>
            <a:r>
              <a:rPr lang="en-US" sz="112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</a:t>
            </a:r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단계에서 보정값이 정해집니다. 계산이 아니라 담당자의 판단이었고, 근거는 문서로 남지 않았습니다.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4914900" y="2743200"/>
            <a:ext cx="6591300" cy="19050"/>
          </a:xfrm>
          <a:prstGeom prst="rect">
            <a:avLst/>
          </a:prstGeom>
          <a:solidFill>
            <a:srgbClr val="2235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914900" y="2876550"/>
            <a:ext cx="65913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담당자가 적용한 보정값  ·  2025 상반기 16회차  ·  단위 MW</a:t>
            </a:r>
            <a:endParaRPr lang="en-US" sz="788" dirty="0"/>
          </a:p>
        </p:txBody>
      </p:sp>
      <p:sp>
        <p:nvSpPr>
          <p:cNvPr id="26" name="Shape 24"/>
          <p:cNvSpPr/>
          <p:nvPr/>
        </p:nvSpPr>
        <p:spPr>
          <a:xfrm>
            <a:off x="4914900" y="3048000"/>
            <a:ext cx="6591300" cy="9906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67300" y="3181350"/>
            <a:ext cx="392906" cy="21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EA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75" dirty="0"/>
          </a:p>
        </p:txBody>
      </p:sp>
      <p:sp>
        <p:nvSpPr>
          <p:cNvPr id="28" name="Text 26"/>
          <p:cNvSpPr txBox="1"/>
          <p:nvPr/>
        </p:nvSpPr>
        <p:spPr>
          <a:xfrm>
            <a:off x="5067300" y="3543300"/>
            <a:ext cx="3929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12.5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5460206" y="3181350"/>
            <a:ext cx="392906" cy="21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FF4D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75" dirty="0"/>
          </a:p>
        </p:txBody>
      </p:sp>
      <p:sp>
        <p:nvSpPr>
          <p:cNvPr id="30" name="Text 28"/>
          <p:cNvSpPr txBox="1"/>
          <p:nvPr/>
        </p:nvSpPr>
        <p:spPr>
          <a:xfrm>
            <a:off x="5460206" y="3543300"/>
            <a:ext cx="3929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FF4D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7.3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5853113" y="3181350"/>
            <a:ext cx="392906" cy="21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FF4D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75" dirty="0"/>
          </a:p>
        </p:txBody>
      </p:sp>
      <p:sp>
        <p:nvSpPr>
          <p:cNvPr id="32" name="Text 30"/>
          <p:cNvSpPr txBox="1"/>
          <p:nvPr/>
        </p:nvSpPr>
        <p:spPr>
          <a:xfrm>
            <a:off x="5853113" y="3543300"/>
            <a:ext cx="3929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FF4D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25.7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6246019" y="3181350"/>
            <a:ext cx="392906" cy="21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EA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75" dirty="0"/>
          </a:p>
        </p:txBody>
      </p:sp>
      <p:sp>
        <p:nvSpPr>
          <p:cNvPr id="34" name="Text 32"/>
          <p:cNvSpPr txBox="1"/>
          <p:nvPr/>
        </p:nvSpPr>
        <p:spPr>
          <a:xfrm>
            <a:off x="6246019" y="3543300"/>
            <a:ext cx="3929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16.0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6638925" y="3181350"/>
            <a:ext cx="392906" cy="21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EA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75" dirty="0"/>
          </a:p>
        </p:txBody>
      </p:sp>
      <p:sp>
        <p:nvSpPr>
          <p:cNvPr id="36" name="Text 34"/>
          <p:cNvSpPr txBox="1"/>
          <p:nvPr/>
        </p:nvSpPr>
        <p:spPr>
          <a:xfrm>
            <a:off x="6638925" y="3543300"/>
            <a:ext cx="3929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18.8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7031831" y="3181350"/>
            <a:ext cx="392906" cy="21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EA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75" dirty="0"/>
          </a:p>
        </p:txBody>
      </p:sp>
      <p:sp>
        <p:nvSpPr>
          <p:cNvPr id="38" name="Text 36"/>
          <p:cNvSpPr txBox="1"/>
          <p:nvPr/>
        </p:nvSpPr>
        <p:spPr>
          <a:xfrm>
            <a:off x="7031831" y="3543300"/>
            <a:ext cx="3929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13.7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7424737" y="3181350"/>
            <a:ext cx="392906" cy="21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EA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75" dirty="0"/>
          </a:p>
        </p:txBody>
      </p:sp>
      <p:sp>
        <p:nvSpPr>
          <p:cNvPr id="40" name="Text 38"/>
          <p:cNvSpPr txBox="1"/>
          <p:nvPr/>
        </p:nvSpPr>
        <p:spPr>
          <a:xfrm>
            <a:off x="7424737" y="3543300"/>
            <a:ext cx="3929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23.5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7817644" y="3181350"/>
            <a:ext cx="392906" cy="21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EA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75" dirty="0"/>
          </a:p>
        </p:txBody>
      </p:sp>
      <p:sp>
        <p:nvSpPr>
          <p:cNvPr id="42" name="Text 40"/>
          <p:cNvSpPr txBox="1"/>
          <p:nvPr/>
        </p:nvSpPr>
        <p:spPr>
          <a:xfrm>
            <a:off x="7817644" y="3543300"/>
            <a:ext cx="3929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21.4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8210550" y="3181350"/>
            <a:ext cx="392906" cy="21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EA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75" dirty="0"/>
          </a:p>
        </p:txBody>
      </p:sp>
      <p:sp>
        <p:nvSpPr>
          <p:cNvPr id="44" name="Text 42"/>
          <p:cNvSpPr txBox="1"/>
          <p:nvPr/>
        </p:nvSpPr>
        <p:spPr>
          <a:xfrm>
            <a:off x="8210550" y="3543300"/>
            <a:ext cx="3929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20.0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8603456" y="3181350"/>
            <a:ext cx="392906" cy="21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EA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75" dirty="0"/>
          </a:p>
        </p:txBody>
      </p:sp>
      <p:sp>
        <p:nvSpPr>
          <p:cNvPr id="46" name="Text 44"/>
          <p:cNvSpPr txBox="1"/>
          <p:nvPr/>
        </p:nvSpPr>
        <p:spPr>
          <a:xfrm>
            <a:off x="8603456" y="3543300"/>
            <a:ext cx="3929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27.4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8996363" y="3181350"/>
            <a:ext cx="392906" cy="21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EA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75" dirty="0"/>
          </a:p>
        </p:txBody>
      </p:sp>
      <p:sp>
        <p:nvSpPr>
          <p:cNvPr id="48" name="Text 46"/>
          <p:cNvSpPr txBox="1"/>
          <p:nvPr/>
        </p:nvSpPr>
        <p:spPr>
          <a:xfrm>
            <a:off x="8996363" y="3543300"/>
            <a:ext cx="3929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25.5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9389269" y="3181350"/>
            <a:ext cx="392906" cy="21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EA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75" dirty="0"/>
          </a:p>
        </p:txBody>
      </p:sp>
      <p:sp>
        <p:nvSpPr>
          <p:cNvPr id="50" name="Text 48"/>
          <p:cNvSpPr txBox="1"/>
          <p:nvPr/>
        </p:nvSpPr>
        <p:spPr>
          <a:xfrm>
            <a:off x="9389269" y="3543300"/>
            <a:ext cx="3929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28.9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9782175" y="3181350"/>
            <a:ext cx="392906" cy="21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EA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75" dirty="0"/>
          </a:p>
        </p:txBody>
      </p:sp>
      <p:sp>
        <p:nvSpPr>
          <p:cNvPr id="52" name="Text 50"/>
          <p:cNvSpPr txBox="1"/>
          <p:nvPr/>
        </p:nvSpPr>
        <p:spPr>
          <a:xfrm>
            <a:off x="9782175" y="3543300"/>
            <a:ext cx="3929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29.9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10175081" y="3181350"/>
            <a:ext cx="392906" cy="21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EA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75" dirty="0"/>
          </a:p>
        </p:txBody>
      </p:sp>
      <p:sp>
        <p:nvSpPr>
          <p:cNvPr id="54" name="Text 52"/>
          <p:cNvSpPr txBox="1"/>
          <p:nvPr/>
        </p:nvSpPr>
        <p:spPr>
          <a:xfrm>
            <a:off x="10175081" y="3543300"/>
            <a:ext cx="3929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27.6</a:t>
            </a:r>
            <a:endParaRPr lang="en-US" sz="750" dirty="0"/>
          </a:p>
        </p:txBody>
      </p:sp>
      <p:sp>
        <p:nvSpPr>
          <p:cNvPr id="55" name="Text 53"/>
          <p:cNvSpPr txBox="1"/>
          <p:nvPr/>
        </p:nvSpPr>
        <p:spPr>
          <a:xfrm>
            <a:off x="10567988" y="3181350"/>
            <a:ext cx="392906" cy="21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EA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75" dirty="0"/>
          </a:p>
        </p:txBody>
      </p:sp>
      <p:sp>
        <p:nvSpPr>
          <p:cNvPr id="56" name="Text 54"/>
          <p:cNvSpPr txBox="1"/>
          <p:nvPr/>
        </p:nvSpPr>
        <p:spPr>
          <a:xfrm>
            <a:off x="10567988" y="3543300"/>
            <a:ext cx="3929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31.9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10960894" y="3181350"/>
            <a:ext cx="392906" cy="21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EA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275" dirty="0"/>
          </a:p>
        </p:txBody>
      </p:sp>
      <p:sp>
        <p:nvSpPr>
          <p:cNvPr id="58" name="Text 56"/>
          <p:cNvSpPr txBox="1"/>
          <p:nvPr/>
        </p:nvSpPr>
        <p:spPr>
          <a:xfrm>
            <a:off x="10960894" y="3543300"/>
            <a:ext cx="3929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36.6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067300" y="3467100"/>
            <a:ext cx="62865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067300" y="3733800"/>
            <a:ext cx="38100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 줄은 그 회차의 외기온도 ℃</a:t>
            </a:r>
            <a:endParaRPr lang="en-US" sz="788" dirty="0"/>
          </a:p>
        </p:txBody>
      </p:sp>
      <p:sp>
        <p:nvSpPr>
          <p:cNvPr id="61" name="Text 59"/>
          <p:cNvSpPr txBox="1"/>
          <p:nvPr/>
        </p:nvSpPr>
        <p:spPr>
          <a:xfrm>
            <a:off x="4914900" y="4171950"/>
            <a:ext cx="6591300" cy="28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7.3℃ 와 25.7℃ 에 똑같이 5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18℃ 차이인데 같은 값</a:t>
            </a:r>
            <a:endParaRPr lang="en-US" sz="1575" dirty="0"/>
          </a:p>
        </p:txBody>
      </p:sp>
      <p:sp>
        <p:nvSpPr>
          <p:cNvPr id="62" name="Shape 60"/>
          <p:cNvSpPr/>
          <p:nvPr/>
        </p:nvSpPr>
        <p:spPr>
          <a:xfrm>
            <a:off x="4914900" y="4610100"/>
            <a:ext cx="6591300" cy="7239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105400" y="4724400"/>
            <a:ext cx="19050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평균</a:t>
            </a:r>
            <a:endParaRPr lang="en-US" sz="788" dirty="0"/>
          </a:p>
        </p:txBody>
      </p:sp>
      <p:sp>
        <p:nvSpPr>
          <p:cNvPr id="64" name="Text 62"/>
          <p:cNvSpPr txBox="1"/>
          <p:nvPr/>
        </p:nvSpPr>
        <p:spPr>
          <a:xfrm>
            <a:off x="5105400" y="4933950"/>
            <a:ext cx="710565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800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+3.69</a:t>
            </a:r>
            <a:endParaRPr lang="en-US" sz="1800" dirty="0"/>
          </a:p>
        </p:txBody>
      </p:sp>
      <p:sp>
        <p:nvSpPr>
          <p:cNvPr id="65" name="Text 63"/>
          <p:cNvSpPr txBox="1"/>
          <p:nvPr/>
        </p:nvSpPr>
        <p:spPr>
          <a:xfrm>
            <a:off x="5873115" y="5048250"/>
            <a:ext cx="40005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MW</a:t>
            </a:r>
            <a:endParaRPr lang="en-US" sz="975" dirty="0"/>
          </a:p>
        </p:txBody>
      </p:sp>
      <p:sp>
        <p:nvSpPr>
          <p:cNvPr id="66" name="Text 64"/>
          <p:cNvSpPr txBox="1"/>
          <p:nvPr/>
        </p:nvSpPr>
        <p:spPr>
          <a:xfrm>
            <a:off x="7239000" y="4724400"/>
            <a:ext cx="19050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범위</a:t>
            </a:r>
            <a:endParaRPr lang="en-US" sz="788" dirty="0"/>
          </a:p>
        </p:txBody>
      </p:sp>
      <p:sp>
        <p:nvSpPr>
          <p:cNvPr id="67" name="Text 65"/>
          <p:cNvSpPr txBox="1"/>
          <p:nvPr/>
        </p:nvSpPr>
        <p:spPr>
          <a:xfrm>
            <a:off x="7239000" y="4933950"/>
            <a:ext cx="110032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800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 ~ +6</a:t>
            </a:r>
            <a:endParaRPr lang="en-US" sz="1800" dirty="0"/>
          </a:p>
        </p:txBody>
      </p:sp>
      <p:sp>
        <p:nvSpPr>
          <p:cNvPr id="68" name="Text 66"/>
          <p:cNvSpPr txBox="1"/>
          <p:nvPr/>
        </p:nvSpPr>
        <p:spPr>
          <a:xfrm>
            <a:off x="8396478" y="5048250"/>
            <a:ext cx="40005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MW</a:t>
            </a:r>
            <a:endParaRPr lang="en-US" sz="975" dirty="0"/>
          </a:p>
        </p:txBody>
      </p:sp>
      <p:sp>
        <p:nvSpPr>
          <p:cNvPr id="69" name="Text 67"/>
          <p:cNvSpPr txBox="1"/>
          <p:nvPr/>
        </p:nvSpPr>
        <p:spPr>
          <a:xfrm>
            <a:off x="9372600" y="4724400"/>
            <a:ext cx="19050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적용 온도 폭</a:t>
            </a:r>
            <a:endParaRPr lang="en-US" sz="788" dirty="0"/>
          </a:p>
        </p:txBody>
      </p:sp>
      <p:sp>
        <p:nvSpPr>
          <p:cNvPr id="70" name="Text 68"/>
          <p:cNvSpPr txBox="1"/>
          <p:nvPr/>
        </p:nvSpPr>
        <p:spPr>
          <a:xfrm>
            <a:off x="9372600" y="4933950"/>
            <a:ext cx="14020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800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7.3 ~ 36.6</a:t>
            </a:r>
            <a:endParaRPr lang="en-US" sz="1800" dirty="0"/>
          </a:p>
        </p:txBody>
      </p:sp>
      <p:sp>
        <p:nvSpPr>
          <p:cNvPr id="71" name="Text 69"/>
          <p:cNvSpPr txBox="1"/>
          <p:nvPr/>
        </p:nvSpPr>
        <p:spPr>
          <a:xfrm>
            <a:off x="10831830" y="5048250"/>
            <a:ext cx="40005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℃</a:t>
            </a:r>
            <a:endParaRPr lang="en-US" sz="975" dirty="0"/>
          </a:p>
        </p:txBody>
      </p:sp>
      <p:sp>
        <p:nvSpPr>
          <p:cNvPr id="72" name="Shape 70"/>
          <p:cNvSpPr/>
          <p:nvPr/>
        </p:nvSpPr>
        <p:spPr>
          <a:xfrm>
            <a:off x="685800" y="60579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85800" y="6267450"/>
            <a:ext cx="47625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8" b="1" spc="18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결론</a:t>
            </a:r>
            <a:endParaRPr lang="en-US" sz="788" dirty="0"/>
          </a:p>
        </p:txBody>
      </p:sp>
      <p:sp>
        <p:nvSpPr>
          <p:cNvPr id="74" name="Text 72"/>
          <p:cNvSpPr txBox="1"/>
          <p:nvPr/>
        </p:nvSpPr>
        <p:spPr>
          <a:xfrm>
            <a:off x="1219200" y="6229350"/>
            <a:ext cx="10287000" cy="22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온도가 달라져도 값이 거의 그대로입니다 — </a:t>
            </a:r>
            <a:pPr algn="l" indent="0" marL="0">
              <a:lnSpc>
                <a:spcPts val="1733"/>
              </a:lnSpc>
              <a:buNone/>
            </a:pPr>
            <a:r>
              <a:rPr lang="en-US" sz="1238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온도를 보지 않는 값</a:t>
            </a:r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이었습니다.</a:t>
            </a:r>
            <a:endParaRPr lang="en-US" sz="123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9100"/>
            <a:ext cx="762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 </a:t>
            </a:r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파악 및 문제 정의</a:t>
            </a:r>
            <a:pPr algn="l" indent="0" marL="0">
              <a:lnSpc>
                <a:spcPts val="1440"/>
              </a:lnSpc>
              <a:buNone/>
            </a:pPr>
            <a:r>
              <a:rPr lang="en-US" sz="975" spc="60" kern="0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문제 정의</a:t>
            </a:r>
            <a:endParaRPr lang="en-US" sz="1125" dirty="0"/>
          </a:p>
        </p:txBody>
      </p:sp>
      <p:sp>
        <p:nvSpPr>
          <p:cNvPr id="3" name="Shape 1"/>
          <p:cNvSpPr/>
          <p:nvPr/>
        </p:nvSpPr>
        <p:spPr>
          <a:xfrm>
            <a:off x="106680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4" name="Shape 2"/>
          <p:cNvSpPr/>
          <p:nvPr/>
        </p:nvSpPr>
        <p:spPr>
          <a:xfrm>
            <a:off x="10801350" y="419100"/>
            <a:ext cx="38100" cy="142875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5" name="Shape 3"/>
          <p:cNvSpPr/>
          <p:nvPr/>
        </p:nvSpPr>
        <p:spPr>
          <a:xfrm>
            <a:off x="109347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6" name="Shape 4"/>
          <p:cNvSpPr/>
          <p:nvPr/>
        </p:nvSpPr>
        <p:spPr>
          <a:xfrm>
            <a:off x="110680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7" name="Shape 5"/>
          <p:cNvSpPr/>
          <p:nvPr/>
        </p:nvSpPr>
        <p:spPr>
          <a:xfrm>
            <a:off x="112014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8" name="Shape 6"/>
          <p:cNvSpPr/>
          <p:nvPr/>
        </p:nvSpPr>
        <p:spPr>
          <a:xfrm>
            <a:off x="113347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9" name="Shape 7"/>
          <p:cNvSpPr/>
          <p:nvPr/>
        </p:nvSpPr>
        <p:spPr>
          <a:xfrm>
            <a:off x="114681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6858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914400"/>
            <a:ext cx="10287000" cy="888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하나로는 맞출 수 없습니다 —</a:t>
            </a:r>
            <a:endParaRPr lang="en-US" sz="2775" dirty="0"/>
          </a:p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온도에 따라 </a:t>
            </a:r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−4.9 에서 +12.9 까지</a:t>
            </a:r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갈립니다</a:t>
            </a:r>
            <a:endParaRPr lang="en-US" sz="2775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000250"/>
            <a:ext cx="10287000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40회차의 실제 보정값을 온도 축에 찍었습니다. 값이 흩어진 것이 아닙니다. </a:t>
            </a:r>
            <a:pPr algn="l" indent="0" marL="0">
              <a:lnSpc>
                <a:spcPts val="2241"/>
              </a:lnSpc>
              <a:buNone/>
            </a:pPr>
            <a:r>
              <a:rPr lang="en-US" sz="1350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방향으로 내려가는 기울기</a:t>
            </a:r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 있습니다.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2705100"/>
            <a:ext cx="7239000" cy="32004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8200" y="2838450"/>
            <a:ext cx="66675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회차별 실제 보정값  ·  누적 40회차  ·  가로 외기온도 ℃ / 세로 MW</a:t>
            </a:r>
            <a:endParaRPr lang="en-US" sz="788" dirty="0"/>
          </a:p>
        </p:txBody>
      </p:sp>
      <p:sp>
        <p:nvSpPr>
          <p:cNvPr id="15" name="Shape 13"/>
          <p:cNvSpPr/>
          <p:nvPr/>
        </p:nvSpPr>
        <p:spPr>
          <a:xfrm>
            <a:off x="1162050" y="3362325"/>
            <a:ext cx="661035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2050" y="3800475"/>
            <a:ext cx="661035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62050" y="4238625"/>
            <a:ext cx="661035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62050" y="5114925"/>
            <a:ext cx="661035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62050" y="4676775"/>
            <a:ext cx="661035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2050" y="3143250"/>
            <a:ext cx="0" cy="219075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0100" y="3286125"/>
            <a:ext cx="3048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+12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800100" y="3724275"/>
            <a:ext cx="3048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800100" y="4162425"/>
            <a:ext cx="3048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+4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800100" y="4600575"/>
            <a:ext cx="3048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800100" y="5038725"/>
            <a:ext cx="3048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501045" y="5334000"/>
            <a:ext cx="0" cy="47625"/>
          </a:xfrm>
          <a:prstGeom prst="line">
            <a:avLst/>
          </a:prstGeom>
          <a:noFill/>
          <a:ln w="12700">
            <a:solidFill>
              <a:srgbClr val="8A888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272445" y="5410200"/>
            <a:ext cx="4572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0℃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196019" y="5334000"/>
            <a:ext cx="0" cy="47625"/>
          </a:xfrm>
          <a:prstGeom prst="line">
            <a:avLst/>
          </a:prstGeom>
          <a:noFill/>
          <a:ln w="12700">
            <a:solidFill>
              <a:srgbClr val="8A888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67419" y="5410200"/>
            <a:ext cx="4572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890992" y="5334000"/>
            <a:ext cx="0" cy="47625"/>
          </a:xfrm>
          <a:prstGeom prst="line">
            <a:avLst/>
          </a:prstGeom>
          <a:noFill/>
          <a:ln w="12700">
            <a:solidFill>
              <a:srgbClr val="8A888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62392" y="5410200"/>
            <a:ext cx="4572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585966" y="5334000"/>
            <a:ext cx="0" cy="47625"/>
          </a:xfrm>
          <a:prstGeom prst="line">
            <a:avLst/>
          </a:prstGeom>
          <a:noFill/>
          <a:ln w="12700">
            <a:solidFill>
              <a:srgbClr val="8A888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57366" y="5410200"/>
            <a:ext cx="4572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162050" y="4407860"/>
            <a:ext cx="6610350" cy="0"/>
          </a:xfrm>
          <a:prstGeom prst="line">
            <a:avLst/>
          </a:prstGeom>
          <a:noFill/>
          <a:ln w="33020">
            <a:solidFill>
              <a:srgbClr val="A8BCD1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5905500" y="4198310"/>
            <a:ext cx="1866900" cy="14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1"/>
              </a:lnSpc>
              <a:buNone/>
            </a:pPr>
            <a:r>
              <a:rPr lang="en-US" sz="863" b="1" dirty="0">
                <a:solidFill>
                  <a:srgbClr val="A8BC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종전 · 하나의 값 +2.46</a:t>
            </a:r>
            <a:endParaRPr lang="en-US" sz="863" dirty="0"/>
          </a:p>
        </p:txBody>
      </p:sp>
      <p:sp>
        <p:nvSpPr>
          <p:cNvPr id="36" name="Shape 34"/>
          <p:cNvSpPr/>
          <p:nvPr/>
        </p:nvSpPr>
        <p:spPr>
          <a:xfrm>
            <a:off x="1131375" y="3211187"/>
            <a:ext cx="95250" cy="95250"/>
          </a:xfrm>
          <a:prstGeom prst="ellipse">
            <a:avLst/>
          </a:prstGeom>
          <a:solidFill>
            <a:srgbClr val="FF4D63"/>
          </a:solidFill>
          <a:ln/>
        </p:spPr>
      </p:sp>
      <p:sp>
        <p:nvSpPr>
          <p:cNvPr id="37" name="Shape 35"/>
          <p:cNvSpPr/>
          <p:nvPr/>
        </p:nvSpPr>
        <p:spPr>
          <a:xfrm>
            <a:off x="1207649" y="3262998"/>
            <a:ext cx="95250" cy="95250"/>
          </a:xfrm>
          <a:prstGeom prst="ellipse">
            <a:avLst/>
          </a:prstGeom>
          <a:solidFill>
            <a:srgbClr val="FF4D63"/>
          </a:solidFill>
          <a:ln/>
        </p:spPr>
      </p:sp>
      <p:sp>
        <p:nvSpPr>
          <p:cNvPr id="38" name="Shape 36"/>
          <p:cNvSpPr/>
          <p:nvPr/>
        </p:nvSpPr>
        <p:spPr>
          <a:xfrm>
            <a:off x="1775465" y="3667082"/>
            <a:ext cx="95250" cy="95250"/>
          </a:xfrm>
          <a:prstGeom prst="ellipse">
            <a:avLst/>
          </a:prstGeom>
          <a:solidFill>
            <a:srgbClr val="FF4D63"/>
          </a:solidFill>
          <a:ln/>
        </p:spPr>
      </p:sp>
      <p:sp>
        <p:nvSpPr>
          <p:cNvPr id="39" name="Shape 37"/>
          <p:cNvSpPr/>
          <p:nvPr/>
        </p:nvSpPr>
        <p:spPr>
          <a:xfrm>
            <a:off x="2127795" y="4016697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40" name="Shape 38"/>
          <p:cNvSpPr/>
          <p:nvPr/>
        </p:nvSpPr>
        <p:spPr>
          <a:xfrm>
            <a:off x="2483739" y="4047258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41" name="Shape 39"/>
          <p:cNvSpPr/>
          <p:nvPr/>
        </p:nvSpPr>
        <p:spPr>
          <a:xfrm>
            <a:off x="2653236" y="4097317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42" name="Shape 40"/>
          <p:cNvSpPr/>
          <p:nvPr/>
        </p:nvSpPr>
        <p:spPr>
          <a:xfrm>
            <a:off x="2822734" y="4143761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43" name="Shape 41"/>
          <p:cNvSpPr/>
          <p:nvPr/>
        </p:nvSpPr>
        <p:spPr>
          <a:xfrm>
            <a:off x="2975281" y="3959081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44" name="Shape 42"/>
          <p:cNvSpPr/>
          <p:nvPr/>
        </p:nvSpPr>
        <p:spPr>
          <a:xfrm>
            <a:off x="3076980" y="4241906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45" name="Shape 43"/>
          <p:cNvSpPr/>
          <p:nvPr/>
        </p:nvSpPr>
        <p:spPr>
          <a:xfrm>
            <a:off x="3365125" y="4079024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46" name="Shape 44"/>
          <p:cNvSpPr/>
          <p:nvPr/>
        </p:nvSpPr>
        <p:spPr>
          <a:xfrm>
            <a:off x="3619371" y="4112981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47" name="Shape 45"/>
          <p:cNvSpPr/>
          <p:nvPr/>
        </p:nvSpPr>
        <p:spPr>
          <a:xfrm>
            <a:off x="3670221" y="3884047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48" name="Shape 46"/>
          <p:cNvSpPr/>
          <p:nvPr/>
        </p:nvSpPr>
        <p:spPr>
          <a:xfrm>
            <a:off x="3721070" y="3932792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49" name="Shape 47"/>
          <p:cNvSpPr/>
          <p:nvPr/>
        </p:nvSpPr>
        <p:spPr>
          <a:xfrm>
            <a:off x="3907517" y="3837275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50" name="Shape 48"/>
          <p:cNvSpPr/>
          <p:nvPr/>
        </p:nvSpPr>
        <p:spPr>
          <a:xfrm>
            <a:off x="3924467" y="3984055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51" name="Shape 49"/>
          <p:cNvSpPr/>
          <p:nvPr/>
        </p:nvSpPr>
        <p:spPr>
          <a:xfrm>
            <a:off x="4026165" y="4030389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52" name="Shape 50"/>
          <p:cNvSpPr/>
          <p:nvPr/>
        </p:nvSpPr>
        <p:spPr>
          <a:xfrm>
            <a:off x="4280411" y="4054707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53" name="Shape 51"/>
          <p:cNvSpPr/>
          <p:nvPr/>
        </p:nvSpPr>
        <p:spPr>
          <a:xfrm>
            <a:off x="4297361" y="4017793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54" name="Shape 52"/>
          <p:cNvSpPr/>
          <p:nvPr/>
        </p:nvSpPr>
        <p:spPr>
          <a:xfrm>
            <a:off x="5077049" y="4355606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55" name="Shape 53"/>
          <p:cNvSpPr/>
          <p:nvPr/>
        </p:nvSpPr>
        <p:spPr>
          <a:xfrm>
            <a:off x="5721139" y="4873500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56" name="Shape 54"/>
          <p:cNvSpPr/>
          <p:nvPr/>
        </p:nvSpPr>
        <p:spPr>
          <a:xfrm>
            <a:off x="5755038" y="5002206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57" name="Shape 55"/>
          <p:cNvSpPr/>
          <p:nvPr/>
        </p:nvSpPr>
        <p:spPr>
          <a:xfrm>
            <a:off x="5771988" y="4705907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58" name="Shape 56"/>
          <p:cNvSpPr/>
          <p:nvPr/>
        </p:nvSpPr>
        <p:spPr>
          <a:xfrm>
            <a:off x="5822837" y="4719161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59" name="Shape 57"/>
          <p:cNvSpPr/>
          <p:nvPr/>
        </p:nvSpPr>
        <p:spPr>
          <a:xfrm>
            <a:off x="6110983" y="4935169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60" name="Shape 58"/>
          <p:cNvSpPr/>
          <p:nvPr/>
        </p:nvSpPr>
        <p:spPr>
          <a:xfrm>
            <a:off x="6317994" y="5160955"/>
            <a:ext cx="95250" cy="95250"/>
          </a:xfrm>
          <a:prstGeom prst="ellipse">
            <a:avLst/>
          </a:prstGeom>
          <a:solidFill>
            <a:srgbClr val="FF4D63"/>
          </a:solidFill>
          <a:ln/>
        </p:spPr>
      </p:sp>
      <p:sp>
        <p:nvSpPr>
          <p:cNvPr id="61" name="Shape 59"/>
          <p:cNvSpPr/>
          <p:nvPr/>
        </p:nvSpPr>
        <p:spPr>
          <a:xfrm>
            <a:off x="6585575" y="4818293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62" name="Shape 60"/>
          <p:cNvSpPr/>
          <p:nvPr/>
        </p:nvSpPr>
        <p:spPr>
          <a:xfrm>
            <a:off x="6585575" y="4694953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63" name="Shape 61"/>
          <p:cNvSpPr/>
          <p:nvPr/>
        </p:nvSpPr>
        <p:spPr>
          <a:xfrm>
            <a:off x="6670324" y="5020280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64" name="Shape 62"/>
          <p:cNvSpPr/>
          <p:nvPr/>
        </p:nvSpPr>
        <p:spPr>
          <a:xfrm>
            <a:off x="6704224" y="5014474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65" name="Shape 63"/>
          <p:cNvSpPr/>
          <p:nvPr/>
        </p:nvSpPr>
        <p:spPr>
          <a:xfrm>
            <a:off x="6839822" y="4738111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66" name="Shape 64"/>
          <p:cNvSpPr/>
          <p:nvPr/>
        </p:nvSpPr>
        <p:spPr>
          <a:xfrm>
            <a:off x="6958470" y="4710398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67" name="Shape 65"/>
          <p:cNvSpPr/>
          <p:nvPr/>
        </p:nvSpPr>
        <p:spPr>
          <a:xfrm>
            <a:off x="7009319" y="4920820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68" name="Shape 66"/>
          <p:cNvSpPr/>
          <p:nvPr/>
        </p:nvSpPr>
        <p:spPr>
          <a:xfrm>
            <a:off x="7026269" y="4411251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69" name="Shape 67"/>
          <p:cNvSpPr/>
          <p:nvPr/>
        </p:nvSpPr>
        <p:spPr>
          <a:xfrm>
            <a:off x="7026269" y="4490118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70" name="Shape 68"/>
          <p:cNvSpPr/>
          <p:nvPr/>
        </p:nvSpPr>
        <p:spPr>
          <a:xfrm>
            <a:off x="7026269" y="4810406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71" name="Shape 69"/>
          <p:cNvSpPr/>
          <p:nvPr/>
        </p:nvSpPr>
        <p:spPr>
          <a:xfrm>
            <a:off x="7161867" y="4568219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72" name="Shape 70"/>
          <p:cNvSpPr/>
          <p:nvPr/>
        </p:nvSpPr>
        <p:spPr>
          <a:xfrm>
            <a:off x="7195766" y="4897379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73" name="Shape 71"/>
          <p:cNvSpPr/>
          <p:nvPr/>
        </p:nvSpPr>
        <p:spPr>
          <a:xfrm>
            <a:off x="7331364" y="4561537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74" name="Shape 72"/>
          <p:cNvSpPr/>
          <p:nvPr/>
        </p:nvSpPr>
        <p:spPr>
          <a:xfrm>
            <a:off x="7585610" y="4412456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75" name="Shape 73"/>
          <p:cNvSpPr/>
          <p:nvPr/>
        </p:nvSpPr>
        <p:spPr>
          <a:xfrm>
            <a:off x="7890705" y="4486504"/>
            <a:ext cx="68580" cy="68580"/>
          </a:xfrm>
          <a:prstGeom prst="ellipse">
            <a:avLst/>
          </a:prstGeom>
          <a:solidFill>
            <a:srgbClr val="CFCBC2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1428750" y="3276600"/>
            <a:ext cx="238125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추울수록 크게 더해야 하고</a:t>
            </a:r>
            <a:endParaRPr lang="en-US" sz="938" dirty="0"/>
          </a:p>
        </p:txBody>
      </p:sp>
      <p:sp>
        <p:nvSpPr>
          <p:cNvPr id="77" name="Text 75"/>
          <p:cNvSpPr txBox="1"/>
          <p:nvPr/>
        </p:nvSpPr>
        <p:spPr>
          <a:xfrm>
            <a:off x="5676900" y="4876800"/>
            <a:ext cx="209550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더울수록 빼야 합니다</a:t>
            </a:r>
            <a:endParaRPr lang="en-US" sz="938" dirty="0"/>
          </a:p>
        </p:txBody>
      </p:sp>
      <p:sp>
        <p:nvSpPr>
          <p:cNvPr id="78" name="Shape 76"/>
          <p:cNvSpPr/>
          <p:nvPr/>
        </p:nvSpPr>
        <p:spPr>
          <a:xfrm>
            <a:off x="8115300" y="2705100"/>
            <a:ext cx="3390900" cy="19050"/>
          </a:xfrm>
          <a:prstGeom prst="rect">
            <a:avLst/>
          </a:prstGeom>
          <a:solidFill>
            <a:srgbClr val="7E2333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8115300" y="2838450"/>
            <a:ext cx="33909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종전 방식의 오차 상위 4회차  ·  MW</a:t>
            </a:r>
            <a:endParaRPr lang="en-US" sz="788" dirty="0"/>
          </a:p>
        </p:txBody>
      </p:sp>
      <p:sp>
        <p:nvSpPr>
          <p:cNvPr id="80" name="Shape 78"/>
          <p:cNvSpPr/>
          <p:nvPr/>
        </p:nvSpPr>
        <p:spPr>
          <a:xfrm>
            <a:off x="8115300" y="3009900"/>
            <a:ext cx="3390900" cy="17907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8267700" y="3171825"/>
            <a:ext cx="742950" cy="14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A9A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26-01-13</a:t>
            </a:r>
            <a:endParaRPr lang="en-US" sz="863" dirty="0"/>
          </a:p>
        </p:txBody>
      </p:sp>
      <p:sp>
        <p:nvSpPr>
          <p:cNvPr id="82" name="Text 80"/>
          <p:cNvSpPr txBox="1"/>
          <p:nvPr/>
        </p:nvSpPr>
        <p:spPr>
          <a:xfrm>
            <a:off x="9067800" y="3171825"/>
            <a:ext cx="5334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A8BC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낮게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9658350" y="3162300"/>
            <a:ext cx="990600" cy="152400"/>
          </a:xfrm>
          <a:prstGeom prst="rect">
            <a:avLst/>
          </a:prstGeom>
          <a:solidFill>
            <a:srgbClr val="718BA6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10706100" y="3171825"/>
            <a:ext cx="5715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A8BC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-10.76</a:t>
            </a:r>
            <a:endParaRPr lang="en-US" sz="938" dirty="0"/>
          </a:p>
        </p:txBody>
      </p:sp>
      <p:sp>
        <p:nvSpPr>
          <p:cNvPr id="85" name="Text 83"/>
          <p:cNvSpPr txBox="1"/>
          <p:nvPr/>
        </p:nvSpPr>
        <p:spPr>
          <a:xfrm>
            <a:off x="8267700" y="3533775"/>
            <a:ext cx="742950" cy="14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A9A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26-01-08</a:t>
            </a:r>
            <a:endParaRPr lang="en-US" sz="863" dirty="0"/>
          </a:p>
        </p:txBody>
      </p:sp>
      <p:sp>
        <p:nvSpPr>
          <p:cNvPr id="86" name="Text 84"/>
          <p:cNvSpPr txBox="1"/>
          <p:nvPr/>
        </p:nvSpPr>
        <p:spPr>
          <a:xfrm>
            <a:off x="9067800" y="3533775"/>
            <a:ext cx="5334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A8BC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낮게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9658350" y="3524250"/>
            <a:ext cx="945945" cy="152400"/>
          </a:xfrm>
          <a:prstGeom prst="rect">
            <a:avLst/>
          </a:prstGeom>
          <a:solidFill>
            <a:srgbClr val="718BA6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10706100" y="3533775"/>
            <a:ext cx="5715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A8BC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-10.27</a:t>
            </a:r>
            <a:endParaRPr lang="en-US" sz="938" dirty="0"/>
          </a:p>
        </p:txBody>
      </p:sp>
      <p:sp>
        <p:nvSpPr>
          <p:cNvPr id="89" name="Text 87"/>
          <p:cNvSpPr txBox="1"/>
          <p:nvPr/>
        </p:nvSpPr>
        <p:spPr>
          <a:xfrm>
            <a:off x="8267700" y="3895725"/>
            <a:ext cx="742950" cy="14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A9A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26-07-22</a:t>
            </a:r>
            <a:endParaRPr lang="en-US" sz="863" dirty="0"/>
          </a:p>
        </p:txBody>
      </p:sp>
      <p:sp>
        <p:nvSpPr>
          <p:cNvPr id="90" name="Text 88"/>
          <p:cNvSpPr txBox="1"/>
          <p:nvPr/>
        </p:nvSpPr>
        <p:spPr>
          <a:xfrm>
            <a:off x="9067800" y="3895725"/>
            <a:ext cx="5334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F4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높게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9658350" y="3886200"/>
            <a:ext cx="690354" cy="152400"/>
          </a:xfrm>
          <a:prstGeom prst="rect">
            <a:avLst/>
          </a:prstGeom>
          <a:solidFill>
            <a:srgbClr val="FF4D63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10706100" y="3895725"/>
            <a:ext cx="5715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FF4D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+7.50</a:t>
            </a:r>
            <a:endParaRPr lang="en-US" sz="938" dirty="0"/>
          </a:p>
        </p:txBody>
      </p:sp>
      <p:sp>
        <p:nvSpPr>
          <p:cNvPr id="93" name="Text 91"/>
          <p:cNvSpPr txBox="1"/>
          <p:nvPr/>
        </p:nvSpPr>
        <p:spPr>
          <a:xfrm>
            <a:off x="8267700" y="4257675"/>
            <a:ext cx="742950" cy="14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A9A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25-12-02</a:t>
            </a:r>
            <a:endParaRPr lang="en-US" sz="863" dirty="0"/>
          </a:p>
        </p:txBody>
      </p:sp>
      <p:sp>
        <p:nvSpPr>
          <p:cNvPr id="94" name="Text 92"/>
          <p:cNvSpPr txBox="1"/>
          <p:nvPr/>
        </p:nvSpPr>
        <p:spPr>
          <a:xfrm>
            <a:off x="9067800" y="4257675"/>
            <a:ext cx="5334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A8BC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낮게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9658350" y="4248150"/>
            <a:ext cx="597546" cy="152400"/>
          </a:xfrm>
          <a:prstGeom prst="rect">
            <a:avLst/>
          </a:prstGeom>
          <a:solidFill>
            <a:srgbClr val="718BA6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10706100" y="4257675"/>
            <a:ext cx="5715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A8BC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-6.49</a:t>
            </a:r>
            <a:endParaRPr lang="en-US" sz="938" dirty="0"/>
          </a:p>
        </p:txBody>
      </p:sp>
      <p:sp>
        <p:nvSpPr>
          <p:cNvPr id="97" name="Text 95"/>
          <p:cNvSpPr txBox="1"/>
          <p:nvPr/>
        </p:nvSpPr>
        <p:spPr>
          <a:xfrm>
            <a:off x="8267700" y="4533900"/>
            <a:ext cx="3086100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낮게 = 팔 수 있었는데 못 팜   ·   높게 = 기준 미달</a:t>
            </a:r>
            <a:endParaRPr lang="en-US" sz="825" dirty="0"/>
          </a:p>
        </p:txBody>
      </p:sp>
      <p:sp>
        <p:nvSpPr>
          <p:cNvPr id="98" name="Text 96"/>
          <p:cNvSpPr txBox="1"/>
          <p:nvPr/>
        </p:nvSpPr>
        <p:spPr>
          <a:xfrm>
            <a:off x="8115300" y="4953000"/>
            <a:ext cx="3390900" cy="28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겨울과 여름이 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반대로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틀립니다</a:t>
            </a:r>
            <a:endParaRPr lang="en-US" sz="1575" dirty="0"/>
          </a:p>
        </p:txBody>
      </p:sp>
      <p:sp>
        <p:nvSpPr>
          <p:cNvPr id="99" name="Text 97"/>
          <p:cNvSpPr txBox="1"/>
          <p:nvPr/>
        </p:nvSpPr>
        <p:spPr>
          <a:xfrm>
            <a:off x="8115300" y="5334000"/>
            <a:ext cx="33909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상수를 올리거나 내려서는 못 고칩니다.</a:t>
            </a:r>
            <a:endParaRPr lang="en-US" sz="1125" dirty="0"/>
          </a:p>
        </p:txBody>
      </p:sp>
      <p:sp>
        <p:nvSpPr>
          <p:cNvPr id="100" name="Shape 98"/>
          <p:cNvSpPr/>
          <p:nvPr/>
        </p:nvSpPr>
        <p:spPr>
          <a:xfrm>
            <a:off x="685800" y="60579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685800" y="6267450"/>
            <a:ext cx="47625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8" b="1" spc="18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결론</a:t>
            </a:r>
            <a:endParaRPr lang="en-US" sz="788" dirty="0"/>
          </a:p>
        </p:txBody>
      </p:sp>
      <p:sp>
        <p:nvSpPr>
          <p:cNvPr id="102" name="Text 100"/>
          <p:cNvSpPr txBox="1"/>
          <p:nvPr/>
        </p:nvSpPr>
        <p:spPr>
          <a:xfrm>
            <a:off x="1219200" y="6229350"/>
            <a:ext cx="10287000" cy="22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고쳐야 할 것은 값의 크기가 아니라 </a:t>
            </a:r>
            <a:pPr algn="l" indent="0" marL="0">
              <a:lnSpc>
                <a:spcPts val="1733"/>
              </a:lnSpc>
              <a:buNone/>
            </a:pPr>
            <a:r>
              <a:rPr lang="en-US" sz="1238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온도를 따라가는 기울기</a:t>
            </a:r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23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9100"/>
            <a:ext cx="762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 </a:t>
            </a:r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분석 및 원인 규명(가설 검증)</a:t>
            </a:r>
            <a:pPr algn="l" indent="0" marL="0">
              <a:lnSpc>
                <a:spcPts val="1440"/>
              </a:lnSpc>
              <a:buNone/>
            </a:pPr>
            <a:r>
              <a:rPr lang="en-US" sz="975" spc="60" kern="0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데이터</a:t>
            </a:r>
            <a:endParaRPr lang="en-US" sz="1125" dirty="0"/>
          </a:p>
        </p:txBody>
      </p:sp>
      <p:sp>
        <p:nvSpPr>
          <p:cNvPr id="3" name="Shape 1"/>
          <p:cNvSpPr/>
          <p:nvPr/>
        </p:nvSpPr>
        <p:spPr>
          <a:xfrm>
            <a:off x="106680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4" name="Shape 2"/>
          <p:cNvSpPr/>
          <p:nvPr/>
        </p:nvSpPr>
        <p:spPr>
          <a:xfrm>
            <a:off x="108013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5" name="Shape 3"/>
          <p:cNvSpPr/>
          <p:nvPr/>
        </p:nvSpPr>
        <p:spPr>
          <a:xfrm>
            <a:off x="10934700" y="419100"/>
            <a:ext cx="38100" cy="142875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6" name="Shape 4"/>
          <p:cNvSpPr/>
          <p:nvPr/>
        </p:nvSpPr>
        <p:spPr>
          <a:xfrm>
            <a:off x="110680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7" name="Shape 5"/>
          <p:cNvSpPr/>
          <p:nvPr/>
        </p:nvSpPr>
        <p:spPr>
          <a:xfrm>
            <a:off x="112014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8" name="Shape 6"/>
          <p:cNvSpPr/>
          <p:nvPr/>
        </p:nvSpPr>
        <p:spPr>
          <a:xfrm>
            <a:off x="113347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9" name="Shape 7"/>
          <p:cNvSpPr/>
          <p:nvPr/>
        </p:nvSpPr>
        <p:spPr>
          <a:xfrm>
            <a:off x="114681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6858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914400"/>
            <a:ext cx="10287000" cy="888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사람 손을 거치지 않고,</a:t>
            </a:r>
            <a:endParaRPr lang="en-US" sz="2775" dirty="0"/>
          </a:p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설비에서 바로</a:t>
            </a:r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가져옵니다</a:t>
            </a:r>
            <a:endParaRPr lang="en-US" sz="2775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000250"/>
            <a:ext cx="10287000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 서버와 표준 통신으로 직접 연결해 6가지 값을 </a:t>
            </a:r>
            <a:pPr algn="l" indent="0" marL="0">
              <a:lnSpc>
                <a:spcPts val="2241"/>
              </a:lnSpc>
              <a:buNone/>
            </a:pPr>
            <a:r>
              <a:rPr lang="en-US" sz="1350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1시간 시간가중평균</a:t>
            </a:r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으로 받습니다. 옮겨 적는 단계가 없으니 오타도 없습니다.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2743200"/>
            <a:ext cx="10820400" cy="74295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857500"/>
            <a:ext cx="38100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취득 경로</a:t>
            </a:r>
            <a:endParaRPr lang="en-US" sz="788" dirty="0"/>
          </a:p>
        </p:txBody>
      </p:sp>
      <p:sp>
        <p:nvSpPr>
          <p:cNvPr id="15" name="Shape 13"/>
          <p:cNvSpPr/>
          <p:nvPr/>
        </p:nvSpPr>
        <p:spPr>
          <a:xfrm>
            <a:off x="914400" y="3067050"/>
            <a:ext cx="1047750" cy="285750"/>
          </a:xfrm>
          <a:prstGeom prst="rect">
            <a:avLst/>
          </a:prstGeom>
          <a:ln w="12700">
            <a:solidFill>
              <a:srgbClr val="2235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9650" y="3133725"/>
            <a:ext cx="85725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계측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3352800" y="3067050"/>
            <a:ext cx="1428750" cy="285750"/>
          </a:xfrm>
          <a:prstGeom prst="rect">
            <a:avLst/>
          </a:prstGeom>
          <a:ln w="12700">
            <a:solidFill>
              <a:srgbClr val="2235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48050" y="3133725"/>
            <a:ext cx="123825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통신 직결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6496050" y="3067050"/>
            <a:ext cx="1809750" cy="285750"/>
          </a:xfrm>
          <a:prstGeom prst="rect">
            <a:avLst/>
          </a:prstGeom>
          <a:ln w="12700">
            <a:solidFill>
              <a:srgbClr val="2235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91300" y="3133725"/>
            <a:ext cx="161925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1시간 시간가중평균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10020300" y="3067050"/>
            <a:ext cx="1257300" cy="285750"/>
          </a:xfrm>
          <a:prstGeom prst="rect">
            <a:avLst/>
          </a:prstGeom>
          <a:ln w="12700">
            <a:solidFill>
              <a:srgbClr val="6B522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115550" y="3133725"/>
            <a:ext cx="10668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후 누적</a:t>
            </a:r>
            <a:endParaRPr lang="en-US" sz="975" dirty="0"/>
          </a:p>
        </p:txBody>
      </p:sp>
      <p:sp>
        <p:nvSpPr>
          <p:cNvPr id="23" name="Text 21"/>
          <p:cNvSpPr txBox="1"/>
          <p:nvPr/>
        </p:nvSpPr>
        <p:spPr>
          <a:xfrm>
            <a:off x="2533650" y="3133725"/>
            <a:ext cx="190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975" dirty="0"/>
          </a:p>
        </p:txBody>
      </p:sp>
      <p:sp>
        <p:nvSpPr>
          <p:cNvPr id="24" name="Text 22"/>
          <p:cNvSpPr txBox="1"/>
          <p:nvPr/>
        </p:nvSpPr>
        <p:spPr>
          <a:xfrm>
            <a:off x="5924550" y="3133725"/>
            <a:ext cx="190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975" dirty="0"/>
          </a:p>
        </p:txBody>
      </p:sp>
      <p:sp>
        <p:nvSpPr>
          <p:cNvPr id="25" name="Text 23"/>
          <p:cNvSpPr txBox="1"/>
          <p:nvPr/>
        </p:nvSpPr>
        <p:spPr>
          <a:xfrm>
            <a:off x="8877300" y="3133725"/>
            <a:ext cx="190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685800" y="3771900"/>
            <a:ext cx="5295900" cy="19050"/>
          </a:xfrm>
          <a:prstGeom prst="rect">
            <a:avLst/>
          </a:prstGeom>
          <a:solidFill>
            <a:srgbClr val="2235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" y="3905250"/>
            <a:ext cx="52959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받아 오는 값  ·  6가지</a:t>
            </a:r>
            <a:endParaRPr lang="en-US" sz="788" dirty="0"/>
          </a:p>
        </p:txBody>
      </p:sp>
      <p:sp>
        <p:nvSpPr>
          <p:cNvPr id="28" name="Shape 26"/>
          <p:cNvSpPr/>
          <p:nvPr/>
        </p:nvSpPr>
        <p:spPr>
          <a:xfrm>
            <a:off x="685800" y="4076700"/>
            <a:ext cx="5295900" cy="16002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8200" y="4210050"/>
            <a:ext cx="1428750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외기온도</a:t>
            </a:r>
            <a:endParaRPr lang="en-US" sz="1013" dirty="0"/>
          </a:p>
        </p:txBody>
      </p:sp>
      <p:sp>
        <p:nvSpPr>
          <p:cNvPr id="30" name="Text 28"/>
          <p:cNvSpPr txBox="1"/>
          <p:nvPr/>
        </p:nvSpPr>
        <p:spPr>
          <a:xfrm>
            <a:off x="2400300" y="4210050"/>
            <a:ext cx="3390900" cy="160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보정값을 고르는 기준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838200" y="4419600"/>
            <a:ext cx="499110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8200" y="4457700"/>
            <a:ext cx="1428750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대기압</a:t>
            </a:r>
            <a:endParaRPr lang="en-US" sz="1013" dirty="0"/>
          </a:p>
        </p:txBody>
      </p:sp>
      <p:sp>
        <p:nvSpPr>
          <p:cNvPr id="33" name="Text 31"/>
          <p:cNvSpPr txBox="1"/>
          <p:nvPr/>
        </p:nvSpPr>
        <p:spPr>
          <a:xfrm>
            <a:off x="2400300" y="4457700"/>
            <a:ext cx="3390900" cy="160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출력 계산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838200" y="4667250"/>
            <a:ext cx="499110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8200" y="4705350"/>
            <a:ext cx="1428750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상대습도</a:t>
            </a:r>
            <a:endParaRPr lang="en-US" sz="1013" dirty="0"/>
          </a:p>
        </p:txBody>
      </p:sp>
      <p:sp>
        <p:nvSpPr>
          <p:cNvPr id="36" name="Text 34"/>
          <p:cNvSpPr txBox="1"/>
          <p:nvPr/>
        </p:nvSpPr>
        <p:spPr>
          <a:xfrm>
            <a:off x="2400300" y="4705350"/>
            <a:ext cx="3390900" cy="160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계기 2대 교차 확인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838200" y="4914900"/>
            <a:ext cx="499110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38200" y="4953000"/>
            <a:ext cx="1428750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진공도</a:t>
            </a:r>
            <a:endParaRPr lang="en-US" sz="1013" dirty="0"/>
          </a:p>
        </p:txBody>
      </p:sp>
      <p:sp>
        <p:nvSpPr>
          <p:cNvPr id="39" name="Text 37"/>
          <p:cNvSpPr txBox="1"/>
          <p:nvPr/>
        </p:nvSpPr>
        <p:spPr>
          <a:xfrm>
            <a:off x="2400300" y="4953000"/>
            <a:ext cx="3390900" cy="160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출력 계산</a:t>
            </a:r>
            <a:endParaRPr lang="en-US" sz="975" dirty="0"/>
          </a:p>
        </p:txBody>
      </p:sp>
      <p:sp>
        <p:nvSpPr>
          <p:cNvPr id="40" name="Shape 38"/>
          <p:cNvSpPr/>
          <p:nvPr/>
        </p:nvSpPr>
        <p:spPr>
          <a:xfrm>
            <a:off x="838200" y="5162550"/>
            <a:ext cx="499110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38200" y="5200650"/>
            <a:ext cx="1428750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발전량</a:t>
            </a:r>
            <a:endParaRPr lang="en-US" sz="1013" dirty="0"/>
          </a:p>
        </p:txBody>
      </p:sp>
      <p:sp>
        <p:nvSpPr>
          <p:cNvPr id="42" name="Text 40"/>
          <p:cNvSpPr txBox="1"/>
          <p:nvPr/>
        </p:nvSpPr>
        <p:spPr>
          <a:xfrm>
            <a:off x="2400300" y="5200650"/>
            <a:ext cx="3390900" cy="160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대조</a:t>
            </a:r>
            <a:endParaRPr lang="en-US" sz="975" dirty="0"/>
          </a:p>
        </p:txBody>
      </p:sp>
      <p:sp>
        <p:nvSpPr>
          <p:cNvPr id="43" name="Shape 41"/>
          <p:cNvSpPr/>
          <p:nvPr/>
        </p:nvSpPr>
        <p:spPr>
          <a:xfrm>
            <a:off x="838200" y="5410200"/>
            <a:ext cx="499110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38200" y="5448300"/>
            <a:ext cx="1428750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IGV 실시 여부</a:t>
            </a:r>
            <a:endParaRPr lang="en-US" sz="1013" dirty="0"/>
          </a:p>
        </p:txBody>
      </p:sp>
      <p:sp>
        <p:nvSpPr>
          <p:cNvPr id="45" name="Text 43"/>
          <p:cNvSpPr txBox="1"/>
          <p:nvPr/>
        </p:nvSpPr>
        <p:spPr>
          <a:xfrm>
            <a:off x="2400300" y="5448300"/>
            <a:ext cx="3390900" cy="160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미실시면 반영 차단</a:t>
            </a:r>
            <a:endParaRPr lang="en-US" sz="975" dirty="0"/>
          </a:p>
        </p:txBody>
      </p:sp>
      <p:sp>
        <p:nvSpPr>
          <p:cNvPr id="46" name="Text 44"/>
          <p:cNvSpPr txBox="1"/>
          <p:nvPr/>
        </p:nvSpPr>
        <p:spPr>
          <a:xfrm>
            <a:off x="685800" y="5753100"/>
            <a:ext cx="52959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습도는 2대를 함께 봅니다</a:t>
            </a:r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두 값이 벌어지면 반영을 보류합니다.</a:t>
            </a:r>
            <a:endParaRPr lang="en-US" sz="1125" dirty="0"/>
          </a:p>
        </p:txBody>
      </p:sp>
      <p:sp>
        <p:nvSpPr>
          <p:cNvPr id="47" name="Shape 45"/>
          <p:cNvSpPr/>
          <p:nvPr/>
        </p:nvSpPr>
        <p:spPr>
          <a:xfrm>
            <a:off x="6210300" y="3771900"/>
            <a:ext cx="5295900" cy="19050"/>
          </a:xfrm>
          <a:prstGeom prst="rect">
            <a:avLst/>
          </a:prstGeom>
          <a:solidFill>
            <a:srgbClr val="22354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210300" y="3905250"/>
            <a:ext cx="52959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산정 탭  ·  최신 화면 삽입 자리</a:t>
            </a:r>
            <a:endParaRPr lang="en-US" sz="788" dirty="0"/>
          </a:p>
        </p:txBody>
      </p:sp>
      <p:sp>
        <p:nvSpPr>
          <p:cNvPr id="49" name="Shape 47"/>
          <p:cNvSpPr/>
          <p:nvPr/>
        </p:nvSpPr>
        <p:spPr>
          <a:xfrm>
            <a:off x="6210300" y="4076700"/>
            <a:ext cx="4991100" cy="1600200"/>
          </a:xfrm>
          <a:prstGeom prst="rect">
            <a:avLst/>
          </a:prstGeom>
          <a:solidFill>
            <a:srgbClr val="0A1320"/>
          </a:solidFill>
          <a:ln w="19050">
            <a:solidFill>
              <a:srgbClr val="22354A"/>
            </a:solidFill>
            <a:prstDash val="dash"/>
          </a:ln>
        </p:spPr>
      </p:sp>
      <p:sp>
        <p:nvSpPr>
          <p:cNvPr id="50" name="Text 48"/>
          <p:cNvSpPr txBox="1"/>
          <p:nvPr/>
        </p:nvSpPr>
        <p:spPr>
          <a:xfrm>
            <a:off x="6210300" y="4667250"/>
            <a:ext cx="4991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캡쳐를 여기에 넣습니다</a:t>
            </a:r>
            <a:endParaRPr lang="en-US" sz="1125" dirty="0"/>
          </a:p>
        </p:txBody>
      </p:sp>
      <p:sp>
        <p:nvSpPr>
          <p:cNvPr id="51" name="Text 49"/>
          <p:cNvSpPr txBox="1"/>
          <p:nvPr/>
        </p:nvSpPr>
        <p:spPr>
          <a:xfrm>
            <a:off x="6210300" y="4933950"/>
            <a:ext cx="49911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524 × 168 px  ·  가로 5.46 in</a:t>
            </a:r>
            <a:endParaRPr lang="en-US" sz="788" dirty="0"/>
          </a:p>
        </p:txBody>
      </p:sp>
      <p:sp>
        <p:nvSpPr>
          <p:cNvPr id="52" name="Text 50"/>
          <p:cNvSpPr txBox="1"/>
          <p:nvPr/>
        </p:nvSpPr>
        <p:spPr>
          <a:xfrm>
            <a:off x="6210300" y="5753100"/>
            <a:ext cx="52959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취득 결과 요약줄에 값·시각·검증 통과 여부가 함께 찍힙니다.</a:t>
            </a:r>
            <a:endParaRPr lang="en-US" sz="1125" dirty="0"/>
          </a:p>
        </p:txBody>
      </p:sp>
      <p:sp>
        <p:nvSpPr>
          <p:cNvPr id="53" name="Shape 51"/>
          <p:cNvSpPr/>
          <p:nvPr/>
        </p:nvSpPr>
        <p:spPr>
          <a:xfrm>
            <a:off x="685800" y="60579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85800" y="6267450"/>
            <a:ext cx="47625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8" b="1" spc="18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결론</a:t>
            </a:r>
            <a:endParaRPr lang="en-US" sz="788" dirty="0"/>
          </a:p>
        </p:txBody>
      </p:sp>
      <p:sp>
        <p:nvSpPr>
          <p:cNvPr id="55" name="Text 53"/>
          <p:cNvSpPr txBox="1"/>
          <p:nvPr/>
        </p:nvSpPr>
        <p:spPr>
          <a:xfrm>
            <a:off x="1219200" y="6229350"/>
            <a:ext cx="10287000" cy="22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숫자의 출처가 </a:t>
            </a:r>
            <a:pPr algn="l" indent="0" marL="0">
              <a:lnSpc>
                <a:spcPts val="1733"/>
              </a:lnSpc>
              <a:buNone/>
            </a:pPr>
            <a:r>
              <a:rPr lang="en-US" sz="1238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그대로 남습니다</a:t>
            </a:r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나중에 왜 그 값이었는지 되짚을 수 있습니다.</a:t>
            </a:r>
            <a:endParaRPr lang="en-US" sz="123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9100"/>
            <a:ext cx="762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 </a:t>
            </a:r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분석 및 원인 규명(가설 검증)</a:t>
            </a:r>
            <a:pPr algn="l" indent="0" marL="0">
              <a:lnSpc>
                <a:spcPts val="1440"/>
              </a:lnSpc>
              <a:buNone/>
            </a:pPr>
            <a:r>
              <a:rPr lang="en-US" sz="975" spc="60" kern="0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가설 검증</a:t>
            </a:r>
            <a:endParaRPr lang="en-US" sz="1125" dirty="0"/>
          </a:p>
        </p:txBody>
      </p:sp>
      <p:sp>
        <p:nvSpPr>
          <p:cNvPr id="3" name="Shape 1"/>
          <p:cNvSpPr/>
          <p:nvPr/>
        </p:nvSpPr>
        <p:spPr>
          <a:xfrm>
            <a:off x="106680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4" name="Shape 2"/>
          <p:cNvSpPr/>
          <p:nvPr/>
        </p:nvSpPr>
        <p:spPr>
          <a:xfrm>
            <a:off x="108013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5" name="Shape 3"/>
          <p:cNvSpPr/>
          <p:nvPr/>
        </p:nvSpPr>
        <p:spPr>
          <a:xfrm>
            <a:off x="10934700" y="419100"/>
            <a:ext cx="38100" cy="142875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6" name="Shape 4"/>
          <p:cNvSpPr/>
          <p:nvPr/>
        </p:nvSpPr>
        <p:spPr>
          <a:xfrm>
            <a:off x="110680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7" name="Shape 5"/>
          <p:cNvSpPr/>
          <p:nvPr/>
        </p:nvSpPr>
        <p:spPr>
          <a:xfrm>
            <a:off x="112014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8" name="Shape 6"/>
          <p:cNvSpPr/>
          <p:nvPr/>
        </p:nvSpPr>
        <p:spPr>
          <a:xfrm>
            <a:off x="113347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9" name="Shape 7"/>
          <p:cNvSpPr/>
          <p:nvPr/>
        </p:nvSpPr>
        <p:spPr>
          <a:xfrm>
            <a:off x="114681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6858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914400"/>
            <a:ext cx="10287000" cy="888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그럴듯한 설명 5개를 의심했고,</a:t>
            </a:r>
            <a:endParaRPr lang="en-US" sz="2775" dirty="0"/>
          </a:p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4개는 틀렸습니다</a:t>
            </a:r>
            <a:endParaRPr lang="en-US" sz="2775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000250"/>
            <a:ext cx="10287000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온도에 따라 갈리는 이유를 설명할 후보를 세우고 누적 40건으로 하나씩 검증했습니다. </a:t>
            </a:r>
            <a:pPr algn="l" indent="0" marL="0">
              <a:lnSpc>
                <a:spcPts val="2241"/>
              </a:lnSpc>
              <a:buNone/>
            </a:pPr>
            <a:r>
              <a:rPr lang="en-US" sz="1350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살아남은 것은 하나</a:t>
            </a:r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2705100"/>
            <a:ext cx="2019300" cy="19050"/>
          </a:xfrm>
          <a:prstGeom prst="rect">
            <a:avLst/>
          </a:prstGeom>
          <a:solidFill>
            <a:srgbClr val="7E23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838450"/>
            <a:ext cx="20193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FF4D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가설 1</a:t>
            </a:r>
            <a:endParaRPr lang="en-US" sz="788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048000"/>
            <a:ext cx="2019300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 상반기는</a:t>
            </a:r>
            <a:endParaRPr lang="en-US" sz="1575" dirty="0"/>
          </a:p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설비가 달랐다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685800" y="3733800"/>
            <a:ext cx="666750" cy="285750"/>
          </a:xfrm>
          <a:prstGeom prst="rect">
            <a:avLst/>
          </a:prstGeom>
          <a:ln w="17780">
            <a:solidFill>
              <a:srgbClr val="7E2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800475"/>
            <a:ext cx="6667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4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기각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152900"/>
            <a:ext cx="20193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IGV 효과 평균 </a:t>
            </a:r>
            <a:pPr algn="l" indent="0" marL="0">
              <a:lnSpc>
                <a:spcPts val="1890"/>
              </a:lnSpc>
              <a:buNone/>
            </a:pPr>
            <a:r>
              <a:rPr lang="en-US" sz="112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+0.09</a:t>
            </a:r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설비가 아니라 </a:t>
            </a:r>
            <a:pPr algn="l" indent="0" marL="0">
              <a:lnSpc>
                <a:spcPts val="1890"/>
              </a:lnSpc>
              <a:buNone/>
            </a:pPr>
            <a:r>
              <a:rPr lang="en-US" sz="112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IGV 미실시</a:t>
            </a:r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 원인이었다.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2886075" y="2705100"/>
            <a:ext cx="2019300" cy="19050"/>
          </a:xfrm>
          <a:prstGeom prst="rect">
            <a:avLst/>
          </a:prstGeom>
          <a:solidFill>
            <a:srgbClr val="7E233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886075" y="2838450"/>
            <a:ext cx="20193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FF4D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가설 2</a:t>
            </a:r>
            <a:endParaRPr lang="en-US" sz="788" dirty="0"/>
          </a:p>
        </p:txBody>
      </p:sp>
      <p:sp>
        <p:nvSpPr>
          <p:cNvPr id="21" name="Text 19"/>
          <p:cNvSpPr txBox="1"/>
          <p:nvPr/>
        </p:nvSpPr>
        <p:spPr>
          <a:xfrm>
            <a:off x="2886075" y="3048000"/>
            <a:ext cx="2019300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진공 잔차로</a:t>
            </a:r>
            <a:endParaRPr lang="en-US" sz="1575" dirty="0"/>
          </a:p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예측할 수 있다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2886075" y="3733800"/>
            <a:ext cx="666750" cy="285750"/>
          </a:xfrm>
          <a:prstGeom prst="rect">
            <a:avLst/>
          </a:prstGeom>
          <a:ln w="17780">
            <a:solidFill>
              <a:srgbClr val="7E2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86075" y="3800475"/>
            <a:ext cx="6667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4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기각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886075" y="4152900"/>
            <a:ext cx="20193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n=5 에서 r −0.85 → </a:t>
            </a:r>
            <a:pPr algn="l" indent="0" marL="0">
              <a:lnSpc>
                <a:spcPts val="1890"/>
              </a:lnSpc>
              <a:buNone/>
            </a:pPr>
            <a:r>
              <a:rPr lang="en-US" sz="112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n=40 에서 +0.05</a:t>
            </a:r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(임계 0.31). 표본 5개의 과대해석.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5086350" y="2705100"/>
            <a:ext cx="2019300" cy="19050"/>
          </a:xfrm>
          <a:prstGeom prst="rect">
            <a:avLst/>
          </a:prstGeom>
          <a:solidFill>
            <a:srgbClr val="7E23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086350" y="2838450"/>
            <a:ext cx="20193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FF4D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가설 3</a:t>
            </a:r>
            <a:endParaRPr lang="en-US" sz="788" dirty="0"/>
          </a:p>
        </p:txBody>
      </p:sp>
      <p:sp>
        <p:nvSpPr>
          <p:cNvPr id="27" name="Text 25"/>
          <p:cNvSpPr txBox="1"/>
          <p:nvPr/>
        </p:nvSpPr>
        <p:spPr>
          <a:xfrm>
            <a:off x="5086350" y="3048000"/>
            <a:ext cx="2019300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이론값 차이는</a:t>
            </a:r>
            <a:endParaRPr lang="en-US" sz="1575" dirty="0"/>
          </a:p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진공 항 때문이다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5086350" y="3733800"/>
            <a:ext cx="666750" cy="285750"/>
          </a:xfrm>
          <a:prstGeom prst="rect">
            <a:avLst/>
          </a:prstGeom>
          <a:ln w="17780">
            <a:solidFill>
              <a:srgbClr val="7E2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86350" y="3800475"/>
            <a:ext cx="6667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4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기각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086350" y="4152900"/>
            <a:ext cx="20193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58건 대조 → 차이가 온도에 비례. 진공이 아니라 </a:t>
            </a:r>
            <a:pPr algn="l" indent="0" marL="0">
              <a:lnSpc>
                <a:spcPts val="1890"/>
              </a:lnSpc>
              <a:buNone/>
            </a:pPr>
            <a:r>
              <a:rPr lang="en-US" sz="112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곡선 자체의 차이</a:t>
            </a:r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125" dirty="0"/>
          </a:p>
        </p:txBody>
      </p:sp>
      <p:sp>
        <p:nvSpPr>
          <p:cNvPr id="31" name="Shape 29"/>
          <p:cNvSpPr/>
          <p:nvPr/>
        </p:nvSpPr>
        <p:spPr>
          <a:xfrm>
            <a:off x="7286625" y="2705100"/>
            <a:ext cx="2019300" cy="19050"/>
          </a:xfrm>
          <a:prstGeom prst="rect">
            <a:avLst/>
          </a:prstGeom>
          <a:solidFill>
            <a:srgbClr val="7E233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286625" y="2838450"/>
            <a:ext cx="20193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FF4D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가설 4</a:t>
            </a:r>
            <a:endParaRPr lang="en-US" sz="788" dirty="0"/>
          </a:p>
        </p:txBody>
      </p:sp>
      <p:sp>
        <p:nvSpPr>
          <p:cNvPr id="33" name="Text 31"/>
          <p:cNvSpPr txBox="1"/>
          <p:nvPr/>
        </p:nvSpPr>
        <p:spPr>
          <a:xfrm>
            <a:off x="7286625" y="3048000"/>
            <a:ext cx="2019300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여름에만</a:t>
            </a:r>
            <a:endParaRPr lang="en-US" sz="1575" dirty="0"/>
          </a:p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진공 영향이 보인다</a:t>
            </a:r>
            <a:endParaRPr lang="en-US" sz="1575" dirty="0"/>
          </a:p>
        </p:txBody>
      </p:sp>
      <p:sp>
        <p:nvSpPr>
          <p:cNvPr id="34" name="Shape 32"/>
          <p:cNvSpPr/>
          <p:nvPr/>
        </p:nvSpPr>
        <p:spPr>
          <a:xfrm>
            <a:off x="7286625" y="3733800"/>
            <a:ext cx="666750" cy="285750"/>
          </a:xfrm>
          <a:prstGeom prst="rect">
            <a:avLst/>
          </a:prstGeom>
          <a:ln w="17780">
            <a:solidFill>
              <a:srgbClr val="7E233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286625" y="3800475"/>
            <a:ext cx="6667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4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기각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286625" y="4152900"/>
            <a:ext cx="20193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n=9 에서 r −0.675 (임계 0.666). 한 건 빼면 </a:t>
            </a:r>
            <a:pPr algn="l" indent="0" marL="0">
              <a:lnSpc>
                <a:spcPts val="1890"/>
              </a:lnSpc>
              <a:buNone/>
            </a:pPr>
            <a:r>
              <a:rPr lang="en-US" sz="112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9번 중 6번</a:t>
            </a:r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유의성 상실.</a:t>
            </a:r>
            <a:endParaRPr lang="en-US" sz="1125" dirty="0"/>
          </a:p>
        </p:txBody>
      </p:sp>
      <p:sp>
        <p:nvSpPr>
          <p:cNvPr id="37" name="Shape 35"/>
          <p:cNvSpPr/>
          <p:nvPr/>
        </p:nvSpPr>
        <p:spPr>
          <a:xfrm>
            <a:off x="9486900" y="2705100"/>
            <a:ext cx="2019300" cy="1905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486900" y="2838450"/>
            <a:ext cx="20193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가설 5</a:t>
            </a:r>
            <a:endParaRPr lang="en-US" sz="788" dirty="0"/>
          </a:p>
        </p:txBody>
      </p:sp>
      <p:sp>
        <p:nvSpPr>
          <p:cNvPr id="39" name="Text 37"/>
          <p:cNvSpPr txBox="1"/>
          <p:nvPr/>
        </p:nvSpPr>
        <p:spPr>
          <a:xfrm>
            <a:off x="9486900" y="3048000"/>
            <a:ext cx="2019300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진공도는</a:t>
            </a:r>
            <a:endParaRPr lang="en-US" sz="1575" dirty="0"/>
          </a:p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외기온도의 함수다</a:t>
            </a:r>
            <a:endParaRPr lang="en-US" sz="1575" dirty="0"/>
          </a:p>
        </p:txBody>
      </p:sp>
      <p:sp>
        <p:nvSpPr>
          <p:cNvPr id="40" name="Shape 38"/>
          <p:cNvSpPr/>
          <p:nvPr/>
        </p:nvSpPr>
        <p:spPr>
          <a:xfrm>
            <a:off x="9486900" y="3733800"/>
            <a:ext cx="666750" cy="285750"/>
          </a:xfrm>
          <a:prstGeom prst="rect">
            <a:avLst/>
          </a:prstGeom>
          <a:ln w="17780">
            <a:solidFill>
              <a:srgbClr val="6B522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486900" y="3800475"/>
            <a:ext cx="6667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9486900" y="4152900"/>
            <a:ext cx="20193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진공도 = 33.43 + 1.261 × 온도, r </a:t>
            </a:r>
            <a:pPr algn="l" indent="0" marL="0">
              <a:lnSpc>
                <a:spcPts val="1890"/>
              </a:lnSpc>
              <a:buNone/>
            </a:pPr>
            <a:r>
              <a:rPr lang="en-US" sz="112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+0.952</a:t>
            </a:r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40건, 분산의 91%.</a:t>
            </a:r>
            <a:endParaRPr lang="en-US" sz="1125" dirty="0"/>
          </a:p>
        </p:txBody>
      </p:sp>
      <p:sp>
        <p:nvSpPr>
          <p:cNvPr id="43" name="Shape 41"/>
          <p:cNvSpPr/>
          <p:nvPr/>
        </p:nvSpPr>
        <p:spPr>
          <a:xfrm>
            <a:off x="685800" y="5505450"/>
            <a:ext cx="10820400" cy="4572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4400" y="5619750"/>
            <a:ext cx="103632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변수(진공도)에서 </a:t>
            </a:r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</a:t>
            </a:r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걸렸습니다 — 전부 </a:t>
            </a:r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부분집합을 잘라 만든 상관</a:t>
            </a:r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이었습니다.   그래서 판정을 사람 눈에서 코드로 옮겼습니다: 부분집합 결과는 </a:t>
            </a:r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임계값·안정성과 함께만</a:t>
            </a:r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찍히고, 안정성 80% 미달이면 자동으로 기각입니다.</a:t>
            </a:r>
            <a:endParaRPr lang="en-US" sz="1013" dirty="0"/>
          </a:p>
        </p:txBody>
      </p:sp>
      <p:sp>
        <p:nvSpPr>
          <p:cNvPr id="45" name="Shape 43"/>
          <p:cNvSpPr/>
          <p:nvPr/>
        </p:nvSpPr>
        <p:spPr>
          <a:xfrm>
            <a:off x="685800" y="60579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85800" y="6267450"/>
            <a:ext cx="47625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8" b="1" spc="18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결론</a:t>
            </a:r>
            <a:endParaRPr lang="en-US" sz="788" dirty="0"/>
          </a:p>
        </p:txBody>
      </p:sp>
      <p:sp>
        <p:nvSpPr>
          <p:cNvPr id="47" name="Text 45"/>
          <p:cNvSpPr txBox="1"/>
          <p:nvPr/>
        </p:nvSpPr>
        <p:spPr>
          <a:xfrm>
            <a:off x="1219200" y="6229350"/>
            <a:ext cx="10287000" cy="22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설명은 </a:t>
            </a:r>
            <a:pPr algn="l" indent="0" marL="0">
              <a:lnSpc>
                <a:spcPts val="1733"/>
              </a:lnSpc>
              <a:buNone/>
            </a:pPr>
            <a:r>
              <a:rPr lang="en-US" sz="1238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</a:t>
            </a:r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하나였습니다 — 그리고 틀린 가설을 스스로 걸러내는 절차가 남았습니다.</a:t>
            </a:r>
            <a:endParaRPr lang="en-US" sz="123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9100"/>
            <a:ext cx="762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 </a:t>
            </a:r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방안 도출 및 예측/보정 모델 개발</a:t>
            </a:r>
            <a:pPr algn="l" indent="0" marL="0">
              <a:lnSpc>
                <a:spcPts val="1440"/>
              </a:lnSpc>
              <a:buNone/>
            </a:pPr>
            <a:r>
              <a:rPr lang="en-US" sz="975" spc="60" kern="0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해결 구조</a:t>
            </a:r>
            <a:endParaRPr lang="en-US" sz="1125" dirty="0"/>
          </a:p>
        </p:txBody>
      </p:sp>
      <p:sp>
        <p:nvSpPr>
          <p:cNvPr id="3" name="Shape 1"/>
          <p:cNvSpPr/>
          <p:nvPr/>
        </p:nvSpPr>
        <p:spPr>
          <a:xfrm>
            <a:off x="106680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4" name="Shape 2"/>
          <p:cNvSpPr/>
          <p:nvPr/>
        </p:nvSpPr>
        <p:spPr>
          <a:xfrm>
            <a:off x="108013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5" name="Shape 3"/>
          <p:cNvSpPr/>
          <p:nvPr/>
        </p:nvSpPr>
        <p:spPr>
          <a:xfrm>
            <a:off x="109347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6" name="Shape 4"/>
          <p:cNvSpPr/>
          <p:nvPr/>
        </p:nvSpPr>
        <p:spPr>
          <a:xfrm>
            <a:off x="11068050" y="419100"/>
            <a:ext cx="38100" cy="142875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7" name="Shape 5"/>
          <p:cNvSpPr/>
          <p:nvPr/>
        </p:nvSpPr>
        <p:spPr>
          <a:xfrm>
            <a:off x="112014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8" name="Shape 6"/>
          <p:cNvSpPr/>
          <p:nvPr/>
        </p:nvSpPr>
        <p:spPr>
          <a:xfrm>
            <a:off x="113347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9" name="Shape 7"/>
          <p:cNvSpPr/>
          <p:nvPr/>
        </p:nvSpPr>
        <p:spPr>
          <a:xfrm>
            <a:off x="114681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6858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914400"/>
            <a:ext cx="10287000" cy="888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이론은 손대지 않고,</a:t>
            </a:r>
            <a:endParaRPr lang="en-US" sz="2775" dirty="0"/>
          </a:p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차이만</a:t>
            </a:r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온도별로 학습합니다</a:t>
            </a:r>
            <a:endParaRPr lang="en-US" sz="2775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000250"/>
            <a:ext cx="10287000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계산은 검증된 그대로 동결합니다. 학습하는 것은 </a:t>
            </a:r>
            <a:pPr algn="l" indent="0" marL="0">
              <a:lnSpc>
                <a:spcPts val="2241"/>
              </a:lnSpc>
              <a:buNone/>
            </a:pPr>
            <a:r>
              <a:rPr lang="en-US" sz="1350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이론과 실제의 차이</a:t>
            </a:r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뿐이고, 그 차이를 온도별로 나눠 봅니다.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2743200"/>
            <a:ext cx="7048500" cy="19050"/>
          </a:xfrm>
          <a:prstGeom prst="rect">
            <a:avLst/>
          </a:prstGeom>
          <a:solidFill>
            <a:srgbClr val="2235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876550"/>
            <a:ext cx="70485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2단 구조</a:t>
            </a:r>
            <a:endParaRPr lang="en-US" sz="788" dirty="0"/>
          </a:p>
        </p:txBody>
      </p:sp>
      <p:sp>
        <p:nvSpPr>
          <p:cNvPr id="15" name="Shape 13"/>
          <p:cNvSpPr/>
          <p:nvPr/>
        </p:nvSpPr>
        <p:spPr>
          <a:xfrm>
            <a:off x="685800" y="3067050"/>
            <a:ext cx="7048500" cy="112395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067050"/>
            <a:ext cx="7048500" cy="19050"/>
          </a:xfrm>
          <a:prstGeom prst="rect">
            <a:avLst/>
          </a:prstGeom>
          <a:solidFill>
            <a:srgbClr val="718BA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8200" y="3200400"/>
            <a:ext cx="38100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718B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1층  ·  동결 — 손대지 않는다</a:t>
            </a:r>
            <a:endParaRPr lang="en-US" sz="788" dirty="0"/>
          </a:p>
        </p:txBody>
      </p:sp>
      <p:sp>
        <p:nvSpPr>
          <p:cNvPr id="18" name="Text 16"/>
          <p:cNvSpPr txBox="1"/>
          <p:nvPr/>
        </p:nvSpPr>
        <p:spPr>
          <a:xfrm>
            <a:off x="838200" y="3409950"/>
            <a:ext cx="6667500" cy="28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온도·대기압·습도·진공도로 계산하는 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718B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출력</a:t>
            </a:r>
            <a:endParaRPr lang="en-US" sz="1575" dirty="0"/>
          </a:p>
        </p:txBody>
      </p:sp>
      <p:sp>
        <p:nvSpPr>
          <p:cNvPr id="19" name="Text 17"/>
          <p:cNvSpPr txBox="1"/>
          <p:nvPr/>
        </p:nvSpPr>
        <p:spPr>
          <a:xfrm>
            <a:off x="838200" y="3771900"/>
            <a:ext cx="6667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제작사 성능 곡선과 사내 검증을 거친 계산식입니다. 데이터가 쌓여도 바뀌지 않습니다.</a:t>
            </a:r>
            <a:endParaRPr lang="en-US" sz="1125" dirty="0"/>
          </a:p>
        </p:txBody>
      </p:sp>
      <p:sp>
        <p:nvSpPr>
          <p:cNvPr id="20" name="Text 18"/>
          <p:cNvSpPr txBox="1"/>
          <p:nvPr/>
        </p:nvSpPr>
        <p:spPr>
          <a:xfrm>
            <a:off x="838200" y="4248150"/>
            <a:ext cx="2857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181100" y="4286250"/>
            <a:ext cx="2857500" cy="160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이론과 실제의 차이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685800" y="4552950"/>
            <a:ext cx="7048500" cy="112395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4552950"/>
            <a:ext cx="7048500" cy="1905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8200" y="4686300"/>
            <a:ext cx="38100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2층  ·  학습 — 데이터가 갱신한다</a:t>
            </a:r>
            <a:endParaRPr lang="en-US" sz="788" dirty="0"/>
          </a:p>
        </p:txBody>
      </p:sp>
      <p:sp>
        <p:nvSpPr>
          <p:cNvPr id="25" name="Text 23"/>
          <p:cNvSpPr txBox="1"/>
          <p:nvPr/>
        </p:nvSpPr>
        <p:spPr>
          <a:xfrm>
            <a:off x="838200" y="4895850"/>
            <a:ext cx="6667500" cy="28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온도별로 나눠 학습하는 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보정값</a:t>
            </a:r>
            <a:endParaRPr lang="en-US" sz="1575" dirty="0"/>
          </a:p>
        </p:txBody>
      </p:sp>
      <p:sp>
        <p:nvSpPr>
          <p:cNvPr id="26" name="Text 24"/>
          <p:cNvSpPr txBox="1"/>
          <p:nvPr/>
        </p:nvSpPr>
        <p:spPr>
          <a:xfrm>
            <a:off x="838200" y="5257800"/>
            <a:ext cx="6667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회차가 쌓이면 다시 학습해 값을 갱신합니다. 사람이 정하는 상수는 여기에 없습니다.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8115300" y="2743200"/>
            <a:ext cx="3390900" cy="1905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15300" y="2876550"/>
            <a:ext cx="33909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최종 신고값</a:t>
            </a:r>
            <a:endParaRPr lang="en-US" sz="788" dirty="0"/>
          </a:p>
        </p:txBody>
      </p:sp>
      <p:sp>
        <p:nvSpPr>
          <p:cNvPr id="29" name="Shape 27"/>
          <p:cNvSpPr/>
          <p:nvPr/>
        </p:nvSpPr>
        <p:spPr>
          <a:xfrm>
            <a:off x="8115300" y="3067050"/>
            <a:ext cx="3390900" cy="9144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67700" y="3238500"/>
            <a:ext cx="3086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출력</a:t>
            </a:r>
            <a:endParaRPr lang="en-US" sz="1125" dirty="0"/>
          </a:p>
        </p:txBody>
      </p:sp>
      <p:sp>
        <p:nvSpPr>
          <p:cNvPr id="31" name="Text 29"/>
          <p:cNvSpPr txBox="1"/>
          <p:nvPr/>
        </p:nvSpPr>
        <p:spPr>
          <a:xfrm>
            <a:off x="8267700" y="3486150"/>
            <a:ext cx="3086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 온도별 보정값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8267700" y="3733800"/>
            <a:ext cx="30861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67700" y="3771900"/>
            <a:ext cx="3086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 주간 신고값</a:t>
            </a:r>
            <a:endParaRPr lang="en-US" sz="1125" dirty="0"/>
          </a:p>
        </p:txBody>
      </p:sp>
      <p:sp>
        <p:nvSpPr>
          <p:cNvPr id="34" name="Text 32"/>
          <p:cNvSpPr txBox="1"/>
          <p:nvPr/>
        </p:nvSpPr>
        <p:spPr>
          <a:xfrm>
            <a:off x="8115300" y="4152900"/>
            <a:ext cx="3390900" cy="28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굳이 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둘로 나눴나</a:t>
            </a:r>
            <a:endParaRPr lang="en-US" sz="1575" dirty="0"/>
          </a:p>
        </p:txBody>
      </p:sp>
      <p:sp>
        <p:nvSpPr>
          <p:cNvPr id="35" name="Text 33"/>
          <p:cNvSpPr txBox="1"/>
          <p:nvPr/>
        </p:nvSpPr>
        <p:spPr>
          <a:xfrm>
            <a:off x="8115300" y="4552950"/>
            <a:ext cx="339090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검증된 이론을 흔들지 않는다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248650" y="4752975"/>
            <a:ext cx="325755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이론이 틀렸다는 말을 하지 않아도 된다</a:t>
            </a:r>
            <a:endParaRPr lang="en-US" sz="938" dirty="0"/>
          </a:p>
        </p:txBody>
      </p:sp>
      <p:sp>
        <p:nvSpPr>
          <p:cNvPr id="37" name="Text 35"/>
          <p:cNvSpPr txBox="1"/>
          <p:nvPr/>
        </p:nvSpPr>
        <p:spPr>
          <a:xfrm>
            <a:off x="8115300" y="5010150"/>
            <a:ext cx="339090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틀린 원인을 찾을 수 있다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248650" y="5210175"/>
            <a:ext cx="325755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문제인지 보정 문제인지 갈린다</a:t>
            </a:r>
            <a:endParaRPr lang="en-US" sz="938" dirty="0"/>
          </a:p>
        </p:txBody>
      </p:sp>
      <p:sp>
        <p:nvSpPr>
          <p:cNvPr id="39" name="Text 37"/>
          <p:cNvSpPr txBox="1"/>
          <p:nvPr/>
        </p:nvSpPr>
        <p:spPr>
          <a:xfrm>
            <a:off x="8115300" y="5467350"/>
            <a:ext cx="339090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다른 사업소에 옮길 수 있다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8248650" y="5667375"/>
            <a:ext cx="325755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이론만 갈아끼우면 2층은 그대로다</a:t>
            </a:r>
            <a:endParaRPr lang="en-US" sz="938" dirty="0"/>
          </a:p>
        </p:txBody>
      </p:sp>
      <p:sp>
        <p:nvSpPr>
          <p:cNvPr id="41" name="Shape 39"/>
          <p:cNvSpPr/>
          <p:nvPr/>
        </p:nvSpPr>
        <p:spPr>
          <a:xfrm>
            <a:off x="685800" y="60579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5800" y="6267450"/>
            <a:ext cx="47625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8" b="1" spc="18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결론</a:t>
            </a:r>
            <a:endParaRPr lang="en-US" sz="788" dirty="0"/>
          </a:p>
        </p:txBody>
      </p:sp>
      <p:sp>
        <p:nvSpPr>
          <p:cNvPr id="43" name="Text 41"/>
          <p:cNvSpPr txBox="1"/>
          <p:nvPr/>
        </p:nvSpPr>
        <p:spPr>
          <a:xfrm>
            <a:off x="1219200" y="6229350"/>
            <a:ext cx="10287000" cy="22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이론은 그대로 두고 </a:t>
            </a:r>
            <a:pPr algn="l" indent="0" marL="0">
              <a:lnSpc>
                <a:spcPts val="1733"/>
              </a:lnSpc>
              <a:buNone/>
            </a:pPr>
            <a:r>
              <a:rPr lang="en-US" sz="1238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차이만 배웁니다</a:t>
            </a:r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그래서 다른 사업소로 옮길 수 있습니다.</a:t>
            </a:r>
            <a:endParaRPr lang="en-US" sz="123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9100"/>
            <a:ext cx="762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 </a:t>
            </a:r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방안 도출 및 예측/보정 모델 개발</a:t>
            </a:r>
            <a:pPr algn="l" indent="0" marL="0">
              <a:lnSpc>
                <a:spcPts val="1440"/>
              </a:lnSpc>
              <a:buNone/>
            </a:pPr>
            <a:r>
              <a:rPr lang="en-US" sz="975" spc="60" kern="0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모델 개발</a:t>
            </a:r>
            <a:endParaRPr lang="en-US" sz="1125" dirty="0"/>
          </a:p>
        </p:txBody>
      </p:sp>
      <p:sp>
        <p:nvSpPr>
          <p:cNvPr id="3" name="Shape 1"/>
          <p:cNvSpPr/>
          <p:nvPr/>
        </p:nvSpPr>
        <p:spPr>
          <a:xfrm>
            <a:off x="106680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4" name="Shape 2"/>
          <p:cNvSpPr/>
          <p:nvPr/>
        </p:nvSpPr>
        <p:spPr>
          <a:xfrm>
            <a:off x="108013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5" name="Shape 3"/>
          <p:cNvSpPr/>
          <p:nvPr/>
        </p:nvSpPr>
        <p:spPr>
          <a:xfrm>
            <a:off x="109347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6" name="Shape 4"/>
          <p:cNvSpPr/>
          <p:nvPr/>
        </p:nvSpPr>
        <p:spPr>
          <a:xfrm>
            <a:off x="11068050" y="419100"/>
            <a:ext cx="38100" cy="142875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7" name="Shape 5"/>
          <p:cNvSpPr/>
          <p:nvPr/>
        </p:nvSpPr>
        <p:spPr>
          <a:xfrm>
            <a:off x="112014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8" name="Shape 6"/>
          <p:cNvSpPr/>
          <p:nvPr/>
        </p:nvSpPr>
        <p:spPr>
          <a:xfrm>
            <a:off x="113347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9" name="Shape 7"/>
          <p:cNvSpPr/>
          <p:nvPr/>
        </p:nvSpPr>
        <p:spPr>
          <a:xfrm>
            <a:off x="114681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6858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914400"/>
            <a:ext cx="10287000" cy="888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36건뿐이라는 제약을,</a:t>
            </a:r>
            <a:endParaRPr lang="en-US" sz="2775" dirty="0"/>
          </a:p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설계</a:t>
            </a:r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넘었습니다</a:t>
            </a:r>
            <a:endParaRPr lang="en-US" sz="2775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000250"/>
            <a:ext cx="10287000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 구간마다 건수가 고르지 않습니다. 가장 빈약한 구간은 </a:t>
            </a:r>
            <a:pPr algn="l" indent="0" marL="0">
              <a:lnSpc>
                <a:spcPts val="2241"/>
              </a:lnSpc>
              <a:buNone/>
            </a:pPr>
            <a:r>
              <a:rPr lang="en-US" sz="1350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1건</a:t>
            </a:r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입니다. 적은 데이터로 과신하지 않도록 검증 방식을 먼저 정했습니다.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2743200"/>
            <a:ext cx="5676900" cy="19050"/>
          </a:xfrm>
          <a:prstGeom prst="rect">
            <a:avLst/>
          </a:prstGeom>
          <a:solidFill>
            <a:srgbClr val="7E23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876550"/>
            <a:ext cx="56769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온도 구간별 회차 수  ·  누적 40회차</a:t>
            </a:r>
            <a:endParaRPr lang="en-US" sz="788" dirty="0"/>
          </a:p>
        </p:txBody>
      </p:sp>
      <p:sp>
        <p:nvSpPr>
          <p:cNvPr id="15" name="Shape 13"/>
          <p:cNvSpPr/>
          <p:nvPr/>
        </p:nvSpPr>
        <p:spPr>
          <a:xfrm>
            <a:off x="685800" y="3067050"/>
            <a:ext cx="5676900" cy="238125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8200" y="3257550"/>
            <a:ext cx="8763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−14 ~ 0℃</a:t>
            </a:r>
            <a:endParaRPr lang="en-US" sz="938" dirty="0"/>
          </a:p>
        </p:txBody>
      </p:sp>
      <p:sp>
        <p:nvSpPr>
          <p:cNvPr id="17" name="Shape 15"/>
          <p:cNvSpPr/>
          <p:nvPr/>
        </p:nvSpPr>
        <p:spPr>
          <a:xfrm>
            <a:off x="1828800" y="3238500"/>
            <a:ext cx="433070" cy="171450"/>
          </a:xfrm>
          <a:prstGeom prst="rect">
            <a:avLst/>
          </a:prstGeom>
          <a:solidFill>
            <a:srgbClr val="718B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338070" y="3257550"/>
            <a:ext cx="571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CFCB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2건</a:t>
            </a:r>
            <a:endParaRPr lang="en-US" sz="975" dirty="0"/>
          </a:p>
        </p:txBody>
      </p:sp>
      <p:sp>
        <p:nvSpPr>
          <p:cNvPr id="19" name="Text 17"/>
          <p:cNvSpPr txBox="1"/>
          <p:nvPr/>
        </p:nvSpPr>
        <p:spPr>
          <a:xfrm>
            <a:off x="838200" y="3562350"/>
            <a:ext cx="8763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~ 10℃</a:t>
            </a:r>
            <a:endParaRPr lang="en-US" sz="938" dirty="0"/>
          </a:p>
        </p:txBody>
      </p:sp>
      <p:sp>
        <p:nvSpPr>
          <p:cNvPr id="20" name="Shape 18"/>
          <p:cNvSpPr/>
          <p:nvPr/>
        </p:nvSpPr>
        <p:spPr>
          <a:xfrm>
            <a:off x="1828800" y="3543300"/>
            <a:ext cx="1515745" cy="171450"/>
          </a:xfrm>
          <a:prstGeom prst="rect">
            <a:avLst/>
          </a:prstGeom>
          <a:solidFill>
            <a:srgbClr val="718BA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420745" y="3562350"/>
            <a:ext cx="571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CFCB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7건</a:t>
            </a:r>
            <a:endParaRPr lang="en-US" sz="975" dirty="0"/>
          </a:p>
        </p:txBody>
      </p:sp>
      <p:sp>
        <p:nvSpPr>
          <p:cNvPr id="22" name="Text 20"/>
          <p:cNvSpPr txBox="1"/>
          <p:nvPr/>
        </p:nvSpPr>
        <p:spPr>
          <a:xfrm>
            <a:off x="838200" y="3867150"/>
            <a:ext cx="8763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~ 15℃</a:t>
            </a:r>
            <a:endParaRPr lang="en-US" sz="938" dirty="0"/>
          </a:p>
        </p:txBody>
      </p:sp>
      <p:sp>
        <p:nvSpPr>
          <p:cNvPr id="23" name="Shape 21"/>
          <p:cNvSpPr/>
          <p:nvPr/>
        </p:nvSpPr>
        <p:spPr>
          <a:xfrm>
            <a:off x="1828800" y="3848100"/>
            <a:ext cx="1299210" cy="171450"/>
          </a:xfrm>
          <a:prstGeom prst="rect">
            <a:avLst/>
          </a:prstGeom>
          <a:solidFill>
            <a:srgbClr val="718BA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204210" y="3867150"/>
            <a:ext cx="571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CFCB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6건</a:t>
            </a:r>
            <a:endParaRPr lang="en-US" sz="975" dirty="0"/>
          </a:p>
        </p:txBody>
      </p:sp>
      <p:sp>
        <p:nvSpPr>
          <p:cNvPr id="25" name="Text 23"/>
          <p:cNvSpPr txBox="1"/>
          <p:nvPr/>
        </p:nvSpPr>
        <p:spPr>
          <a:xfrm>
            <a:off x="838200" y="4171950"/>
            <a:ext cx="8763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~ 20℃</a:t>
            </a:r>
            <a:endParaRPr lang="en-US" sz="938" dirty="0"/>
          </a:p>
        </p:txBody>
      </p:sp>
      <p:sp>
        <p:nvSpPr>
          <p:cNvPr id="26" name="Shape 24"/>
          <p:cNvSpPr/>
          <p:nvPr/>
        </p:nvSpPr>
        <p:spPr>
          <a:xfrm>
            <a:off x="1828800" y="4152900"/>
            <a:ext cx="649605" cy="171450"/>
          </a:xfrm>
          <a:prstGeom prst="rect">
            <a:avLst/>
          </a:prstGeom>
          <a:solidFill>
            <a:srgbClr val="718BA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554605" y="4171950"/>
            <a:ext cx="571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CFCB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3건</a:t>
            </a:r>
            <a:endParaRPr lang="en-US" sz="975" dirty="0"/>
          </a:p>
        </p:txBody>
      </p:sp>
      <p:sp>
        <p:nvSpPr>
          <p:cNvPr id="28" name="Text 26"/>
          <p:cNvSpPr txBox="1"/>
          <p:nvPr/>
        </p:nvSpPr>
        <p:spPr>
          <a:xfrm>
            <a:off x="838200" y="4476750"/>
            <a:ext cx="8763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FF4D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~ 25℃</a:t>
            </a:r>
            <a:endParaRPr lang="en-US" sz="938" dirty="0"/>
          </a:p>
        </p:txBody>
      </p:sp>
      <p:sp>
        <p:nvSpPr>
          <p:cNvPr id="29" name="Shape 27"/>
          <p:cNvSpPr/>
          <p:nvPr/>
        </p:nvSpPr>
        <p:spPr>
          <a:xfrm>
            <a:off x="1828800" y="4457700"/>
            <a:ext cx="216535" cy="171450"/>
          </a:xfrm>
          <a:prstGeom prst="rect">
            <a:avLst/>
          </a:prstGeom>
          <a:solidFill>
            <a:srgbClr val="FF4D6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121535" y="4476750"/>
            <a:ext cx="571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FF4D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1건</a:t>
            </a:r>
            <a:endParaRPr lang="en-US" sz="975" dirty="0"/>
          </a:p>
        </p:txBody>
      </p:sp>
      <p:sp>
        <p:nvSpPr>
          <p:cNvPr id="31" name="Text 29"/>
          <p:cNvSpPr txBox="1"/>
          <p:nvPr/>
        </p:nvSpPr>
        <p:spPr>
          <a:xfrm>
            <a:off x="838200" y="4781550"/>
            <a:ext cx="8763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~ 30℃</a:t>
            </a:r>
            <a:endParaRPr lang="en-US" sz="938" dirty="0"/>
          </a:p>
        </p:txBody>
      </p:sp>
      <p:sp>
        <p:nvSpPr>
          <p:cNvPr id="32" name="Shape 30"/>
          <p:cNvSpPr/>
          <p:nvPr/>
        </p:nvSpPr>
        <p:spPr>
          <a:xfrm>
            <a:off x="1828800" y="4762500"/>
            <a:ext cx="1299210" cy="171450"/>
          </a:xfrm>
          <a:prstGeom prst="rect">
            <a:avLst/>
          </a:prstGeom>
          <a:solidFill>
            <a:srgbClr val="718BA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204210" y="4781550"/>
            <a:ext cx="571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CFCB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6건</a:t>
            </a:r>
            <a:endParaRPr lang="en-US" sz="975" dirty="0"/>
          </a:p>
        </p:txBody>
      </p:sp>
      <p:sp>
        <p:nvSpPr>
          <p:cNvPr id="34" name="Text 32"/>
          <p:cNvSpPr txBox="1"/>
          <p:nvPr/>
        </p:nvSpPr>
        <p:spPr>
          <a:xfrm>
            <a:off x="838200" y="5086350"/>
            <a:ext cx="8763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~ 41℃</a:t>
            </a:r>
            <a:endParaRPr lang="en-US" sz="938" dirty="0"/>
          </a:p>
        </p:txBody>
      </p:sp>
      <p:sp>
        <p:nvSpPr>
          <p:cNvPr id="35" name="Shape 33"/>
          <p:cNvSpPr/>
          <p:nvPr/>
        </p:nvSpPr>
        <p:spPr>
          <a:xfrm>
            <a:off x="1828800" y="5067300"/>
            <a:ext cx="3248025" cy="171450"/>
          </a:xfrm>
          <a:prstGeom prst="rect">
            <a:avLst/>
          </a:prstGeom>
          <a:solidFill>
            <a:srgbClr val="718BA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153025" y="5086350"/>
            <a:ext cx="571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CFCB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15건</a:t>
            </a:r>
            <a:endParaRPr lang="en-US" sz="975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5562600"/>
            <a:ext cx="56769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~ 25℃ 구간은 1건</a:t>
            </a:r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입니다. 이 구간을 다른 구간과 같은 무게로 믿으면 안 됩니다.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6591300" y="2743200"/>
            <a:ext cx="4914900" cy="1905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591300" y="2876550"/>
            <a:ext cx="49149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그래서 이렇게 검증했습니다</a:t>
            </a:r>
            <a:endParaRPr lang="en-US" sz="788" dirty="0"/>
          </a:p>
        </p:txBody>
      </p:sp>
      <p:sp>
        <p:nvSpPr>
          <p:cNvPr id="40" name="Shape 38"/>
          <p:cNvSpPr/>
          <p:nvPr/>
        </p:nvSpPr>
        <p:spPr>
          <a:xfrm>
            <a:off x="6591300" y="3067050"/>
            <a:ext cx="4914900" cy="8382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743700" y="3200400"/>
            <a:ext cx="38100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en-US" sz="1950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950" dirty="0"/>
          </a:p>
        </p:txBody>
      </p:sp>
      <p:sp>
        <p:nvSpPr>
          <p:cNvPr id="42" name="Text 40"/>
          <p:cNvSpPr txBox="1"/>
          <p:nvPr/>
        </p:nvSpPr>
        <p:spPr>
          <a:xfrm>
            <a:off x="7124700" y="3200400"/>
            <a:ext cx="4229100" cy="28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건씩 가리고 맞혀보기</a:t>
            </a:r>
            <a:endParaRPr lang="en-US" sz="1575" dirty="0"/>
          </a:p>
        </p:txBody>
      </p:sp>
      <p:sp>
        <p:nvSpPr>
          <p:cNvPr id="43" name="Text 41"/>
          <p:cNvSpPr txBox="1"/>
          <p:nvPr/>
        </p:nvSpPr>
        <p:spPr>
          <a:xfrm>
            <a:off x="7124700" y="3505200"/>
            <a:ext cx="42291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하나를 가리고 나머지 35건으로 맞혀봅니다. 36번 반복하니 모의고사와 같습니다.</a:t>
            </a:r>
            <a:endParaRPr lang="en-US" sz="1125" dirty="0"/>
          </a:p>
        </p:txBody>
      </p:sp>
      <p:sp>
        <p:nvSpPr>
          <p:cNvPr id="44" name="Shape 42"/>
          <p:cNvSpPr/>
          <p:nvPr/>
        </p:nvSpPr>
        <p:spPr>
          <a:xfrm>
            <a:off x="6591300" y="4038600"/>
            <a:ext cx="4914900" cy="8382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743700" y="4171950"/>
            <a:ext cx="38100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en-US" sz="1950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950" dirty="0"/>
          </a:p>
        </p:txBody>
      </p:sp>
      <p:sp>
        <p:nvSpPr>
          <p:cNvPr id="46" name="Text 44"/>
          <p:cNvSpPr txBox="1"/>
          <p:nvPr/>
        </p:nvSpPr>
        <p:spPr>
          <a:xfrm>
            <a:off x="7124700" y="4171950"/>
            <a:ext cx="4229100" cy="28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잇는 방식을 여럿 비교</a:t>
            </a:r>
            <a:endParaRPr lang="en-US" sz="1575" dirty="0"/>
          </a:p>
        </p:txBody>
      </p:sp>
      <p:sp>
        <p:nvSpPr>
          <p:cNvPr id="47" name="Text 45"/>
          <p:cNvSpPr txBox="1"/>
          <p:nvPr/>
        </p:nvSpPr>
        <p:spPr>
          <a:xfrm>
            <a:off x="7124700" y="4476750"/>
            <a:ext cx="42291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방식만 써서 잘 나왔다고 하지 않습니다. 7가지를 같은 자리에서 채점합니다.</a:t>
            </a:r>
            <a:endParaRPr lang="en-US" sz="1125" dirty="0"/>
          </a:p>
        </p:txBody>
      </p:sp>
      <p:sp>
        <p:nvSpPr>
          <p:cNvPr id="48" name="Shape 46"/>
          <p:cNvSpPr/>
          <p:nvPr/>
        </p:nvSpPr>
        <p:spPr>
          <a:xfrm>
            <a:off x="6591300" y="5010150"/>
            <a:ext cx="4914900" cy="8382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743700" y="5143500"/>
            <a:ext cx="38100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en-US" sz="1950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950" dirty="0"/>
          </a:p>
        </p:txBody>
      </p:sp>
      <p:sp>
        <p:nvSpPr>
          <p:cNvPr id="50" name="Text 48"/>
          <p:cNvSpPr txBox="1"/>
          <p:nvPr/>
        </p:nvSpPr>
        <p:spPr>
          <a:xfrm>
            <a:off x="7124700" y="5143500"/>
            <a:ext cx="4229100" cy="28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온도대별로 골고루 나눠 뽑기</a:t>
            </a:r>
            <a:endParaRPr lang="en-US" sz="1575" dirty="0"/>
          </a:p>
        </p:txBody>
      </p:sp>
      <p:sp>
        <p:nvSpPr>
          <p:cNvPr id="51" name="Text 49"/>
          <p:cNvSpPr txBox="1"/>
          <p:nvPr/>
        </p:nvSpPr>
        <p:spPr>
          <a:xfrm>
            <a:off x="7124700" y="5448300"/>
            <a:ext cx="42291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한쪽 온도대가 통째로 빠지면 채점이 왜곡됩니다. 구간마다 섞어 나눕니다.</a:t>
            </a:r>
            <a:endParaRPr lang="en-US" sz="1125" dirty="0"/>
          </a:p>
        </p:txBody>
      </p:sp>
      <p:sp>
        <p:nvSpPr>
          <p:cNvPr id="52" name="Shape 50"/>
          <p:cNvSpPr/>
          <p:nvPr/>
        </p:nvSpPr>
        <p:spPr>
          <a:xfrm>
            <a:off x="685800" y="60579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85800" y="6267450"/>
            <a:ext cx="47625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8" b="1" spc="18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결론</a:t>
            </a:r>
            <a:endParaRPr lang="en-US" sz="788" dirty="0"/>
          </a:p>
        </p:txBody>
      </p:sp>
      <p:sp>
        <p:nvSpPr>
          <p:cNvPr id="54" name="Text 52"/>
          <p:cNvSpPr txBox="1"/>
          <p:nvPr/>
        </p:nvSpPr>
        <p:spPr>
          <a:xfrm>
            <a:off x="1219200" y="6229350"/>
            <a:ext cx="10287000" cy="22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적을 때 필요한 것은 더 좋은 수식이 아니라 </a:t>
            </a:r>
            <a:pPr algn="l" indent="0" marL="0">
              <a:lnSpc>
                <a:spcPts val="1733"/>
              </a:lnSpc>
              <a:buNone/>
            </a:pPr>
            <a:r>
              <a:rPr lang="en-US" sz="1238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엄한 채점</a:t>
            </a:r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238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9100"/>
            <a:ext cx="762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 </a:t>
            </a:r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방안 도출 및 예측/보정 모델 개발</a:t>
            </a:r>
            <a:pPr algn="l" indent="0" marL="0">
              <a:lnSpc>
                <a:spcPts val="1440"/>
              </a:lnSpc>
              <a:buNone/>
            </a:pPr>
            <a:r>
              <a:rPr lang="en-US" sz="975" spc="60" kern="0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모델 개발</a:t>
            </a:r>
            <a:endParaRPr lang="en-US" sz="1125" dirty="0"/>
          </a:p>
        </p:txBody>
      </p:sp>
      <p:sp>
        <p:nvSpPr>
          <p:cNvPr id="3" name="Shape 1"/>
          <p:cNvSpPr/>
          <p:nvPr/>
        </p:nvSpPr>
        <p:spPr>
          <a:xfrm>
            <a:off x="106680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4" name="Shape 2"/>
          <p:cNvSpPr/>
          <p:nvPr/>
        </p:nvSpPr>
        <p:spPr>
          <a:xfrm>
            <a:off x="108013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5" name="Shape 3"/>
          <p:cNvSpPr/>
          <p:nvPr/>
        </p:nvSpPr>
        <p:spPr>
          <a:xfrm>
            <a:off x="109347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6" name="Shape 4"/>
          <p:cNvSpPr/>
          <p:nvPr/>
        </p:nvSpPr>
        <p:spPr>
          <a:xfrm>
            <a:off x="11068050" y="419100"/>
            <a:ext cx="38100" cy="142875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7" name="Shape 5"/>
          <p:cNvSpPr/>
          <p:nvPr/>
        </p:nvSpPr>
        <p:spPr>
          <a:xfrm>
            <a:off x="112014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8" name="Shape 6"/>
          <p:cNvSpPr/>
          <p:nvPr/>
        </p:nvSpPr>
        <p:spPr>
          <a:xfrm>
            <a:off x="113347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9" name="Shape 7"/>
          <p:cNvSpPr/>
          <p:nvPr/>
        </p:nvSpPr>
        <p:spPr>
          <a:xfrm>
            <a:off x="114681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6858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914400"/>
            <a:ext cx="10287000" cy="888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잇는 방식 7가지를 똑같은 조건에서 겨뤄</a:t>
            </a:r>
            <a:endParaRPr lang="en-US" sz="2775" dirty="0"/>
          </a:p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잘 맞히는 하나</a:t>
            </a:r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골랐습니다</a:t>
            </a:r>
            <a:endParaRPr lang="en-US" sz="2775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000250"/>
            <a:ext cx="10287000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정답을 </a:t>
            </a:r>
            <a:pPr algn="l" indent="0" marL="0">
              <a:lnSpc>
                <a:spcPts val="2241"/>
              </a:lnSpc>
              <a:buNone/>
            </a:pPr>
            <a:r>
              <a:rPr lang="en-US" sz="1350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건씩 가리고 나머지로 맞혀보는 방식</a:t>
            </a:r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으로 40번 채점했습니다. </a:t>
            </a:r>
            <a:pPr algn="l" indent="0" marL="0">
              <a:lnSpc>
                <a:spcPts val="2241"/>
              </a:lnSpc>
              <a:buNone/>
            </a:pPr>
            <a:r>
              <a:rPr lang="en-US" sz="1350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 · RBF</a:t>
            </a:r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 평균 오차·큰 오차·설명력 세 지표 모두 1위였습니다.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2705100"/>
            <a:ext cx="6286500" cy="19050"/>
          </a:xfrm>
          <a:prstGeom prst="rect">
            <a:avLst/>
          </a:prstGeom>
          <a:solidFill>
            <a:srgbClr val="2235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838450"/>
            <a:ext cx="62865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평균 오차  ·  단위 MW  ·  낮을수록 좋음</a:t>
            </a:r>
            <a:endParaRPr lang="en-US" sz="788" dirty="0"/>
          </a:p>
        </p:txBody>
      </p:sp>
      <p:sp>
        <p:nvSpPr>
          <p:cNvPr id="15" name="Shape 13"/>
          <p:cNvSpPr/>
          <p:nvPr/>
        </p:nvSpPr>
        <p:spPr>
          <a:xfrm>
            <a:off x="685800" y="3067050"/>
            <a:ext cx="6286500" cy="100965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8200" y="3200400"/>
            <a:ext cx="1905000" cy="14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b="1" dirty="0">
                <a:solidFill>
                  <a:srgbClr val="A8BC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종전 · 하나의 값</a:t>
            </a:r>
            <a:endParaRPr lang="en-US" sz="863" dirty="0"/>
          </a:p>
        </p:txBody>
      </p:sp>
      <p:sp>
        <p:nvSpPr>
          <p:cNvPr id="17" name="Shape 15"/>
          <p:cNvSpPr/>
          <p:nvPr/>
        </p:nvSpPr>
        <p:spPr>
          <a:xfrm>
            <a:off x="838200" y="3371850"/>
            <a:ext cx="5334000" cy="142875"/>
          </a:xfrm>
          <a:prstGeom prst="rect">
            <a:avLst/>
          </a:prstGeom>
          <a:solidFill>
            <a:srgbClr val="718B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86500" y="3333750"/>
            <a:ext cx="6667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A8BC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3.90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38200" y="3619500"/>
            <a:ext cx="1866900" cy="14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개선 · GP · RBF</a:t>
            </a:r>
            <a:endParaRPr lang="en-US" sz="863" dirty="0"/>
          </a:p>
        </p:txBody>
      </p:sp>
      <p:sp>
        <p:nvSpPr>
          <p:cNvPr id="20" name="Shape 18"/>
          <p:cNvSpPr/>
          <p:nvPr/>
        </p:nvSpPr>
        <p:spPr>
          <a:xfrm>
            <a:off x="838200" y="3790950"/>
            <a:ext cx="1781652" cy="142875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734152" y="3743325"/>
            <a:ext cx="857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75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1.30</a:t>
            </a:r>
            <a:endParaRPr lang="en-US" sz="1875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210050"/>
            <a:ext cx="62865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후보 7가지 정밀 비교  ·  1.30 ~ 1.50 구간만 확대</a:t>
            </a:r>
            <a:endParaRPr lang="en-US" sz="788" dirty="0"/>
          </a:p>
        </p:txBody>
      </p:sp>
      <p:sp>
        <p:nvSpPr>
          <p:cNvPr id="23" name="Shape 21"/>
          <p:cNvSpPr/>
          <p:nvPr/>
        </p:nvSpPr>
        <p:spPr>
          <a:xfrm>
            <a:off x="2476500" y="4400550"/>
            <a:ext cx="0" cy="133350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01786" y="4400550"/>
            <a:ext cx="0" cy="133350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27071" y="4400550"/>
            <a:ext cx="0" cy="133350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52357" y="4400550"/>
            <a:ext cx="0" cy="133350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4429125"/>
            <a:ext cx="173355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 · RBF</a:t>
            </a:r>
            <a:endParaRPr lang="en-US" sz="938" dirty="0"/>
          </a:p>
        </p:txBody>
      </p:sp>
      <p:sp>
        <p:nvSpPr>
          <p:cNvPr id="28" name="Shape 26"/>
          <p:cNvSpPr/>
          <p:nvPr/>
        </p:nvSpPr>
        <p:spPr>
          <a:xfrm>
            <a:off x="2476500" y="4438650"/>
            <a:ext cx="76200" cy="123825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571206" y="4429125"/>
            <a:ext cx="571500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1.301</a:t>
            </a:r>
            <a:endParaRPr lang="en-US" sz="1013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4619625"/>
            <a:ext cx="173355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Rational Quadratic</a:t>
            </a:r>
            <a:endParaRPr lang="en-US" sz="938" dirty="0"/>
          </a:p>
        </p:txBody>
      </p:sp>
      <p:sp>
        <p:nvSpPr>
          <p:cNvPr id="31" name="Shape 29"/>
          <p:cNvSpPr/>
          <p:nvPr/>
        </p:nvSpPr>
        <p:spPr>
          <a:xfrm>
            <a:off x="2476500" y="4629150"/>
            <a:ext cx="92529" cy="123825"/>
          </a:xfrm>
          <a:prstGeom prst="rect">
            <a:avLst/>
          </a:prstGeom>
          <a:solidFill>
            <a:srgbClr val="8A662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645229" y="4619625"/>
            <a:ext cx="5715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1.305</a:t>
            </a:r>
            <a:endParaRPr lang="en-US" sz="938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4810125"/>
            <a:ext cx="173355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Matérn 5/2</a:t>
            </a:r>
            <a:endParaRPr lang="en-US" sz="938" dirty="0"/>
          </a:p>
        </p:txBody>
      </p:sp>
      <p:sp>
        <p:nvSpPr>
          <p:cNvPr id="34" name="Shape 32"/>
          <p:cNvSpPr/>
          <p:nvPr/>
        </p:nvSpPr>
        <p:spPr>
          <a:xfrm>
            <a:off x="2476500" y="4819650"/>
            <a:ext cx="185057" cy="123825"/>
          </a:xfrm>
          <a:prstGeom prst="rect">
            <a:avLst/>
          </a:prstGeom>
          <a:solidFill>
            <a:srgbClr val="8A662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737757" y="4810125"/>
            <a:ext cx="5715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1.310</a:t>
            </a:r>
            <a:endParaRPr lang="en-US" sz="938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5000625"/>
            <a:ext cx="173355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Matérn 3/2</a:t>
            </a:r>
            <a:endParaRPr lang="en-US" sz="938" dirty="0"/>
          </a:p>
        </p:txBody>
      </p:sp>
      <p:sp>
        <p:nvSpPr>
          <p:cNvPr id="37" name="Shape 35"/>
          <p:cNvSpPr/>
          <p:nvPr/>
        </p:nvSpPr>
        <p:spPr>
          <a:xfrm>
            <a:off x="2476500" y="5010150"/>
            <a:ext cx="407126" cy="123825"/>
          </a:xfrm>
          <a:prstGeom prst="rect">
            <a:avLst/>
          </a:prstGeom>
          <a:solidFill>
            <a:srgbClr val="8A662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959826" y="5000625"/>
            <a:ext cx="5715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1.322</a:t>
            </a:r>
            <a:endParaRPr lang="en-US" sz="938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5191125"/>
            <a:ext cx="173355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지수형</a:t>
            </a:r>
            <a:endParaRPr lang="en-US" sz="938" dirty="0"/>
          </a:p>
        </p:txBody>
      </p:sp>
      <p:sp>
        <p:nvSpPr>
          <p:cNvPr id="40" name="Shape 38"/>
          <p:cNvSpPr/>
          <p:nvPr/>
        </p:nvSpPr>
        <p:spPr>
          <a:xfrm>
            <a:off x="2476500" y="5200650"/>
            <a:ext cx="1202871" cy="123825"/>
          </a:xfrm>
          <a:prstGeom prst="rect">
            <a:avLst/>
          </a:prstGeom>
          <a:solidFill>
            <a:srgbClr val="55708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3755571" y="5191125"/>
            <a:ext cx="5715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1.365</a:t>
            </a:r>
            <a:endParaRPr lang="en-US" sz="938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5381625"/>
            <a:ext cx="173355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거리가중 평균</a:t>
            </a:r>
            <a:endParaRPr lang="en-US" sz="938" dirty="0"/>
          </a:p>
        </p:txBody>
      </p:sp>
      <p:sp>
        <p:nvSpPr>
          <p:cNvPr id="43" name="Shape 41"/>
          <p:cNvSpPr/>
          <p:nvPr/>
        </p:nvSpPr>
        <p:spPr>
          <a:xfrm>
            <a:off x="2476500" y="5391150"/>
            <a:ext cx="2202180" cy="123825"/>
          </a:xfrm>
          <a:prstGeom prst="rect">
            <a:avLst/>
          </a:prstGeom>
          <a:solidFill>
            <a:srgbClr val="55708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754880" y="5381625"/>
            <a:ext cx="5715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1.419</a:t>
            </a:r>
            <a:endParaRPr lang="en-US" sz="938" dirty="0"/>
          </a:p>
        </p:txBody>
      </p:sp>
      <p:sp>
        <p:nvSpPr>
          <p:cNvPr id="45" name="Text 43"/>
          <p:cNvSpPr txBox="1"/>
          <p:nvPr/>
        </p:nvSpPr>
        <p:spPr>
          <a:xfrm>
            <a:off x="685800" y="5572125"/>
            <a:ext cx="173355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온도구간 평균</a:t>
            </a:r>
            <a:endParaRPr lang="en-US" sz="938" dirty="0"/>
          </a:p>
        </p:txBody>
      </p:sp>
      <p:sp>
        <p:nvSpPr>
          <p:cNvPr id="46" name="Shape 44"/>
          <p:cNvSpPr/>
          <p:nvPr/>
        </p:nvSpPr>
        <p:spPr>
          <a:xfrm>
            <a:off x="2476500" y="5581650"/>
            <a:ext cx="3238500" cy="123825"/>
          </a:xfrm>
          <a:prstGeom prst="rect">
            <a:avLst/>
          </a:prstGeom>
          <a:solidFill>
            <a:srgbClr val="718BA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791200" y="5572125"/>
            <a:ext cx="5715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1.475</a:t>
            </a:r>
            <a:endParaRPr lang="en-US" sz="938" dirty="0"/>
          </a:p>
        </p:txBody>
      </p:sp>
      <p:sp>
        <p:nvSpPr>
          <p:cNvPr id="48" name="Text 46"/>
          <p:cNvSpPr txBox="1"/>
          <p:nvPr/>
        </p:nvSpPr>
        <p:spPr>
          <a:xfrm>
            <a:off x="2247900" y="5791200"/>
            <a:ext cx="457200" cy="117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6"/>
              </a:lnSpc>
              <a:buNone/>
            </a:pPr>
            <a:r>
              <a:rPr lang="en-US" sz="713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1.30</a:t>
            </a:r>
            <a:endParaRPr lang="en-US" sz="713" dirty="0"/>
          </a:p>
        </p:txBody>
      </p:sp>
      <p:sp>
        <p:nvSpPr>
          <p:cNvPr id="49" name="Text 47"/>
          <p:cNvSpPr txBox="1"/>
          <p:nvPr/>
        </p:nvSpPr>
        <p:spPr>
          <a:xfrm>
            <a:off x="3173186" y="5791200"/>
            <a:ext cx="457200" cy="117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6"/>
              </a:lnSpc>
              <a:buNone/>
            </a:pPr>
            <a:r>
              <a:rPr lang="en-US" sz="713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1.35</a:t>
            </a:r>
            <a:endParaRPr lang="en-US" sz="713" dirty="0"/>
          </a:p>
        </p:txBody>
      </p:sp>
      <p:sp>
        <p:nvSpPr>
          <p:cNvPr id="50" name="Text 48"/>
          <p:cNvSpPr txBox="1"/>
          <p:nvPr/>
        </p:nvSpPr>
        <p:spPr>
          <a:xfrm>
            <a:off x="4098471" y="5791200"/>
            <a:ext cx="457200" cy="117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6"/>
              </a:lnSpc>
              <a:buNone/>
            </a:pPr>
            <a:r>
              <a:rPr lang="en-US" sz="713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1.40</a:t>
            </a:r>
            <a:endParaRPr lang="en-US" sz="713" dirty="0"/>
          </a:p>
        </p:txBody>
      </p:sp>
      <p:sp>
        <p:nvSpPr>
          <p:cNvPr id="51" name="Text 49"/>
          <p:cNvSpPr txBox="1"/>
          <p:nvPr/>
        </p:nvSpPr>
        <p:spPr>
          <a:xfrm>
            <a:off x="5023757" y="5791200"/>
            <a:ext cx="457200" cy="117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6"/>
              </a:lnSpc>
              <a:buNone/>
            </a:pPr>
            <a:r>
              <a:rPr lang="en-US" sz="713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1.45</a:t>
            </a:r>
            <a:endParaRPr lang="en-US" sz="713" dirty="0"/>
          </a:p>
        </p:txBody>
      </p:sp>
      <p:sp>
        <p:nvSpPr>
          <p:cNvPr id="52" name="Shape 50"/>
          <p:cNvSpPr/>
          <p:nvPr/>
        </p:nvSpPr>
        <p:spPr>
          <a:xfrm>
            <a:off x="7353300" y="2705100"/>
            <a:ext cx="4152900" cy="1905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353300" y="2838450"/>
            <a:ext cx="41529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방식별 보정 곡선  ·  0 ~ 30℃  ·  MW</a:t>
            </a:r>
            <a:endParaRPr lang="en-US" sz="788" dirty="0"/>
          </a:p>
        </p:txBody>
      </p:sp>
      <p:sp>
        <p:nvSpPr>
          <p:cNvPr id="54" name="Shape 52"/>
          <p:cNvSpPr/>
          <p:nvPr/>
        </p:nvSpPr>
        <p:spPr>
          <a:xfrm>
            <a:off x="7353300" y="3067050"/>
            <a:ext cx="4152900" cy="20574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72400" y="3333750"/>
            <a:ext cx="354330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72400" y="4095750"/>
            <a:ext cx="35433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72400" y="4476750"/>
            <a:ext cx="354330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505700" y="3257550"/>
            <a:ext cx="247650" cy="117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26"/>
              </a:lnSpc>
              <a:buNone/>
            </a:pPr>
            <a:r>
              <a:rPr lang="en-US" sz="713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</a:t>
            </a:r>
            <a:endParaRPr lang="en-US" sz="713" dirty="0"/>
          </a:p>
        </p:txBody>
      </p:sp>
      <p:sp>
        <p:nvSpPr>
          <p:cNvPr id="59" name="Text 57"/>
          <p:cNvSpPr txBox="1"/>
          <p:nvPr/>
        </p:nvSpPr>
        <p:spPr>
          <a:xfrm>
            <a:off x="7505700" y="4019550"/>
            <a:ext cx="247650" cy="117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26"/>
              </a:lnSpc>
              <a:buNone/>
            </a:pPr>
            <a:r>
              <a:rPr lang="en-US" sz="713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713" dirty="0"/>
          </a:p>
        </p:txBody>
      </p:sp>
      <p:sp>
        <p:nvSpPr>
          <p:cNvPr id="60" name="Text 58"/>
          <p:cNvSpPr txBox="1"/>
          <p:nvPr/>
        </p:nvSpPr>
        <p:spPr>
          <a:xfrm>
            <a:off x="7505700" y="4400550"/>
            <a:ext cx="247650" cy="117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26"/>
              </a:lnSpc>
              <a:buNone/>
            </a:pPr>
            <a:r>
              <a:rPr lang="en-US" sz="713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−4</a:t>
            </a:r>
            <a:endParaRPr lang="en-US" sz="713" dirty="0"/>
          </a:p>
        </p:txBody>
      </p:sp>
      <p:sp>
        <p:nvSpPr>
          <p:cNvPr id="61" name="Text 59"/>
          <p:cNvSpPr txBox="1"/>
          <p:nvPr/>
        </p:nvSpPr>
        <p:spPr>
          <a:xfrm>
            <a:off x="7620000" y="4629150"/>
            <a:ext cx="457200" cy="117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6"/>
              </a:lnSpc>
              <a:buNone/>
            </a:pPr>
            <a:r>
              <a:rPr lang="en-US" sz="713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0℃</a:t>
            </a:r>
            <a:endParaRPr lang="en-US" sz="713" dirty="0"/>
          </a:p>
        </p:txBody>
      </p:sp>
      <p:sp>
        <p:nvSpPr>
          <p:cNvPr id="62" name="Text 60"/>
          <p:cNvSpPr txBox="1"/>
          <p:nvPr/>
        </p:nvSpPr>
        <p:spPr>
          <a:xfrm>
            <a:off x="8750300" y="4629150"/>
            <a:ext cx="457200" cy="117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6"/>
              </a:lnSpc>
              <a:buNone/>
            </a:pPr>
            <a:r>
              <a:rPr lang="en-US" sz="713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713" dirty="0"/>
          </a:p>
        </p:txBody>
      </p:sp>
      <p:sp>
        <p:nvSpPr>
          <p:cNvPr id="63" name="Text 61"/>
          <p:cNvSpPr txBox="1"/>
          <p:nvPr/>
        </p:nvSpPr>
        <p:spPr>
          <a:xfrm>
            <a:off x="9880600" y="4629150"/>
            <a:ext cx="457200" cy="117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6"/>
              </a:lnSpc>
              <a:buNone/>
            </a:pPr>
            <a:r>
              <a:rPr lang="en-US" sz="713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713" dirty="0"/>
          </a:p>
        </p:txBody>
      </p:sp>
      <p:sp>
        <p:nvSpPr>
          <p:cNvPr id="64" name="Text 62"/>
          <p:cNvSpPr txBox="1"/>
          <p:nvPr/>
        </p:nvSpPr>
        <p:spPr>
          <a:xfrm>
            <a:off x="11010900" y="4629150"/>
            <a:ext cx="457200" cy="117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6"/>
              </a:lnSpc>
              <a:buNone/>
            </a:pPr>
            <a:r>
              <a:rPr lang="en-US" sz="713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713" dirty="0"/>
          </a:p>
        </p:txBody>
      </p:sp>
      <p:sp>
        <p:nvSpPr>
          <p:cNvPr id="65" name="Shape 63"/>
          <p:cNvSpPr/>
          <p:nvPr/>
        </p:nvSpPr>
        <p:spPr>
          <a:xfrm>
            <a:off x="7848600" y="3374708"/>
            <a:ext cx="1130300" cy="236220"/>
          </a:xfrm>
          <a:prstGeom prst="line">
            <a:avLst/>
          </a:prstGeom>
          <a:noFill/>
          <a:ln w="19050">
            <a:solidFill>
              <a:srgbClr val="55708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978900" y="3610928"/>
            <a:ext cx="1130300" cy="159067"/>
          </a:xfrm>
          <a:prstGeom prst="line">
            <a:avLst/>
          </a:prstGeom>
          <a:noFill/>
          <a:ln w="19050">
            <a:solidFill>
              <a:srgbClr val="55708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109200" y="3769995"/>
            <a:ext cx="1130300" cy="555308"/>
          </a:xfrm>
          <a:prstGeom prst="line">
            <a:avLst/>
          </a:prstGeom>
          <a:noFill/>
          <a:ln w="19050">
            <a:solidFill>
              <a:srgbClr val="55708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48600" y="3381375"/>
            <a:ext cx="1130300" cy="227647"/>
          </a:xfrm>
          <a:prstGeom prst="line">
            <a:avLst/>
          </a:prstGeom>
          <a:noFill/>
          <a:ln w="19050">
            <a:solidFill>
              <a:srgbClr val="55708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978900" y="3609023"/>
            <a:ext cx="1130300" cy="172403"/>
          </a:xfrm>
          <a:prstGeom prst="line">
            <a:avLst/>
          </a:prstGeom>
          <a:noFill/>
          <a:ln w="19050">
            <a:solidFill>
              <a:srgbClr val="55708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109200" y="3781425"/>
            <a:ext cx="1130300" cy="541972"/>
          </a:xfrm>
          <a:prstGeom prst="line">
            <a:avLst/>
          </a:prstGeom>
          <a:noFill/>
          <a:ln w="19050">
            <a:solidFill>
              <a:srgbClr val="55708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848600" y="3380423"/>
            <a:ext cx="1130300" cy="251460"/>
          </a:xfrm>
          <a:prstGeom prst="line">
            <a:avLst/>
          </a:prstGeom>
          <a:noFill/>
          <a:ln w="19050">
            <a:solidFill>
              <a:srgbClr val="55708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978900" y="3631883"/>
            <a:ext cx="1130300" cy="169545"/>
          </a:xfrm>
          <a:prstGeom prst="line">
            <a:avLst/>
          </a:prstGeom>
          <a:noFill/>
          <a:ln w="19050">
            <a:solidFill>
              <a:srgbClr val="55708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109200" y="3801428"/>
            <a:ext cx="1130300" cy="495300"/>
          </a:xfrm>
          <a:prstGeom prst="line">
            <a:avLst/>
          </a:prstGeom>
          <a:noFill/>
          <a:ln w="19050">
            <a:solidFill>
              <a:srgbClr val="55708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848600" y="3371850"/>
            <a:ext cx="1130300" cy="239078"/>
          </a:xfrm>
          <a:prstGeom prst="line">
            <a:avLst/>
          </a:prstGeom>
          <a:noFill/>
          <a:ln w="19050">
            <a:solidFill>
              <a:srgbClr val="55708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978900" y="3610928"/>
            <a:ext cx="1130300" cy="156210"/>
          </a:xfrm>
          <a:prstGeom prst="line">
            <a:avLst/>
          </a:prstGeom>
          <a:noFill/>
          <a:ln w="19050">
            <a:solidFill>
              <a:srgbClr val="55708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109200" y="3767138"/>
            <a:ext cx="1130300" cy="557213"/>
          </a:xfrm>
          <a:prstGeom prst="line">
            <a:avLst/>
          </a:prstGeom>
          <a:noFill/>
          <a:ln w="19050">
            <a:solidFill>
              <a:srgbClr val="55708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848600" y="3383280"/>
            <a:ext cx="1130300" cy="220028"/>
          </a:xfrm>
          <a:prstGeom prst="line">
            <a:avLst/>
          </a:prstGeom>
          <a:noFill/>
          <a:ln w="33020">
            <a:solidFill>
              <a:srgbClr val="EFB13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978900" y="3603308"/>
            <a:ext cx="1130300" cy="165735"/>
          </a:xfrm>
          <a:prstGeom prst="line">
            <a:avLst/>
          </a:prstGeom>
          <a:noFill/>
          <a:ln w="33020">
            <a:solidFill>
              <a:srgbClr val="EFB13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109200" y="3769043"/>
            <a:ext cx="1130300" cy="544830"/>
          </a:xfrm>
          <a:prstGeom prst="line">
            <a:avLst/>
          </a:prstGeom>
          <a:noFill/>
          <a:ln w="33020">
            <a:solidFill>
              <a:srgbClr val="EFB13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109200" y="3729038"/>
            <a:ext cx="0" cy="110490"/>
          </a:xfrm>
          <a:prstGeom prst="line">
            <a:avLst/>
          </a:prstGeom>
          <a:noFill/>
          <a:ln w="20320">
            <a:solidFill>
              <a:srgbClr val="FF4D6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052050" y="3729038"/>
            <a:ext cx="114300" cy="0"/>
          </a:xfrm>
          <a:prstGeom prst="line">
            <a:avLst/>
          </a:prstGeom>
          <a:noFill/>
          <a:ln w="20320">
            <a:solidFill>
              <a:srgbClr val="FF4D6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052050" y="3839528"/>
            <a:ext cx="114300" cy="0"/>
          </a:xfrm>
          <a:prstGeom prst="line">
            <a:avLst/>
          </a:prstGeom>
          <a:noFill/>
          <a:ln w="20320">
            <a:solidFill>
              <a:srgbClr val="FF4D63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10204450" y="3708083"/>
            <a:ext cx="123825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FF4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0.36 갈림</a:t>
            </a:r>
            <a:endParaRPr lang="en-US" sz="788" dirty="0"/>
          </a:p>
        </p:txBody>
      </p:sp>
      <p:sp>
        <p:nvSpPr>
          <p:cNvPr id="84" name="Text 82"/>
          <p:cNvSpPr txBox="1"/>
          <p:nvPr/>
        </p:nvSpPr>
        <p:spPr>
          <a:xfrm>
            <a:off x="10096500" y="4438650"/>
            <a:ext cx="121920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좁은 곳 0.12</a:t>
            </a:r>
            <a:endParaRPr lang="en-US" sz="788" dirty="0"/>
          </a:p>
        </p:txBody>
      </p:sp>
      <p:sp>
        <p:nvSpPr>
          <p:cNvPr id="85" name="Text 83"/>
          <p:cNvSpPr txBox="1"/>
          <p:nvPr/>
        </p:nvSpPr>
        <p:spPr>
          <a:xfrm>
            <a:off x="7353300" y="5257800"/>
            <a:ext cx="4152900" cy="28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가운데에서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갈립니다</a:t>
            </a:r>
            <a:endParaRPr lang="en-US" sz="1575" dirty="0"/>
          </a:p>
        </p:txBody>
      </p:sp>
      <p:sp>
        <p:nvSpPr>
          <p:cNvPr id="86" name="Text 84"/>
          <p:cNvSpPr txBox="1"/>
          <p:nvPr/>
        </p:nvSpPr>
        <p:spPr>
          <a:xfrm>
            <a:off x="7353300" y="5619750"/>
            <a:ext cx="41529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좁은 곳은 0℃ 로 0.12 차이뿐이고, 20℃ 에서 0.36 까지 벌어집니다. 눈으로는 고를 수 없습니다.</a:t>
            </a:r>
            <a:endParaRPr lang="en-US" sz="1125" dirty="0"/>
          </a:p>
        </p:txBody>
      </p:sp>
      <p:sp>
        <p:nvSpPr>
          <p:cNvPr id="87" name="Shape 85"/>
          <p:cNvSpPr/>
          <p:nvPr/>
        </p:nvSpPr>
        <p:spPr>
          <a:xfrm>
            <a:off x="685800" y="60579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85800" y="6267450"/>
            <a:ext cx="47625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8" b="1" spc="18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결론</a:t>
            </a:r>
            <a:endParaRPr lang="en-US" sz="788" dirty="0"/>
          </a:p>
        </p:txBody>
      </p:sp>
      <p:sp>
        <p:nvSpPr>
          <p:cNvPr id="89" name="Text 87"/>
          <p:cNvSpPr txBox="1"/>
          <p:nvPr/>
        </p:nvSpPr>
        <p:spPr>
          <a:xfrm>
            <a:off x="1219200" y="6229350"/>
            <a:ext cx="10287000" cy="22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방식을 </a:t>
            </a:r>
            <a:pPr algn="l" indent="0" marL="0">
              <a:lnSpc>
                <a:spcPts val="1733"/>
              </a:lnSpc>
              <a:buNone/>
            </a:pPr>
            <a:r>
              <a:rPr lang="en-US" sz="1238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감으로 정하지 않았습니다</a:t>
            </a:r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같은 조건에서 채점해 1위를 데이터가 지목했습니다.</a:t>
            </a:r>
            <a:endParaRPr lang="en-US" sz="1238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9100"/>
            <a:ext cx="762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 </a:t>
            </a:r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추이 분석(모니터링 체계 구축)</a:t>
            </a:r>
            <a:pPr algn="l" indent="0" marL="0">
              <a:lnSpc>
                <a:spcPts val="1440"/>
              </a:lnSpc>
              <a:buNone/>
            </a:pPr>
            <a:r>
              <a:rPr lang="en-US" sz="975" spc="60" kern="0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모니터링</a:t>
            </a:r>
            <a:endParaRPr lang="en-US" sz="1125" dirty="0"/>
          </a:p>
        </p:txBody>
      </p:sp>
      <p:sp>
        <p:nvSpPr>
          <p:cNvPr id="3" name="Shape 1"/>
          <p:cNvSpPr/>
          <p:nvPr/>
        </p:nvSpPr>
        <p:spPr>
          <a:xfrm>
            <a:off x="106680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4" name="Shape 2"/>
          <p:cNvSpPr/>
          <p:nvPr/>
        </p:nvSpPr>
        <p:spPr>
          <a:xfrm>
            <a:off x="108013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5" name="Shape 3"/>
          <p:cNvSpPr/>
          <p:nvPr/>
        </p:nvSpPr>
        <p:spPr>
          <a:xfrm>
            <a:off x="109347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6" name="Shape 4"/>
          <p:cNvSpPr/>
          <p:nvPr/>
        </p:nvSpPr>
        <p:spPr>
          <a:xfrm>
            <a:off x="110680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7" name="Shape 5"/>
          <p:cNvSpPr/>
          <p:nvPr/>
        </p:nvSpPr>
        <p:spPr>
          <a:xfrm>
            <a:off x="11201400" y="419100"/>
            <a:ext cx="38100" cy="142875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8" name="Shape 6"/>
          <p:cNvSpPr/>
          <p:nvPr/>
        </p:nvSpPr>
        <p:spPr>
          <a:xfrm>
            <a:off x="113347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9" name="Shape 7"/>
          <p:cNvSpPr/>
          <p:nvPr/>
        </p:nvSpPr>
        <p:spPr>
          <a:xfrm>
            <a:off x="114681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6858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914400"/>
            <a:ext cx="10287000" cy="888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회차가 쌓이면,</a:t>
            </a:r>
            <a:endParaRPr lang="en-US" sz="2775" dirty="0"/>
          </a:p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다시 고릅니다</a:t>
            </a:r>
            <a:endParaRPr lang="en-US" sz="2775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000250"/>
            <a:ext cx="10287000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받은 값이 검증을 통과하면 누적에 들어가고, 누적이 늘면 </a:t>
            </a:r>
            <a:pPr algn="l" indent="0" marL="0">
              <a:lnSpc>
                <a:spcPts val="2241"/>
              </a:lnSpc>
              <a:buNone/>
            </a:pPr>
            <a:r>
              <a:rPr lang="en-US" sz="1350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채점해 방식을 다시 고릅니다</a:t>
            </a:r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사람이 손대는 지점이 없습니다.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2743200"/>
            <a:ext cx="5676900" cy="1905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876550"/>
            <a:ext cx="56769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갱신 순환</a:t>
            </a:r>
            <a:endParaRPr lang="en-US" sz="788" dirty="0"/>
          </a:p>
        </p:txBody>
      </p:sp>
      <p:sp>
        <p:nvSpPr>
          <p:cNvPr id="15" name="Shape 13"/>
          <p:cNvSpPr/>
          <p:nvPr/>
        </p:nvSpPr>
        <p:spPr>
          <a:xfrm>
            <a:off x="685800" y="3067050"/>
            <a:ext cx="5676900" cy="10287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200" y="3238500"/>
            <a:ext cx="952500" cy="285750"/>
          </a:xfrm>
          <a:prstGeom prst="rect">
            <a:avLst/>
          </a:prstGeom>
          <a:ln w="12700">
            <a:solidFill>
              <a:srgbClr val="2235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3450" y="3305175"/>
            <a:ext cx="7620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취득</a:t>
            </a: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2133600" y="3238500"/>
            <a:ext cx="1000125" cy="285750"/>
          </a:xfrm>
          <a:prstGeom prst="rect">
            <a:avLst/>
          </a:prstGeom>
          <a:ln w="12700">
            <a:solidFill>
              <a:srgbClr val="2235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228850" y="3305175"/>
            <a:ext cx="809625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가드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3476625" y="3238500"/>
            <a:ext cx="1000125" cy="285750"/>
          </a:xfrm>
          <a:prstGeom prst="rect">
            <a:avLst/>
          </a:prstGeom>
          <a:ln w="12700">
            <a:solidFill>
              <a:srgbClr val="2235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71875" y="3305175"/>
            <a:ext cx="809625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반영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4819650" y="3238500"/>
            <a:ext cx="1333500" cy="285750"/>
          </a:xfrm>
          <a:prstGeom prst="rect">
            <a:avLst/>
          </a:prstGeom>
          <a:ln w="12700">
            <a:solidFill>
              <a:srgbClr val="6B522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14900" y="3305175"/>
            <a:ext cx="11430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재학습·재선정</a:t>
            </a:r>
            <a:endParaRPr lang="en-US" sz="975" dirty="0"/>
          </a:p>
        </p:txBody>
      </p:sp>
      <p:sp>
        <p:nvSpPr>
          <p:cNvPr id="24" name="Text 22"/>
          <p:cNvSpPr txBox="1"/>
          <p:nvPr/>
        </p:nvSpPr>
        <p:spPr>
          <a:xfrm>
            <a:off x="1866900" y="3305175"/>
            <a:ext cx="190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975" dirty="0"/>
          </a:p>
        </p:txBody>
      </p:sp>
      <p:sp>
        <p:nvSpPr>
          <p:cNvPr id="25" name="Text 23"/>
          <p:cNvSpPr txBox="1"/>
          <p:nvPr/>
        </p:nvSpPr>
        <p:spPr>
          <a:xfrm>
            <a:off x="3209925" y="3305175"/>
            <a:ext cx="190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975" dirty="0"/>
          </a:p>
        </p:txBody>
      </p:sp>
      <p:sp>
        <p:nvSpPr>
          <p:cNvPr id="26" name="Text 24"/>
          <p:cNvSpPr txBox="1"/>
          <p:nvPr/>
        </p:nvSpPr>
        <p:spPr>
          <a:xfrm>
            <a:off x="4552950" y="3305175"/>
            <a:ext cx="1905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5486400" y="3600450"/>
            <a:ext cx="0" cy="209550"/>
          </a:xfrm>
          <a:prstGeom prst="line">
            <a:avLst/>
          </a:prstGeom>
          <a:noFill/>
          <a:ln w="17780">
            <a:solidFill>
              <a:srgbClr val="EFB1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14450" y="3810000"/>
            <a:ext cx="4171950" cy="0"/>
          </a:xfrm>
          <a:prstGeom prst="line">
            <a:avLst/>
          </a:prstGeom>
          <a:noFill/>
          <a:ln w="17780">
            <a:solidFill>
              <a:srgbClr val="EFB1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14450" y="3600450"/>
            <a:ext cx="0" cy="209550"/>
          </a:xfrm>
          <a:prstGeom prst="line">
            <a:avLst/>
          </a:prstGeom>
          <a:noFill/>
          <a:ln w="17780">
            <a:solidFill>
              <a:srgbClr val="EFB13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257300" y="3524250"/>
            <a:ext cx="133350" cy="94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3"/>
              </a:lnSpc>
              <a:buNone/>
            </a:pPr>
            <a:r>
              <a:rPr lang="en-US" sz="675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</a:t>
            </a:r>
            <a:endParaRPr lang="en-US" sz="675" dirty="0"/>
          </a:p>
        </p:txBody>
      </p:sp>
      <p:sp>
        <p:nvSpPr>
          <p:cNvPr id="31" name="Text 29"/>
          <p:cNvSpPr txBox="1"/>
          <p:nvPr/>
        </p:nvSpPr>
        <p:spPr>
          <a:xfrm>
            <a:off x="2857500" y="3848100"/>
            <a:ext cx="1905000" cy="14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회차가 쌓일 때마다</a:t>
            </a:r>
            <a:endParaRPr lang="en-US" sz="863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4286250"/>
            <a:ext cx="123825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1013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취득</a:t>
            </a:r>
            <a:endParaRPr lang="en-US" sz="1013" dirty="0"/>
          </a:p>
        </p:txBody>
      </p:sp>
      <p:sp>
        <p:nvSpPr>
          <p:cNvPr id="33" name="Text 31"/>
          <p:cNvSpPr txBox="1"/>
          <p:nvPr/>
        </p:nvSpPr>
        <p:spPr>
          <a:xfrm>
            <a:off x="2000250" y="4286250"/>
            <a:ext cx="436245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1013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설비에서 6가지 값을 직접 받습니다. 옮겨 적는 단계가 없습니다.</a:t>
            </a:r>
            <a:endParaRPr lang="en-US" sz="1013" dirty="0"/>
          </a:p>
        </p:txBody>
      </p:sp>
      <p:sp>
        <p:nvSpPr>
          <p:cNvPr id="34" name="Shape 32"/>
          <p:cNvSpPr/>
          <p:nvPr/>
        </p:nvSpPr>
        <p:spPr>
          <a:xfrm>
            <a:off x="685800" y="4572000"/>
            <a:ext cx="567690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4667250"/>
            <a:ext cx="123825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1013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가드</a:t>
            </a:r>
            <a:endParaRPr lang="en-US" sz="1013" dirty="0"/>
          </a:p>
        </p:txBody>
      </p:sp>
      <p:sp>
        <p:nvSpPr>
          <p:cNvPr id="36" name="Text 34"/>
          <p:cNvSpPr txBox="1"/>
          <p:nvPr/>
        </p:nvSpPr>
        <p:spPr>
          <a:xfrm>
            <a:off x="2000250" y="4667250"/>
            <a:ext cx="436245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1013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IGV 미실시·습도계 이탈이면 그 회차는 누적에 넣지 않습니다.</a:t>
            </a:r>
            <a:endParaRPr lang="en-US" sz="1013" dirty="0"/>
          </a:p>
        </p:txBody>
      </p:sp>
      <p:sp>
        <p:nvSpPr>
          <p:cNvPr id="37" name="Shape 35"/>
          <p:cNvSpPr/>
          <p:nvPr/>
        </p:nvSpPr>
        <p:spPr>
          <a:xfrm>
            <a:off x="685800" y="4953000"/>
            <a:ext cx="567690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" y="5048250"/>
            <a:ext cx="123825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1013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반영</a:t>
            </a:r>
            <a:endParaRPr lang="en-US" sz="1013" dirty="0"/>
          </a:p>
        </p:txBody>
      </p:sp>
      <p:sp>
        <p:nvSpPr>
          <p:cNvPr id="39" name="Text 37"/>
          <p:cNvSpPr txBox="1"/>
          <p:nvPr/>
        </p:nvSpPr>
        <p:spPr>
          <a:xfrm>
            <a:off x="2000250" y="5048250"/>
            <a:ext cx="436245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1013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통과한 회차만 학습 데이터가 됩니다. 이력은 그대로 남습니다.</a:t>
            </a:r>
            <a:endParaRPr lang="en-US" sz="1013" dirty="0"/>
          </a:p>
        </p:txBody>
      </p:sp>
      <p:sp>
        <p:nvSpPr>
          <p:cNvPr id="40" name="Shape 38"/>
          <p:cNvSpPr/>
          <p:nvPr/>
        </p:nvSpPr>
        <p:spPr>
          <a:xfrm>
            <a:off x="685800" y="5334000"/>
            <a:ext cx="567690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" y="5429250"/>
            <a:ext cx="123825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1013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재학습·재선정</a:t>
            </a:r>
            <a:endParaRPr lang="en-US" sz="1013" dirty="0"/>
          </a:p>
        </p:txBody>
      </p:sp>
      <p:sp>
        <p:nvSpPr>
          <p:cNvPr id="42" name="Text 40"/>
          <p:cNvSpPr txBox="1"/>
          <p:nvPr/>
        </p:nvSpPr>
        <p:spPr>
          <a:xfrm>
            <a:off x="2000250" y="5429250"/>
            <a:ext cx="436245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1013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누적이 늘면 7가지를 다시 채점해 1위를 다시 고릅니다.</a:t>
            </a:r>
            <a:endParaRPr lang="en-US" sz="1013" dirty="0"/>
          </a:p>
        </p:txBody>
      </p:sp>
      <p:sp>
        <p:nvSpPr>
          <p:cNvPr id="43" name="Shape 41"/>
          <p:cNvSpPr/>
          <p:nvPr/>
        </p:nvSpPr>
        <p:spPr>
          <a:xfrm>
            <a:off x="6591300" y="2743200"/>
            <a:ext cx="4914900" cy="19050"/>
          </a:xfrm>
          <a:prstGeom prst="rect">
            <a:avLst/>
          </a:prstGeom>
          <a:solidFill>
            <a:srgbClr val="22354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591300" y="2876550"/>
            <a:ext cx="49149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온도 구간별 데이터 현황  ·  누적 40회차</a:t>
            </a:r>
            <a:endParaRPr lang="en-US" sz="788" dirty="0"/>
          </a:p>
        </p:txBody>
      </p:sp>
      <p:sp>
        <p:nvSpPr>
          <p:cNvPr id="45" name="Shape 43"/>
          <p:cNvSpPr/>
          <p:nvPr/>
        </p:nvSpPr>
        <p:spPr>
          <a:xfrm>
            <a:off x="6591300" y="3067050"/>
            <a:ext cx="4914900" cy="226695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43700" y="3276600"/>
            <a:ext cx="95250" cy="95250"/>
          </a:xfrm>
          <a:prstGeom prst="rect">
            <a:avLst/>
          </a:prstGeom>
          <a:solidFill>
            <a:srgbClr val="FF4D63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953250" y="3248025"/>
            <a:ext cx="9144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CFCB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−14 ~ 0℃</a:t>
            </a:r>
            <a:endParaRPr lang="en-US" sz="938" dirty="0"/>
          </a:p>
        </p:txBody>
      </p:sp>
      <p:sp>
        <p:nvSpPr>
          <p:cNvPr id="48" name="Shape 46"/>
          <p:cNvSpPr/>
          <p:nvPr/>
        </p:nvSpPr>
        <p:spPr>
          <a:xfrm>
            <a:off x="8001000" y="3276600"/>
            <a:ext cx="167640" cy="95250"/>
          </a:xfrm>
          <a:prstGeom prst="rect">
            <a:avLst/>
          </a:prstGeom>
          <a:solidFill>
            <a:srgbClr val="7E2333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429750" y="3248025"/>
            <a:ext cx="47625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2건</a:t>
            </a:r>
            <a:endParaRPr lang="en-US" sz="938" dirty="0"/>
          </a:p>
        </p:txBody>
      </p:sp>
      <p:sp>
        <p:nvSpPr>
          <p:cNvPr id="50" name="Text 48"/>
          <p:cNvSpPr txBox="1"/>
          <p:nvPr/>
        </p:nvSpPr>
        <p:spPr>
          <a:xfrm>
            <a:off x="10668000" y="3248025"/>
            <a:ext cx="6858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FF4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</a:t>
            </a:r>
            <a:endParaRPr lang="en-US" sz="938" dirty="0"/>
          </a:p>
        </p:txBody>
      </p:sp>
      <p:sp>
        <p:nvSpPr>
          <p:cNvPr id="51" name="Shape 49"/>
          <p:cNvSpPr/>
          <p:nvPr/>
        </p:nvSpPr>
        <p:spPr>
          <a:xfrm>
            <a:off x="6743700" y="3581400"/>
            <a:ext cx="95250" cy="9525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953250" y="3552825"/>
            <a:ext cx="9144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CFCB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~ 10℃</a:t>
            </a:r>
            <a:endParaRPr lang="en-US" sz="938" dirty="0"/>
          </a:p>
        </p:txBody>
      </p:sp>
      <p:sp>
        <p:nvSpPr>
          <p:cNvPr id="53" name="Shape 51"/>
          <p:cNvSpPr/>
          <p:nvPr/>
        </p:nvSpPr>
        <p:spPr>
          <a:xfrm>
            <a:off x="8001000" y="3581400"/>
            <a:ext cx="586740" cy="95250"/>
          </a:xfrm>
          <a:prstGeom prst="rect">
            <a:avLst/>
          </a:prstGeom>
          <a:solidFill>
            <a:srgbClr val="8A6620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429750" y="3552825"/>
            <a:ext cx="47625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7건</a:t>
            </a:r>
            <a:endParaRPr lang="en-US" sz="938" dirty="0"/>
          </a:p>
        </p:txBody>
      </p:sp>
      <p:sp>
        <p:nvSpPr>
          <p:cNvPr id="55" name="Text 53"/>
          <p:cNvSpPr txBox="1"/>
          <p:nvPr/>
        </p:nvSpPr>
        <p:spPr>
          <a:xfrm>
            <a:off x="10668000" y="3552825"/>
            <a:ext cx="6858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</a:t>
            </a:r>
            <a:endParaRPr lang="en-US" sz="938" dirty="0"/>
          </a:p>
        </p:txBody>
      </p:sp>
      <p:sp>
        <p:nvSpPr>
          <p:cNvPr id="56" name="Shape 54"/>
          <p:cNvSpPr/>
          <p:nvPr/>
        </p:nvSpPr>
        <p:spPr>
          <a:xfrm>
            <a:off x="6743700" y="3886200"/>
            <a:ext cx="95250" cy="9525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953250" y="3857625"/>
            <a:ext cx="9144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CFCB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~ 15℃</a:t>
            </a:r>
            <a:endParaRPr lang="en-US" sz="938" dirty="0"/>
          </a:p>
        </p:txBody>
      </p:sp>
      <p:sp>
        <p:nvSpPr>
          <p:cNvPr id="58" name="Shape 56"/>
          <p:cNvSpPr/>
          <p:nvPr/>
        </p:nvSpPr>
        <p:spPr>
          <a:xfrm>
            <a:off x="8001000" y="3886200"/>
            <a:ext cx="502920" cy="95250"/>
          </a:xfrm>
          <a:prstGeom prst="rect">
            <a:avLst/>
          </a:prstGeom>
          <a:solidFill>
            <a:srgbClr val="8A6620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9429750" y="3857625"/>
            <a:ext cx="47625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6건</a:t>
            </a:r>
            <a:endParaRPr lang="en-US" sz="938" dirty="0"/>
          </a:p>
        </p:txBody>
      </p:sp>
      <p:sp>
        <p:nvSpPr>
          <p:cNvPr id="60" name="Text 58"/>
          <p:cNvSpPr txBox="1"/>
          <p:nvPr/>
        </p:nvSpPr>
        <p:spPr>
          <a:xfrm>
            <a:off x="10668000" y="3857625"/>
            <a:ext cx="6858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</a:t>
            </a:r>
            <a:endParaRPr lang="en-US" sz="938" dirty="0"/>
          </a:p>
        </p:txBody>
      </p:sp>
      <p:sp>
        <p:nvSpPr>
          <p:cNvPr id="61" name="Shape 59"/>
          <p:cNvSpPr/>
          <p:nvPr/>
        </p:nvSpPr>
        <p:spPr>
          <a:xfrm>
            <a:off x="6743700" y="4191000"/>
            <a:ext cx="95250" cy="95250"/>
          </a:xfrm>
          <a:prstGeom prst="rect">
            <a:avLst/>
          </a:prstGeom>
          <a:solidFill>
            <a:srgbClr val="A8BCD1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953250" y="4162425"/>
            <a:ext cx="9144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CFCB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~ 20℃</a:t>
            </a:r>
            <a:endParaRPr lang="en-US" sz="938" dirty="0"/>
          </a:p>
        </p:txBody>
      </p:sp>
      <p:sp>
        <p:nvSpPr>
          <p:cNvPr id="63" name="Shape 61"/>
          <p:cNvSpPr/>
          <p:nvPr/>
        </p:nvSpPr>
        <p:spPr>
          <a:xfrm>
            <a:off x="8001000" y="4191000"/>
            <a:ext cx="251460" cy="95250"/>
          </a:xfrm>
          <a:prstGeom prst="rect">
            <a:avLst/>
          </a:prstGeom>
          <a:solidFill>
            <a:srgbClr val="22354A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9429750" y="4162425"/>
            <a:ext cx="47625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3건</a:t>
            </a:r>
            <a:endParaRPr lang="en-US" sz="938" dirty="0"/>
          </a:p>
        </p:txBody>
      </p:sp>
      <p:sp>
        <p:nvSpPr>
          <p:cNvPr id="65" name="Text 63"/>
          <p:cNvSpPr txBox="1"/>
          <p:nvPr/>
        </p:nvSpPr>
        <p:spPr>
          <a:xfrm>
            <a:off x="10668000" y="4162425"/>
            <a:ext cx="6858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A8BC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</a:t>
            </a:r>
            <a:endParaRPr lang="en-US" sz="938" dirty="0"/>
          </a:p>
        </p:txBody>
      </p:sp>
      <p:sp>
        <p:nvSpPr>
          <p:cNvPr id="66" name="Shape 64"/>
          <p:cNvSpPr/>
          <p:nvPr/>
        </p:nvSpPr>
        <p:spPr>
          <a:xfrm>
            <a:off x="6743700" y="4495800"/>
            <a:ext cx="95250" cy="95250"/>
          </a:xfrm>
          <a:prstGeom prst="rect">
            <a:avLst/>
          </a:prstGeom>
          <a:solidFill>
            <a:srgbClr val="FF4D63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6953250" y="4467225"/>
            <a:ext cx="9144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CFCB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~ 25℃</a:t>
            </a:r>
            <a:endParaRPr lang="en-US" sz="938" dirty="0"/>
          </a:p>
        </p:txBody>
      </p:sp>
      <p:sp>
        <p:nvSpPr>
          <p:cNvPr id="68" name="Shape 66"/>
          <p:cNvSpPr/>
          <p:nvPr/>
        </p:nvSpPr>
        <p:spPr>
          <a:xfrm>
            <a:off x="8001000" y="4495800"/>
            <a:ext cx="83820" cy="95250"/>
          </a:xfrm>
          <a:prstGeom prst="rect">
            <a:avLst/>
          </a:prstGeom>
          <a:solidFill>
            <a:srgbClr val="7E2333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9429750" y="4467225"/>
            <a:ext cx="47625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1건</a:t>
            </a:r>
            <a:endParaRPr lang="en-US" sz="938" dirty="0"/>
          </a:p>
        </p:txBody>
      </p:sp>
      <p:sp>
        <p:nvSpPr>
          <p:cNvPr id="70" name="Text 68"/>
          <p:cNvSpPr txBox="1"/>
          <p:nvPr/>
        </p:nvSpPr>
        <p:spPr>
          <a:xfrm>
            <a:off x="10668000" y="4467225"/>
            <a:ext cx="6858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FF4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</a:t>
            </a:r>
            <a:endParaRPr lang="en-US" sz="938" dirty="0"/>
          </a:p>
        </p:txBody>
      </p:sp>
      <p:sp>
        <p:nvSpPr>
          <p:cNvPr id="71" name="Shape 69"/>
          <p:cNvSpPr/>
          <p:nvPr/>
        </p:nvSpPr>
        <p:spPr>
          <a:xfrm>
            <a:off x="6743700" y="4800600"/>
            <a:ext cx="95250" cy="9525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6953250" y="4772025"/>
            <a:ext cx="9144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CFCB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~ 30℃</a:t>
            </a:r>
            <a:endParaRPr lang="en-US" sz="938" dirty="0"/>
          </a:p>
        </p:txBody>
      </p:sp>
      <p:sp>
        <p:nvSpPr>
          <p:cNvPr id="73" name="Shape 71"/>
          <p:cNvSpPr/>
          <p:nvPr/>
        </p:nvSpPr>
        <p:spPr>
          <a:xfrm>
            <a:off x="8001000" y="4800600"/>
            <a:ext cx="502920" cy="95250"/>
          </a:xfrm>
          <a:prstGeom prst="rect">
            <a:avLst/>
          </a:prstGeom>
          <a:solidFill>
            <a:srgbClr val="8A6620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9429750" y="4772025"/>
            <a:ext cx="47625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6건</a:t>
            </a:r>
            <a:endParaRPr lang="en-US" sz="938" dirty="0"/>
          </a:p>
        </p:txBody>
      </p:sp>
      <p:sp>
        <p:nvSpPr>
          <p:cNvPr id="75" name="Text 73"/>
          <p:cNvSpPr txBox="1"/>
          <p:nvPr/>
        </p:nvSpPr>
        <p:spPr>
          <a:xfrm>
            <a:off x="10668000" y="4772025"/>
            <a:ext cx="6858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</a:t>
            </a:r>
            <a:endParaRPr lang="en-US" sz="938" dirty="0"/>
          </a:p>
        </p:txBody>
      </p:sp>
      <p:sp>
        <p:nvSpPr>
          <p:cNvPr id="76" name="Shape 74"/>
          <p:cNvSpPr/>
          <p:nvPr/>
        </p:nvSpPr>
        <p:spPr>
          <a:xfrm>
            <a:off x="6743700" y="5105400"/>
            <a:ext cx="95250" cy="9525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6953250" y="5076825"/>
            <a:ext cx="9144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CFCB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~ 41℃</a:t>
            </a:r>
            <a:endParaRPr lang="en-US" sz="938" dirty="0"/>
          </a:p>
        </p:txBody>
      </p:sp>
      <p:sp>
        <p:nvSpPr>
          <p:cNvPr id="78" name="Shape 76"/>
          <p:cNvSpPr/>
          <p:nvPr/>
        </p:nvSpPr>
        <p:spPr>
          <a:xfrm>
            <a:off x="8001000" y="5105400"/>
            <a:ext cx="1257300" cy="95250"/>
          </a:xfrm>
          <a:prstGeom prst="rect">
            <a:avLst/>
          </a:prstGeom>
          <a:solidFill>
            <a:srgbClr val="8A6620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9429750" y="5076825"/>
            <a:ext cx="47625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A9A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15건</a:t>
            </a:r>
            <a:endParaRPr lang="en-US" sz="938" dirty="0"/>
          </a:p>
        </p:txBody>
      </p:sp>
      <p:sp>
        <p:nvSpPr>
          <p:cNvPr id="80" name="Text 78"/>
          <p:cNvSpPr txBox="1"/>
          <p:nvPr/>
        </p:nvSpPr>
        <p:spPr>
          <a:xfrm>
            <a:off x="10668000" y="5076825"/>
            <a:ext cx="6858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</a:t>
            </a:r>
            <a:endParaRPr lang="en-US" sz="938" dirty="0"/>
          </a:p>
        </p:txBody>
      </p:sp>
      <p:sp>
        <p:nvSpPr>
          <p:cNvPr id="81" name="Text 79"/>
          <p:cNvSpPr txBox="1"/>
          <p:nvPr/>
        </p:nvSpPr>
        <p:spPr>
          <a:xfrm>
            <a:off x="6591300" y="5486400"/>
            <a:ext cx="49149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부족한 구간은 화면에 그대로 뜹니다</a:t>
            </a:r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 구간의 값은 아직 믿지 말라는 표시입니다.</a:t>
            </a:r>
            <a:endParaRPr lang="en-US" sz="1125" dirty="0"/>
          </a:p>
        </p:txBody>
      </p:sp>
      <p:sp>
        <p:nvSpPr>
          <p:cNvPr id="82" name="Shape 80"/>
          <p:cNvSpPr/>
          <p:nvPr/>
        </p:nvSpPr>
        <p:spPr>
          <a:xfrm>
            <a:off x="685800" y="60579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685800" y="6267450"/>
            <a:ext cx="47625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8" b="1" spc="18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결론</a:t>
            </a:r>
            <a:endParaRPr lang="en-US" sz="788" dirty="0"/>
          </a:p>
        </p:txBody>
      </p:sp>
      <p:sp>
        <p:nvSpPr>
          <p:cNvPr id="84" name="Text 82"/>
          <p:cNvSpPr txBox="1"/>
          <p:nvPr/>
        </p:nvSpPr>
        <p:spPr>
          <a:xfrm>
            <a:off x="1219200" y="6229350"/>
            <a:ext cx="10287000" cy="22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만들고 끝나는 모델이 아닙니다 — </a:t>
            </a:r>
            <a:pPr algn="l" indent="0" marL="0">
              <a:lnSpc>
                <a:spcPts val="1733"/>
              </a:lnSpc>
              <a:buNone/>
            </a:pPr>
            <a:r>
              <a:rPr lang="en-US" sz="1238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회차가 쌓일수록 좋아집니다</a:t>
            </a:r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38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9100"/>
            <a:ext cx="762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 </a:t>
            </a:r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추이 분석(모니터링 체계 구축)</a:t>
            </a:r>
            <a:pPr algn="l" indent="0" marL="0">
              <a:lnSpc>
                <a:spcPts val="1440"/>
              </a:lnSpc>
              <a:buNone/>
            </a:pPr>
            <a:r>
              <a:rPr lang="en-US" sz="975" spc="60" kern="0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시운전</a:t>
            </a:r>
            <a:endParaRPr lang="en-US" sz="1125" dirty="0"/>
          </a:p>
        </p:txBody>
      </p:sp>
      <p:sp>
        <p:nvSpPr>
          <p:cNvPr id="3" name="Shape 1"/>
          <p:cNvSpPr/>
          <p:nvPr/>
        </p:nvSpPr>
        <p:spPr>
          <a:xfrm>
            <a:off x="106680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4" name="Shape 2"/>
          <p:cNvSpPr/>
          <p:nvPr/>
        </p:nvSpPr>
        <p:spPr>
          <a:xfrm>
            <a:off x="108013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5" name="Shape 3"/>
          <p:cNvSpPr/>
          <p:nvPr/>
        </p:nvSpPr>
        <p:spPr>
          <a:xfrm>
            <a:off x="109347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6" name="Shape 4"/>
          <p:cNvSpPr/>
          <p:nvPr/>
        </p:nvSpPr>
        <p:spPr>
          <a:xfrm>
            <a:off x="110680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7" name="Shape 5"/>
          <p:cNvSpPr/>
          <p:nvPr/>
        </p:nvSpPr>
        <p:spPr>
          <a:xfrm>
            <a:off x="11201400" y="419100"/>
            <a:ext cx="38100" cy="142875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8" name="Shape 6"/>
          <p:cNvSpPr/>
          <p:nvPr/>
        </p:nvSpPr>
        <p:spPr>
          <a:xfrm>
            <a:off x="113347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9" name="Shape 7"/>
          <p:cNvSpPr/>
          <p:nvPr/>
        </p:nvSpPr>
        <p:spPr>
          <a:xfrm>
            <a:off x="114681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6858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914400"/>
            <a:ext cx="10287000" cy="888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시운전에서 함정 3개를 만나,</a:t>
            </a:r>
            <a:endParaRPr lang="en-US" sz="2775" dirty="0"/>
          </a:p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</a:t>
            </a:r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코드로 못박았습니다</a:t>
            </a:r>
            <a:endParaRPr lang="en-US" sz="2775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000250"/>
            <a:ext cx="10287000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숫자가 자동으로 들어온다는 것은 </a:t>
            </a:r>
            <a:pPr algn="l" indent="0" marL="0">
              <a:lnSpc>
                <a:spcPts val="2241"/>
              </a:lnSpc>
              <a:buNone/>
            </a:pPr>
            <a:r>
              <a:rPr lang="en-US" sz="1350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숫자도 자동으로 들어온다</a:t>
            </a:r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는 뜻입니다. 만난 함정을 사람의 주의가 아니라 코드로 막았습니다.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2743200"/>
            <a:ext cx="3467100" cy="19050"/>
          </a:xfrm>
          <a:prstGeom prst="rect">
            <a:avLst/>
          </a:prstGeom>
          <a:solidFill>
            <a:srgbClr val="7E23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876550"/>
            <a:ext cx="34671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FF4D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함정 1</a:t>
            </a:r>
            <a:endParaRPr lang="en-US" sz="788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086100"/>
            <a:ext cx="3467100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IGV 미실시 회차가</a:t>
            </a:r>
            <a:endParaRPr lang="en-US" sz="1575" dirty="0"/>
          </a:p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섞여 들어왔다</a:t>
            </a:r>
            <a:endParaRPr lang="en-US" sz="1575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733800"/>
            <a:ext cx="34671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3회차가 4~6 MW 낮게 나왔습니다. 그대로 두면 미달로 잘못 판단됩니다.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685800" y="4476750"/>
            <a:ext cx="3467100" cy="59055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8200" y="4591050"/>
            <a:ext cx="46853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en-US" sz="1950" b="1" dirty="0">
                <a:solidFill>
                  <a:srgbClr val="FF4D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6.0</a:t>
            </a:r>
            <a:endParaRPr lang="en-US" sz="1950" dirty="0"/>
          </a:p>
        </p:txBody>
      </p:sp>
      <p:sp>
        <p:nvSpPr>
          <p:cNvPr id="19" name="Text 17"/>
          <p:cNvSpPr txBox="1"/>
          <p:nvPr/>
        </p:nvSpPr>
        <p:spPr>
          <a:xfrm>
            <a:off x="1363885" y="4714875"/>
            <a:ext cx="40005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MW</a:t>
            </a:r>
            <a:endParaRPr lang="en-US" sz="975" dirty="0"/>
          </a:p>
        </p:txBody>
      </p:sp>
      <p:sp>
        <p:nvSpPr>
          <p:cNvPr id="20" name="Text 18"/>
          <p:cNvSpPr txBox="1"/>
          <p:nvPr/>
        </p:nvSpPr>
        <p:spPr>
          <a:xfrm>
            <a:off x="2114550" y="4667250"/>
            <a:ext cx="1905000" cy="14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가장 크게 벌어진 폭</a:t>
            </a:r>
            <a:endParaRPr lang="en-US" sz="863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219700"/>
            <a:ext cx="34671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심어 둔 가드</a:t>
            </a:r>
            <a:endParaRPr lang="en-US" sz="788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410200"/>
            <a:ext cx="34671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IGV 미실시로 기록된 회차는 </a:t>
            </a:r>
            <a:pPr algn="l" indent="0" marL="0">
              <a:lnSpc>
                <a:spcPts val="1890"/>
              </a:lnSpc>
              <a:buNone/>
            </a:pPr>
            <a:r>
              <a:rPr lang="en-US" sz="112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반영을 차단</a:t>
            </a:r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합니다. 값은 남기고 학습에서만 뺍니다.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4362450" y="2743200"/>
            <a:ext cx="3467100" cy="19050"/>
          </a:xfrm>
          <a:prstGeom prst="rect">
            <a:avLst/>
          </a:prstGeom>
          <a:solidFill>
            <a:srgbClr val="7E233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362450" y="2876550"/>
            <a:ext cx="34671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FF4D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함정 2</a:t>
            </a:r>
            <a:endParaRPr lang="en-US" sz="788" dirty="0"/>
          </a:p>
        </p:txBody>
      </p:sp>
      <p:sp>
        <p:nvSpPr>
          <p:cNvPr id="25" name="Text 23"/>
          <p:cNvSpPr txBox="1"/>
          <p:nvPr/>
        </p:nvSpPr>
        <p:spPr>
          <a:xfrm>
            <a:off x="4362450" y="3086100"/>
            <a:ext cx="3467100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습도계 값이</a:t>
            </a:r>
            <a:endParaRPr lang="en-US" sz="1575" dirty="0"/>
          </a:p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서서히 어긋났다</a:t>
            </a:r>
            <a:endParaRPr lang="en-US" sz="1575" dirty="0"/>
          </a:p>
        </p:txBody>
      </p:sp>
      <p:sp>
        <p:nvSpPr>
          <p:cNvPr id="26" name="Text 24"/>
          <p:cNvSpPr txBox="1"/>
          <p:nvPr/>
        </p:nvSpPr>
        <p:spPr>
          <a:xfrm>
            <a:off x="4362450" y="3733800"/>
            <a:ext cx="34671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취득값 19.6% 인데 실제는 68.5% 였습니다. 계기 한 대만 믿으면 못 잡습니다.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4362450" y="4476750"/>
            <a:ext cx="3467100" cy="59055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14850" y="4591050"/>
            <a:ext cx="61836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en-US" sz="1950" b="1" dirty="0">
                <a:solidFill>
                  <a:srgbClr val="FF4D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4.57</a:t>
            </a:r>
            <a:endParaRPr lang="en-US" sz="1950" dirty="0"/>
          </a:p>
        </p:txBody>
      </p:sp>
      <p:sp>
        <p:nvSpPr>
          <p:cNvPr id="29" name="Text 27"/>
          <p:cNvSpPr txBox="1"/>
          <p:nvPr/>
        </p:nvSpPr>
        <p:spPr>
          <a:xfrm>
            <a:off x="5190363" y="4714875"/>
            <a:ext cx="40005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MW</a:t>
            </a:r>
            <a:endParaRPr lang="en-US" sz="975" dirty="0"/>
          </a:p>
        </p:txBody>
      </p:sp>
      <p:sp>
        <p:nvSpPr>
          <p:cNvPr id="30" name="Text 28"/>
          <p:cNvSpPr txBox="1"/>
          <p:nvPr/>
        </p:nvSpPr>
        <p:spPr>
          <a:xfrm>
            <a:off x="5791200" y="4667250"/>
            <a:ext cx="1905000" cy="14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한 건의 오차 폭</a:t>
            </a:r>
            <a:endParaRPr lang="en-US" sz="863" dirty="0"/>
          </a:p>
        </p:txBody>
      </p:sp>
      <p:sp>
        <p:nvSpPr>
          <p:cNvPr id="31" name="Text 29"/>
          <p:cNvSpPr txBox="1"/>
          <p:nvPr/>
        </p:nvSpPr>
        <p:spPr>
          <a:xfrm>
            <a:off x="4362450" y="5219700"/>
            <a:ext cx="34671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심어 둔 가드</a:t>
            </a:r>
            <a:endParaRPr lang="en-US" sz="788" dirty="0"/>
          </a:p>
        </p:txBody>
      </p:sp>
      <p:sp>
        <p:nvSpPr>
          <p:cNvPr id="32" name="Text 30"/>
          <p:cNvSpPr txBox="1"/>
          <p:nvPr/>
        </p:nvSpPr>
        <p:spPr>
          <a:xfrm>
            <a:off x="4362450" y="5410200"/>
            <a:ext cx="34671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습도계 </a:t>
            </a:r>
            <a:pPr algn="l" indent="0" marL="0">
              <a:lnSpc>
                <a:spcPts val="1890"/>
              </a:lnSpc>
              <a:buNone/>
            </a:pPr>
            <a:r>
              <a:rPr lang="en-US" sz="112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2대를 교차 확인</a:t>
            </a:r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해 벌어지면 그 회차는 반영 보류하고 화면에 띄웁니다.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8039100" y="2743200"/>
            <a:ext cx="3467100" cy="19050"/>
          </a:xfrm>
          <a:prstGeom prst="rect">
            <a:avLst/>
          </a:prstGeom>
          <a:solidFill>
            <a:srgbClr val="7E233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039100" y="2876550"/>
            <a:ext cx="34671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FF4D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함정 3</a:t>
            </a:r>
            <a:endParaRPr lang="en-US" sz="788" dirty="0"/>
          </a:p>
        </p:txBody>
      </p:sp>
      <p:sp>
        <p:nvSpPr>
          <p:cNvPr id="35" name="Text 33"/>
          <p:cNvSpPr txBox="1"/>
          <p:nvPr/>
        </p:nvSpPr>
        <p:spPr>
          <a:xfrm>
            <a:off x="8039100" y="3086100"/>
            <a:ext cx="3467100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대기압 평균 기간이</a:t>
            </a:r>
            <a:endParaRPr lang="en-US" sz="1575" dirty="0"/>
          </a:p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서식과 달랐다</a:t>
            </a:r>
            <a:endParaRPr lang="en-US" sz="1575" dirty="0"/>
          </a:p>
        </p:txBody>
      </p:sp>
      <p:sp>
        <p:nvSpPr>
          <p:cNvPr id="36" name="Text 34"/>
          <p:cNvSpPr txBox="1"/>
          <p:nvPr/>
        </p:nvSpPr>
        <p:spPr>
          <a:xfrm>
            <a:off x="8039100" y="3733800"/>
            <a:ext cx="34671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7일 평균, 신고 서식은 5일 평균이었습니다. 조용히 어긋나는 종류입니다.</a:t>
            </a:r>
            <a:endParaRPr lang="en-US" sz="1125" dirty="0"/>
          </a:p>
        </p:txBody>
      </p:sp>
      <p:sp>
        <p:nvSpPr>
          <p:cNvPr id="37" name="Shape 35"/>
          <p:cNvSpPr/>
          <p:nvPr/>
        </p:nvSpPr>
        <p:spPr>
          <a:xfrm>
            <a:off x="8039100" y="4476750"/>
            <a:ext cx="3467100" cy="59055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191500" y="4591050"/>
            <a:ext cx="46853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en-US" sz="1950" b="1" dirty="0">
                <a:solidFill>
                  <a:srgbClr val="FF4D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endParaRPr lang="en-US" sz="1950" dirty="0"/>
          </a:p>
        </p:txBody>
      </p:sp>
      <p:sp>
        <p:nvSpPr>
          <p:cNvPr id="39" name="Text 37"/>
          <p:cNvSpPr txBox="1"/>
          <p:nvPr/>
        </p:nvSpPr>
        <p:spPr>
          <a:xfrm>
            <a:off x="8717185" y="4714875"/>
            <a:ext cx="40005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MW</a:t>
            </a:r>
            <a:endParaRPr lang="en-US" sz="975" dirty="0"/>
          </a:p>
        </p:txBody>
      </p:sp>
      <p:sp>
        <p:nvSpPr>
          <p:cNvPr id="40" name="Text 38"/>
          <p:cNvSpPr txBox="1"/>
          <p:nvPr/>
        </p:nvSpPr>
        <p:spPr>
          <a:xfrm>
            <a:off x="9467850" y="4667250"/>
            <a:ext cx="1905000" cy="14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어긋난 폭 (작지만 상시)</a:t>
            </a:r>
            <a:endParaRPr lang="en-US" sz="863" dirty="0"/>
          </a:p>
        </p:txBody>
      </p:sp>
      <p:sp>
        <p:nvSpPr>
          <p:cNvPr id="41" name="Text 39"/>
          <p:cNvSpPr txBox="1"/>
          <p:nvPr/>
        </p:nvSpPr>
        <p:spPr>
          <a:xfrm>
            <a:off x="8039100" y="5219700"/>
            <a:ext cx="34671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심어 둔 가드</a:t>
            </a:r>
            <a:endParaRPr lang="en-US" sz="788" dirty="0"/>
          </a:p>
        </p:txBody>
      </p:sp>
      <p:sp>
        <p:nvSpPr>
          <p:cNvPr id="42" name="Text 40"/>
          <p:cNvSpPr txBox="1"/>
          <p:nvPr/>
        </p:nvSpPr>
        <p:spPr>
          <a:xfrm>
            <a:off x="8039100" y="5410200"/>
            <a:ext cx="34671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서식 수식을 그대로 읽어 대조하는 </a:t>
            </a:r>
            <a:pPr algn="l" indent="0" marL="0">
              <a:lnSpc>
                <a:spcPts val="1890"/>
              </a:lnSpc>
              <a:buNone/>
            </a:pPr>
            <a:r>
              <a:rPr lang="en-US" sz="112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시험</a:t>
            </a:r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을 걸어 두었습니다. 다시 어긋나면 실패합니다.</a:t>
            </a:r>
            <a:endParaRPr lang="en-US" sz="1125" dirty="0"/>
          </a:p>
        </p:txBody>
      </p:sp>
      <p:sp>
        <p:nvSpPr>
          <p:cNvPr id="43" name="Shape 41"/>
          <p:cNvSpPr/>
          <p:nvPr/>
        </p:nvSpPr>
        <p:spPr>
          <a:xfrm>
            <a:off x="685800" y="60579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5800" y="6267450"/>
            <a:ext cx="47625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8" b="1" spc="18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결론</a:t>
            </a:r>
            <a:endParaRPr lang="en-US" sz="788" dirty="0"/>
          </a:p>
        </p:txBody>
      </p:sp>
      <p:sp>
        <p:nvSpPr>
          <p:cNvPr id="45" name="Text 43"/>
          <p:cNvSpPr txBox="1"/>
          <p:nvPr/>
        </p:nvSpPr>
        <p:spPr>
          <a:xfrm>
            <a:off x="1219200" y="6229350"/>
            <a:ext cx="10287000" cy="22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믿는 것이 아니라, </a:t>
            </a:r>
            <a:pPr algn="l" indent="0" marL="0">
              <a:lnSpc>
                <a:spcPts val="1733"/>
              </a:lnSpc>
              <a:buNone/>
            </a:pPr>
            <a:r>
              <a:rPr lang="en-US" sz="1238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의심하는 절차</a:t>
            </a:r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코드에 심었습니다.</a:t>
            </a:r>
            <a:endParaRPr lang="en-US" sz="1238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9100"/>
            <a:ext cx="762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 </a:t>
            </a:r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효과(정량적/정성적)</a:t>
            </a:r>
            <a:pPr algn="l" indent="0" marL="0">
              <a:lnSpc>
                <a:spcPts val="1440"/>
              </a:lnSpc>
              <a:buNone/>
            </a:pPr>
            <a:r>
              <a:rPr lang="en-US" sz="975" spc="60" kern="0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정량 효과</a:t>
            </a:r>
            <a:endParaRPr lang="en-US" sz="1125" dirty="0"/>
          </a:p>
        </p:txBody>
      </p:sp>
      <p:sp>
        <p:nvSpPr>
          <p:cNvPr id="3" name="Shape 1"/>
          <p:cNvSpPr/>
          <p:nvPr/>
        </p:nvSpPr>
        <p:spPr>
          <a:xfrm>
            <a:off x="106680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4" name="Shape 2"/>
          <p:cNvSpPr/>
          <p:nvPr/>
        </p:nvSpPr>
        <p:spPr>
          <a:xfrm>
            <a:off x="108013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5" name="Shape 3"/>
          <p:cNvSpPr/>
          <p:nvPr/>
        </p:nvSpPr>
        <p:spPr>
          <a:xfrm>
            <a:off x="109347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6" name="Shape 4"/>
          <p:cNvSpPr/>
          <p:nvPr/>
        </p:nvSpPr>
        <p:spPr>
          <a:xfrm>
            <a:off x="110680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7" name="Shape 5"/>
          <p:cNvSpPr/>
          <p:nvPr/>
        </p:nvSpPr>
        <p:spPr>
          <a:xfrm>
            <a:off x="112014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8" name="Shape 6"/>
          <p:cNvSpPr/>
          <p:nvPr/>
        </p:nvSpPr>
        <p:spPr>
          <a:xfrm>
            <a:off x="11334750" y="419100"/>
            <a:ext cx="38100" cy="142875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9" name="Shape 7"/>
          <p:cNvSpPr/>
          <p:nvPr/>
        </p:nvSpPr>
        <p:spPr>
          <a:xfrm>
            <a:off x="114681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6858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914400"/>
            <a:ext cx="10287000" cy="888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지표만 좋아진 게 아닙니다 —</a:t>
            </a:r>
            <a:endParaRPr lang="en-US" sz="2775" dirty="0"/>
          </a:p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지표가 동시에</a:t>
            </a:r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좋아졌습니다</a:t>
            </a:r>
            <a:endParaRPr lang="en-US" sz="2775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000250"/>
            <a:ext cx="10287000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40회차를 </a:t>
            </a:r>
            <a:pPr algn="l" indent="0" marL="0">
              <a:lnSpc>
                <a:spcPts val="2241"/>
              </a:lnSpc>
              <a:buNone/>
            </a:pPr>
            <a:r>
              <a:rPr lang="en-US" sz="1350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방식으로 채점</a:t>
            </a:r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해 종전과 나란히 놓았습니다. 그리고 시운전 9회차에서 다시 확인했습니다.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2743200"/>
            <a:ext cx="6667500" cy="1905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876550"/>
            <a:ext cx="66675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종전 대비  ·  누적 40회차를 한 건씩 가려 채점</a:t>
            </a:r>
            <a:endParaRPr lang="en-US" sz="788" dirty="0"/>
          </a:p>
        </p:txBody>
      </p:sp>
      <p:sp>
        <p:nvSpPr>
          <p:cNvPr id="15" name="Shape 13"/>
          <p:cNvSpPr/>
          <p:nvPr/>
        </p:nvSpPr>
        <p:spPr>
          <a:xfrm>
            <a:off x="685800" y="3067050"/>
            <a:ext cx="6667500" cy="22860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8200" y="3219450"/>
            <a:ext cx="19050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지표</a:t>
            </a:r>
            <a:endParaRPr lang="en-US" sz="788" dirty="0"/>
          </a:p>
        </p:txBody>
      </p:sp>
      <p:sp>
        <p:nvSpPr>
          <p:cNvPr id="17" name="Text 15"/>
          <p:cNvSpPr txBox="1"/>
          <p:nvPr/>
        </p:nvSpPr>
        <p:spPr>
          <a:xfrm>
            <a:off x="2857500" y="3219450"/>
            <a:ext cx="104775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종전</a:t>
            </a:r>
            <a:endParaRPr lang="en-US" sz="788" dirty="0"/>
          </a:p>
        </p:txBody>
      </p:sp>
      <p:sp>
        <p:nvSpPr>
          <p:cNvPr id="18" name="Text 16"/>
          <p:cNvSpPr txBox="1"/>
          <p:nvPr/>
        </p:nvSpPr>
        <p:spPr>
          <a:xfrm>
            <a:off x="4191000" y="3219450"/>
            <a:ext cx="104775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개선</a:t>
            </a:r>
            <a:endParaRPr lang="en-US" sz="788" dirty="0"/>
          </a:p>
        </p:txBody>
      </p:sp>
      <p:sp>
        <p:nvSpPr>
          <p:cNvPr id="19" name="Text 17"/>
          <p:cNvSpPr txBox="1"/>
          <p:nvPr/>
        </p:nvSpPr>
        <p:spPr>
          <a:xfrm>
            <a:off x="5619750" y="3219450"/>
            <a:ext cx="142875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나아진 폭</a:t>
            </a:r>
            <a:endParaRPr lang="en-US" sz="788" dirty="0"/>
          </a:p>
        </p:txBody>
      </p:sp>
      <p:sp>
        <p:nvSpPr>
          <p:cNvPr id="20" name="Shape 18"/>
          <p:cNvSpPr/>
          <p:nvPr/>
        </p:nvSpPr>
        <p:spPr>
          <a:xfrm>
            <a:off x="838200" y="3409950"/>
            <a:ext cx="63627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8200" y="3543300"/>
            <a:ext cx="190500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오차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857500" y="3543300"/>
            <a:ext cx="10477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A8BC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3.90</a:t>
            </a:r>
            <a:endParaRPr lang="en-US" sz="1125" dirty="0"/>
          </a:p>
        </p:txBody>
      </p:sp>
      <p:sp>
        <p:nvSpPr>
          <p:cNvPr id="23" name="Text 21"/>
          <p:cNvSpPr txBox="1"/>
          <p:nvPr/>
        </p:nvSpPr>
        <p:spPr>
          <a:xfrm>
            <a:off x="3981450" y="3543300"/>
            <a:ext cx="1905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191000" y="3533775"/>
            <a:ext cx="1047750" cy="202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1.30</a:t>
            </a:r>
            <a:endParaRPr lang="en-US" sz="1275" dirty="0"/>
          </a:p>
        </p:txBody>
      </p:sp>
      <p:sp>
        <p:nvSpPr>
          <p:cNvPr id="25" name="Text 23"/>
          <p:cNvSpPr txBox="1"/>
          <p:nvPr/>
        </p:nvSpPr>
        <p:spPr>
          <a:xfrm>
            <a:off x="5619750" y="3543300"/>
            <a:ext cx="142875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7"/>
              </a:lnSpc>
              <a:buNone/>
            </a:pPr>
            <a:r>
              <a:rPr lang="en-US" sz="1013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67% ↓</a:t>
            </a:r>
            <a:endParaRPr lang="en-US" sz="1013" dirty="0"/>
          </a:p>
        </p:txBody>
      </p:sp>
      <p:sp>
        <p:nvSpPr>
          <p:cNvPr id="26" name="Shape 24"/>
          <p:cNvSpPr/>
          <p:nvPr/>
        </p:nvSpPr>
        <p:spPr>
          <a:xfrm>
            <a:off x="838200" y="3829050"/>
            <a:ext cx="636270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8200" y="3905250"/>
            <a:ext cx="190500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오차 가중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857500" y="3905250"/>
            <a:ext cx="10477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A8BC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4.50</a:t>
            </a:r>
            <a:endParaRPr lang="en-US" sz="1125" dirty="0"/>
          </a:p>
        </p:txBody>
      </p:sp>
      <p:sp>
        <p:nvSpPr>
          <p:cNvPr id="29" name="Text 27"/>
          <p:cNvSpPr txBox="1"/>
          <p:nvPr/>
        </p:nvSpPr>
        <p:spPr>
          <a:xfrm>
            <a:off x="3981450" y="3905250"/>
            <a:ext cx="1905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191000" y="3895725"/>
            <a:ext cx="1047750" cy="202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1.68</a:t>
            </a:r>
            <a:endParaRPr lang="en-US" sz="1275" dirty="0"/>
          </a:p>
        </p:txBody>
      </p:sp>
      <p:sp>
        <p:nvSpPr>
          <p:cNvPr id="31" name="Text 29"/>
          <p:cNvSpPr txBox="1"/>
          <p:nvPr/>
        </p:nvSpPr>
        <p:spPr>
          <a:xfrm>
            <a:off x="5619750" y="3905250"/>
            <a:ext cx="142875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7"/>
              </a:lnSpc>
              <a:buNone/>
            </a:pPr>
            <a:r>
              <a:rPr lang="en-US" sz="1013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63% ↓</a:t>
            </a:r>
            <a:endParaRPr lang="en-US" sz="1013" dirty="0"/>
          </a:p>
        </p:txBody>
      </p:sp>
      <p:sp>
        <p:nvSpPr>
          <p:cNvPr id="32" name="Shape 30"/>
          <p:cNvSpPr/>
          <p:nvPr/>
        </p:nvSpPr>
        <p:spPr>
          <a:xfrm>
            <a:off x="838200" y="4191000"/>
            <a:ext cx="636270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8200" y="4267200"/>
            <a:ext cx="190500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설명력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2857500" y="4267200"/>
            <a:ext cx="10477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A8BC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25" dirty="0"/>
          </a:p>
        </p:txBody>
      </p:sp>
      <p:sp>
        <p:nvSpPr>
          <p:cNvPr id="35" name="Text 33"/>
          <p:cNvSpPr txBox="1"/>
          <p:nvPr/>
        </p:nvSpPr>
        <p:spPr>
          <a:xfrm>
            <a:off x="3981450" y="4267200"/>
            <a:ext cx="1905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4191000" y="4257675"/>
            <a:ext cx="1047750" cy="202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+0.85</a:t>
            </a:r>
            <a:endParaRPr lang="en-US" sz="1275" dirty="0"/>
          </a:p>
        </p:txBody>
      </p:sp>
      <p:sp>
        <p:nvSpPr>
          <p:cNvPr id="37" name="Text 35"/>
          <p:cNvSpPr txBox="1"/>
          <p:nvPr/>
        </p:nvSpPr>
        <p:spPr>
          <a:xfrm>
            <a:off x="5619750" y="4267200"/>
            <a:ext cx="142875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7"/>
              </a:lnSpc>
              <a:buNone/>
            </a:pPr>
            <a:r>
              <a:rPr lang="en-US" sz="1013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1에 가까울수록 좋음</a:t>
            </a:r>
            <a:endParaRPr lang="en-US" sz="1013" dirty="0"/>
          </a:p>
        </p:txBody>
      </p:sp>
      <p:sp>
        <p:nvSpPr>
          <p:cNvPr id="38" name="Shape 36"/>
          <p:cNvSpPr/>
          <p:nvPr/>
        </p:nvSpPr>
        <p:spPr>
          <a:xfrm>
            <a:off x="838200" y="4552950"/>
            <a:ext cx="636270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8200" y="4629150"/>
            <a:ext cx="190500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미달 회차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2857500" y="4629150"/>
            <a:ext cx="10477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A8BC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125" dirty="0"/>
          </a:p>
        </p:txBody>
      </p:sp>
      <p:sp>
        <p:nvSpPr>
          <p:cNvPr id="41" name="Text 39"/>
          <p:cNvSpPr txBox="1"/>
          <p:nvPr/>
        </p:nvSpPr>
        <p:spPr>
          <a:xfrm>
            <a:off x="3981450" y="4629150"/>
            <a:ext cx="1905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4191000" y="4619625"/>
            <a:ext cx="1047750" cy="202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75" dirty="0"/>
          </a:p>
        </p:txBody>
      </p:sp>
      <p:sp>
        <p:nvSpPr>
          <p:cNvPr id="43" name="Text 41"/>
          <p:cNvSpPr txBox="1"/>
          <p:nvPr/>
        </p:nvSpPr>
        <p:spPr>
          <a:xfrm>
            <a:off x="5619750" y="4629150"/>
            <a:ext cx="142875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7"/>
              </a:lnSpc>
              <a:buNone/>
            </a:pPr>
            <a:r>
              <a:rPr lang="en-US" sz="1013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73% ↓</a:t>
            </a:r>
            <a:endParaRPr lang="en-US" sz="1013" dirty="0"/>
          </a:p>
        </p:txBody>
      </p:sp>
      <p:sp>
        <p:nvSpPr>
          <p:cNvPr id="44" name="Shape 42"/>
          <p:cNvSpPr/>
          <p:nvPr/>
        </p:nvSpPr>
        <p:spPr>
          <a:xfrm>
            <a:off x="838200" y="4914900"/>
            <a:ext cx="6362700" cy="0"/>
          </a:xfrm>
          <a:prstGeom prst="line">
            <a:avLst/>
          </a:prstGeom>
          <a:noFill/>
          <a:ln w="12700">
            <a:solidFill>
              <a:srgbClr val="18283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38200" y="4991100"/>
            <a:ext cx="190500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과대 신고 누계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2857500" y="4991100"/>
            <a:ext cx="10477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A8BC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69.5</a:t>
            </a:r>
            <a:endParaRPr lang="en-US" sz="1125" dirty="0"/>
          </a:p>
        </p:txBody>
      </p:sp>
      <p:sp>
        <p:nvSpPr>
          <p:cNvPr id="47" name="Text 45"/>
          <p:cNvSpPr txBox="1"/>
          <p:nvPr/>
        </p:nvSpPr>
        <p:spPr>
          <a:xfrm>
            <a:off x="3981450" y="4991100"/>
            <a:ext cx="1905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4191000" y="4981575"/>
            <a:ext cx="1047750" cy="202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9.3</a:t>
            </a:r>
            <a:endParaRPr lang="en-US" sz="1275" dirty="0"/>
          </a:p>
        </p:txBody>
      </p:sp>
      <p:sp>
        <p:nvSpPr>
          <p:cNvPr id="49" name="Text 47"/>
          <p:cNvSpPr txBox="1"/>
          <p:nvPr/>
        </p:nvSpPr>
        <p:spPr>
          <a:xfrm>
            <a:off x="5619750" y="4991100"/>
            <a:ext cx="142875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7"/>
              </a:lnSpc>
              <a:buNone/>
            </a:pPr>
            <a:r>
              <a:rPr lang="en-US" sz="1013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87% ↓</a:t>
            </a:r>
            <a:endParaRPr lang="en-US" sz="1013" dirty="0"/>
          </a:p>
        </p:txBody>
      </p:sp>
      <p:sp>
        <p:nvSpPr>
          <p:cNvPr id="50" name="Text 48"/>
          <p:cNvSpPr txBox="1"/>
          <p:nvPr/>
        </p:nvSpPr>
        <p:spPr>
          <a:xfrm>
            <a:off x="685800" y="5505450"/>
            <a:ext cx="66675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오차는 MW, 미달은 회차, 과대 신고는 누계 MW 입니다. 설명력은 종전 방식에 대응하는 값이 없어 </a:t>
            </a:r>
            <a:pPr algn="l" indent="0" marL="0">
              <a:lnSpc>
                <a:spcPts val="1890"/>
              </a:lnSpc>
              <a:buNone/>
            </a:pPr>
            <a:r>
              <a:rPr lang="en-US" sz="112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비워 두었습니다</a:t>
            </a:r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125" dirty="0"/>
          </a:p>
        </p:txBody>
      </p:sp>
      <p:sp>
        <p:nvSpPr>
          <p:cNvPr id="51" name="Shape 49"/>
          <p:cNvSpPr/>
          <p:nvPr/>
        </p:nvSpPr>
        <p:spPr>
          <a:xfrm>
            <a:off x="7734300" y="2743200"/>
            <a:ext cx="3771900" cy="19050"/>
          </a:xfrm>
          <a:prstGeom prst="rect">
            <a:avLst/>
          </a:prstGeom>
          <a:solidFill>
            <a:srgbClr val="22354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7734300" y="2876550"/>
            <a:ext cx="37719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시운전 실측  ·  9회차  ·  26-04-15 ~ 26-08-26</a:t>
            </a:r>
            <a:endParaRPr lang="en-US" sz="788" dirty="0"/>
          </a:p>
        </p:txBody>
      </p:sp>
      <p:sp>
        <p:nvSpPr>
          <p:cNvPr id="53" name="Shape 51"/>
          <p:cNvSpPr/>
          <p:nvPr/>
        </p:nvSpPr>
        <p:spPr>
          <a:xfrm>
            <a:off x="7734300" y="3067050"/>
            <a:ext cx="3771900" cy="14478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886700" y="3219450"/>
            <a:ext cx="17145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치우침</a:t>
            </a:r>
            <a:endParaRPr lang="en-US" sz="788" dirty="0"/>
          </a:p>
        </p:txBody>
      </p:sp>
      <p:sp>
        <p:nvSpPr>
          <p:cNvPr id="55" name="Text 53"/>
          <p:cNvSpPr txBox="1"/>
          <p:nvPr/>
        </p:nvSpPr>
        <p:spPr>
          <a:xfrm>
            <a:off x="7886700" y="3409950"/>
            <a:ext cx="82372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800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−0.04</a:t>
            </a:r>
            <a:endParaRPr lang="en-US" sz="1800" dirty="0"/>
          </a:p>
        </p:txBody>
      </p:sp>
      <p:sp>
        <p:nvSpPr>
          <p:cNvPr id="56" name="Text 54"/>
          <p:cNvSpPr txBox="1"/>
          <p:nvPr/>
        </p:nvSpPr>
        <p:spPr>
          <a:xfrm>
            <a:off x="8767572" y="3524250"/>
            <a:ext cx="40005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MW</a:t>
            </a:r>
            <a:endParaRPr lang="en-US" sz="975" dirty="0"/>
          </a:p>
        </p:txBody>
      </p:sp>
      <p:sp>
        <p:nvSpPr>
          <p:cNvPr id="57" name="Text 55"/>
          <p:cNvSpPr txBox="1"/>
          <p:nvPr/>
        </p:nvSpPr>
        <p:spPr>
          <a:xfrm>
            <a:off x="9715500" y="3219450"/>
            <a:ext cx="17145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평균 오차</a:t>
            </a:r>
            <a:endParaRPr lang="en-US" sz="788" dirty="0"/>
          </a:p>
        </p:txBody>
      </p:sp>
      <p:sp>
        <p:nvSpPr>
          <p:cNvPr id="58" name="Text 56"/>
          <p:cNvSpPr txBox="1"/>
          <p:nvPr/>
        </p:nvSpPr>
        <p:spPr>
          <a:xfrm>
            <a:off x="9715500" y="3409950"/>
            <a:ext cx="57226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800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1.23</a:t>
            </a:r>
            <a:endParaRPr lang="en-US" sz="1800" dirty="0"/>
          </a:p>
        </p:txBody>
      </p:sp>
      <p:sp>
        <p:nvSpPr>
          <p:cNvPr id="59" name="Text 57"/>
          <p:cNvSpPr txBox="1"/>
          <p:nvPr/>
        </p:nvSpPr>
        <p:spPr>
          <a:xfrm>
            <a:off x="10344912" y="3524250"/>
            <a:ext cx="40005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MW</a:t>
            </a:r>
            <a:endParaRPr lang="en-US" sz="975" dirty="0"/>
          </a:p>
        </p:txBody>
      </p:sp>
      <p:sp>
        <p:nvSpPr>
          <p:cNvPr id="60" name="Text 58"/>
          <p:cNvSpPr txBox="1"/>
          <p:nvPr/>
        </p:nvSpPr>
        <p:spPr>
          <a:xfrm>
            <a:off x="7886700" y="3886200"/>
            <a:ext cx="17145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큰 오차 가중</a:t>
            </a:r>
            <a:endParaRPr lang="en-US" sz="788" dirty="0"/>
          </a:p>
        </p:txBody>
      </p:sp>
      <p:sp>
        <p:nvSpPr>
          <p:cNvPr id="61" name="Text 59"/>
          <p:cNvSpPr txBox="1"/>
          <p:nvPr/>
        </p:nvSpPr>
        <p:spPr>
          <a:xfrm>
            <a:off x="7886700" y="4076700"/>
            <a:ext cx="57226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800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1.40</a:t>
            </a:r>
            <a:endParaRPr lang="en-US" sz="1800" dirty="0"/>
          </a:p>
        </p:txBody>
      </p:sp>
      <p:sp>
        <p:nvSpPr>
          <p:cNvPr id="62" name="Text 60"/>
          <p:cNvSpPr txBox="1"/>
          <p:nvPr/>
        </p:nvSpPr>
        <p:spPr>
          <a:xfrm>
            <a:off x="8516112" y="4191000"/>
            <a:ext cx="40005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MW</a:t>
            </a:r>
            <a:endParaRPr lang="en-US" sz="975" dirty="0"/>
          </a:p>
        </p:txBody>
      </p:sp>
      <p:sp>
        <p:nvSpPr>
          <p:cNvPr id="63" name="Text 61"/>
          <p:cNvSpPr txBox="1"/>
          <p:nvPr/>
        </p:nvSpPr>
        <p:spPr>
          <a:xfrm>
            <a:off x="9715500" y="3886200"/>
            <a:ext cx="17145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종전 대비 개선율</a:t>
            </a:r>
            <a:endParaRPr lang="en-US" sz="788" dirty="0"/>
          </a:p>
        </p:txBody>
      </p:sp>
      <p:sp>
        <p:nvSpPr>
          <p:cNvPr id="64" name="Text 62"/>
          <p:cNvSpPr txBox="1"/>
          <p:nvPr/>
        </p:nvSpPr>
        <p:spPr>
          <a:xfrm>
            <a:off x="9715500" y="4076700"/>
            <a:ext cx="57226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800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91.0</a:t>
            </a:r>
            <a:endParaRPr lang="en-US" sz="1800" dirty="0"/>
          </a:p>
        </p:txBody>
      </p:sp>
      <p:sp>
        <p:nvSpPr>
          <p:cNvPr id="65" name="Text 63"/>
          <p:cNvSpPr txBox="1"/>
          <p:nvPr/>
        </p:nvSpPr>
        <p:spPr>
          <a:xfrm>
            <a:off x="10344912" y="4191000"/>
            <a:ext cx="40005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%</a:t>
            </a:r>
            <a:endParaRPr lang="en-US" sz="975" dirty="0"/>
          </a:p>
        </p:txBody>
      </p:sp>
      <p:sp>
        <p:nvSpPr>
          <p:cNvPr id="66" name="Text 64"/>
          <p:cNvSpPr txBox="1"/>
          <p:nvPr/>
        </p:nvSpPr>
        <p:spPr>
          <a:xfrm>
            <a:off x="7734300" y="4705350"/>
            <a:ext cx="3771900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학습에 쓰지 않은 회차에서도 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수준</a:t>
            </a:r>
            <a:endParaRPr lang="en-US" sz="1575" dirty="0"/>
          </a:p>
        </p:txBody>
      </p:sp>
      <p:sp>
        <p:nvSpPr>
          <p:cNvPr id="67" name="Text 65"/>
          <p:cNvSpPr txBox="1"/>
          <p:nvPr/>
        </p:nvSpPr>
        <p:spPr>
          <a:xfrm>
            <a:off x="7734300" y="5353050"/>
            <a:ext cx="37719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시운전 9회차는 학습에 넣지 않고 예측만 했습니다. 누적 40회차 채점과 비슷하게 나왔습니다.</a:t>
            </a:r>
            <a:endParaRPr lang="en-US" sz="1125" dirty="0"/>
          </a:p>
        </p:txBody>
      </p:sp>
      <p:sp>
        <p:nvSpPr>
          <p:cNvPr id="68" name="Shape 66"/>
          <p:cNvSpPr/>
          <p:nvPr/>
        </p:nvSpPr>
        <p:spPr>
          <a:xfrm>
            <a:off x="685800" y="60579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85800" y="6267450"/>
            <a:ext cx="47625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8" b="1" spc="18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결론</a:t>
            </a:r>
            <a:endParaRPr lang="en-US" sz="788" dirty="0"/>
          </a:p>
        </p:txBody>
      </p:sp>
      <p:sp>
        <p:nvSpPr>
          <p:cNvPr id="70" name="Text 68"/>
          <p:cNvSpPr txBox="1"/>
          <p:nvPr/>
        </p:nvSpPr>
        <p:spPr>
          <a:xfrm>
            <a:off x="1219200" y="6229350"/>
            <a:ext cx="10287000" cy="22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지표를 좋게 만들려고 다른 지표를 희생하지 않았습니다 — </a:t>
            </a:r>
            <a:pPr algn="l" indent="0" marL="0">
              <a:lnSpc>
                <a:spcPts val="1733"/>
              </a:lnSpc>
              <a:buNone/>
            </a:pPr>
            <a:r>
              <a:rPr lang="en-US" sz="1238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같은 방향</a:t>
            </a:r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움직였습니다.</a:t>
            </a:r>
            <a:endParaRPr lang="en-US" sz="1238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9100"/>
            <a:ext cx="762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 </a:t>
            </a:r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효과(정량적/정성적)</a:t>
            </a:r>
            <a:pPr algn="l" indent="0" marL="0">
              <a:lnSpc>
                <a:spcPts val="1440"/>
              </a:lnSpc>
              <a:buNone/>
            </a:pPr>
            <a:r>
              <a:rPr lang="en-US" sz="975" spc="60" kern="0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정성 효과</a:t>
            </a:r>
            <a:endParaRPr lang="en-US" sz="1125" dirty="0"/>
          </a:p>
        </p:txBody>
      </p:sp>
      <p:sp>
        <p:nvSpPr>
          <p:cNvPr id="3" name="Shape 1"/>
          <p:cNvSpPr/>
          <p:nvPr/>
        </p:nvSpPr>
        <p:spPr>
          <a:xfrm>
            <a:off x="106680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4" name="Shape 2"/>
          <p:cNvSpPr/>
          <p:nvPr/>
        </p:nvSpPr>
        <p:spPr>
          <a:xfrm>
            <a:off x="108013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5" name="Shape 3"/>
          <p:cNvSpPr/>
          <p:nvPr/>
        </p:nvSpPr>
        <p:spPr>
          <a:xfrm>
            <a:off x="109347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6" name="Shape 4"/>
          <p:cNvSpPr/>
          <p:nvPr/>
        </p:nvSpPr>
        <p:spPr>
          <a:xfrm>
            <a:off x="110680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7" name="Shape 5"/>
          <p:cNvSpPr/>
          <p:nvPr/>
        </p:nvSpPr>
        <p:spPr>
          <a:xfrm>
            <a:off x="112014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8" name="Shape 6"/>
          <p:cNvSpPr/>
          <p:nvPr/>
        </p:nvSpPr>
        <p:spPr>
          <a:xfrm>
            <a:off x="11334750" y="419100"/>
            <a:ext cx="38100" cy="142875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9" name="Shape 7"/>
          <p:cNvSpPr/>
          <p:nvPr/>
        </p:nvSpPr>
        <p:spPr>
          <a:xfrm>
            <a:off x="114681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6858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914400"/>
            <a:ext cx="10287000" cy="888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숫자보다 오래 남는 것은,</a:t>
            </a:r>
            <a:endParaRPr lang="en-US" sz="2775" dirty="0"/>
          </a:p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설명할 수 있게 됐다</a:t>
            </a:r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점입니다</a:t>
            </a:r>
            <a:endParaRPr lang="en-US" sz="2775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000250"/>
            <a:ext cx="10287000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MW 개선치는 회차마다 달라집니다. 그러나 </a:t>
            </a:r>
            <a:pPr algn="l" indent="0" marL="0">
              <a:lnSpc>
                <a:spcPts val="2241"/>
              </a:lnSpc>
              <a:buNone/>
            </a:pPr>
            <a:r>
              <a:rPr lang="en-US" sz="1350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그 숫자인지 말할 수 있게 된 것</a:t>
            </a:r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은 되돌아가지 않습니다.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2743200"/>
            <a:ext cx="5295900" cy="1905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876550"/>
            <a:ext cx="52959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재현성</a:t>
            </a:r>
            <a:endParaRPr lang="en-US" sz="788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086100"/>
            <a:ext cx="5295900" cy="28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해도 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답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나옵니다</a:t>
            </a:r>
            <a:endParaRPr lang="en-US" sz="1575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486150"/>
            <a:ext cx="52959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데이터와 같은 코드면 누가 돌려도 같은 값입니다. 사람의 판단이 끼어들 자리가 없습니다.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6210300" y="2743200"/>
            <a:ext cx="5295900" cy="1905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0300" y="2876550"/>
            <a:ext cx="52959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추적성</a:t>
            </a:r>
            <a:endParaRPr lang="en-US" sz="788" dirty="0"/>
          </a:p>
        </p:txBody>
      </p:sp>
      <p:sp>
        <p:nvSpPr>
          <p:cNvPr id="19" name="Text 17"/>
          <p:cNvSpPr txBox="1"/>
          <p:nvPr/>
        </p:nvSpPr>
        <p:spPr>
          <a:xfrm>
            <a:off x="6210300" y="3086100"/>
            <a:ext cx="5295900" cy="28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그 값인지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되짚을 수 있습니다</a:t>
            </a:r>
            <a:endParaRPr lang="en-US" sz="1575" dirty="0"/>
          </a:p>
        </p:txBody>
      </p:sp>
      <p:sp>
        <p:nvSpPr>
          <p:cNvPr id="20" name="Text 18"/>
          <p:cNvSpPr txBox="1"/>
          <p:nvPr/>
        </p:nvSpPr>
        <p:spPr>
          <a:xfrm>
            <a:off x="6210300" y="3486150"/>
            <a:ext cx="52959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회차마다 취득 시각·검증 통과 여부·선택된 방식이 남습니다. 감사도 설명도 이 기록으로 합니다.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685800" y="4381500"/>
            <a:ext cx="5295900" cy="1905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4514850"/>
            <a:ext cx="52959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이관성</a:t>
            </a:r>
            <a:endParaRPr lang="en-US" sz="788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724400"/>
            <a:ext cx="5295900" cy="28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바뀌어도 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이어집니다</a:t>
            </a:r>
            <a:endParaRPr lang="en-US" sz="1575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124450"/>
            <a:ext cx="52959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값을 만드는 것이 사람의 감이 아니라 절차입니다. 인수인계 문서가 아니라 코드가 기준입니다.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6210300" y="4381500"/>
            <a:ext cx="5295900" cy="1905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0300" y="4514850"/>
            <a:ext cx="52959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확장성</a:t>
            </a:r>
            <a:endParaRPr lang="en-US" sz="788" dirty="0"/>
          </a:p>
        </p:txBody>
      </p:sp>
      <p:sp>
        <p:nvSpPr>
          <p:cNvPr id="27" name="Text 25"/>
          <p:cNvSpPr txBox="1"/>
          <p:nvPr/>
        </p:nvSpPr>
        <p:spPr>
          <a:xfrm>
            <a:off x="6210300" y="4724400"/>
            <a:ext cx="5295900" cy="28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사업소로 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옮길 수 있습니다</a:t>
            </a:r>
            <a:endParaRPr lang="en-US" sz="1575" dirty="0"/>
          </a:p>
        </p:txBody>
      </p:sp>
      <p:sp>
        <p:nvSpPr>
          <p:cNvPr id="28" name="Text 26"/>
          <p:cNvSpPr txBox="1"/>
          <p:nvPr/>
        </p:nvSpPr>
        <p:spPr>
          <a:xfrm>
            <a:off x="6210300" y="5124450"/>
            <a:ext cx="52959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계산식만 갈아끼우면 학습 층과 검증 가드는 그대로 씁니다. 처음부터 다시 만들지 않습니다.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685800" y="60579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6267450"/>
            <a:ext cx="47625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8" b="1" spc="18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결론</a:t>
            </a:r>
            <a:endParaRPr lang="en-US" sz="788" dirty="0"/>
          </a:p>
        </p:txBody>
      </p:sp>
      <p:sp>
        <p:nvSpPr>
          <p:cNvPr id="31" name="Text 29"/>
          <p:cNvSpPr txBox="1"/>
          <p:nvPr/>
        </p:nvSpPr>
        <p:spPr>
          <a:xfrm>
            <a:off x="1219200" y="6229350"/>
            <a:ext cx="10287000" cy="22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과제가 바꾼 것은 숫자가 아니라 </a:t>
            </a:r>
            <a:pPr algn="l" indent="0" marL="0">
              <a:lnSpc>
                <a:spcPts val="1733"/>
              </a:lnSpc>
              <a:buNone/>
            </a:pPr>
            <a:r>
              <a:rPr lang="en-US" sz="1238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정하는 방법</a:t>
            </a:r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238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9100"/>
            <a:ext cx="762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 </a:t>
            </a:r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계획 및 수평 전개 방안</a:t>
            </a:r>
            <a:pPr algn="l" indent="0" marL="0">
              <a:lnSpc>
                <a:spcPts val="1440"/>
              </a:lnSpc>
              <a:buNone/>
            </a:pPr>
            <a:r>
              <a:rPr lang="en-US" sz="975" spc="60" kern="0" dirty="0">
                <a:solidFill>
                  <a:srgbClr val="A9A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마일스톤</a:t>
            </a:r>
            <a:endParaRPr lang="en-US" sz="1125" dirty="0"/>
          </a:p>
        </p:txBody>
      </p:sp>
      <p:sp>
        <p:nvSpPr>
          <p:cNvPr id="3" name="Shape 1"/>
          <p:cNvSpPr/>
          <p:nvPr/>
        </p:nvSpPr>
        <p:spPr>
          <a:xfrm>
            <a:off x="106680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4" name="Shape 2"/>
          <p:cNvSpPr/>
          <p:nvPr/>
        </p:nvSpPr>
        <p:spPr>
          <a:xfrm>
            <a:off x="108013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5" name="Shape 3"/>
          <p:cNvSpPr/>
          <p:nvPr/>
        </p:nvSpPr>
        <p:spPr>
          <a:xfrm>
            <a:off x="109347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6" name="Shape 4"/>
          <p:cNvSpPr/>
          <p:nvPr/>
        </p:nvSpPr>
        <p:spPr>
          <a:xfrm>
            <a:off x="110680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7" name="Shape 5"/>
          <p:cNvSpPr/>
          <p:nvPr/>
        </p:nvSpPr>
        <p:spPr>
          <a:xfrm>
            <a:off x="1120140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8" name="Shape 6"/>
          <p:cNvSpPr/>
          <p:nvPr/>
        </p:nvSpPr>
        <p:spPr>
          <a:xfrm>
            <a:off x="11334750" y="485775"/>
            <a:ext cx="38100" cy="76200"/>
          </a:xfrm>
          <a:prstGeom prst="rect">
            <a:avLst/>
          </a:prstGeom>
          <a:solidFill>
            <a:srgbClr val="8A8880"/>
          </a:solidFill>
          <a:ln/>
        </p:spPr>
      </p:sp>
      <p:sp>
        <p:nvSpPr>
          <p:cNvPr id="9" name="Shape 7"/>
          <p:cNvSpPr/>
          <p:nvPr/>
        </p:nvSpPr>
        <p:spPr>
          <a:xfrm>
            <a:off x="11468100" y="419100"/>
            <a:ext cx="38100" cy="142875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6858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914400"/>
            <a:ext cx="10287000" cy="888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이론만 갈아끼우면,</a:t>
            </a:r>
            <a:endParaRPr lang="en-US" sz="2775" dirty="0"/>
          </a:p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구조의 사업소에</a:t>
            </a:r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그대로 적용됩니다</a:t>
            </a:r>
            <a:endParaRPr lang="en-US" sz="2775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000250"/>
            <a:ext cx="10287000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과제가 만든 것의 대부분은 특정 설비와 무관합니다. 옮길 때 다시 만드는 것은 </a:t>
            </a:r>
            <a:pPr algn="l" indent="0" marL="0">
              <a:lnSpc>
                <a:spcPts val="2241"/>
              </a:lnSpc>
              <a:buNone/>
            </a:pPr>
            <a:r>
              <a:rPr lang="en-US" sz="1350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계산식 한 층</a:t>
            </a:r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뿐입니다.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2743200"/>
            <a:ext cx="10820400" cy="10668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857500"/>
            <a:ext cx="38100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진행 경과</a:t>
            </a:r>
            <a:endParaRPr lang="en-US" sz="788" dirty="0"/>
          </a:p>
        </p:txBody>
      </p:sp>
      <p:sp>
        <p:nvSpPr>
          <p:cNvPr id="15" name="Shape 13"/>
          <p:cNvSpPr/>
          <p:nvPr/>
        </p:nvSpPr>
        <p:spPr>
          <a:xfrm>
            <a:off x="1733550" y="3390900"/>
            <a:ext cx="8724900" cy="0"/>
          </a:xfrm>
          <a:prstGeom prst="line">
            <a:avLst/>
          </a:prstGeom>
          <a:noFill/>
          <a:ln w="17780">
            <a:solidFill>
              <a:srgbClr val="2235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3550" y="3390900"/>
            <a:ext cx="6543675" cy="0"/>
          </a:xfrm>
          <a:prstGeom prst="line">
            <a:avLst/>
          </a:prstGeom>
          <a:noFill/>
          <a:ln w="17780">
            <a:solidFill>
              <a:srgbClr val="EFB1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81163" y="3338513"/>
            <a:ext cx="104775" cy="104775"/>
          </a:xfrm>
          <a:prstGeom prst="ellipse">
            <a:avLst/>
          </a:prstGeom>
          <a:solidFill>
            <a:srgbClr val="EFB1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543300"/>
            <a:ext cx="2095500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3862387" y="3338513"/>
            <a:ext cx="104775" cy="104775"/>
          </a:xfrm>
          <a:prstGeom prst="ellipse">
            <a:avLst/>
          </a:prstGeom>
          <a:solidFill>
            <a:srgbClr val="EFB13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867025" y="3543300"/>
            <a:ext cx="2095500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재현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6043613" y="3338513"/>
            <a:ext cx="104775" cy="104775"/>
          </a:xfrm>
          <a:prstGeom prst="ellipse">
            <a:avLst/>
          </a:prstGeom>
          <a:solidFill>
            <a:srgbClr val="EFB13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48250" y="3543300"/>
            <a:ext cx="2095500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36회차 적층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8201025" y="3314700"/>
            <a:ext cx="152400" cy="152400"/>
          </a:xfrm>
          <a:prstGeom prst="ellipse">
            <a:avLst/>
          </a:prstGeom>
          <a:solidFill>
            <a:srgbClr val="EFB13C"/>
          </a:solidFill>
          <a:ln/>
        </p:spPr>
      </p:sp>
      <p:sp>
        <p:nvSpPr>
          <p:cNvPr id="24" name="Shape 22"/>
          <p:cNvSpPr/>
          <p:nvPr/>
        </p:nvSpPr>
        <p:spPr>
          <a:xfrm>
            <a:off x="8243888" y="3357563"/>
            <a:ext cx="66675" cy="66675"/>
          </a:xfrm>
          <a:prstGeom prst="ellipse">
            <a:avLst/>
          </a:prstGeom>
          <a:solidFill>
            <a:srgbClr val="0A132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229475" y="3543300"/>
            <a:ext cx="2095500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시운전 4회차 실측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10406063" y="3338513"/>
            <a:ext cx="104775" cy="104775"/>
          </a:xfrm>
          <a:prstGeom prst="ellipse">
            <a:avLst/>
          </a:prstGeom>
          <a:solidFill>
            <a:srgbClr val="2235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0700" y="3543300"/>
            <a:ext cx="2095500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수평 전개</a:t>
            </a:r>
            <a:endParaRPr lang="en-US" sz="975" dirty="0"/>
          </a:p>
        </p:txBody>
      </p:sp>
      <p:sp>
        <p:nvSpPr>
          <p:cNvPr id="28" name="Text 26"/>
          <p:cNvSpPr txBox="1"/>
          <p:nvPr/>
        </p:nvSpPr>
        <p:spPr>
          <a:xfrm>
            <a:off x="7896225" y="3162300"/>
            <a:ext cx="7620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현재</a:t>
            </a:r>
            <a:endParaRPr lang="en-US" sz="788" dirty="0"/>
          </a:p>
        </p:txBody>
      </p:sp>
      <p:sp>
        <p:nvSpPr>
          <p:cNvPr id="29" name="Shape 27"/>
          <p:cNvSpPr/>
          <p:nvPr/>
        </p:nvSpPr>
        <p:spPr>
          <a:xfrm>
            <a:off x="685800" y="4095750"/>
            <a:ext cx="5295900" cy="1905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5800" y="4229100"/>
            <a:ext cx="52959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그대로 옮기는 것</a:t>
            </a:r>
            <a:endParaRPr lang="en-US" sz="788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4438650"/>
            <a:ext cx="5295900" cy="28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전체의 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</a:t>
            </a:r>
            <a:endParaRPr lang="en-US" sz="1575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4819650"/>
            <a:ext cx="529590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온도별로 학습하는 구조와 채점 방식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5086350"/>
            <a:ext cx="529590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검증 가드 3종 (IGV·습도 교차·수식 대조)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5353050"/>
            <a:ext cx="529590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취득 파이프와 누적 이력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5619750"/>
            <a:ext cx="529590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현황 화면과 신호등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10300" y="4095750"/>
            <a:ext cx="5295900" cy="19050"/>
          </a:xfrm>
          <a:prstGeom prst="rect">
            <a:avLst/>
          </a:prstGeom>
          <a:solidFill>
            <a:srgbClr val="22354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10300" y="4229100"/>
            <a:ext cx="52959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718B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갈아끼우는 것</a:t>
            </a:r>
            <a:endParaRPr lang="en-US" sz="788" dirty="0"/>
          </a:p>
        </p:txBody>
      </p:sp>
      <p:sp>
        <p:nvSpPr>
          <p:cNvPr id="38" name="Text 36"/>
          <p:cNvSpPr txBox="1"/>
          <p:nvPr/>
        </p:nvSpPr>
        <p:spPr>
          <a:xfrm>
            <a:off x="6210300" y="4438650"/>
            <a:ext cx="5295900" cy="28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사업소마다 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718B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것</a:t>
            </a:r>
            <a:endParaRPr lang="en-US" sz="1575" dirty="0"/>
          </a:p>
        </p:txBody>
      </p:sp>
      <p:sp>
        <p:nvSpPr>
          <p:cNvPr id="39" name="Text 37"/>
          <p:cNvSpPr txBox="1"/>
          <p:nvPr/>
        </p:nvSpPr>
        <p:spPr>
          <a:xfrm>
            <a:off x="6210300" y="4819650"/>
            <a:ext cx="529590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그 설비의 이론 출력 계산식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210300" y="5086350"/>
            <a:ext cx="529590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설비 상수와 성능 곡선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210300" y="5353050"/>
            <a:ext cx="529590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신고 서식의 수식 규칙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210300" y="5657850"/>
            <a:ext cx="52959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이론값을 그 사업소 실적으로 재현하는 것이 첫 단계입니다.</a:t>
            </a:r>
            <a:endParaRPr lang="en-US" sz="1125" dirty="0"/>
          </a:p>
        </p:txBody>
      </p:sp>
      <p:sp>
        <p:nvSpPr>
          <p:cNvPr id="43" name="Shape 41"/>
          <p:cNvSpPr/>
          <p:nvPr/>
        </p:nvSpPr>
        <p:spPr>
          <a:xfrm>
            <a:off x="685800" y="60579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5800" y="6267450"/>
            <a:ext cx="47625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8" b="1" spc="18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결론</a:t>
            </a:r>
            <a:endParaRPr lang="en-US" sz="788" dirty="0"/>
          </a:p>
        </p:txBody>
      </p:sp>
      <p:sp>
        <p:nvSpPr>
          <p:cNvPr id="45" name="Text 43"/>
          <p:cNvSpPr txBox="1"/>
          <p:nvPr/>
        </p:nvSpPr>
        <p:spPr>
          <a:xfrm>
            <a:off x="1219200" y="6229350"/>
            <a:ext cx="10287000" cy="22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사업소를 위해 만든 것이 아닙니다 — </a:t>
            </a:r>
            <a:pPr algn="l" indent="0" marL="0">
              <a:lnSpc>
                <a:spcPts val="1733"/>
              </a:lnSpc>
              <a:buNone/>
            </a:pPr>
            <a:r>
              <a:rPr lang="en-US" sz="1238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구조라면 이론만 바꿔 씁니다</a:t>
            </a:r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38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9100"/>
            <a:ext cx="762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25" b="1" spc="60" kern="0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시연</a:t>
            </a:r>
            <a:endParaRPr lang="en-US" sz="1125" dirty="0"/>
          </a:p>
        </p:txBody>
      </p:sp>
      <p:sp>
        <p:nvSpPr>
          <p:cNvPr id="3" name="Shape 1"/>
          <p:cNvSpPr/>
          <p:nvPr/>
        </p:nvSpPr>
        <p:spPr>
          <a:xfrm>
            <a:off x="685800" y="6858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914400"/>
            <a:ext cx="10287000" cy="888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말씀드린 것을,</a:t>
            </a:r>
            <a:endParaRPr lang="en-US" sz="2775" dirty="0"/>
          </a:p>
          <a:p>
            <a:pPr algn="l" indent="0" marL="0">
              <a:lnSpc>
                <a:spcPts val="3496"/>
              </a:lnSpc>
              <a:buNone/>
            </a:pPr>
            <a:r>
              <a:rPr lang="en-US" sz="27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화면으로 보여드리겠습니다</a:t>
            </a:r>
            <a:endParaRPr lang="en-US" sz="27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00250"/>
            <a:ext cx="10287000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지금부터 4분 동안 Tool 을 직접 돌려 보겠습니다. 앞에서 설명한 절차가 실제로 어떻게 도는지 </a:t>
            </a:r>
            <a:pPr algn="l" indent="0" marL="0">
              <a:lnSpc>
                <a:spcPts val="2241"/>
              </a:lnSpc>
              <a:buNone/>
            </a:pPr>
            <a:r>
              <a:rPr lang="en-US" sz="1350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지점</a:t>
            </a:r>
            <a:pPr algn="l" indent="0" marL="0">
              <a:lnSpc>
                <a:spcPts val="2241"/>
              </a:lnSpc>
              <a:buNone/>
            </a:pPr>
            <a:r>
              <a:rPr lang="en-US" sz="1350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 보시면 됩니다.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743200"/>
            <a:ext cx="2562225" cy="1905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876550"/>
            <a:ext cx="3810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275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24200"/>
            <a:ext cx="2562225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날짜를 넣으면</a:t>
            </a:r>
            <a:endParaRPr lang="en-US" sz="1575" dirty="0"/>
          </a:p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알아서 들어옵니다</a:t>
            </a:r>
            <a:endParaRPr lang="en-US" sz="1575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771900"/>
            <a:ext cx="256222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하나만 넣습니다. 6가지 값과 취득 시각, 검증 통과 여부가 한 줄로 뜹니다.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685800" y="4724400"/>
            <a:ext cx="2562225" cy="9144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9150" y="4857750"/>
            <a:ext cx="19050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보실 지점</a:t>
            </a:r>
            <a:endParaRPr lang="en-US" sz="788" dirty="0"/>
          </a:p>
        </p:txBody>
      </p:sp>
      <p:sp>
        <p:nvSpPr>
          <p:cNvPr id="12" name="Text 10"/>
          <p:cNvSpPr txBox="1"/>
          <p:nvPr/>
        </p:nvSpPr>
        <p:spPr>
          <a:xfrm>
            <a:off x="819150" y="5067300"/>
            <a:ext cx="2295525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숫자를 </a:t>
            </a:r>
            <a:pPr algn="l" indent="0" marL="0">
              <a:lnSpc>
                <a:spcPts val="1890"/>
              </a:lnSpc>
              <a:buNone/>
            </a:pPr>
            <a:r>
              <a:rPr lang="en-US" sz="112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입력하는 칸이 없다</a:t>
            </a:r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는 것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3438525" y="2743200"/>
            <a:ext cx="2562225" cy="1905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38525" y="2876550"/>
            <a:ext cx="3810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275" dirty="0"/>
          </a:p>
        </p:txBody>
      </p:sp>
      <p:sp>
        <p:nvSpPr>
          <p:cNvPr id="15" name="Text 13"/>
          <p:cNvSpPr txBox="1"/>
          <p:nvPr/>
        </p:nvSpPr>
        <p:spPr>
          <a:xfrm>
            <a:off x="3438525" y="3124200"/>
            <a:ext cx="2562225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 구간별 현황을</a:t>
            </a:r>
            <a:endParaRPr lang="en-US" sz="1575" dirty="0"/>
          </a:p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신호등으로 봅니다</a:t>
            </a:r>
            <a:endParaRPr lang="en-US" sz="1575" dirty="0"/>
          </a:p>
        </p:txBody>
      </p:sp>
      <p:sp>
        <p:nvSpPr>
          <p:cNvPr id="16" name="Text 14"/>
          <p:cNvSpPr txBox="1"/>
          <p:nvPr/>
        </p:nvSpPr>
        <p:spPr>
          <a:xfrm>
            <a:off x="3438525" y="3771900"/>
            <a:ext cx="256222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구간마다 회차가 몇 건 쌓였는지, 그 구간의 값을 믿어도 되는지 색으로 표시합니다.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3438525" y="4724400"/>
            <a:ext cx="2562225" cy="9144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71875" y="4857750"/>
            <a:ext cx="19050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보실 지점</a:t>
            </a:r>
            <a:endParaRPr lang="en-US" sz="788" dirty="0"/>
          </a:p>
        </p:txBody>
      </p:sp>
      <p:sp>
        <p:nvSpPr>
          <p:cNvPr id="19" name="Text 17"/>
          <p:cNvSpPr txBox="1"/>
          <p:nvPr/>
        </p:nvSpPr>
        <p:spPr>
          <a:xfrm>
            <a:off x="3571875" y="5067300"/>
            <a:ext cx="2295525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20~25℃ 구간이 </a:t>
            </a:r>
            <a:pPr algn="l" indent="0" marL="0">
              <a:lnSpc>
                <a:spcPts val="1890"/>
              </a:lnSpc>
              <a:buNone/>
            </a:pPr>
            <a:r>
              <a:rPr lang="en-US" sz="112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붉게</a:t>
            </a:r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떠 있는 것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6191250" y="2743200"/>
            <a:ext cx="2562225" cy="1905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91250" y="2876550"/>
            <a:ext cx="3810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275" dirty="0"/>
          </a:p>
        </p:txBody>
      </p:sp>
      <p:sp>
        <p:nvSpPr>
          <p:cNvPr id="22" name="Text 20"/>
          <p:cNvSpPr txBox="1"/>
          <p:nvPr/>
        </p:nvSpPr>
        <p:spPr>
          <a:xfrm>
            <a:off x="6191250" y="3124200"/>
            <a:ext cx="2562225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잇는 방식 7가지를</a:t>
            </a:r>
            <a:endParaRPr lang="en-US" sz="1575" dirty="0"/>
          </a:p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자리에서 채점합니다</a:t>
            </a:r>
            <a:endParaRPr lang="en-US" sz="1575" dirty="0"/>
          </a:p>
        </p:txBody>
      </p:sp>
      <p:sp>
        <p:nvSpPr>
          <p:cNvPr id="23" name="Text 21"/>
          <p:cNvSpPr txBox="1"/>
          <p:nvPr/>
        </p:nvSpPr>
        <p:spPr>
          <a:xfrm>
            <a:off x="6191250" y="3771900"/>
            <a:ext cx="256222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데이터로 7가지를 다시 채점하고 1위를 고릅니다. 순위표가 그대로 나옵니다.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6191250" y="4724400"/>
            <a:ext cx="2562225" cy="9144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24600" y="4857750"/>
            <a:ext cx="19050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보실 지점</a:t>
            </a:r>
            <a:endParaRPr lang="en-US" sz="788" dirty="0"/>
          </a:p>
        </p:txBody>
      </p:sp>
      <p:sp>
        <p:nvSpPr>
          <p:cNvPr id="26" name="Text 24"/>
          <p:cNvSpPr txBox="1"/>
          <p:nvPr/>
        </p:nvSpPr>
        <p:spPr>
          <a:xfrm>
            <a:off x="6324600" y="5067300"/>
            <a:ext cx="2295525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순위를 </a:t>
            </a:r>
            <a:pPr algn="l" indent="0" marL="0">
              <a:lnSpc>
                <a:spcPts val="1890"/>
              </a:lnSpc>
              <a:buNone/>
            </a:pPr>
            <a:r>
              <a:rPr lang="en-US" sz="112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고르지 않는다</a:t>
            </a:r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는 것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8943975" y="2743200"/>
            <a:ext cx="2562225" cy="19050"/>
          </a:xfrm>
          <a:prstGeom prst="rect">
            <a:avLst/>
          </a:prstGeom>
          <a:solidFill>
            <a:srgbClr val="EFB13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43975" y="2876550"/>
            <a:ext cx="3810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275" dirty="0"/>
          </a:p>
        </p:txBody>
      </p:sp>
      <p:sp>
        <p:nvSpPr>
          <p:cNvPr id="29" name="Text 27"/>
          <p:cNvSpPr txBox="1"/>
          <p:nvPr/>
        </p:nvSpPr>
        <p:spPr>
          <a:xfrm>
            <a:off x="8943975" y="3124200"/>
            <a:ext cx="2562225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가드가 걸리면</a:t>
            </a:r>
            <a:endParaRPr lang="en-US" sz="1575" dirty="0"/>
          </a:p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반영을 멈춥니다</a:t>
            </a:r>
            <a:endParaRPr lang="en-US" sz="1575" dirty="0"/>
          </a:p>
        </p:txBody>
      </p:sp>
      <p:sp>
        <p:nvSpPr>
          <p:cNvPr id="30" name="Text 28"/>
          <p:cNvSpPr txBox="1"/>
          <p:nvPr/>
        </p:nvSpPr>
        <p:spPr>
          <a:xfrm>
            <a:off x="8943975" y="3771900"/>
            <a:ext cx="256222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습도계 두 대가 벌어진 회차를 넣어 보겠습니다. 값은 남고 학습에서만 빠집니다.</a:t>
            </a:r>
            <a:endParaRPr lang="en-US" sz="1125" dirty="0"/>
          </a:p>
        </p:txBody>
      </p:sp>
      <p:sp>
        <p:nvSpPr>
          <p:cNvPr id="31" name="Shape 29"/>
          <p:cNvSpPr/>
          <p:nvPr/>
        </p:nvSpPr>
        <p:spPr>
          <a:xfrm>
            <a:off x="8943975" y="4724400"/>
            <a:ext cx="2562225" cy="914400"/>
          </a:xfrm>
          <a:prstGeom prst="rect">
            <a:avLst/>
          </a:prstGeom>
          <a:solidFill>
            <a:srgbClr val="0A1320"/>
          </a:solidFill>
          <a:ln w="12700">
            <a:solidFill>
              <a:srgbClr val="18283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077325" y="4857750"/>
            <a:ext cx="19050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보실 지점</a:t>
            </a:r>
            <a:endParaRPr lang="en-US" sz="788" dirty="0"/>
          </a:p>
        </p:txBody>
      </p:sp>
      <p:sp>
        <p:nvSpPr>
          <p:cNvPr id="33" name="Text 31"/>
          <p:cNvSpPr txBox="1"/>
          <p:nvPr/>
        </p:nvSpPr>
        <p:spPr>
          <a:xfrm>
            <a:off x="9077325" y="5067300"/>
            <a:ext cx="2295525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경고가 뜨고 </a:t>
            </a:r>
            <a:pPr algn="l" indent="0" marL="0">
              <a:lnSpc>
                <a:spcPts val="1890"/>
              </a:lnSpc>
              <a:buNone/>
            </a:pPr>
            <a:r>
              <a:rPr lang="en-US" sz="112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누적에 들어가지 않는</a:t>
            </a:r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685800" y="60579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6267450"/>
            <a:ext cx="47625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8" b="1" spc="180" kern="0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결론</a:t>
            </a:r>
            <a:endParaRPr lang="en-US" sz="788" dirty="0"/>
          </a:p>
        </p:txBody>
      </p:sp>
      <p:sp>
        <p:nvSpPr>
          <p:cNvPr id="36" name="Text 34"/>
          <p:cNvSpPr txBox="1"/>
          <p:nvPr/>
        </p:nvSpPr>
        <p:spPr>
          <a:xfrm>
            <a:off x="1219200" y="6229350"/>
            <a:ext cx="10287000" cy="22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시연은 </a:t>
            </a:r>
            <a:pPr algn="l" indent="0" marL="0">
              <a:lnSpc>
                <a:spcPts val="1733"/>
              </a:lnSpc>
              <a:buNone/>
            </a:pPr>
            <a:r>
              <a:rPr lang="en-US" sz="1238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누적 데이터</a:t>
            </a:r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그 자리에서 돌립니다 — 준비된 화면이 아닙니다.</a:t>
            </a:r>
            <a:endParaRPr lang="en-US" sz="1238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8580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419100"/>
            <a:ext cx="5715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spc="18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나래에너지서비스 · 위례열병합발전소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0" y="419100"/>
            <a:ext cx="1905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spc="18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2026. 09.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57300"/>
            <a:ext cx="6667500" cy="1104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47"/>
              </a:lnSpc>
              <a:buNone/>
            </a:pPr>
            <a:r>
              <a:rPr lang="en-US" sz="3450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3450" dirty="0"/>
          </a:p>
          <a:p>
            <a:pPr algn="l" indent="0" marL="0">
              <a:lnSpc>
                <a:spcPts val="4347"/>
              </a:lnSpc>
              <a:buNone/>
            </a:pPr>
            <a:r>
              <a:rPr lang="en-US" sz="3450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받겠습니다</a:t>
            </a:r>
            <a:endParaRPr lang="en-US" sz="34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57500"/>
            <a:ext cx="6667500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판단 하나였던 보정값을, 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FB1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스스로 갱신하는 모델</a:t>
            </a:r>
            <a:pPr algn="l" indent="0" marL="0">
              <a:lnSpc>
                <a:spcPts val="2237"/>
              </a:lnSpc>
              <a:buNone/>
            </a:pPr>
            <a:r>
              <a:rPr lang="en-US" sz="157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바꿨습니다.</a:t>
            </a:r>
            <a:endParaRPr lang="en-US" sz="1575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19500"/>
            <a:ext cx="62865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과제가 바꾼 것은 숫자가 아니라 숫자를 정하는 방법입니다. 같은 구조의 사업소라면 이론만 갈아끼워 그대로 씁니다.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685800" y="447675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667250"/>
            <a:ext cx="19812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예측 오차</a:t>
            </a:r>
            <a:endParaRPr lang="en-US" sz="788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895850"/>
            <a:ext cx="198120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67%↓</a:t>
            </a:r>
            <a:endParaRPr lang="en-US" sz="3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448300"/>
            <a:ext cx="1981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EA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3.90 → 1.30 MW</a:t>
            </a:r>
            <a:endParaRPr lang="en-US" sz="1125" dirty="0"/>
          </a:p>
        </p:txBody>
      </p:sp>
      <p:sp>
        <p:nvSpPr>
          <p:cNvPr id="12" name="Text 10"/>
          <p:cNvSpPr txBox="1"/>
          <p:nvPr/>
        </p:nvSpPr>
        <p:spPr>
          <a:xfrm>
            <a:off x="2914650" y="4667250"/>
            <a:ext cx="19812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기준 미달 회차</a:t>
            </a:r>
            <a:endParaRPr lang="en-US" sz="788" dirty="0"/>
          </a:p>
        </p:txBody>
      </p:sp>
      <p:sp>
        <p:nvSpPr>
          <p:cNvPr id="13" name="Text 11"/>
          <p:cNvSpPr txBox="1"/>
          <p:nvPr/>
        </p:nvSpPr>
        <p:spPr>
          <a:xfrm>
            <a:off x="2914650" y="4895850"/>
            <a:ext cx="198120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73%↓</a:t>
            </a:r>
            <a:endParaRPr lang="en-US" sz="3300" dirty="0"/>
          </a:p>
        </p:txBody>
      </p:sp>
      <p:sp>
        <p:nvSpPr>
          <p:cNvPr id="14" name="Text 12"/>
          <p:cNvSpPr txBox="1"/>
          <p:nvPr/>
        </p:nvSpPr>
        <p:spPr>
          <a:xfrm>
            <a:off x="2914650" y="5448300"/>
            <a:ext cx="1981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EA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→ 4 건</a:t>
            </a:r>
            <a:endParaRPr lang="en-US" sz="1125" dirty="0"/>
          </a:p>
        </p:txBody>
      </p:sp>
      <p:sp>
        <p:nvSpPr>
          <p:cNvPr id="15" name="Text 13"/>
          <p:cNvSpPr txBox="1"/>
          <p:nvPr/>
        </p:nvSpPr>
        <p:spPr>
          <a:xfrm>
            <a:off x="5143500" y="4667250"/>
            <a:ext cx="198120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과대 신고 누계</a:t>
            </a:r>
            <a:endParaRPr lang="en-US" sz="788" dirty="0"/>
          </a:p>
        </p:txBody>
      </p:sp>
      <p:sp>
        <p:nvSpPr>
          <p:cNvPr id="16" name="Text 14"/>
          <p:cNvSpPr txBox="1"/>
          <p:nvPr/>
        </p:nvSpPr>
        <p:spPr>
          <a:xfrm>
            <a:off x="5143500" y="4895850"/>
            <a:ext cx="198120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EF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87%↓</a:t>
            </a:r>
            <a:endParaRPr lang="en-US" sz="3300" dirty="0"/>
          </a:p>
        </p:txBody>
      </p:sp>
      <p:sp>
        <p:nvSpPr>
          <p:cNvPr id="17" name="Text 15"/>
          <p:cNvSpPr txBox="1"/>
          <p:nvPr/>
        </p:nvSpPr>
        <p:spPr>
          <a:xfrm>
            <a:off x="5143500" y="5448300"/>
            <a:ext cx="1981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EA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69.5 → 9.3 MW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2667000" y="4667250"/>
            <a:ext cx="0" cy="100965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5850" y="4667250"/>
            <a:ext cx="0" cy="100965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4700" y="4667250"/>
            <a:ext cx="0" cy="100965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72350" y="4667250"/>
            <a:ext cx="413385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spc="150" kern="0" dirty="0">
                <a:solidFill>
                  <a:srgbClr val="8A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검증 방식</a:t>
            </a:r>
            <a:endParaRPr lang="en-US" sz="788" dirty="0"/>
          </a:p>
        </p:txBody>
      </p:sp>
      <p:sp>
        <p:nvSpPr>
          <p:cNvPr id="22" name="Text 20"/>
          <p:cNvSpPr txBox="1"/>
          <p:nvPr/>
        </p:nvSpPr>
        <p:spPr>
          <a:xfrm>
            <a:off x="7372350" y="4895850"/>
            <a:ext cx="413385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40회차를 </a:t>
            </a:r>
            <a:pPr algn="l" indent="0" marL="0">
              <a:lnSpc>
                <a:spcPts val="1890"/>
              </a:lnSpc>
              <a:buNone/>
            </a:pPr>
            <a:r>
              <a:rPr lang="en-US" sz="1125" b="1" dirty="0">
                <a:solidFill>
                  <a:srgbClr val="EAE7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건씩 가리고</a:t>
            </a:r>
            <a:pPr algn="l" indent="0" marL="0">
              <a:lnSpc>
                <a:spcPts val="1890"/>
              </a:lnSpc>
              <a:buNone/>
            </a:pPr>
            <a:r>
              <a:rPr lang="en-US" sz="1125" dirty="0">
                <a:solidFill>
                  <a:srgbClr val="CFCB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맞혀본 결과입니다. 시운전 9회차에서 다시 확인했습니다.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685800" y="6038850"/>
            <a:ext cx="10820400" cy="0"/>
          </a:xfrm>
          <a:prstGeom prst="line">
            <a:avLst/>
          </a:prstGeom>
          <a:noFill/>
          <a:ln w="12700">
            <a:solidFill>
              <a:srgbClr val="2235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6229350"/>
            <a:ext cx="5715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spc="160" kern="0" dirty="0">
                <a:solidFill>
                  <a:srgbClr val="A9A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위례 정비기술팀  ·  주현M · 정상우M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나래에너지서비스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공급가능용량 산정 Tool — 최종 발표</dc:title>
  <dc:subject>위례열병합발전소 공급가능용량 산정 체계 개선</dc:subject>
  <dc:creator>주현M, 정상우M</dc:creator>
  <cp:lastModifiedBy>주현M, 정상우M</cp:lastModifiedBy>
  <cp:revision>1</cp:revision>
  <dcterms:created xsi:type="dcterms:W3CDTF">2026-09-07T06:16:23Z</dcterms:created>
  <dcterms:modified xsi:type="dcterms:W3CDTF">2026-09-07T06:16:23Z</dcterms:modified>
</cp:coreProperties>
</file>