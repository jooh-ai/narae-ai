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전력 판매를 위해 매일 '내일 낼 수 있는 전기량'을 신고합니다. 기온에 따라 출력이 376~469MW로 크게 달라지고, 허용범위가 ±0.5%(약 ±2MW)라 정확도가 중요합니다. 기존에는 엑셀 4개를 오가며 손으로 계산했는데 이를 자동화했고, 기존 엑셀과 계산이 동일함을 오차 0.18MW로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5개로 구성했습니다. 계산은 2단 구조입니다 — 1단은 설계 성능곡선(기존 엑셀과 동일), 2단은 실제 시험 32건에서 배운 보정값입니다. '150개 자동 점검'은 계산식을 수정할 때마다 프로그램이 스스로 150가지 항목을 다시 검사해 계산 오류를 사전에 막는 장치입니다.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6월 분석·엔진 개발, 7월 데이터 자동취득, 8월 프로그램 완성까지 마쳤고 현재 시운전 중입니다. 9월 정식 운영이 목표입니다. 배포는 폴더 복사만으로 가능하며, 모든 계산이 사내 PC 안에서만 이뤄져 자료가 외부로 나가지 않습니다. ※ 마일스톤 날짜는 실제 일정에 맞게 수정하세요.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만들었나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55280" y="155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: 발전운영팀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0" y="457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: ○○○  ·  2026. 8월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170432"/>
            <a:ext cx="356616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389888"/>
            <a:ext cx="365760" cy="365760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52728" y="13624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신고합니다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58952" y="1828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우리 발전소가 낼 수 있는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전기량을 전력거래소에 신고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79976" y="1170432"/>
            <a:ext cx="356616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36008" y="1389888"/>
            <a:ext cx="365760" cy="365760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14" name="Text 12"/>
          <p:cNvSpPr/>
          <p:nvPr/>
        </p:nvSpPr>
        <p:spPr>
          <a:xfrm>
            <a:off x="4636008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29784" y="13624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온도가 변수입니다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36008" y="1828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발전소라도 기온에 따라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출력이 376~469 MW 로 변동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57032" y="1170432"/>
            <a:ext cx="356616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513064" y="1389888"/>
            <a:ext cx="365760" cy="365760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19" name="Text 17"/>
          <p:cNvSpPr/>
          <p:nvPr/>
        </p:nvSpPr>
        <p:spPr>
          <a:xfrm>
            <a:off x="8513064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006840" y="13624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정확도가 곧 돈입니다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513064" y="1828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허용범위 ±0.5% (약 ±2 MW)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적게 신고 → 손해 / 못 지키면 → 페널티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287121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지금까지는 이렇게 했습니다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3218688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7F4F2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2960" y="3456432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4개를 오가며 담당자가 직접 계산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결과를 손으로 옮겨 적고 평균 산출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 61개 구간 값을 매번 수작업 입력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하는 일이라 실수 가능성 존재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22960" y="490118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＂엑셀 4개 · 수작업 · 반복＂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291072" y="287121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이렇게 바꿨습니다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91072" y="3218688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11112" y="3456432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날짜만 입력하면 발전소 데이터 자동 취득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계산·보정·검증을 프로그램이 일괄 처리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 61개 구간 신고파일까지 자동 생성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엑셀과 동일 계산 확인 (오차 0.18 MW)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611112" y="490118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＂날짜 입력 → 클릭 한 번＂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5541264"/>
            <a:ext cx="111831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868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pPr indent="0" marL="0">
              <a:buNone/>
            </a:pPr>
            <a:r>
              <a:rPr lang="en-US" sz="11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6868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축적된 시험 결과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(−1.9 ~ 36.1°C)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06324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0.18</a:t>
            </a:r>
            <a:pPr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MW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306324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엑셀 대비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계산 오차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25780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1.24</a:t>
            </a:r>
            <a:pPr indent="0" marL="0">
              <a:buNone/>
            </a:pPr>
            <a:r>
              <a:rPr lang="en-US" sz="11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MW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525780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오차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(1.42 → 12% 개선)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45236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pPr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45236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산출 온도 구간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(−20 ~ 40°C)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64692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±0.5</a:t>
            </a:r>
            <a:pPr indent="0" marL="0">
              <a:buNone/>
            </a:pPr>
            <a:r>
              <a:rPr lang="en-US" sz="115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64692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입찰 허용범위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(약 ±2 MW)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만들었나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55280" y="155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: 발전운영팀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0" y="457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: ○○○  ·  2026. 8월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06984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0241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5개짜리 Windows 프로그램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32120" y="10241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입력 → 자동 취득 → 보정 계산 → 신고파일 생성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12648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12" name="Image 0" descr="/tmp/claude-0/-home-user-Test/9494b856-101a-5688-a4a1-6c122cea1ac2/scratchpad/s_ru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536192"/>
            <a:ext cx="1856232" cy="185623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12648" y="3438144"/>
            <a:ext cx="219456" cy="219456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86968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공급가능용량 산정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날짜만 입력하면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신고파일까지 자동 생성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2779776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889504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19" name="Image 1" descr="/tmp/claude-0/-home-user-Test/9494b856-101a-5688-a4a1-6c122cea1ac2/scratchpad/s_statu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9504" y="1536192"/>
            <a:ext cx="1856232" cy="185623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2889504" y="3438144"/>
            <a:ext cx="219456" cy="219456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21" name="Text 17"/>
          <p:cNvSpPr/>
          <p:nvPr/>
        </p:nvSpPr>
        <p:spPr>
          <a:xfrm>
            <a:off x="2889504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163824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온도별 보정값 현황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2779776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 시험 건수를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신호등으로 표시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56632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5166360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26" name="Image 2" descr="/tmp/claude-0/-home-user-Test/9494b856-101a-5688-a4a1-6c122cea1ac2/scratchpad/s_lis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66360" y="1536192"/>
            <a:ext cx="1856232" cy="1856232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5166360" y="3438144"/>
            <a:ext cx="219456" cy="219456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28" name="Text 23"/>
          <p:cNvSpPr/>
          <p:nvPr/>
        </p:nvSpPr>
        <p:spPr>
          <a:xfrm>
            <a:off x="5166360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5440680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결과 목록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5056632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32건 관리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(날짜·온도·측정값)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7333488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7443216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33" name="Image 3" descr="/tmp/claude-0/-home-user-Test/9494b856-101a-5688-a4a1-6c122cea1ac2/scratchpad/s_sim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43216" y="1536192"/>
            <a:ext cx="1856232" cy="185623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443216" y="3438144"/>
            <a:ext cx="219456" cy="219456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35" name="Text 29"/>
          <p:cNvSpPr/>
          <p:nvPr/>
        </p:nvSpPr>
        <p:spPr>
          <a:xfrm>
            <a:off x="7443216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7717536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시뮬레이션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7333488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입력 → 예상 출력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후 즉시 대조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9610344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9720072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40" name="Image 4" descr="/tmp/claude-0/-home-user-Test/9494b856-101a-5688-a4a1-6c122cea1ac2/scratchpad/s_chart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720072" y="1536192"/>
            <a:ext cx="1856232" cy="1856232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9720072" y="3438144"/>
            <a:ext cx="219456" cy="219456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42" name="Text 35"/>
          <p:cNvSpPr/>
          <p:nvPr/>
        </p:nvSpPr>
        <p:spPr>
          <a:xfrm>
            <a:off x="9720072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36"/>
          <p:cNvSpPr/>
          <p:nvPr/>
        </p:nvSpPr>
        <p:spPr>
          <a:xfrm>
            <a:off x="9994392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출력곡선 비교</a:t>
            </a:r>
            <a:endParaRPr lang="en-US" sz="1100" dirty="0"/>
          </a:p>
        </p:txBody>
      </p:sp>
      <p:sp>
        <p:nvSpPr>
          <p:cNvPr id="44" name="Text 37"/>
          <p:cNvSpPr/>
          <p:nvPr/>
        </p:nvSpPr>
        <p:spPr>
          <a:xfrm>
            <a:off x="9610344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이론값 vs 보정 후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그래프로 확인</a:t>
            </a:r>
            <a:endParaRPr lang="en-US" sz="950" dirty="0"/>
          </a:p>
        </p:txBody>
      </p:sp>
      <p:sp>
        <p:nvSpPr>
          <p:cNvPr id="45" name="Shape 38"/>
          <p:cNvSpPr/>
          <p:nvPr/>
        </p:nvSpPr>
        <p:spPr>
          <a:xfrm>
            <a:off x="502920" y="4453128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46" name="Text 39"/>
          <p:cNvSpPr/>
          <p:nvPr/>
        </p:nvSpPr>
        <p:spPr>
          <a:xfrm>
            <a:off x="868680" y="44074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방식 — 2단 구조</a:t>
            </a:r>
            <a:endParaRPr lang="en-US" sz="1350" dirty="0"/>
          </a:p>
        </p:txBody>
      </p:sp>
      <p:sp>
        <p:nvSpPr>
          <p:cNvPr id="47" name="Shape 40"/>
          <p:cNvSpPr/>
          <p:nvPr/>
        </p:nvSpPr>
        <p:spPr>
          <a:xfrm>
            <a:off x="502920" y="4791456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8" name="Text 41"/>
          <p:cNvSpPr/>
          <p:nvPr/>
        </p:nvSpPr>
        <p:spPr>
          <a:xfrm>
            <a:off x="822960" y="4974336"/>
            <a:ext cx="480060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  이론값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성능곡선으로 계산 (기존 엑셀과 동일)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  보정값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시험 32건에서 배운 차이를 반영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신고값 = 이론값 + 보정값</a:t>
            </a:r>
            <a:endParaRPr lang="en-US" sz="1200" dirty="0"/>
          </a:p>
        </p:txBody>
      </p:sp>
      <p:sp>
        <p:nvSpPr>
          <p:cNvPr id="49" name="Shape 42"/>
          <p:cNvSpPr/>
          <p:nvPr/>
        </p:nvSpPr>
        <p:spPr>
          <a:xfrm>
            <a:off x="6291072" y="4453128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50" name="Text 43"/>
          <p:cNvSpPr/>
          <p:nvPr/>
        </p:nvSpPr>
        <p:spPr>
          <a:xfrm>
            <a:off x="6656832" y="44074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· 검증</a:t>
            </a:r>
            <a:endParaRPr lang="en-US" sz="1350" dirty="0"/>
          </a:p>
        </p:txBody>
      </p:sp>
      <p:sp>
        <p:nvSpPr>
          <p:cNvPr id="51" name="Shape 44"/>
          <p:cNvSpPr/>
          <p:nvPr/>
        </p:nvSpPr>
        <p:spPr>
          <a:xfrm>
            <a:off x="6291072" y="4791456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52" name="Text 45"/>
          <p:cNvSpPr/>
          <p:nvPr/>
        </p:nvSpPr>
        <p:spPr>
          <a:xfrm>
            <a:off x="6583680" y="4974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엑셀과 계산 일치</a:t>
            </a:r>
            <a:endParaRPr lang="en-US" sz="1050" dirty="0"/>
          </a:p>
        </p:txBody>
      </p:sp>
      <p:sp>
        <p:nvSpPr>
          <p:cNvPr id="53" name="Text 46"/>
          <p:cNvSpPr/>
          <p:nvPr/>
        </p:nvSpPr>
        <p:spPr>
          <a:xfrm>
            <a:off x="9784080" y="4974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오차 0.18 MW</a:t>
            </a:r>
            <a:endParaRPr lang="en-US" sz="1100" dirty="0"/>
          </a:p>
        </p:txBody>
      </p:sp>
      <p:sp>
        <p:nvSpPr>
          <p:cNvPr id="54" name="Text 47"/>
          <p:cNvSpPr/>
          <p:nvPr/>
        </p:nvSpPr>
        <p:spPr>
          <a:xfrm>
            <a:off x="6583680" y="53218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오차 (시험 32건 교차검증)</a:t>
            </a:r>
            <a:endParaRPr lang="en-US" sz="1050" dirty="0"/>
          </a:p>
        </p:txBody>
      </p:sp>
      <p:sp>
        <p:nvSpPr>
          <p:cNvPr id="55" name="Text 48"/>
          <p:cNvSpPr/>
          <p:nvPr/>
        </p:nvSpPr>
        <p:spPr>
          <a:xfrm>
            <a:off x="9784080" y="53218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1.42 → 1.24 MW</a:t>
            </a:r>
            <a:endParaRPr lang="en-US" sz="1100" dirty="0"/>
          </a:p>
        </p:txBody>
      </p:sp>
      <p:sp>
        <p:nvSpPr>
          <p:cNvPr id="56" name="Text 49"/>
          <p:cNvSpPr/>
          <p:nvPr/>
        </p:nvSpPr>
        <p:spPr>
          <a:xfrm>
            <a:off x="6583680" y="5669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취득값 일치 확인</a:t>
            </a:r>
            <a:endParaRPr lang="en-US" sz="1050" dirty="0"/>
          </a:p>
        </p:txBody>
      </p:sp>
      <p:sp>
        <p:nvSpPr>
          <p:cNvPr id="57" name="Text 50"/>
          <p:cNvSpPr/>
          <p:nvPr/>
        </p:nvSpPr>
        <p:spPr>
          <a:xfrm>
            <a:off x="9784080" y="56692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24.85262 = 24.8526</a:t>
            </a:r>
            <a:endParaRPr lang="en-US" sz="1100" dirty="0"/>
          </a:p>
        </p:txBody>
      </p:sp>
      <p:sp>
        <p:nvSpPr>
          <p:cNvPr id="58" name="Text 51"/>
          <p:cNvSpPr/>
          <p:nvPr/>
        </p:nvSpPr>
        <p:spPr>
          <a:xfrm>
            <a:off x="6583680" y="60167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검증 항목 자동 점검</a:t>
            </a:r>
            <a:endParaRPr lang="en-US" sz="1050" dirty="0"/>
          </a:p>
        </p:txBody>
      </p:sp>
      <p:sp>
        <p:nvSpPr>
          <p:cNvPr id="59" name="Text 52"/>
          <p:cNvSpPr/>
          <p:nvPr/>
        </p:nvSpPr>
        <p:spPr>
          <a:xfrm>
            <a:off x="9784080" y="60167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150개 / 수정 시마다</a:t>
            </a:r>
            <a:endParaRPr lang="en-US" sz="1100" dirty="0"/>
          </a:p>
        </p:txBody>
      </p:sp>
      <p:sp>
        <p:nvSpPr>
          <p:cNvPr id="60" name="Text 53"/>
          <p:cNvSpPr/>
          <p:nvPr/>
        </p:nvSpPr>
        <p:spPr>
          <a:xfrm>
            <a:off x="6583680" y="6345936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계산식이 바뀌면 150개 항목을 자동으로 다시 검사 — 오류를 사전에 차단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어디까지 왔고, 앞으로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55280" y="155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: 발전운영팀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0" y="457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: ○○○  ·  2026. 8월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06984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0241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현황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32120" y="10241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개발 완료 · 현재 시운전 단계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212848"/>
            <a:ext cx="8869680" cy="0"/>
          </a:xfrm>
          <a:prstGeom prst="line">
            <a:avLst/>
          </a:prstGeom>
          <a:noFill/>
          <a:ln w="38100">
            <a:solidFill>
              <a:srgbClr val="E8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212848"/>
            <a:ext cx="7095744" cy="0"/>
          </a:xfrm>
          <a:prstGeom prst="line">
            <a:avLst/>
          </a:prstGeom>
          <a:noFill/>
          <a:ln w="38100">
            <a:solidFill>
              <a:srgbClr val="EA0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'26.6월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0936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-64008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방식 분석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-91440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4개 계산 구조 파악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911096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'26.6월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11096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04872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09928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엔진 개발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682496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결과와 동일함 검증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85032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'26.7월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85032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178808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자동 취득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56432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발전소 서버 직접 연결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58968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'26.8월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58968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52744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57800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완성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230368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5개 · 실행파일 배포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232904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'26.8월~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32904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진행중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616952" y="1956816"/>
            <a:ext cx="512064" cy="512064"/>
          </a:xfrm>
          <a:prstGeom prst="ellipse">
            <a:avLst/>
          </a:prstGeom>
          <a:solidFill>
            <a:srgbClr val="F47725">
              <a:alpha val="20000"/>
            </a:srgbClr>
          </a:solidFill>
          <a:ln w="12700">
            <a:solidFill>
              <a:srgbClr val="F4772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26680" y="2066544"/>
            <a:ext cx="292608" cy="292608"/>
          </a:xfrm>
          <a:prstGeom prst="ellipse">
            <a:avLst/>
          </a:prstGeom>
          <a:solidFill>
            <a:srgbClr val="F4772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31736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시운전 검증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004304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시험으로 정확도 확인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006840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'26.9월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006840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500616" y="2066544"/>
            <a:ext cx="292608" cy="292608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05672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정식 운영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8778240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 적용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2920" y="3785616"/>
            <a:ext cx="35661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58952" y="4005072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/>
          <p:nvPr/>
        </p:nvSpPr>
        <p:spPr>
          <a:xfrm>
            <a:off x="1106424" y="39593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방법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77240" y="4407408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하나만 복사하면 끝 (설치 불필요)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PC에서 바로 실행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엑셀·별도 프로그램 설치 필요 없음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379976" y="3785616"/>
            <a:ext cx="35661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636008" y="4005072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49" name="Text 47"/>
          <p:cNvSpPr/>
          <p:nvPr/>
        </p:nvSpPr>
        <p:spPr>
          <a:xfrm>
            <a:off x="4983480" y="39593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— 자료 외부 유출 없음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4654296" y="4407408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계산이 사내 PC 안에서만 수행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인터넷·외부 AI 서버 전송 없음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데이터는 담당자 PC에만 저장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57032" y="3785616"/>
            <a:ext cx="35661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513064" y="4005072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53" name="Text 51"/>
          <p:cNvSpPr/>
          <p:nvPr/>
        </p:nvSpPr>
        <p:spPr>
          <a:xfrm>
            <a:off x="8860536" y="39593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계획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8531352" y="4407408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시운전으로 실제 데이터 검증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발견 시 즉시 보완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결과가 쌓일수록 정확도 향상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2920" y="6144768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1F1A1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77240" y="61996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개발 완료 — 현재 시운전 단계 · 실제 시험으로 검증하며 정확도를 계속 높여갑니다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자동산정 Tool</dc:title>
  <dc:subject>PptxGenJS Presentation</dc:subject>
  <dc:creator>발전운영팀</dc:creator>
  <cp:lastModifiedBy>발전운영팀</cp:lastModifiedBy>
  <cp:revision>1</cp:revision>
  <dcterms:created xsi:type="dcterms:W3CDTF">2026-08-06T05:25:01Z</dcterms:created>
  <dcterms:modified xsi:type="dcterms:W3CDTF">2026-08-06T05:25:01Z</dcterms:modified>
</cp:coreProperties>
</file>