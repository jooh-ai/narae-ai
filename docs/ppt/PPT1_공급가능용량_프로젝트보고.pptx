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전력 판매를 위해 매일 '내일 낼 수 있는 전기량'을 신고합니다. 기온에 따라 출력이 376~472MW로 크게 달라지고, 허용범위가 ±0.5%(약 ±2MW)라 정확도가 중요합니다. 기존에는 엑셀 4개를 오가며 손으로 계산했는데 이를 자동화했고, 기존 엑셀과 계산이 동일함을 오차 0.19MW로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5개로 구성했습니다. 계산은 2단 구조입니다 — 1단은 설계 성능곡선(기존 엑셀과 동일), 2단은 실제 시험 31건에서 배운 보정값입니다. '186개 자동 점검'은 계산식을 수정할 때마다 프로그램이 스스로 186가지 항목을 다시 검사해 계산 오류를 사전에 막는 장치입니다.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종전에는 이론값과 실제값의 차이를 평균해 온도와 무관하게 같은 보정값을 일괄 적용했습니다. 그런데 실제 보정값은 온도에 따라 -3.5에서 +12.9 MW까지 폭 16.4 MW로 변합니다. 수평선 하나로는 양 끝을 동시에 맞출 수 없습니다. 겨울에는 9.7 MW 낮게 신고해 팔 수 있는 만큼 못 팔고, 여름에는 7.2 MW 높게 신고해 신고량을 못 지킬 위험이 생깁니다. 틀리는 방향이 반대라 일괄값을 올리거나 내려도 한쪽이 나빠집니다. 온도별 곡선으로 바꾸면 예측오차가 3.63에서 1.33 MW로 줄고, 안전마진을 적용하면 미달이 0건이 됩니다. ※ 비교는 '일괄'에 가능한 최선(학습 보정값 평균)을 준 값이라 실제 적용값이 이보다 좋을 수 없습니다. 재현: tool/scripts/method_compare.py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6월 분석·엔진 개발, 7월 데이터 자동취득, 8월 프로그램 완성까지 마쳤고 현재 시운전 중입니다. 9월 정식 운영이 목표입니다. 배포는 폴더 복사만으로 가능하며, 모든 계산이 사내 PC 안에서만 이뤄져 자료가 외부로 나가지 않습니다. ※ 마일스톤 날짜는 실제 일정에 맞게 수정하세요.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389888"/>
            <a:ext cx="365760" cy="365760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52728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신고합니다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58952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우리 발전소가 낼 수 있는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전기량을 전력거래소에 신고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79976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6008" y="1389888"/>
            <a:ext cx="365760" cy="365760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00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9784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온도가 변수입니다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636008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발전소라도 기온에 따라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출력이 376~472 MW 로 변동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2" y="1170432"/>
            <a:ext cx="3566160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13064" y="1389888"/>
            <a:ext cx="365760" cy="365760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19" name="Text 17"/>
          <p:cNvSpPr/>
          <p:nvPr/>
        </p:nvSpPr>
        <p:spPr>
          <a:xfrm>
            <a:off x="8513064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13624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곧 돈입니다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513064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허용범위 ±0.5% (약 ±2 MW)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적게 신고 → 손해 / 못 지키면 → 페널티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28712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지금까지는 이렇게 했습니다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218688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7F4F2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" y="345643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4개를 오가며 담당자가 직접 계산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결과를 손으로 옮겨 적고 평균 산출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61개 구간 값을 매번 수작업 입력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일이라 실수 가능성 존재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9011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＂엑셀 4개 · 수작업 · 반복＂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91072" y="28712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이렇게 바꿨습니다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1072" y="3218688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11112" y="3456432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입력하면 발전소 데이터 자동 취득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계산·보정·검증을 프로그램이 일괄 처리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61개 구간 신고파일까지 자동 생성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엑셀과 동일 계산 확인 (오차 0.19 MW)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11112" y="49011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＂날짜 입력 → 클릭 한 번＂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5541264"/>
            <a:ext cx="111831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6868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축적된 시험 결과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(−1.9 ~ 36.1°C)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06324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0.19</a:t>
            </a:r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MW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306324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 대비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계산 오차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25780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1.33</a:t>
            </a:r>
            <a:pPr indent="0" marL="0">
              <a:buNone/>
            </a:pPr>
            <a:r>
              <a:rPr lang="en-US" sz="11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MW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525780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오차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(일괄 3.63 → 2.7배 개선)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45236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45236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산출 온도 구간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(−20 ~ 40°C)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646920" y="570585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±0.5</a:t>
            </a:r>
            <a:pPr indent="0" marL="0">
              <a:buNone/>
            </a:pPr>
            <a:r>
              <a:rPr lang="en-US" sz="11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646920" y="6053328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입찰 허용범위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±2 MW)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5개짜리 Windows 프로그램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입력 → 자동 취득 → 보정 계산 → 신고파일 생성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2648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12" name="Image 0" descr="/home/user/Test/docs/ppt/s_r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536192"/>
            <a:ext cx="1856232" cy="185623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12648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86968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공급가능용량 산정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날짜만 입력하면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신고파일까지 자동 생성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779776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89504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19" name="Image 1" descr="/home/user/Test/docs/ppt/s_stat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9504" y="1536192"/>
            <a:ext cx="1856232" cy="1856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889504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21" name="Text 17"/>
          <p:cNvSpPr/>
          <p:nvPr/>
        </p:nvSpPr>
        <p:spPr>
          <a:xfrm>
            <a:off x="2889504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163824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온도별 보정값 현황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2779776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시험 건수를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신호등으로 표시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56632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166360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26" name="Image 2" descr="/home/user/Test/docs/ppt/s_lis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66360" y="1536192"/>
            <a:ext cx="1856232" cy="185623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5166360" y="3438144"/>
            <a:ext cx="219456" cy="219456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28" name="Text 23"/>
          <p:cNvSpPr/>
          <p:nvPr/>
        </p:nvSpPr>
        <p:spPr>
          <a:xfrm>
            <a:off x="5166360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5440680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 목록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5056632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31건 관리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(날짜·온도·측정값)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7333488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7443216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33" name="Image 3" descr="/home/user/Test/docs/ppt/s_sim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43216" y="1536192"/>
            <a:ext cx="1856232" cy="185623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443216" y="3438144"/>
            <a:ext cx="219456" cy="219456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35" name="Text 29"/>
          <p:cNvSpPr/>
          <p:nvPr/>
        </p:nvSpPr>
        <p:spPr>
          <a:xfrm>
            <a:off x="7443216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7717536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시뮬레이션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7333488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입력 → 예상 출력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후 즉시 대조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9610344" y="1426464"/>
            <a:ext cx="2075688" cy="2304288"/>
          </a:xfrm>
          <a:prstGeom prst="roundRect">
            <a:avLst>
              <a:gd name="adj" fmla="val 2643"/>
            </a:avLst>
          </a:prstGeom>
          <a:solidFill>
            <a:srgbClr val="FBF9F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9720072" y="1536192"/>
            <a:ext cx="1856232" cy="1856232"/>
          </a:xfrm>
          <a:prstGeom prst="roundRect">
            <a:avLst>
              <a:gd name="adj" fmla="val 147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</p:spPr>
      </p:sp>
      <p:pic>
        <p:nvPicPr>
          <p:cNvPr id="40" name="Image 4" descr="/home/user/Test/docs/ppt/s_char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720072" y="1536192"/>
            <a:ext cx="1856232" cy="1856232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9720072" y="3438144"/>
            <a:ext cx="219456" cy="219456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2" name="Text 35"/>
          <p:cNvSpPr/>
          <p:nvPr/>
        </p:nvSpPr>
        <p:spPr>
          <a:xfrm>
            <a:off x="9720072" y="34381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9994392" y="341985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출력곡선 비교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9610344" y="3803904"/>
            <a:ext cx="207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이론값 vs 보정 후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그래프로 확인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502920" y="4453128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6" name="Text 39"/>
          <p:cNvSpPr/>
          <p:nvPr/>
        </p:nvSpPr>
        <p:spPr>
          <a:xfrm>
            <a:off x="868680" y="4407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방식 — 2단 구조</a:t>
            </a:r>
            <a:endParaRPr lang="en-US" sz="1350" dirty="0"/>
          </a:p>
        </p:txBody>
      </p:sp>
      <p:sp>
        <p:nvSpPr>
          <p:cNvPr id="47" name="Shape 40"/>
          <p:cNvSpPr/>
          <p:nvPr/>
        </p:nvSpPr>
        <p:spPr>
          <a:xfrm>
            <a:off x="502920" y="4791456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8" name="Text 41"/>
          <p:cNvSpPr/>
          <p:nvPr/>
        </p:nvSpPr>
        <p:spPr>
          <a:xfrm>
            <a:off x="822960" y="4974336"/>
            <a:ext cx="48006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  이론값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성능곡선으로 계산 (기존 엑셀과 동일)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  보정값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 31건에서 배운 차이를 반영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신고값 = 이론값 + 보정값</a:t>
            </a:r>
            <a:endParaRPr lang="en-US" sz="1200" dirty="0"/>
          </a:p>
        </p:txBody>
      </p:sp>
      <p:sp>
        <p:nvSpPr>
          <p:cNvPr id="49" name="Shape 42"/>
          <p:cNvSpPr/>
          <p:nvPr/>
        </p:nvSpPr>
        <p:spPr>
          <a:xfrm>
            <a:off x="6291072" y="4453128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50" name="Text 43"/>
          <p:cNvSpPr/>
          <p:nvPr/>
        </p:nvSpPr>
        <p:spPr>
          <a:xfrm>
            <a:off x="6656832" y="44074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· 검증</a:t>
            </a:r>
            <a:endParaRPr lang="en-US" sz="1350" dirty="0"/>
          </a:p>
        </p:txBody>
      </p:sp>
      <p:sp>
        <p:nvSpPr>
          <p:cNvPr id="51" name="Shape 44"/>
          <p:cNvSpPr/>
          <p:nvPr/>
        </p:nvSpPr>
        <p:spPr>
          <a:xfrm>
            <a:off x="6291072" y="4791456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2" name="Text 45"/>
          <p:cNvSpPr/>
          <p:nvPr/>
        </p:nvSpPr>
        <p:spPr>
          <a:xfrm>
            <a:off x="6583680" y="497433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엑셀과 계산 일치</a:t>
            </a:r>
            <a:endParaRPr lang="en-US" sz="1050" dirty="0"/>
          </a:p>
        </p:txBody>
      </p:sp>
      <p:sp>
        <p:nvSpPr>
          <p:cNvPr id="53" name="Text 46"/>
          <p:cNvSpPr/>
          <p:nvPr/>
        </p:nvSpPr>
        <p:spPr>
          <a:xfrm>
            <a:off x="9784080" y="4974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오차 0.19 MW</a:t>
            </a:r>
            <a:endParaRPr lang="en-US" sz="1100" dirty="0"/>
          </a:p>
        </p:txBody>
      </p:sp>
      <p:sp>
        <p:nvSpPr>
          <p:cNvPr id="54" name="Text 47"/>
          <p:cNvSpPr/>
          <p:nvPr/>
        </p:nvSpPr>
        <p:spPr>
          <a:xfrm>
            <a:off x="6583680" y="53218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오차 (일괄 보정 → 온도별 곡선)</a:t>
            </a:r>
            <a:endParaRPr lang="en-US" sz="1050" dirty="0"/>
          </a:p>
        </p:txBody>
      </p:sp>
      <p:sp>
        <p:nvSpPr>
          <p:cNvPr id="55" name="Text 48"/>
          <p:cNvSpPr/>
          <p:nvPr/>
        </p:nvSpPr>
        <p:spPr>
          <a:xfrm>
            <a:off x="9784080" y="53218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3.63 → 1.33 MW</a:t>
            </a:r>
            <a:endParaRPr lang="en-US" sz="1100" dirty="0"/>
          </a:p>
        </p:txBody>
      </p:sp>
      <p:sp>
        <p:nvSpPr>
          <p:cNvPr id="56" name="Text 49"/>
          <p:cNvSpPr/>
          <p:nvPr/>
        </p:nvSpPr>
        <p:spPr>
          <a:xfrm>
            <a:off x="6583680" y="5669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취득값 일치 확인</a:t>
            </a:r>
            <a:endParaRPr lang="en-US" sz="1050" dirty="0"/>
          </a:p>
        </p:txBody>
      </p:sp>
      <p:sp>
        <p:nvSpPr>
          <p:cNvPr id="57" name="Text 50"/>
          <p:cNvSpPr/>
          <p:nvPr/>
        </p:nvSpPr>
        <p:spPr>
          <a:xfrm>
            <a:off x="9784080" y="5669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24.85262 = 24.8526</a:t>
            </a:r>
            <a:endParaRPr lang="en-US" sz="1100" dirty="0"/>
          </a:p>
        </p:txBody>
      </p:sp>
      <p:sp>
        <p:nvSpPr>
          <p:cNvPr id="58" name="Text 51"/>
          <p:cNvSpPr/>
          <p:nvPr/>
        </p:nvSpPr>
        <p:spPr>
          <a:xfrm>
            <a:off x="6583680" y="60167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검증 항목 자동 점검</a:t>
            </a:r>
            <a:endParaRPr lang="en-US" sz="1050" dirty="0"/>
          </a:p>
        </p:txBody>
      </p:sp>
      <p:sp>
        <p:nvSpPr>
          <p:cNvPr id="59" name="Text 52"/>
          <p:cNvSpPr/>
          <p:nvPr/>
        </p:nvSpPr>
        <p:spPr>
          <a:xfrm>
            <a:off x="9784080" y="60167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186개 / 수정 시마다</a:t>
            </a:r>
            <a:endParaRPr lang="en-US" sz="1100" dirty="0"/>
          </a:p>
        </p:txBody>
      </p:sp>
      <p:sp>
        <p:nvSpPr>
          <p:cNvPr id="60" name="Text 53"/>
          <p:cNvSpPr/>
          <p:nvPr/>
        </p:nvSpPr>
        <p:spPr>
          <a:xfrm>
            <a:off x="6583680" y="6345936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계산식이 바뀌면 186개 항목을 자동으로 다시 검사 — 오류를 사전에 차단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정확해졌나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종전에는 온도와 무관한 보정값 하나였습니다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이론값과 실제값의 차이를 평균해 전 온도에 같은 값을 적용 — '일괄 보정값'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426464"/>
            <a:ext cx="557784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15179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 (MW)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225296" y="3228746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12816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225296" y="2914193"/>
            <a:ext cx="4626864" cy="0"/>
          </a:xfrm>
          <a:prstGeom prst="line">
            <a:avLst/>
          </a:prstGeom>
          <a:noFill/>
          <a:ln w="12700">
            <a:solidFill>
              <a:srgbClr val="DCD2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813609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25296" y="2599639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499055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225296" y="2285086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18450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+8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25296" y="1970532"/>
            <a:ext cx="4626864" cy="0"/>
          </a:xfrm>
          <a:prstGeom prst="line">
            <a:avLst/>
          </a:prstGeom>
          <a:noFill/>
          <a:ln w="12700">
            <a:solidFill>
              <a:srgbClr val="F1EB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18699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470848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0°C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510593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10°C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550338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20°C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90083" y="33924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30°C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225296" y="2635600"/>
            <a:ext cx="4626864" cy="0"/>
          </a:xfrm>
          <a:prstGeom prst="line">
            <a:avLst/>
          </a:prstGeom>
          <a:noFill/>
          <a:ln w="22225">
            <a:solidFill>
              <a:srgbClr val="6B625E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200400" y="241614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종전 : 일괄 보정값 +3.5 MW (온도 무관)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497325" y="1845927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44113" y="1883123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92428" y="217322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0377" y="241464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8723" y="243658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2698" y="2472517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26672" y="250586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0249" y="2373276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82634" y="2576320"/>
            <a:ext cx="100584" cy="100584"/>
          </a:xfrm>
          <a:prstGeom prst="ellipse">
            <a:avLst/>
          </a:prstGeom>
          <a:solidFill>
            <a:srgbClr val="EA002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59390" y="2459385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15352" y="2483763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46544" y="2319409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77737" y="2354403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92109" y="2285830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02506" y="2391205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64891" y="2424469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0853" y="2441927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31250" y="2415426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09533" y="2657947"/>
            <a:ext cx="100584" cy="100584"/>
          </a:xfrm>
          <a:prstGeom prst="ellipse">
            <a:avLst/>
          </a:prstGeom>
          <a:solidFill>
            <a:srgbClr val="F0431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04636" y="3029749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325430" y="3122149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43777" y="3074023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34905" y="299011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86893" y="313512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4842" y="3063721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05239" y="269789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105239" y="2754515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88419" y="2810584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09214" y="3046892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92393" y="2805787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48355" y="2698760"/>
            <a:ext cx="100584" cy="100584"/>
          </a:xfrm>
          <a:prstGeom prst="ellipse">
            <a:avLst/>
          </a:prstGeom>
          <a:solidFill>
            <a:srgbClr val="F4772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547617" y="1896219"/>
            <a:ext cx="0" cy="739381"/>
          </a:xfrm>
          <a:prstGeom prst="line">
            <a:avLst/>
          </a:prstGeom>
          <a:noFill/>
          <a:ln w="15875">
            <a:solidFill>
              <a:srgbClr val="1F1A1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185" y="2635600"/>
            <a:ext cx="0" cy="549817"/>
          </a:xfrm>
          <a:prstGeom prst="line">
            <a:avLst/>
          </a:prstGeom>
          <a:noFill/>
          <a:ln w="15875">
            <a:solidFill>
              <a:srgbClr val="1F1A1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35935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31건 — 보정값이 -3.4 ~ +12.9 MW (폭 16.4 MW) 로 변합니다.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수평선 하나로는 양 끝을 동시에 맞출 수 없습니다.</a:t>
            </a:r>
            <a:pPr indent="0" marL="0">
              <a:lnSpc>
                <a:spcPts val="1200"/>
              </a:lnSpc>
              <a:buNone/>
            </a:pP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세로선 = 양 끝에서 어긋나는 폭 : 겨울 +9.4 MW · 여름 -7.0 MW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291072" y="1426464"/>
            <a:ext cx="539496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583680" y="159105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데이터로 비교 — 시험 31건 교차검증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6583680" y="190195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방식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631936" y="1901952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예측오차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601200" y="190195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96144" y="190195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과대입찰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583680" y="2157984"/>
            <a:ext cx="4846320" cy="0"/>
          </a:xfrm>
          <a:prstGeom prst="line">
            <a:avLst/>
          </a:prstGeom>
          <a:noFill/>
          <a:ln w="12700">
            <a:solidFill>
              <a:srgbClr val="E8E0D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583680" y="221284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보정 (종전)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631936" y="221284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3.63 MW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601200" y="221284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10건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10296144" y="22128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51.9 MW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583680" y="257860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 구간평균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631936" y="257860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1.52 MW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9601200" y="257860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10296144" y="257860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MW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6492240" y="2926080"/>
            <a:ext cx="5029200" cy="329184"/>
          </a:xfrm>
          <a:prstGeom prst="rect">
            <a:avLst/>
          </a:prstGeom>
          <a:solidFill>
            <a:srgbClr val="FFF4EE"/>
          </a:solidFill>
          <a:ln/>
        </p:spPr>
      </p:sp>
      <p:sp>
        <p:nvSpPr>
          <p:cNvPr id="78" name="Text 76"/>
          <p:cNvSpPr/>
          <p:nvPr/>
        </p:nvSpPr>
        <p:spPr>
          <a:xfrm>
            <a:off x="6583680" y="294436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온도별 곡선 (현재)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631936" y="29443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1.33 MW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9601200" y="294436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10296144" y="294436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MW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6492240" y="3291840"/>
            <a:ext cx="5029200" cy="329184"/>
          </a:xfrm>
          <a:prstGeom prst="rect">
            <a:avLst/>
          </a:prstGeom>
          <a:solidFill>
            <a:srgbClr val="FFF4EE"/>
          </a:solidFill>
          <a:ln/>
        </p:spPr>
      </p:sp>
      <p:sp>
        <p:nvSpPr>
          <p:cNvPr id="83" name="Text 81"/>
          <p:cNvSpPr/>
          <p:nvPr/>
        </p:nvSpPr>
        <p:spPr>
          <a:xfrm>
            <a:off x="6583680" y="3310128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안전마진 적용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631936" y="331012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1.73 MW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9601200" y="3310128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10296144" y="331012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 MW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6583680" y="3675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예측오차 = 평균적으로 틀리는 폭  ·  미달 = 신고량을 못 지킨 횟수(31건 중)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과대입찰 = 미달 건들의 부족분 합계 — 페널티 위험에 노출된 총량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502920" y="4160520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89" name="Text 87"/>
          <p:cNvSpPr/>
          <p:nvPr/>
        </p:nvSpPr>
        <p:spPr>
          <a:xfrm>
            <a:off x="868680" y="41148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값으로는 고칠 수 없는 구조</a:t>
            </a:r>
            <a:endParaRPr lang="en-US" sz="1350" dirty="0"/>
          </a:p>
        </p:txBody>
      </p:sp>
      <p:sp>
        <p:nvSpPr>
          <p:cNvPr id="90" name="Shape 88"/>
          <p:cNvSpPr/>
          <p:nvPr/>
        </p:nvSpPr>
        <p:spPr>
          <a:xfrm>
            <a:off x="502920" y="4498848"/>
            <a:ext cx="5577840" cy="1591056"/>
          </a:xfrm>
          <a:prstGeom prst="roundRect">
            <a:avLst>
              <a:gd name="adj" fmla="val 3448"/>
            </a:avLst>
          </a:prstGeom>
          <a:solidFill>
            <a:srgbClr val="FFF4EE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91" name="Text 89"/>
          <p:cNvSpPr/>
          <p:nvPr/>
        </p:nvSpPr>
        <p:spPr>
          <a:xfrm>
            <a:off x="804672" y="46817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  −1.9°C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2066544" y="46817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+12.9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3054096" y="46817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+3.5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4041648" y="46817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9.4 MW 낮게 신고 = 기회손실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804672" y="51023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 30.7°C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2066544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−3.4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3054096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+3.5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4041648" y="510235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7.0 MW 높게 신고 = 미달 위험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804672" y="5559552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틀리는 방향이 반대입니다. 일괄값을 올리면 여름 미달이 커지고, 내리면 겨울 기회손실이 커집니다.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291072" y="4160520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101" name="Text 99"/>
          <p:cNvSpPr/>
          <p:nvPr/>
        </p:nvSpPr>
        <p:spPr>
          <a:xfrm>
            <a:off x="6656832" y="41148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운용 순서로 재검증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6291072" y="4498848"/>
            <a:ext cx="5394960" cy="159105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6583680" y="459028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과거만 보고 다음 시험을 예측 (23건)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144000" y="462686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종전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10287000" y="4626864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6583680" y="48828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예측오차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9144000" y="4882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2.83 MW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10287000" y="488289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1.79 MW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6583680" y="52120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9144000" y="5212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5건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10287000" y="5212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1건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6583680" y="554126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합계 (과대입찰＋기회손실)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9144000" y="55412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7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58.3 MW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10287000" y="554126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30.0 MW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6583680" y="583387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초기 학습 데이터가 적어 오차가 큽니다 — 시험이 쌓이면 줄어듭니다.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502920" y="6199632"/>
            <a:ext cx="11183112" cy="457200"/>
          </a:xfrm>
          <a:prstGeom prst="roundRect">
            <a:avLst>
              <a:gd name="adj" fmla="val 12000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117" name="Text 115"/>
          <p:cNvSpPr/>
          <p:nvPr/>
        </p:nvSpPr>
        <p:spPr>
          <a:xfrm>
            <a:off x="777240" y="62453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 하나 → 온도별 곡선 : 예측오차 3.63 → 1.33 MW, 신고량 미달 10건 → 0건 (안전마진 적용 시)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1A18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어디까지 왔고, 앞으로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955280" y="155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: 발전운영팀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0" y="457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: ○○○  ·  2026. 8월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069848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0241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현황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32120" y="10241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개발 완료 · 현재 시운전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2212848"/>
            <a:ext cx="8869680" cy="0"/>
          </a:xfrm>
          <a:prstGeom prst="line">
            <a:avLst/>
          </a:prstGeom>
          <a:noFill/>
          <a:ln w="38100">
            <a:solidFill>
              <a:srgbClr val="E8E0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212848"/>
            <a:ext cx="7095744" cy="0"/>
          </a:xfrm>
          <a:prstGeom prst="line">
            <a:avLst/>
          </a:prstGeom>
          <a:noFill/>
          <a:ln w="38100">
            <a:solidFill>
              <a:srgbClr val="EA0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'26.6월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8096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방식 분석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4개 계산 구조 파악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48256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'26.6월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48256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42032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47088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엔진 개발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819656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결과와 동일함 검증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22192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'26.7월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22192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15968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21024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자동 취득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593592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발전소 서버 직접 연결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596128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'26.8월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96128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0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89904" y="2066544"/>
            <a:ext cx="292608" cy="292608"/>
          </a:xfrm>
          <a:prstGeom prst="ellipse">
            <a:avLst/>
          </a:prstGeom>
          <a:solidFill>
            <a:srgbClr val="EA00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완성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67528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5개 · 실행파일 배포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370064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'26.8월~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70064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772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진행중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754112" y="1956816"/>
            <a:ext cx="512064" cy="512064"/>
          </a:xfrm>
          <a:prstGeom prst="ellipse">
            <a:avLst/>
          </a:prstGeom>
          <a:solidFill>
            <a:srgbClr val="F47725">
              <a:alpha val="20000"/>
            </a:srgbClr>
          </a:solidFill>
          <a:ln w="12700">
            <a:solidFill>
              <a:srgbClr val="F4772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0" y="2066544"/>
            <a:ext cx="292608" cy="292608"/>
          </a:xfrm>
          <a:prstGeom prst="ellipse">
            <a:avLst/>
          </a:prstGeom>
          <a:solidFill>
            <a:srgbClr val="F4772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68896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시운전 검증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141464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시험으로 정확도 확인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1440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'26.9월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0" y="16459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BFB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637776" y="2066544"/>
            <a:ext cx="292608" cy="292608"/>
          </a:xfrm>
          <a:prstGeom prst="ellipse">
            <a:avLst/>
          </a:prstGeom>
          <a:solidFill>
            <a:srgbClr val="C9BFB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2832" y="245059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90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정식 운영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8915400" y="27249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 적용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58952" y="4005072"/>
            <a:ext cx="237744" cy="237744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/>
          <p:nvPr/>
        </p:nvSpPr>
        <p:spPr>
          <a:xfrm>
            <a:off x="1106424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방법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77240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하나만 복사하면 끝 (설치 불필요)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PC에서 바로 실행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엑셀·별도 프로그램 설치 필요 없음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379976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636008" y="4005072"/>
            <a:ext cx="237744" cy="237744"/>
          </a:xfrm>
          <a:prstGeom prst="ellipse">
            <a:avLst/>
          </a:prstGeom>
          <a:solidFill>
            <a:srgbClr val="F47725"/>
          </a:solidFill>
          <a:ln/>
        </p:spPr>
      </p:sp>
      <p:sp>
        <p:nvSpPr>
          <p:cNvPr id="49" name="Text 47"/>
          <p:cNvSpPr/>
          <p:nvPr/>
        </p:nvSpPr>
        <p:spPr>
          <a:xfrm>
            <a:off x="4983480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— 자료 외부 유출 없음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4654296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계산이 사내 PC 안에서만 수행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인터넷·외부 AI 서버 전송 없음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데이터는 담당자 PC에만 저장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57032" y="3785616"/>
            <a:ext cx="35661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513064" y="4005072"/>
            <a:ext cx="237744" cy="237744"/>
          </a:xfrm>
          <a:prstGeom prst="ellipse">
            <a:avLst/>
          </a:prstGeom>
          <a:solidFill>
            <a:srgbClr val="8A7F7A"/>
          </a:solidFill>
          <a:ln/>
        </p:spPr>
      </p:sp>
      <p:sp>
        <p:nvSpPr>
          <p:cNvPr id="53" name="Text 51"/>
          <p:cNvSpPr/>
          <p:nvPr/>
        </p:nvSpPr>
        <p:spPr>
          <a:xfrm>
            <a:off x="8860536" y="39593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8531352" y="4407408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시운전으로 실제 데이터 검증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발견 시 즉시 보완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B62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결과가 쌓일수록 정확도 향상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2920" y="614476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1F1A18"/>
          </a:solidFill>
          <a:ln w="12700">
            <a:solidFill>
              <a:srgbClr val="E8E0DC"/>
            </a:solidFill>
            <a:prstDash val="solid"/>
          </a:ln>
          <a:effectLst>
            <a:outerShdw sx="100000" sy="100000" kx="0" ky="0" algn="bl" rotWithShape="0" blurRad="101600" dist="12700" dir="5400000">
              <a:srgbClr val="D8CFCA">
                <a:alpha val="5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77240" y="6199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개발 완료 — 현재 시운전 단계 · 실제 시험으로 검증하며 정확도를 계속 높여갑니다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자동산정 Tool</dc:title>
  <dc:subject>PptxGenJS Presentation</dc:subject>
  <dc:creator>발전운영팀</dc:creator>
  <cp:lastModifiedBy>발전운영팀</cp:lastModifiedBy>
  <cp:revision>1</cp:revision>
  <dcterms:created xsi:type="dcterms:W3CDTF">2026-08-23T08:11:20Z</dcterms:created>
  <dcterms:modified xsi:type="dcterms:W3CDTF">2026-08-23T08:11:20Z</dcterms:modified>
</cp:coreProperties>
</file>