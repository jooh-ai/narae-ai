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66800"/>
            <a:ext cx="561975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산정,</a:t>
            </a:r>
            <a:endParaRPr lang="en-US" sz="3300" dirty="0"/>
          </a:p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판단에서 </a:t>
            </a:r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552700"/>
            <a:ext cx="561975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4개로 하던 일을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하나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로,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876550"/>
            <a:ext cx="561975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 정하던 값을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학습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으로.</a:t>
            </a:r>
            <a:endParaRPr lang="en-US" sz="1575" dirty="0"/>
          </a:p>
        </p:txBody>
      </p:sp>
      <p:sp>
        <p:nvSpPr>
          <p:cNvPr id="8" name="Shape 6"/>
          <p:cNvSpPr/>
          <p:nvPr/>
        </p:nvSpPr>
        <p:spPr>
          <a:xfrm>
            <a:off x="6362700" y="1066800"/>
            <a:ext cx="5143500" cy="3028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5100" y="1200150"/>
            <a:ext cx="457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· MW · 외기온도 0 ~ 30℃</a:t>
            </a:r>
            <a:endParaRPr lang="en-US" sz="788" dirty="0"/>
          </a:p>
        </p:txBody>
      </p:sp>
      <p:sp>
        <p:nvSpPr>
          <p:cNvPr id="10" name="Shape 8"/>
          <p:cNvSpPr/>
          <p:nvPr/>
        </p:nvSpPr>
        <p:spPr>
          <a:xfrm>
            <a:off x="6896100" y="1638300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96100" y="2628900"/>
            <a:ext cx="4286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96100" y="3124200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96100" y="1638300"/>
            <a:ext cx="0" cy="1485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5100" y="1600200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2590800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3086100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972300" y="3124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3700" y="32385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324850" y="3124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96250" y="32385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677400" y="3124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48800" y="32385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1029950" y="3124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801350" y="32385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96100" y="2324910"/>
            <a:ext cx="42862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6972300" y="2138220"/>
            <a:ext cx="2286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온도 구분 없이 +2.5 MW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72300" y="1702689"/>
            <a:ext cx="1352550" cy="286036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4850" y="1988725"/>
            <a:ext cx="1352550" cy="215455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77400" y="2204180"/>
            <a:ext cx="1352550" cy="70827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34200" y="1664589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86750" y="1950625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Shape 30"/>
          <p:cNvSpPr/>
          <p:nvPr/>
        </p:nvSpPr>
        <p:spPr>
          <a:xfrm>
            <a:off x="9639300" y="216608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991850" y="2874359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067550" y="1807464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</a:t>
            </a:r>
            <a:endParaRPr lang="en-US" sz="938" dirty="0"/>
          </a:p>
        </p:txBody>
      </p:sp>
      <p:sp>
        <p:nvSpPr>
          <p:cNvPr id="35" name="Text 33"/>
          <p:cNvSpPr txBox="1"/>
          <p:nvPr/>
        </p:nvSpPr>
        <p:spPr>
          <a:xfrm>
            <a:off x="10306050" y="2960084"/>
            <a:ext cx="6286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−2.3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6515100" y="3695700"/>
            <a:ext cx="47625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13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0℃ 에서 5.0 MW 모자라고,  28℃ 에서 5.1 MW 넘칩니다</a:t>
            </a:r>
            <a:endParaRPr lang="en-US" sz="1013" dirty="0"/>
          </a:p>
        </p:txBody>
      </p:sp>
      <p:sp>
        <p:nvSpPr>
          <p:cNvPr id="37" name="Text 35"/>
          <p:cNvSpPr txBox="1"/>
          <p:nvPr/>
        </p:nvSpPr>
        <p:spPr>
          <a:xfrm>
            <a:off x="6515100" y="3905250"/>
            <a:ext cx="483870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기준선 +2.5 MW = 누적 40회 보정값의 평균 (온도를 안 보고 하나로 맞출 때 오차 최소)</a:t>
            </a:r>
            <a:endParaRPr lang="en-US" sz="788" dirty="0"/>
          </a:p>
        </p:txBody>
      </p:sp>
      <p:sp>
        <p:nvSpPr>
          <p:cNvPr id="38" name="Shape 36"/>
          <p:cNvSpPr/>
          <p:nvPr/>
        </p:nvSpPr>
        <p:spPr>
          <a:xfrm>
            <a:off x="685800" y="45720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85800" y="4781550"/>
            <a:ext cx="323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(MAE · 평균 몇 MW 틀렸나)</a:t>
            </a:r>
            <a:endParaRPr lang="en-US" sz="788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5010150"/>
            <a:ext cx="20955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3"/>
              </a:lnSpc>
              <a:buNone/>
            </a:pPr>
            <a:r>
              <a:rPr lang="en-US" sz="40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67%↓</a:t>
            </a:r>
            <a:endParaRPr lang="en-US" sz="4050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5676900"/>
            <a:ext cx="28575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3.90 → 1.30 MW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4000500" y="4781550"/>
            <a:ext cx="323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 (실제 &lt; 신고값)</a:t>
            </a:r>
            <a:endParaRPr lang="en-US" sz="788" dirty="0"/>
          </a:p>
        </p:txBody>
      </p:sp>
      <p:sp>
        <p:nvSpPr>
          <p:cNvPr id="43" name="Text 41"/>
          <p:cNvSpPr txBox="1"/>
          <p:nvPr/>
        </p:nvSpPr>
        <p:spPr>
          <a:xfrm>
            <a:off x="4000500" y="5010150"/>
            <a:ext cx="20955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3"/>
              </a:lnSpc>
              <a:buNone/>
            </a:pPr>
            <a:r>
              <a:rPr lang="en-US" sz="40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4050" dirty="0"/>
          </a:p>
        </p:txBody>
      </p:sp>
      <p:sp>
        <p:nvSpPr>
          <p:cNvPr id="44" name="Text 42"/>
          <p:cNvSpPr txBox="1"/>
          <p:nvPr/>
        </p:nvSpPr>
        <p:spPr>
          <a:xfrm>
            <a:off x="4000500" y="5676900"/>
            <a:ext cx="28575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→ 4 회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7315200" y="4781550"/>
            <a:ext cx="323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 (높게 신고한 양)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7315200" y="5010150"/>
            <a:ext cx="2095500" cy="5400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53"/>
              </a:lnSpc>
              <a:buNone/>
            </a:pPr>
            <a:r>
              <a:rPr lang="en-US" sz="40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4050" dirty="0"/>
          </a:p>
        </p:txBody>
      </p:sp>
      <p:sp>
        <p:nvSpPr>
          <p:cNvPr id="47" name="Text 45"/>
          <p:cNvSpPr txBox="1"/>
          <p:nvPr/>
        </p:nvSpPr>
        <p:spPr>
          <a:xfrm>
            <a:off x="7315200" y="5676900"/>
            <a:ext cx="28575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69.5 → 9.3 MW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3771900" y="4781550"/>
            <a:ext cx="0" cy="1104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086600" y="4781550"/>
            <a:ext cx="0" cy="1104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7696200" y="6229350"/>
            <a:ext cx="381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발표 10분  ·  Tool 시연 4분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44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말씀드릴 순서입니다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56210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앞의 세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뒤의 네 항목이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무엇을 어떻게 바꿨는지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241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50" dirty="0"/>
          </a:p>
        </p:txBody>
      </p:sp>
      <p:sp>
        <p:nvSpPr>
          <p:cNvPr id="7" name="Text 5"/>
          <p:cNvSpPr txBox="1"/>
          <p:nvPr/>
        </p:nvSpPr>
        <p:spPr>
          <a:xfrm>
            <a:off x="1409700" y="23431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endParaRPr lang="en-US" sz="1575" dirty="0"/>
          </a:p>
        </p:txBody>
      </p:sp>
      <p:sp>
        <p:nvSpPr>
          <p:cNvPr id="8" name="Text 6"/>
          <p:cNvSpPr txBox="1"/>
          <p:nvPr/>
        </p:nvSpPr>
        <p:spPr>
          <a:xfrm>
            <a:off x="10172700" y="24003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85800" y="27241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8384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50" dirty="0"/>
          </a:p>
        </p:txBody>
      </p:sp>
      <p:sp>
        <p:nvSpPr>
          <p:cNvPr id="11" name="Text 9"/>
          <p:cNvSpPr txBox="1"/>
          <p:nvPr/>
        </p:nvSpPr>
        <p:spPr>
          <a:xfrm>
            <a:off x="1409700" y="28575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endParaRPr lang="en-US" sz="1575" dirty="0"/>
          </a:p>
        </p:txBody>
      </p:sp>
      <p:sp>
        <p:nvSpPr>
          <p:cNvPr id="12" name="Text 10"/>
          <p:cNvSpPr txBox="1"/>
          <p:nvPr/>
        </p:nvSpPr>
        <p:spPr>
          <a:xfrm>
            <a:off x="10172700" y="29146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85800" y="32385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3528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1409700" y="33718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10172700" y="34290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37528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38671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50" dirty="0"/>
          </a:p>
        </p:txBody>
      </p:sp>
      <p:sp>
        <p:nvSpPr>
          <p:cNvPr id="19" name="Text 17"/>
          <p:cNvSpPr txBox="1"/>
          <p:nvPr/>
        </p:nvSpPr>
        <p:spPr>
          <a:xfrm>
            <a:off x="1409700" y="38862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10172700" y="39433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~ 09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85800" y="42672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5800" y="43815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50" dirty="0"/>
          </a:p>
        </p:txBody>
      </p:sp>
      <p:sp>
        <p:nvSpPr>
          <p:cNvPr id="23" name="Text 21"/>
          <p:cNvSpPr txBox="1"/>
          <p:nvPr/>
        </p:nvSpPr>
        <p:spPr>
          <a:xfrm>
            <a:off x="1409700" y="44005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10172700" y="44577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85800" y="478155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489585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250" dirty="0"/>
          </a:p>
        </p:txBody>
      </p:sp>
      <p:sp>
        <p:nvSpPr>
          <p:cNvPr id="27" name="Text 25"/>
          <p:cNvSpPr txBox="1"/>
          <p:nvPr/>
        </p:nvSpPr>
        <p:spPr>
          <a:xfrm>
            <a:off x="1409700" y="491490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10172700" y="497205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5295900"/>
            <a:ext cx="108204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5410200"/>
            <a:ext cx="533400" cy="30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22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250" dirty="0"/>
          </a:p>
        </p:txBody>
      </p:sp>
      <p:sp>
        <p:nvSpPr>
          <p:cNvPr id="31" name="Text 29"/>
          <p:cNvSpPr txBox="1"/>
          <p:nvPr/>
        </p:nvSpPr>
        <p:spPr>
          <a:xfrm>
            <a:off x="1409700" y="5429250"/>
            <a:ext cx="7620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10172700" y="5486400"/>
            <a:ext cx="13335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본문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10장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· 발표 10분 + Tool 시연 4분</a:t>
            </a:r>
            <a:endParaRPr lang="en-US" sz="12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장 요약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9906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4개로 하던 일을 도구 하나로,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 정하던 값을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0965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처리는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 한 번 입력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끝나고, 신고 숫자는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실적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정합니다.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70510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 ·  MAE</a:t>
            </a:r>
            <a:endParaRPr lang="en-US" sz="788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67050"/>
            <a:ext cx="1402080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4500" dirty="0"/>
          </a:p>
        </p:txBody>
      </p:sp>
      <p:sp>
        <p:nvSpPr>
          <p:cNvPr id="9" name="Text 7"/>
          <p:cNvSpPr txBox="1"/>
          <p:nvPr/>
        </p:nvSpPr>
        <p:spPr>
          <a:xfrm>
            <a:off x="2145030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792730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3.90</a:t>
            </a:r>
            <a:endParaRPr lang="en-US" sz="1575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810000"/>
            <a:ext cx="3295650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신고할 값을 미리 계산했을 때 실제와 벌어진 폭의 평균입니다. 작을수록 좋습니다.</a:t>
            </a:r>
            <a:endParaRPr lang="en-US" sz="938" dirty="0"/>
          </a:p>
        </p:txBody>
      </p:sp>
      <p:sp>
        <p:nvSpPr>
          <p:cNvPr id="12" name="Shape 10"/>
          <p:cNvSpPr/>
          <p:nvPr/>
        </p:nvSpPr>
        <p:spPr>
          <a:xfrm>
            <a:off x="4448175" y="2705100"/>
            <a:ext cx="329565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448175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14" name="Text 12"/>
          <p:cNvSpPr txBox="1"/>
          <p:nvPr/>
        </p:nvSpPr>
        <p:spPr>
          <a:xfrm>
            <a:off x="4448175" y="3067050"/>
            <a:ext cx="364808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4500" dirty="0"/>
          </a:p>
        </p:txBody>
      </p:sp>
      <p:sp>
        <p:nvSpPr>
          <p:cNvPr id="15" name="Text 13"/>
          <p:cNvSpPr txBox="1"/>
          <p:nvPr/>
        </p:nvSpPr>
        <p:spPr>
          <a:xfrm>
            <a:off x="4870133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517833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15</a:t>
            </a:r>
            <a:endParaRPr lang="en-US" sz="1575" dirty="0"/>
          </a:p>
        </p:txBody>
      </p:sp>
      <p:sp>
        <p:nvSpPr>
          <p:cNvPr id="17" name="Text 15"/>
          <p:cNvSpPr txBox="1"/>
          <p:nvPr/>
        </p:nvSpPr>
        <p:spPr>
          <a:xfrm>
            <a:off x="4448175" y="3810000"/>
            <a:ext cx="3295650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출력이 신고값에 못 미친 횟수입니다. 벌점이 붙는 회차입니다.</a:t>
            </a:r>
            <a:endParaRPr lang="en-US" sz="938" dirty="0"/>
          </a:p>
        </p:txBody>
      </p:sp>
      <p:sp>
        <p:nvSpPr>
          <p:cNvPr id="18" name="Shape 16"/>
          <p:cNvSpPr/>
          <p:nvPr/>
        </p:nvSpPr>
        <p:spPr>
          <a:xfrm>
            <a:off x="8210550" y="270510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210550" y="283845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8210550" y="3067050"/>
            <a:ext cx="105632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725"/>
              </a:lnSpc>
              <a:buNone/>
            </a:pPr>
            <a:r>
              <a:rPr lang="en-US" sz="45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9.3</a:t>
            </a:r>
            <a:endParaRPr lang="en-US" sz="4500" dirty="0"/>
          </a:p>
        </p:txBody>
      </p:sp>
      <p:sp>
        <p:nvSpPr>
          <p:cNvPr id="21" name="Text 19"/>
          <p:cNvSpPr txBox="1"/>
          <p:nvPr/>
        </p:nvSpPr>
        <p:spPr>
          <a:xfrm>
            <a:off x="9324023" y="3352800"/>
            <a:ext cx="4000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9971723" y="3390900"/>
            <a:ext cx="1333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69.5</a:t>
            </a:r>
            <a:endParaRPr lang="en-US" sz="1575" dirty="0"/>
          </a:p>
        </p:txBody>
      </p:sp>
      <p:sp>
        <p:nvSpPr>
          <p:cNvPr id="23" name="Text 21"/>
          <p:cNvSpPr txBox="1"/>
          <p:nvPr/>
        </p:nvSpPr>
        <p:spPr>
          <a:xfrm>
            <a:off x="8210550" y="3810000"/>
            <a:ext cx="3295650" cy="3690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동안 실제보다 높게 신고한 양을 모두 더한 값입니다.</a:t>
            </a:r>
            <a:endParaRPr lang="en-US" sz="938" dirty="0"/>
          </a:p>
        </p:txBody>
      </p:sp>
      <p:sp>
        <p:nvSpPr>
          <p:cNvPr id="24" name="Shape 22"/>
          <p:cNvSpPr/>
          <p:nvPr/>
        </p:nvSpPr>
        <p:spPr>
          <a:xfrm>
            <a:off x="685800" y="4381500"/>
            <a:ext cx="10820400" cy="14859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25" name="Shape 23"/>
          <p:cNvSpPr/>
          <p:nvPr/>
        </p:nvSpPr>
        <p:spPr>
          <a:xfrm>
            <a:off x="685800" y="438150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26" name="Shape 24"/>
          <p:cNvSpPr/>
          <p:nvPr/>
        </p:nvSpPr>
        <p:spPr>
          <a:xfrm>
            <a:off x="6096000" y="43815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Shape 25"/>
          <p:cNvSpPr/>
          <p:nvPr/>
        </p:nvSpPr>
        <p:spPr>
          <a:xfrm>
            <a:off x="6096000" y="4648200"/>
            <a:ext cx="0" cy="952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867400" y="4933950"/>
            <a:ext cx="457200" cy="38100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867400" y="4972050"/>
            <a:ext cx="4572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640"/>
              </a:lnSpc>
              <a:buNone/>
            </a:pPr>
            <a:r>
              <a:rPr lang="en-US" sz="24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14400" y="46101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 ·  엑셀 4개  ·  사람의 판단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914400" y="483870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무관한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값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914400" y="5257800"/>
            <a:ext cx="4762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순서대로 돌려 만들었습니다.</a:t>
            </a:r>
            <a:endParaRPr lang="en-US" sz="1125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46101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 ·  도구 1개  ·  데이터의 학습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6324600" y="483870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</a:t>
            </a:r>
            <a:endParaRPr lang="en-US" sz="1575" dirty="0"/>
          </a:p>
        </p:txBody>
      </p:sp>
      <p:sp>
        <p:nvSpPr>
          <p:cNvPr id="35" name="Text 33"/>
          <p:cNvSpPr txBox="1"/>
          <p:nvPr/>
        </p:nvSpPr>
        <p:spPr>
          <a:xfrm>
            <a:off x="6324600" y="5257800"/>
            <a:ext cx="4762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날짜·시각만 넣으면 바로 나옵니다.</a:t>
            </a:r>
            <a:endParaRPr lang="en-US" sz="1125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5905500"/>
            <a:ext cx="1082040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누적 40회 실적에 종전 방식과 현재 도구를 각각 적용해 채점한 재현값입니다 (한 회를 가리고 나머지로 예측 · LOOCV 39회, 미달은 ±0.5% 밴드). 실제 신고 이력이 아닙니다.</a:t>
            </a:r>
            <a:endParaRPr lang="en-US" sz="825" dirty="0"/>
          </a:p>
        </p:txBody>
      </p:sp>
      <p:sp>
        <p:nvSpPr>
          <p:cNvPr id="37" name="Shape 3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9" name="Text 3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한 번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으로, 숫자는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실적이 만들어 내는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바꿨습니다.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개요 및 추진 배경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왜 하는가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숫자입니다,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양쪽으로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손실입니다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구분 없이 하나의 값으로 신고하면,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방식인데도 계절에 따라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어느 쪽으로든 어긋납니다.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21336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003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외기온도별 출력  ·  단위 MW  ·  종전 신고(이론값 + 2.5 하나로) vs 실제 능력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428750" y="449433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42766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360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428750" y="4259873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4193198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380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1428750" y="4025412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3958737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428750" y="379095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3724275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428750" y="3556488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489813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1428750" y="3322027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3255352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1428750" y="308756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4400" y="302089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480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1428750" y="4552950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428750" y="45529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200150" y="46291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-10℃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3333750" y="45529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3105150" y="46291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5238750" y="45529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5010150" y="46291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143750" y="45529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915150" y="46291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9048750" y="45529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820150" y="46291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10953750" y="45529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0725150" y="46291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428750" y="3293071"/>
            <a:ext cx="386715" cy="74148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3" name="Shape 41"/>
          <p:cNvSpPr/>
          <p:nvPr/>
        </p:nvSpPr>
        <p:spPr>
          <a:xfrm>
            <a:off x="1809750" y="3280117"/>
            <a:ext cx="386715" cy="74148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4" name="Shape 42"/>
          <p:cNvSpPr/>
          <p:nvPr/>
        </p:nvSpPr>
        <p:spPr>
          <a:xfrm>
            <a:off x="2190750" y="3270563"/>
            <a:ext cx="386715" cy="74148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5" name="Shape 43"/>
          <p:cNvSpPr/>
          <p:nvPr/>
        </p:nvSpPr>
        <p:spPr>
          <a:xfrm>
            <a:off x="2571750" y="3254854"/>
            <a:ext cx="386715" cy="74148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6" name="Shape 44"/>
          <p:cNvSpPr/>
          <p:nvPr/>
        </p:nvSpPr>
        <p:spPr>
          <a:xfrm>
            <a:off x="2952750" y="3236390"/>
            <a:ext cx="386715" cy="66528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7" name="Shape 45"/>
          <p:cNvSpPr/>
          <p:nvPr/>
        </p:nvSpPr>
        <p:spPr>
          <a:xfrm>
            <a:off x="3333750" y="3239965"/>
            <a:ext cx="386715" cy="58557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8" name="Shape 46"/>
          <p:cNvSpPr/>
          <p:nvPr/>
        </p:nvSpPr>
        <p:spPr>
          <a:xfrm>
            <a:off x="3714750" y="3267339"/>
            <a:ext cx="386715" cy="51757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9" name="Shape 47"/>
          <p:cNvSpPr/>
          <p:nvPr/>
        </p:nvSpPr>
        <p:spPr>
          <a:xfrm>
            <a:off x="4095750" y="3301746"/>
            <a:ext cx="386715" cy="40093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0" name="Shape 48"/>
          <p:cNvSpPr/>
          <p:nvPr/>
        </p:nvSpPr>
        <p:spPr>
          <a:xfrm>
            <a:off x="4476750" y="3334981"/>
            <a:ext cx="386715" cy="32532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1" name="Shape 49"/>
          <p:cNvSpPr/>
          <p:nvPr/>
        </p:nvSpPr>
        <p:spPr>
          <a:xfrm>
            <a:off x="4857750" y="3365168"/>
            <a:ext cx="386715" cy="31008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2" name="Shape 50"/>
          <p:cNvSpPr/>
          <p:nvPr/>
        </p:nvSpPr>
        <p:spPr>
          <a:xfrm>
            <a:off x="5238750" y="3393186"/>
            <a:ext cx="386715" cy="34583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3" name="Shape 51"/>
          <p:cNvSpPr/>
          <p:nvPr/>
        </p:nvSpPr>
        <p:spPr>
          <a:xfrm>
            <a:off x="5619750" y="3427007"/>
            <a:ext cx="386715" cy="39624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4" name="Shape 52"/>
          <p:cNvSpPr/>
          <p:nvPr/>
        </p:nvSpPr>
        <p:spPr>
          <a:xfrm>
            <a:off x="6000750" y="3471906"/>
            <a:ext cx="386715" cy="41324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5" name="Shape 53"/>
          <p:cNvSpPr/>
          <p:nvPr/>
        </p:nvSpPr>
        <p:spPr>
          <a:xfrm>
            <a:off x="6381750" y="3527532"/>
            <a:ext cx="386715" cy="35638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6" name="Shape 54"/>
          <p:cNvSpPr/>
          <p:nvPr/>
        </p:nvSpPr>
        <p:spPr>
          <a:xfrm>
            <a:off x="6762750" y="3595702"/>
            <a:ext cx="386715" cy="20984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7" name="Shape 55"/>
          <p:cNvSpPr/>
          <p:nvPr/>
        </p:nvSpPr>
        <p:spPr>
          <a:xfrm>
            <a:off x="7143750" y="3674950"/>
            <a:ext cx="386715" cy="571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8" name="Shape 56"/>
          <p:cNvSpPr/>
          <p:nvPr/>
        </p:nvSpPr>
        <p:spPr>
          <a:xfrm>
            <a:off x="7524750" y="3738079"/>
            <a:ext cx="386715" cy="2456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59" name="Shape 57"/>
          <p:cNvSpPr/>
          <p:nvPr/>
        </p:nvSpPr>
        <p:spPr>
          <a:xfrm>
            <a:off x="7905750" y="3797280"/>
            <a:ext cx="386715" cy="44899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0" name="Shape 58"/>
          <p:cNvSpPr/>
          <p:nvPr/>
        </p:nvSpPr>
        <p:spPr>
          <a:xfrm>
            <a:off x="8286750" y="3860585"/>
            <a:ext cx="386715" cy="56681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1" name="Shape 59"/>
          <p:cNvSpPr/>
          <p:nvPr/>
        </p:nvSpPr>
        <p:spPr>
          <a:xfrm>
            <a:off x="8667750" y="3937313"/>
            <a:ext cx="386715" cy="57795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2" name="Shape 60"/>
          <p:cNvSpPr/>
          <p:nvPr/>
        </p:nvSpPr>
        <p:spPr>
          <a:xfrm>
            <a:off x="9048750" y="4021191"/>
            <a:ext cx="386715" cy="49471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3" name="Shape 61"/>
          <p:cNvSpPr/>
          <p:nvPr/>
        </p:nvSpPr>
        <p:spPr>
          <a:xfrm>
            <a:off x="9429750" y="4112748"/>
            <a:ext cx="386715" cy="35462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4" name="Shape 62"/>
          <p:cNvSpPr/>
          <p:nvPr/>
        </p:nvSpPr>
        <p:spPr>
          <a:xfrm>
            <a:off x="9810750" y="4210050"/>
            <a:ext cx="386715" cy="20398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5" name="Shape 63"/>
          <p:cNvSpPr/>
          <p:nvPr/>
        </p:nvSpPr>
        <p:spPr>
          <a:xfrm>
            <a:off x="10191750" y="4310458"/>
            <a:ext cx="386715" cy="8675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6" name="Shape 64"/>
          <p:cNvSpPr/>
          <p:nvPr/>
        </p:nvSpPr>
        <p:spPr>
          <a:xfrm>
            <a:off x="10572750" y="4416728"/>
            <a:ext cx="386715" cy="5715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7" name="Shape 65"/>
          <p:cNvSpPr/>
          <p:nvPr/>
        </p:nvSpPr>
        <p:spPr>
          <a:xfrm flipV="1">
            <a:off x="1428750" y="3359951"/>
            <a:ext cx="381000" cy="14537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 flipV="1">
            <a:off x="1809750" y="3348580"/>
            <a:ext cx="381000" cy="11371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 flipV="1">
            <a:off x="2190750" y="3340842"/>
            <a:ext cx="381000" cy="7737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 flipV="1">
            <a:off x="2571750" y="3317162"/>
            <a:ext cx="381000" cy="23681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V="1">
            <a:off x="2952750" y="3288675"/>
            <a:ext cx="381000" cy="28487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3333750" y="3288675"/>
            <a:ext cx="381000" cy="1969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3" name="Shape 71"/>
          <p:cNvSpPr/>
          <p:nvPr/>
        </p:nvSpPr>
        <p:spPr>
          <a:xfrm>
            <a:off x="3714750" y="3308370"/>
            <a:ext cx="381000" cy="21453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4095750" y="3329823"/>
            <a:ext cx="381000" cy="24032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5" name="Shape 73"/>
          <p:cNvSpPr/>
          <p:nvPr/>
        </p:nvSpPr>
        <p:spPr>
          <a:xfrm>
            <a:off x="4476750" y="3353855"/>
            <a:ext cx="381000" cy="2731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6" name="Shape 74"/>
          <p:cNvSpPr/>
          <p:nvPr/>
        </p:nvSpPr>
        <p:spPr>
          <a:xfrm>
            <a:off x="4857750" y="3381170"/>
            <a:ext cx="381000" cy="30011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7" name="Shape 75"/>
          <p:cNvSpPr/>
          <p:nvPr/>
        </p:nvSpPr>
        <p:spPr>
          <a:xfrm>
            <a:off x="5238750" y="3411181"/>
            <a:ext cx="381000" cy="33176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8" name="Shape 76"/>
          <p:cNvSpPr/>
          <p:nvPr/>
        </p:nvSpPr>
        <p:spPr>
          <a:xfrm>
            <a:off x="5619750" y="3444357"/>
            <a:ext cx="381000" cy="4454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9" name="Shape 77"/>
          <p:cNvSpPr/>
          <p:nvPr/>
        </p:nvSpPr>
        <p:spPr>
          <a:xfrm>
            <a:off x="6000750" y="3488905"/>
            <a:ext cx="381000" cy="48651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80" name="Shape 78"/>
          <p:cNvSpPr/>
          <p:nvPr/>
        </p:nvSpPr>
        <p:spPr>
          <a:xfrm>
            <a:off x="6381750" y="3537556"/>
            <a:ext cx="381000" cy="5123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81" name="Shape 79"/>
          <p:cNvSpPr/>
          <p:nvPr/>
        </p:nvSpPr>
        <p:spPr>
          <a:xfrm>
            <a:off x="6762750" y="3588786"/>
            <a:ext cx="381000" cy="55802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82" name="Shape 80"/>
          <p:cNvSpPr/>
          <p:nvPr/>
        </p:nvSpPr>
        <p:spPr>
          <a:xfrm>
            <a:off x="7143750" y="3644587"/>
            <a:ext cx="381000" cy="60726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83" name="Shape 81"/>
          <p:cNvSpPr/>
          <p:nvPr/>
        </p:nvSpPr>
        <p:spPr>
          <a:xfrm>
            <a:off x="7524750" y="3705313"/>
            <a:ext cx="381000" cy="65532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84" name="Shape 82"/>
          <p:cNvSpPr/>
          <p:nvPr/>
        </p:nvSpPr>
        <p:spPr>
          <a:xfrm>
            <a:off x="7905750" y="3770845"/>
            <a:ext cx="381000" cy="52871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85" name="Shape 83"/>
          <p:cNvSpPr/>
          <p:nvPr/>
        </p:nvSpPr>
        <p:spPr>
          <a:xfrm>
            <a:off x="8286750" y="3823716"/>
            <a:ext cx="381000" cy="7373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86" name="Shape 84"/>
          <p:cNvSpPr/>
          <p:nvPr/>
        </p:nvSpPr>
        <p:spPr>
          <a:xfrm>
            <a:off x="8667750" y="3897454"/>
            <a:ext cx="381000" cy="79717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87" name="Shape 85"/>
          <p:cNvSpPr/>
          <p:nvPr/>
        </p:nvSpPr>
        <p:spPr>
          <a:xfrm>
            <a:off x="9048750" y="3977171"/>
            <a:ext cx="381000" cy="8804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88" name="Shape 86"/>
          <p:cNvSpPr/>
          <p:nvPr/>
        </p:nvSpPr>
        <p:spPr>
          <a:xfrm>
            <a:off x="9429750" y="4065211"/>
            <a:ext cx="381000" cy="95074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89" name="Shape 87"/>
          <p:cNvSpPr/>
          <p:nvPr/>
        </p:nvSpPr>
        <p:spPr>
          <a:xfrm>
            <a:off x="9810750" y="4160286"/>
            <a:ext cx="381000" cy="99529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90" name="Shape 88"/>
          <p:cNvSpPr/>
          <p:nvPr/>
        </p:nvSpPr>
        <p:spPr>
          <a:xfrm>
            <a:off x="10191750" y="4259814"/>
            <a:ext cx="381000" cy="101287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91" name="Shape 89"/>
          <p:cNvSpPr/>
          <p:nvPr/>
        </p:nvSpPr>
        <p:spPr>
          <a:xfrm>
            <a:off x="10572750" y="4361102"/>
            <a:ext cx="381000" cy="111252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92" name="Shape 90"/>
          <p:cNvSpPr/>
          <p:nvPr/>
        </p:nvSpPr>
        <p:spPr>
          <a:xfrm flipV="1">
            <a:off x="1428750" y="3285803"/>
            <a:ext cx="381000" cy="14537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1809750" y="3274431"/>
            <a:ext cx="381000" cy="11371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2190750" y="3266694"/>
            <a:ext cx="381000" cy="7737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2571750" y="3243013"/>
            <a:ext cx="381000" cy="23681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2952750" y="3229766"/>
            <a:ext cx="381000" cy="13247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333750" y="3229766"/>
            <a:ext cx="381000" cy="2039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714750" y="3250164"/>
            <a:ext cx="381000" cy="3434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4095750" y="3284513"/>
            <a:ext cx="381000" cy="34466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476750" y="3318979"/>
            <a:ext cx="381000" cy="32004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857750" y="3350983"/>
            <a:ext cx="381000" cy="2837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5238750" y="3379353"/>
            <a:ext cx="381000" cy="27666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619750" y="3407019"/>
            <a:ext cx="381000" cy="39976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000750" y="3446995"/>
            <a:ext cx="381000" cy="4982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381750" y="3496818"/>
            <a:ext cx="381000" cy="6142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6762750" y="3558247"/>
            <a:ext cx="381000" cy="7491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143750" y="3633157"/>
            <a:ext cx="381000" cy="8487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524750" y="3718032"/>
            <a:ext cx="381000" cy="8921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905750" y="3807245"/>
            <a:ext cx="381000" cy="6987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286750" y="3877115"/>
            <a:ext cx="381000" cy="8030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667750" y="3957418"/>
            <a:ext cx="381000" cy="7537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048750" y="4032797"/>
            <a:ext cx="381000" cy="75731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429750" y="4108528"/>
            <a:ext cx="381000" cy="7936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9810750" y="4187893"/>
            <a:ext cx="381000" cy="8511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10191750" y="4273003"/>
            <a:ext cx="381000" cy="92261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10572750" y="4365264"/>
            <a:ext cx="381000" cy="11113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17" name="Text 115"/>
          <p:cNvSpPr txBox="1"/>
          <p:nvPr/>
        </p:nvSpPr>
        <p:spPr>
          <a:xfrm>
            <a:off x="3467100" y="3183021"/>
            <a:ext cx="2476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 — 0℃ 에서 5.0 MW 못 팜</a:t>
            </a:r>
            <a:endParaRPr lang="en-US" sz="938" dirty="0"/>
          </a:p>
        </p:txBody>
      </p:sp>
      <p:sp>
        <p:nvSpPr>
          <p:cNvPr id="118" name="Text 116"/>
          <p:cNvSpPr txBox="1"/>
          <p:nvPr/>
        </p:nvSpPr>
        <p:spPr>
          <a:xfrm>
            <a:off x="6057900" y="3851236"/>
            <a:ext cx="2476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 — 28℃ 에서 5.1 MW 미달</a:t>
            </a:r>
            <a:endParaRPr lang="en-US" sz="938" dirty="0"/>
          </a:p>
        </p:txBody>
      </p:sp>
      <p:sp>
        <p:nvSpPr>
          <p:cNvPr id="119" name="Shape 117"/>
          <p:cNvSpPr/>
          <p:nvPr/>
        </p:nvSpPr>
        <p:spPr>
          <a:xfrm>
            <a:off x="7524750" y="3143250"/>
            <a:ext cx="0" cy="1409700"/>
          </a:xfrm>
          <a:prstGeom prst="line">
            <a:avLst/>
          </a:prstGeom>
          <a:noFill/>
          <a:ln w="12700">
            <a:solidFill>
              <a:srgbClr val="8A8880"/>
            </a:solidFill>
            <a:prstDash val="dash"/>
          </a:ln>
        </p:spPr>
      </p:sp>
      <p:sp>
        <p:nvSpPr>
          <p:cNvPr id="120" name="Text 118"/>
          <p:cNvSpPr txBox="1"/>
          <p:nvPr/>
        </p:nvSpPr>
        <p:spPr>
          <a:xfrm>
            <a:off x="7600950" y="3162300"/>
            <a:ext cx="209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방향이 바뀝니다 (22℃)</a:t>
            </a:r>
            <a:endParaRPr lang="en-US" sz="863" dirty="0"/>
          </a:p>
        </p:txBody>
      </p:sp>
      <p:sp>
        <p:nvSpPr>
          <p:cNvPr id="121" name="Shape 119"/>
          <p:cNvSpPr/>
          <p:nvPr/>
        </p:nvSpPr>
        <p:spPr>
          <a:xfrm>
            <a:off x="1428750" y="3028950"/>
            <a:ext cx="247650" cy="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122" name="Text 120"/>
          <p:cNvSpPr txBox="1"/>
          <p:nvPr/>
        </p:nvSpPr>
        <p:spPr>
          <a:xfrm>
            <a:off x="1752600" y="2962275"/>
            <a:ext cx="2286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신고 (하나의 값)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4000500" y="3028950"/>
            <a:ext cx="247650" cy="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4324350" y="2962275"/>
            <a:ext cx="2286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능력</a:t>
            </a:r>
            <a:endParaRPr lang="en-US" sz="900" dirty="0"/>
          </a:p>
        </p:txBody>
      </p:sp>
      <p:sp>
        <p:nvSpPr>
          <p:cNvPr id="125" name="Shape 123"/>
          <p:cNvSpPr/>
          <p:nvPr/>
        </p:nvSpPr>
        <p:spPr>
          <a:xfrm>
            <a:off x="685800" y="4953000"/>
            <a:ext cx="10820400" cy="9906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6096000" y="5143500"/>
            <a:ext cx="0" cy="6096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7" name="Text 125"/>
          <p:cNvSpPr txBox="1"/>
          <p:nvPr/>
        </p:nvSpPr>
        <p:spPr>
          <a:xfrm>
            <a:off x="914400" y="50673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낮게 신고한 양 누계</a:t>
            </a:r>
            <a:endParaRPr lang="en-US" sz="788" dirty="0"/>
          </a:p>
        </p:txBody>
      </p:sp>
      <p:sp>
        <p:nvSpPr>
          <p:cNvPr id="128" name="Text 126"/>
          <p:cNvSpPr txBox="1"/>
          <p:nvPr/>
        </p:nvSpPr>
        <p:spPr>
          <a:xfrm>
            <a:off x="914400" y="5238750"/>
            <a:ext cx="94107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75.3</a:t>
            </a:r>
            <a:endParaRPr lang="en-US" sz="3000" dirty="0"/>
          </a:p>
        </p:txBody>
      </p:sp>
      <p:sp>
        <p:nvSpPr>
          <p:cNvPr id="129" name="Text 127"/>
          <p:cNvSpPr txBox="1"/>
          <p:nvPr/>
        </p:nvSpPr>
        <p:spPr>
          <a:xfrm>
            <a:off x="1912620" y="5429250"/>
            <a:ext cx="400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1125" dirty="0"/>
          </a:p>
        </p:txBody>
      </p:sp>
      <p:sp>
        <p:nvSpPr>
          <p:cNvPr id="130" name="Text 128"/>
          <p:cNvSpPr txBox="1"/>
          <p:nvPr/>
        </p:nvSpPr>
        <p:spPr>
          <a:xfrm>
            <a:off x="914400" y="5715000"/>
            <a:ext cx="4762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있었는데 못 판 양 — 겨울에 몰립니다</a:t>
            </a:r>
            <a:endParaRPr lang="en-US" sz="1125" dirty="0"/>
          </a:p>
        </p:txBody>
      </p:sp>
      <p:sp>
        <p:nvSpPr>
          <p:cNvPr id="131" name="Text 129"/>
          <p:cNvSpPr txBox="1"/>
          <p:nvPr/>
        </p:nvSpPr>
        <p:spPr>
          <a:xfrm>
            <a:off x="6324600" y="50673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132" name="Text 130"/>
          <p:cNvSpPr txBox="1"/>
          <p:nvPr/>
        </p:nvSpPr>
        <p:spPr>
          <a:xfrm>
            <a:off x="6324600" y="5238750"/>
            <a:ext cx="48006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30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3000" dirty="0"/>
          </a:p>
        </p:txBody>
      </p:sp>
      <p:sp>
        <p:nvSpPr>
          <p:cNvPr id="133" name="Text 131"/>
          <p:cNvSpPr txBox="1"/>
          <p:nvPr/>
        </p:nvSpPr>
        <p:spPr>
          <a:xfrm>
            <a:off x="6861810" y="5429250"/>
            <a:ext cx="400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1125" dirty="0"/>
          </a:p>
        </p:txBody>
      </p:sp>
      <p:sp>
        <p:nvSpPr>
          <p:cNvPr id="134" name="Text 132"/>
          <p:cNvSpPr txBox="1"/>
          <p:nvPr/>
        </p:nvSpPr>
        <p:spPr>
          <a:xfrm>
            <a:off x="6324600" y="5715000"/>
            <a:ext cx="4762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40회 중  ·  과대 신고 69.5 MW</a:t>
            </a:r>
            <a:endParaRPr lang="en-US" sz="1125" dirty="0"/>
          </a:p>
        </p:txBody>
      </p:sp>
      <p:sp>
        <p:nvSpPr>
          <p:cNvPr id="135" name="Shape 13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37" name="Text 13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쪽으로 틀려도 손실입니다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정확도가 곧 손익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현황 파악 및 문제 정의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문제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하나로는 맞출 수 없습니다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보정값이 회차마다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+13 ~ −5 MW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 갈립니다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− 이론값 − W(IGV)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온도 축에 찍으면 흩어진 게 아니라 온도를 따라 줄줄이 내려갑니다.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2438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38450"/>
            <a:ext cx="762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점 하나가 테스트 1회  ·  누적 40회  ·  가로 외기온도 ℃ / 세로 = 보정값 = 실제 − 이론값 − W(IGV)  MW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238250" y="33147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38250" y="36576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38250" y="40005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38250" y="4686300"/>
            <a:ext cx="10001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38250" y="4343400"/>
            <a:ext cx="10001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38250" y="3143250"/>
            <a:ext cx="0" cy="17145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6300" y="32480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76300" y="35909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76300" y="39338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76300" y="42767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76300" y="46196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7259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4973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1643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9357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6027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3741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9041130" y="485775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12530" y="49434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238250" y="4132945"/>
            <a:ext cx="10001250" cy="0"/>
          </a:xfrm>
          <a:prstGeom prst="line">
            <a:avLst/>
          </a:prstGeom>
          <a:noFill/>
          <a:ln w="33020">
            <a:solidFill>
              <a:srgbClr val="A8BCD1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8572500" y="3904345"/>
            <a:ext cx="26670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A8BCD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온도 구분 없이 +2.5 MW</a:t>
            </a:r>
            <a:endParaRPr lang="en-US" sz="938" dirty="0"/>
          </a:p>
        </p:txBody>
      </p:sp>
      <p:sp>
        <p:nvSpPr>
          <p:cNvPr id="36" name="Shape 34"/>
          <p:cNvSpPr/>
          <p:nvPr/>
        </p:nvSpPr>
        <p:spPr>
          <a:xfrm>
            <a:off x="1205484" y="3176540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7" name="Shape 35"/>
          <p:cNvSpPr/>
          <p:nvPr/>
        </p:nvSpPr>
        <p:spPr>
          <a:xfrm>
            <a:off x="1315212" y="3217088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8" name="Shape 36"/>
          <p:cNvSpPr/>
          <p:nvPr/>
        </p:nvSpPr>
        <p:spPr>
          <a:xfrm>
            <a:off x="2132076" y="3533327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9" name="Shape 37"/>
          <p:cNvSpPr/>
          <p:nvPr/>
        </p:nvSpPr>
        <p:spPr>
          <a:xfrm>
            <a:off x="2636901" y="3813648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0" name="Shape 38"/>
          <p:cNvSpPr/>
          <p:nvPr/>
        </p:nvSpPr>
        <p:spPr>
          <a:xfrm>
            <a:off x="3148965" y="383756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1" name="Shape 39"/>
          <p:cNvSpPr/>
          <p:nvPr/>
        </p:nvSpPr>
        <p:spPr>
          <a:xfrm>
            <a:off x="3392805" y="387674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2" name="Shape 40"/>
          <p:cNvSpPr/>
          <p:nvPr/>
        </p:nvSpPr>
        <p:spPr>
          <a:xfrm>
            <a:off x="3636645" y="3913089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3" name="Shape 41"/>
          <p:cNvSpPr/>
          <p:nvPr/>
        </p:nvSpPr>
        <p:spPr>
          <a:xfrm>
            <a:off x="3856101" y="376855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4" name="Shape 42"/>
          <p:cNvSpPr/>
          <p:nvPr/>
        </p:nvSpPr>
        <p:spPr>
          <a:xfrm>
            <a:off x="4002405" y="3989899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5" name="Shape 43"/>
          <p:cNvSpPr/>
          <p:nvPr/>
        </p:nvSpPr>
        <p:spPr>
          <a:xfrm>
            <a:off x="4416933" y="3862426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6" name="Shape 44"/>
          <p:cNvSpPr/>
          <p:nvPr/>
        </p:nvSpPr>
        <p:spPr>
          <a:xfrm>
            <a:off x="4782693" y="3889000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7" name="Shape 45"/>
          <p:cNvSpPr/>
          <p:nvPr/>
        </p:nvSpPr>
        <p:spPr>
          <a:xfrm>
            <a:off x="4855845" y="370983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8" name="Shape 46"/>
          <p:cNvSpPr/>
          <p:nvPr/>
        </p:nvSpPr>
        <p:spPr>
          <a:xfrm>
            <a:off x="4928997" y="374798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49" name="Shape 47"/>
          <p:cNvSpPr/>
          <p:nvPr/>
        </p:nvSpPr>
        <p:spPr>
          <a:xfrm>
            <a:off x="5197221" y="367323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0" name="Shape 48"/>
          <p:cNvSpPr/>
          <p:nvPr/>
        </p:nvSpPr>
        <p:spPr>
          <a:xfrm>
            <a:off x="5221605" y="378810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1" name="Shape 49"/>
          <p:cNvSpPr/>
          <p:nvPr/>
        </p:nvSpPr>
        <p:spPr>
          <a:xfrm>
            <a:off x="5367909" y="3824364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2" name="Shape 50"/>
          <p:cNvSpPr/>
          <p:nvPr/>
        </p:nvSpPr>
        <p:spPr>
          <a:xfrm>
            <a:off x="5733669" y="384339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3" name="Shape 51"/>
          <p:cNvSpPr/>
          <p:nvPr/>
        </p:nvSpPr>
        <p:spPr>
          <a:xfrm>
            <a:off x="5758053" y="381450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4" name="Shape 52"/>
          <p:cNvSpPr/>
          <p:nvPr/>
        </p:nvSpPr>
        <p:spPr>
          <a:xfrm>
            <a:off x="6879717" y="407888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5" name="Shape 53"/>
          <p:cNvSpPr/>
          <p:nvPr/>
        </p:nvSpPr>
        <p:spPr>
          <a:xfrm>
            <a:off x="7806309" y="4484189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6" name="Shape 54"/>
          <p:cNvSpPr/>
          <p:nvPr/>
        </p:nvSpPr>
        <p:spPr>
          <a:xfrm>
            <a:off x="7855077" y="4584916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7" name="Shape 55"/>
          <p:cNvSpPr/>
          <p:nvPr/>
        </p:nvSpPr>
        <p:spPr>
          <a:xfrm>
            <a:off x="7879461" y="4353030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8" name="Shape 56"/>
          <p:cNvSpPr/>
          <p:nvPr/>
        </p:nvSpPr>
        <p:spPr>
          <a:xfrm>
            <a:off x="7952613" y="436340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59" name="Shape 57"/>
          <p:cNvSpPr/>
          <p:nvPr/>
        </p:nvSpPr>
        <p:spPr>
          <a:xfrm>
            <a:off x="8367141" y="453245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0" name="Shape 58"/>
          <p:cNvSpPr/>
          <p:nvPr/>
        </p:nvSpPr>
        <p:spPr>
          <a:xfrm>
            <a:off x="8666988" y="4702445"/>
            <a:ext cx="114300" cy="11430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1" name="Shape 59"/>
          <p:cNvSpPr/>
          <p:nvPr/>
        </p:nvSpPr>
        <p:spPr>
          <a:xfrm>
            <a:off x="9049893" y="4440984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2" name="Shape 60"/>
          <p:cNvSpPr/>
          <p:nvPr/>
        </p:nvSpPr>
        <p:spPr>
          <a:xfrm>
            <a:off x="9049893" y="434445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3" name="Shape 61"/>
          <p:cNvSpPr/>
          <p:nvPr/>
        </p:nvSpPr>
        <p:spPr>
          <a:xfrm>
            <a:off x="9171813" y="459906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4" name="Shape 62"/>
          <p:cNvSpPr/>
          <p:nvPr/>
        </p:nvSpPr>
        <p:spPr>
          <a:xfrm>
            <a:off x="9220581" y="459451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5" name="Shape 63"/>
          <p:cNvSpPr/>
          <p:nvPr/>
        </p:nvSpPr>
        <p:spPr>
          <a:xfrm>
            <a:off x="9415653" y="437823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6" name="Shape 64"/>
          <p:cNvSpPr/>
          <p:nvPr/>
        </p:nvSpPr>
        <p:spPr>
          <a:xfrm>
            <a:off x="9586341" y="4356545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7" name="Shape 65"/>
          <p:cNvSpPr/>
          <p:nvPr/>
        </p:nvSpPr>
        <p:spPr>
          <a:xfrm>
            <a:off x="9659493" y="452122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8" name="Shape 66"/>
          <p:cNvSpPr/>
          <p:nvPr/>
        </p:nvSpPr>
        <p:spPr>
          <a:xfrm>
            <a:off x="9683877" y="4122430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69" name="Shape 67"/>
          <p:cNvSpPr/>
          <p:nvPr/>
        </p:nvSpPr>
        <p:spPr>
          <a:xfrm>
            <a:off x="9683877" y="4184152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0" name="Shape 68"/>
          <p:cNvSpPr/>
          <p:nvPr/>
        </p:nvSpPr>
        <p:spPr>
          <a:xfrm>
            <a:off x="9683877" y="4434811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1" name="Shape 69"/>
          <p:cNvSpPr/>
          <p:nvPr/>
        </p:nvSpPr>
        <p:spPr>
          <a:xfrm>
            <a:off x="9878949" y="424527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2" name="Shape 70"/>
          <p:cNvSpPr/>
          <p:nvPr/>
        </p:nvSpPr>
        <p:spPr>
          <a:xfrm>
            <a:off x="9927717" y="4502877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3" name="Shape 71"/>
          <p:cNvSpPr/>
          <p:nvPr/>
        </p:nvSpPr>
        <p:spPr>
          <a:xfrm>
            <a:off x="10122789" y="4240044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4" name="Shape 72"/>
          <p:cNvSpPr/>
          <p:nvPr/>
        </p:nvSpPr>
        <p:spPr>
          <a:xfrm>
            <a:off x="10488549" y="412337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5" name="Shape 73"/>
          <p:cNvSpPr/>
          <p:nvPr/>
        </p:nvSpPr>
        <p:spPr>
          <a:xfrm>
            <a:off x="10927461" y="4181323"/>
            <a:ext cx="80010" cy="80010"/>
          </a:xfrm>
          <a:prstGeom prst="ellipse">
            <a:avLst/>
          </a:prstGeom>
          <a:solidFill>
            <a:srgbClr val="CFCBC2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809750" y="3276600"/>
            <a:ext cx="24765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추울수록 더 더해야 하고</a:t>
            </a:r>
            <a:endParaRPr lang="en-US" sz="1050" dirty="0"/>
          </a:p>
        </p:txBody>
      </p:sp>
      <p:sp>
        <p:nvSpPr>
          <p:cNvPr id="77" name="Text 75"/>
          <p:cNvSpPr txBox="1"/>
          <p:nvPr/>
        </p:nvSpPr>
        <p:spPr>
          <a:xfrm>
            <a:off x="8382000" y="4476750"/>
            <a:ext cx="28575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더울수록 빼야 합니다</a:t>
            </a:r>
            <a:endParaRPr lang="en-US" sz="1050" dirty="0"/>
          </a:p>
        </p:txBody>
      </p:sp>
      <p:sp>
        <p:nvSpPr>
          <p:cNvPr id="78" name="Text 76"/>
          <p:cNvSpPr txBox="1"/>
          <p:nvPr/>
        </p:nvSpPr>
        <p:spPr>
          <a:xfrm>
            <a:off x="6667500" y="3276600"/>
            <a:ext cx="4572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+13 은 -1.9℃ 한 회차, −5 는 여름 한 회차 — 가장 큰 값입니다</a:t>
            </a:r>
            <a:endParaRPr lang="en-US" sz="863" dirty="0"/>
          </a:p>
        </p:txBody>
      </p:sp>
      <p:sp>
        <p:nvSpPr>
          <p:cNvPr id="79" name="Text 77"/>
          <p:cNvSpPr txBox="1"/>
          <p:nvPr/>
        </p:nvSpPr>
        <p:spPr>
          <a:xfrm>
            <a:off x="914400" y="5200650"/>
            <a:ext cx="103632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이론값은 </a:t>
            </a:r>
            <a:pPr algn="l" indent="0" marL="0">
              <a:lnSpc>
                <a:spcPts val="1313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표준 성능 곡선</a:t>
            </a:r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 우리 설비의 실제 특성과 온도에 따라 어긋나고, 그 차이가 저온 (+) · 고온 (−) 로 남습니다.</a:t>
            </a:r>
            <a:endParaRPr lang="en-US" sz="938" dirty="0"/>
          </a:p>
        </p:txBody>
      </p:sp>
      <p:sp>
        <p:nvSpPr>
          <p:cNvPr id="80" name="Shape 78"/>
          <p:cNvSpPr/>
          <p:nvPr/>
        </p:nvSpPr>
        <p:spPr>
          <a:xfrm>
            <a:off x="685800" y="5429250"/>
            <a:ext cx="108204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14400" y="5543550"/>
            <a:ext cx="4191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실제 적용한 값 16회  ·  회차순  ·  전부 정수 하나</a:t>
            </a:r>
            <a:endParaRPr lang="en-US" sz="788" dirty="0"/>
          </a:p>
        </p:txBody>
      </p:sp>
      <p:sp>
        <p:nvSpPr>
          <p:cNvPr id="82" name="Text 80"/>
          <p:cNvSpPr txBox="1"/>
          <p:nvPr/>
        </p:nvSpPr>
        <p:spPr>
          <a:xfrm>
            <a:off x="5334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83" name="Text 81"/>
          <p:cNvSpPr txBox="1"/>
          <p:nvPr/>
        </p:nvSpPr>
        <p:spPr>
          <a:xfrm>
            <a:off x="5334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12.5</a:t>
            </a:r>
            <a:endParaRPr lang="en-US" sz="713" dirty="0"/>
          </a:p>
        </p:txBody>
      </p:sp>
      <p:sp>
        <p:nvSpPr>
          <p:cNvPr id="84" name="Text 82"/>
          <p:cNvSpPr txBox="1"/>
          <p:nvPr/>
        </p:nvSpPr>
        <p:spPr>
          <a:xfrm>
            <a:off x="5715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5" name="Text 83"/>
          <p:cNvSpPr txBox="1"/>
          <p:nvPr/>
        </p:nvSpPr>
        <p:spPr>
          <a:xfrm>
            <a:off x="5715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</a:t>
            </a:r>
            <a:endParaRPr lang="en-US" sz="713" dirty="0"/>
          </a:p>
        </p:txBody>
      </p:sp>
      <p:sp>
        <p:nvSpPr>
          <p:cNvPr id="86" name="Text 84"/>
          <p:cNvSpPr txBox="1"/>
          <p:nvPr/>
        </p:nvSpPr>
        <p:spPr>
          <a:xfrm>
            <a:off x="6096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7" name="Text 85"/>
          <p:cNvSpPr txBox="1"/>
          <p:nvPr/>
        </p:nvSpPr>
        <p:spPr>
          <a:xfrm>
            <a:off x="6096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25.7</a:t>
            </a:r>
            <a:endParaRPr lang="en-US" sz="713" dirty="0"/>
          </a:p>
        </p:txBody>
      </p:sp>
      <p:sp>
        <p:nvSpPr>
          <p:cNvPr id="88" name="Text 86"/>
          <p:cNvSpPr txBox="1"/>
          <p:nvPr/>
        </p:nvSpPr>
        <p:spPr>
          <a:xfrm>
            <a:off x="6477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89" name="Text 87"/>
          <p:cNvSpPr txBox="1"/>
          <p:nvPr/>
        </p:nvSpPr>
        <p:spPr>
          <a:xfrm>
            <a:off x="6477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16.0</a:t>
            </a:r>
            <a:endParaRPr lang="en-US" sz="713" dirty="0"/>
          </a:p>
        </p:txBody>
      </p:sp>
      <p:sp>
        <p:nvSpPr>
          <p:cNvPr id="90" name="Text 88"/>
          <p:cNvSpPr txBox="1"/>
          <p:nvPr/>
        </p:nvSpPr>
        <p:spPr>
          <a:xfrm>
            <a:off x="6858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91" name="Text 89"/>
          <p:cNvSpPr txBox="1"/>
          <p:nvPr/>
        </p:nvSpPr>
        <p:spPr>
          <a:xfrm>
            <a:off x="6858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18.8</a:t>
            </a:r>
            <a:endParaRPr lang="en-US" sz="713" dirty="0"/>
          </a:p>
        </p:txBody>
      </p:sp>
      <p:sp>
        <p:nvSpPr>
          <p:cNvPr id="92" name="Text 90"/>
          <p:cNvSpPr txBox="1"/>
          <p:nvPr/>
        </p:nvSpPr>
        <p:spPr>
          <a:xfrm>
            <a:off x="7239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93" name="Text 91"/>
          <p:cNvSpPr txBox="1"/>
          <p:nvPr/>
        </p:nvSpPr>
        <p:spPr>
          <a:xfrm>
            <a:off x="7239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13.7</a:t>
            </a:r>
            <a:endParaRPr lang="en-US" sz="713" dirty="0"/>
          </a:p>
        </p:txBody>
      </p:sp>
      <p:sp>
        <p:nvSpPr>
          <p:cNvPr id="94" name="Text 92"/>
          <p:cNvSpPr txBox="1"/>
          <p:nvPr/>
        </p:nvSpPr>
        <p:spPr>
          <a:xfrm>
            <a:off x="7620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95" name="Text 93"/>
          <p:cNvSpPr txBox="1"/>
          <p:nvPr/>
        </p:nvSpPr>
        <p:spPr>
          <a:xfrm>
            <a:off x="7620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23.5</a:t>
            </a:r>
            <a:endParaRPr lang="en-US" sz="713" dirty="0"/>
          </a:p>
        </p:txBody>
      </p:sp>
      <p:sp>
        <p:nvSpPr>
          <p:cNvPr id="96" name="Text 94"/>
          <p:cNvSpPr txBox="1"/>
          <p:nvPr/>
        </p:nvSpPr>
        <p:spPr>
          <a:xfrm>
            <a:off x="8001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97" name="Text 95"/>
          <p:cNvSpPr txBox="1"/>
          <p:nvPr/>
        </p:nvSpPr>
        <p:spPr>
          <a:xfrm>
            <a:off x="8001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21.4</a:t>
            </a:r>
            <a:endParaRPr lang="en-US" sz="713" dirty="0"/>
          </a:p>
        </p:txBody>
      </p:sp>
      <p:sp>
        <p:nvSpPr>
          <p:cNvPr id="98" name="Text 96"/>
          <p:cNvSpPr txBox="1"/>
          <p:nvPr/>
        </p:nvSpPr>
        <p:spPr>
          <a:xfrm>
            <a:off x="8382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99" name="Text 97"/>
          <p:cNvSpPr txBox="1"/>
          <p:nvPr/>
        </p:nvSpPr>
        <p:spPr>
          <a:xfrm>
            <a:off x="8382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20.0</a:t>
            </a:r>
            <a:endParaRPr lang="en-US" sz="713" dirty="0"/>
          </a:p>
        </p:txBody>
      </p:sp>
      <p:sp>
        <p:nvSpPr>
          <p:cNvPr id="100" name="Text 98"/>
          <p:cNvSpPr txBox="1"/>
          <p:nvPr/>
        </p:nvSpPr>
        <p:spPr>
          <a:xfrm>
            <a:off x="8763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101" name="Text 99"/>
          <p:cNvSpPr txBox="1"/>
          <p:nvPr/>
        </p:nvSpPr>
        <p:spPr>
          <a:xfrm>
            <a:off x="8763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27.4</a:t>
            </a:r>
            <a:endParaRPr lang="en-US" sz="713" dirty="0"/>
          </a:p>
        </p:txBody>
      </p:sp>
      <p:sp>
        <p:nvSpPr>
          <p:cNvPr id="102" name="Text 100"/>
          <p:cNvSpPr txBox="1"/>
          <p:nvPr/>
        </p:nvSpPr>
        <p:spPr>
          <a:xfrm>
            <a:off x="9144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103" name="Text 101"/>
          <p:cNvSpPr txBox="1"/>
          <p:nvPr/>
        </p:nvSpPr>
        <p:spPr>
          <a:xfrm>
            <a:off x="9144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25.5</a:t>
            </a:r>
            <a:endParaRPr lang="en-US" sz="713" dirty="0"/>
          </a:p>
        </p:txBody>
      </p:sp>
      <p:sp>
        <p:nvSpPr>
          <p:cNvPr id="104" name="Text 102"/>
          <p:cNvSpPr txBox="1"/>
          <p:nvPr/>
        </p:nvSpPr>
        <p:spPr>
          <a:xfrm>
            <a:off x="9525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105" name="Text 103"/>
          <p:cNvSpPr txBox="1"/>
          <p:nvPr/>
        </p:nvSpPr>
        <p:spPr>
          <a:xfrm>
            <a:off x="9525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28.9</a:t>
            </a:r>
            <a:endParaRPr lang="en-US" sz="713" dirty="0"/>
          </a:p>
        </p:txBody>
      </p:sp>
      <p:sp>
        <p:nvSpPr>
          <p:cNvPr id="106" name="Text 104"/>
          <p:cNvSpPr txBox="1"/>
          <p:nvPr/>
        </p:nvSpPr>
        <p:spPr>
          <a:xfrm>
            <a:off x="9906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107" name="Text 105"/>
          <p:cNvSpPr txBox="1"/>
          <p:nvPr/>
        </p:nvSpPr>
        <p:spPr>
          <a:xfrm>
            <a:off x="9906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</a:t>
            </a:r>
            <a:endParaRPr lang="en-US" sz="713" dirty="0"/>
          </a:p>
        </p:txBody>
      </p:sp>
      <p:sp>
        <p:nvSpPr>
          <p:cNvPr id="108" name="Text 106"/>
          <p:cNvSpPr txBox="1"/>
          <p:nvPr/>
        </p:nvSpPr>
        <p:spPr>
          <a:xfrm>
            <a:off x="10287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109" name="Text 107"/>
          <p:cNvSpPr txBox="1"/>
          <p:nvPr/>
        </p:nvSpPr>
        <p:spPr>
          <a:xfrm>
            <a:off x="10287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27.6</a:t>
            </a:r>
            <a:endParaRPr lang="en-US" sz="713" dirty="0"/>
          </a:p>
        </p:txBody>
      </p:sp>
      <p:sp>
        <p:nvSpPr>
          <p:cNvPr id="110" name="Text 108"/>
          <p:cNvSpPr txBox="1"/>
          <p:nvPr/>
        </p:nvSpPr>
        <p:spPr>
          <a:xfrm>
            <a:off x="10668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111" name="Text 109"/>
          <p:cNvSpPr txBox="1"/>
          <p:nvPr/>
        </p:nvSpPr>
        <p:spPr>
          <a:xfrm>
            <a:off x="10668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31.9</a:t>
            </a:r>
            <a:endParaRPr lang="en-US" sz="713" dirty="0"/>
          </a:p>
        </p:txBody>
      </p:sp>
      <p:sp>
        <p:nvSpPr>
          <p:cNvPr id="112" name="Text 110"/>
          <p:cNvSpPr txBox="1"/>
          <p:nvPr/>
        </p:nvSpPr>
        <p:spPr>
          <a:xfrm>
            <a:off x="11049000" y="5524500"/>
            <a:ext cx="38100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58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75" dirty="0"/>
          </a:p>
        </p:txBody>
      </p:sp>
      <p:sp>
        <p:nvSpPr>
          <p:cNvPr id="113" name="Text 111"/>
          <p:cNvSpPr txBox="1"/>
          <p:nvPr/>
        </p:nvSpPr>
        <p:spPr>
          <a:xfrm>
            <a:off x="11049000" y="5734050"/>
            <a:ext cx="3810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36.6</a:t>
            </a:r>
            <a:endParaRPr lang="en-US" sz="713" dirty="0"/>
          </a:p>
        </p:txBody>
      </p:sp>
      <p:sp>
        <p:nvSpPr>
          <p:cNvPr id="114" name="Text 112"/>
          <p:cNvSpPr txBox="1"/>
          <p:nvPr/>
        </p:nvSpPr>
        <p:spPr>
          <a:xfrm>
            <a:off x="914400" y="5734050"/>
            <a:ext cx="41910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7.3℃ 와 25.7℃ 에 똑같이 +5</a:t>
            </a:r>
            <a:endParaRPr lang="en-US" sz="975" dirty="0"/>
          </a:p>
        </p:txBody>
      </p:sp>
      <p:sp>
        <p:nvSpPr>
          <p:cNvPr id="115" name="Shape 1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17" name="Text 11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고쳐야 할 것은 값의 크기가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 주는 것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분석 및 원인 규명(가설 검증)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원인 규명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원인처럼 보이는 것이 넷이었는데,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걷어내니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하나만 남았습니다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설명 5개를 세워 하나씩 확인했고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4개는 기각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했습니다. 후보들이 서로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묶여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있었기 때문입니다.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943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00350"/>
            <a:ext cx="5905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보정값과의 관련성  ·  상관계수 r  ·  0 에 가까우면 관계 없음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7239000" y="2781300"/>
            <a:ext cx="4038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 ±0.31 — 이 선을 넘지 못하면 우연으로 봅니다 (n=40)</a:t>
            </a:r>
            <a:endParaRPr lang="en-US" sz="863" dirty="0"/>
          </a:p>
        </p:txBody>
      </p:sp>
      <p:sp>
        <p:nvSpPr>
          <p:cNvPr id="16" name="Shape 14"/>
          <p:cNvSpPr/>
          <p:nvPr/>
        </p:nvSpPr>
        <p:spPr>
          <a:xfrm>
            <a:off x="914400" y="3048000"/>
            <a:ext cx="171450" cy="7620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43000" y="2990850"/>
            <a:ext cx="14287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그냥 봤을 때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24150" y="3048000"/>
            <a:ext cx="171450" cy="7620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2952750" y="2990850"/>
            <a:ext cx="2000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55708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온도를 직선으로 뺀 뒤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7239000" y="2990850"/>
            <a:ext cx="40386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온도를 곡선(모델)으로 뺀 뒤  =  오른쪽 숫자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4724400"/>
            <a:ext cx="6667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※ '뺀다' = 온도로 설명되는 몫을 먼저 걷어내고, 남은 것끼리 다시 재는 것</a:t>
            </a:r>
            <a:endParaRPr lang="en-US" sz="825" dirty="0"/>
          </a:p>
        </p:txBody>
      </p:sp>
      <p:sp>
        <p:nvSpPr>
          <p:cNvPr id="22" name="Shape 20"/>
          <p:cNvSpPr/>
          <p:nvPr/>
        </p:nvSpPr>
        <p:spPr>
          <a:xfrm>
            <a:off x="2857500" y="3276600"/>
            <a:ext cx="0" cy="13144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59452" y="3276600"/>
            <a:ext cx="0" cy="1314450"/>
          </a:xfrm>
          <a:prstGeom prst="line">
            <a:avLst/>
          </a:prstGeom>
          <a:noFill/>
          <a:ln w="20320">
            <a:solidFill>
              <a:srgbClr val="FF4D63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914400" y="3305175"/>
            <a:ext cx="1809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2857500" y="3295650"/>
            <a:ext cx="512064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054340" y="3286125"/>
            <a:ext cx="6667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-0.84</a:t>
            </a:r>
            <a:endParaRPr lang="en-US" sz="1125" dirty="0"/>
          </a:p>
        </p:txBody>
      </p:sp>
      <p:sp>
        <p:nvSpPr>
          <p:cNvPr id="27" name="Text 25"/>
          <p:cNvSpPr txBox="1"/>
          <p:nvPr/>
        </p:nvSpPr>
        <p:spPr>
          <a:xfrm>
            <a:off x="9334500" y="3305175"/>
            <a:ext cx="19431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주된 원인</a:t>
            </a:r>
            <a:endParaRPr lang="en-US" sz="975" dirty="0"/>
          </a:p>
        </p:txBody>
      </p:sp>
      <p:sp>
        <p:nvSpPr>
          <p:cNvPr id="28" name="Shape 26"/>
          <p:cNvSpPr/>
          <p:nvPr/>
        </p:nvSpPr>
        <p:spPr>
          <a:xfrm>
            <a:off x="914400" y="3543300"/>
            <a:ext cx="103632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4400" y="3619500"/>
            <a:ext cx="1809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복수기 진공도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857500" y="3581400"/>
            <a:ext cx="5017008" cy="952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950708" y="357187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−0.82</a:t>
            </a:r>
            <a:endParaRPr lang="en-US" sz="825" dirty="0"/>
          </a:p>
        </p:txBody>
      </p:sp>
      <p:sp>
        <p:nvSpPr>
          <p:cNvPr id="32" name="Shape 30"/>
          <p:cNvSpPr/>
          <p:nvPr/>
        </p:nvSpPr>
        <p:spPr>
          <a:xfrm>
            <a:off x="2857500" y="3714750"/>
            <a:ext cx="883920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817620" y="370522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57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−0.14</a:t>
            </a:r>
            <a:endParaRPr lang="en-US" sz="825" dirty="0"/>
          </a:p>
        </p:txBody>
      </p:sp>
      <p:sp>
        <p:nvSpPr>
          <p:cNvPr id="34" name="Text 32"/>
          <p:cNvSpPr txBox="1"/>
          <p:nvPr/>
        </p:nvSpPr>
        <p:spPr>
          <a:xfrm>
            <a:off x="9334500" y="3619500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+0.00 → 사라짐</a:t>
            </a:r>
            <a:endParaRPr lang="en-US" sz="938" dirty="0"/>
          </a:p>
        </p:txBody>
      </p:sp>
      <p:sp>
        <p:nvSpPr>
          <p:cNvPr id="35" name="Text 33"/>
          <p:cNvSpPr txBox="1"/>
          <p:nvPr/>
        </p:nvSpPr>
        <p:spPr>
          <a:xfrm>
            <a:off x="914400" y="3943350"/>
            <a:ext cx="1809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857500" y="3905250"/>
            <a:ext cx="4474464" cy="952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7408164" y="389572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+0.73</a:t>
            </a:r>
            <a:endParaRPr lang="en-US" sz="825" dirty="0"/>
          </a:p>
        </p:txBody>
      </p:sp>
      <p:sp>
        <p:nvSpPr>
          <p:cNvPr id="38" name="Shape 36"/>
          <p:cNvSpPr/>
          <p:nvPr/>
        </p:nvSpPr>
        <p:spPr>
          <a:xfrm>
            <a:off x="2857500" y="4038600"/>
            <a:ext cx="749808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683508" y="402907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57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+0.12</a:t>
            </a:r>
            <a:endParaRPr lang="en-US" sz="825" dirty="0"/>
          </a:p>
        </p:txBody>
      </p:sp>
      <p:sp>
        <p:nvSpPr>
          <p:cNvPr id="40" name="Text 38"/>
          <p:cNvSpPr txBox="1"/>
          <p:nvPr/>
        </p:nvSpPr>
        <p:spPr>
          <a:xfrm>
            <a:off x="9334500" y="3943350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−0.13 → 사라짐</a:t>
            </a:r>
            <a:endParaRPr lang="en-US" sz="938" dirty="0"/>
          </a:p>
        </p:txBody>
      </p:sp>
      <p:sp>
        <p:nvSpPr>
          <p:cNvPr id="41" name="Text 39"/>
          <p:cNvSpPr txBox="1"/>
          <p:nvPr/>
        </p:nvSpPr>
        <p:spPr>
          <a:xfrm>
            <a:off x="914400" y="4267200"/>
            <a:ext cx="180975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상대습도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2857500" y="4229100"/>
            <a:ext cx="4419600" cy="952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7353300" y="421957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−0.72</a:t>
            </a:r>
            <a:endParaRPr lang="en-US" sz="825" dirty="0"/>
          </a:p>
        </p:txBody>
      </p:sp>
      <p:sp>
        <p:nvSpPr>
          <p:cNvPr id="44" name="Shape 42"/>
          <p:cNvSpPr/>
          <p:nvPr/>
        </p:nvSpPr>
        <p:spPr>
          <a:xfrm>
            <a:off x="2857500" y="4362450"/>
            <a:ext cx="2481072" cy="95250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5414772" y="4352925"/>
            <a:ext cx="571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570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−0.41</a:t>
            </a:r>
            <a:endParaRPr lang="en-US" sz="825" dirty="0"/>
          </a:p>
        </p:txBody>
      </p:sp>
      <p:sp>
        <p:nvSpPr>
          <p:cNvPr id="46" name="Text 44"/>
          <p:cNvSpPr txBox="1"/>
          <p:nvPr/>
        </p:nvSpPr>
        <p:spPr>
          <a:xfrm>
            <a:off x="9334500" y="4267200"/>
            <a:ext cx="19431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−0.24 → 사라짐</a:t>
            </a:r>
            <a:endParaRPr lang="en-US" sz="938" dirty="0"/>
          </a:p>
        </p:txBody>
      </p:sp>
      <p:sp>
        <p:nvSpPr>
          <p:cNvPr id="47" name="Text 45"/>
          <p:cNvSpPr txBox="1"/>
          <p:nvPr/>
        </p:nvSpPr>
        <p:spPr>
          <a:xfrm>
            <a:off x="914400" y="4514850"/>
            <a:ext cx="103632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온도와의 r  진공도 +0.95   ·   대기압 −0.83   ·   습도 +0.67  — 후보들이 서로 온도에 묶여 있다</a:t>
            </a:r>
            <a:endParaRPr lang="en-US" sz="863" dirty="0"/>
          </a:p>
        </p:txBody>
      </p:sp>
      <p:sp>
        <p:nvSpPr>
          <p:cNvPr id="48" name="Shape 46"/>
          <p:cNvSpPr/>
          <p:nvPr/>
        </p:nvSpPr>
        <p:spPr>
          <a:xfrm>
            <a:off x="685800" y="4781550"/>
            <a:ext cx="10820400" cy="11620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914400" y="4876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그래서 무엇을 알았나</a:t>
            </a:r>
            <a:endParaRPr lang="en-US" sz="788" dirty="0"/>
          </a:p>
        </p:txBody>
      </p:sp>
      <p:sp>
        <p:nvSpPr>
          <p:cNvPr id="50" name="Shape 48"/>
          <p:cNvSpPr/>
          <p:nvPr/>
        </p:nvSpPr>
        <p:spPr>
          <a:xfrm>
            <a:off x="914400" y="5086350"/>
            <a:ext cx="3238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14400" y="5181600"/>
            <a:ext cx="32766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진공도·대기압은 온도의 그림자였습니다</a:t>
            </a:r>
            <a:endParaRPr lang="en-US" sz="1050" dirty="0"/>
          </a:p>
        </p:txBody>
      </p:sp>
      <p:sp>
        <p:nvSpPr>
          <p:cNvPr id="52" name="Text 50"/>
          <p:cNvSpPr txBox="1"/>
          <p:nvPr/>
        </p:nvSpPr>
        <p:spPr>
          <a:xfrm>
            <a:off x="914400" y="5429250"/>
            <a:ext cx="32766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에서 강해 보인 것은 이 둘이 온도를 따라가기 때문입니다. 온도를 빼면 사라집니다.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4419600" y="5086350"/>
            <a:ext cx="3238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419600" y="5181600"/>
            <a:ext cx="32766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습도는 ② 에서 남고 ③ 에서 사라졌습니다</a:t>
            </a:r>
            <a:endParaRPr lang="en-US" sz="1050" dirty="0"/>
          </a:p>
        </p:txBody>
      </p:sp>
      <p:sp>
        <p:nvSpPr>
          <p:cNvPr id="55" name="Text 53"/>
          <p:cNvSpPr txBox="1"/>
          <p:nvPr/>
        </p:nvSpPr>
        <p:spPr>
          <a:xfrm>
            <a:off x="4419600" y="5429250"/>
            <a:ext cx="32766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</a:t>
            </a:r>
            <a:pPr algn="l" indent="0" marL="0">
              <a:lnSpc>
                <a:spcPts val="1406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직선</a:t>
            </a:r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빼면 남고, </a:t>
            </a:r>
            <a:pPr algn="l" indent="0" marL="0">
              <a:lnSpc>
                <a:spcPts val="1406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</a:t>
            </a:r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빼면 사라집니다 — 관계가 직선이 아니라는 뜻입니다.</a:t>
            </a:r>
            <a:endParaRPr lang="en-US" sz="938" dirty="0"/>
          </a:p>
        </p:txBody>
      </p:sp>
      <p:sp>
        <p:nvSpPr>
          <p:cNvPr id="56" name="Shape 54"/>
          <p:cNvSpPr/>
          <p:nvPr/>
        </p:nvSpPr>
        <p:spPr>
          <a:xfrm>
            <a:off x="7924800" y="5086350"/>
            <a:ext cx="3238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7924800" y="5181600"/>
            <a:ext cx="32766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5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남긴 오차는 설명되지 않습니다</a:t>
            </a:r>
            <a:endParaRPr lang="en-US" sz="1050" dirty="0"/>
          </a:p>
        </p:txBody>
      </p:sp>
      <p:sp>
        <p:nvSpPr>
          <p:cNvPr id="58" name="Text 56"/>
          <p:cNvSpPr txBox="1"/>
          <p:nvPr/>
        </p:nvSpPr>
        <p:spPr>
          <a:xfrm>
            <a:off x="7924800" y="5429250"/>
            <a:ext cx="3276600" cy="535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1.29 MW 남은 오차를 넷 중 어느 것도 설명하지 못했습니다. 진공도는 세 번 의심해 세 번 다 기각했습니다.</a:t>
            </a:r>
            <a:endParaRPr lang="en-US" sz="938" dirty="0"/>
          </a:p>
        </p:txBody>
      </p:sp>
      <p:sp>
        <p:nvSpPr>
          <p:cNvPr id="59" name="Shape 5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 — 그런데 그 관계가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직선이 아닙니다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그래서 곡선을 학습합니다.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해결 구조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이론식은 손대지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온도별로 배웁니다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이론식은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그대로 둡니다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배우는 것은 이론값과 실제의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3144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5800" y="2705100"/>
            <a:ext cx="108204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44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1층  ·  손대지 않는 부분</a:t>
            </a:r>
            <a:endParaRPr lang="en-US" sz="788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067050"/>
            <a:ext cx="952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온도·대기압·습도·복수기 진공도로 계산하는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(보정 없음)</a:t>
            </a:r>
            <a:endParaRPr lang="en-US" sz="1575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467100"/>
            <a:ext cx="9525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성능 곡선과 사내 검증을 거친 이론식입니다. 데이터가 쌓여도 바뀌지 않습니다.  — 진공도는 여기서 이미 반영합니다. 6장에서 기각한 것은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그러고도 남는 차이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진공도로 더 설명할 수 있느냐였습니다.</a:t>
            </a:r>
            <a:endParaRPr lang="en-US" sz="1125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4076700"/>
            <a:ext cx="285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276350" y="4124325"/>
            <a:ext cx="3810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 실제의 차이만 넘깁니다</a:t>
            </a:r>
            <a:endParaRPr lang="en-US" sz="1013" dirty="0"/>
          </a:p>
        </p:txBody>
      </p:sp>
      <p:sp>
        <p:nvSpPr>
          <p:cNvPr id="20" name="Shape 18"/>
          <p:cNvSpPr/>
          <p:nvPr/>
        </p:nvSpPr>
        <p:spPr>
          <a:xfrm>
            <a:off x="685800" y="4400550"/>
            <a:ext cx="10820400" cy="10477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4400550"/>
            <a:ext cx="108204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14400" y="45339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2층  ·  데이터가 배우는 부분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4724400"/>
            <a:ext cx="95250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배우는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= 실제 − 이론값 − W(IGV)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24450"/>
            <a:ext cx="95250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테스트가 쌓이면 다시 배웁니다. 실측 범위 밖은 끝값을 유지합니다(외삽 금지).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85800" y="5524500"/>
            <a:ext cx="10820400" cy="419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14400" y="5638800"/>
            <a:ext cx="10363200" cy="235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+     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보정값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=     </a:t>
            </a:r>
            <a:pPr algn="ctr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</a:t>
            </a:r>
            <a:endParaRPr lang="en-US" sz="1425" dirty="0"/>
          </a:p>
        </p:txBody>
      </p:sp>
      <p:sp>
        <p:nvSpPr>
          <p:cNvPr id="27" name="Shape 2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이론은 그대로, 차이만 배웁니다 — 그래서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사업소로 옮겨집니다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모델 선정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눈대중으로 고르지 않았습니다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7가지를 겨뤄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곡선을 골랐습니다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맞혀보는 방식(LOOCV)으로 채점했습니다. 세 지표 모두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(제곱지수)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1위입니다.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9621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19400"/>
            <a:ext cx="7429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LOOCV 채점 결과  ·  7가지가 모두 예측 가능한 39회 공통 집합  ·  종전(하나의 값)은 MAE 3.90 MW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8477250" y="2800350"/>
            <a:ext cx="28003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작을수록 좋음 · R² 는 1 에 가까울수록</a:t>
            </a:r>
            <a:endParaRPr lang="en-US" sz="863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067050"/>
            <a:ext cx="285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순위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1333500" y="30670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산출 방식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3238500" y="3067050"/>
            <a:ext cx="323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MAE  (MW)  ·  1.30 ~ 1.48 구간 확대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8153400" y="306705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RMSE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9296400" y="306705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R²</a:t>
            </a:r>
            <a:endParaRPr lang="en-US" sz="788" dirty="0"/>
          </a:p>
        </p:txBody>
      </p:sp>
      <p:sp>
        <p:nvSpPr>
          <p:cNvPr id="21" name="Shape 19"/>
          <p:cNvSpPr/>
          <p:nvPr/>
        </p:nvSpPr>
        <p:spPr>
          <a:xfrm>
            <a:off x="914400" y="3219450"/>
            <a:ext cx="103632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32766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1333500" y="32766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 (제곱지수)</a:t>
            </a:r>
            <a:endParaRPr lang="en-US" sz="938" dirty="0"/>
          </a:p>
        </p:txBody>
      </p:sp>
      <p:sp>
        <p:nvSpPr>
          <p:cNvPr id="24" name="Shape 22"/>
          <p:cNvSpPr/>
          <p:nvPr/>
        </p:nvSpPr>
        <p:spPr>
          <a:xfrm>
            <a:off x="3238500" y="3295650"/>
            <a:ext cx="57150" cy="1047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337560" y="32766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938" dirty="0"/>
          </a:p>
        </p:txBody>
      </p:sp>
      <p:sp>
        <p:nvSpPr>
          <p:cNvPr id="26" name="Text 24"/>
          <p:cNvSpPr txBox="1"/>
          <p:nvPr/>
        </p:nvSpPr>
        <p:spPr>
          <a:xfrm>
            <a:off x="8153400" y="32766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1.678</a:t>
            </a:r>
            <a:endParaRPr lang="en-US" sz="938" dirty="0"/>
          </a:p>
        </p:txBody>
      </p:sp>
      <p:sp>
        <p:nvSpPr>
          <p:cNvPr id="27" name="Text 25"/>
          <p:cNvSpPr txBox="1"/>
          <p:nvPr/>
        </p:nvSpPr>
        <p:spPr>
          <a:xfrm>
            <a:off x="9296400" y="32766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0.854</a:t>
            </a:r>
            <a:endParaRPr lang="en-US" sz="938" dirty="0"/>
          </a:p>
        </p:txBody>
      </p:sp>
      <p:sp>
        <p:nvSpPr>
          <p:cNvPr id="28" name="Text 26"/>
          <p:cNvSpPr txBox="1"/>
          <p:nvPr/>
        </p:nvSpPr>
        <p:spPr>
          <a:xfrm>
            <a:off x="914400" y="344805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29" name="Text 27"/>
          <p:cNvSpPr txBox="1"/>
          <p:nvPr/>
        </p:nvSpPr>
        <p:spPr>
          <a:xfrm>
            <a:off x="1333500" y="344805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Rational Quadratic</a:t>
            </a:r>
            <a:endParaRPr lang="en-US" sz="938" dirty="0"/>
          </a:p>
        </p:txBody>
      </p:sp>
      <p:sp>
        <p:nvSpPr>
          <p:cNvPr id="30" name="Shape 28"/>
          <p:cNvSpPr/>
          <p:nvPr/>
        </p:nvSpPr>
        <p:spPr>
          <a:xfrm>
            <a:off x="3238500" y="3467100"/>
            <a:ext cx="114300" cy="10477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429000" y="344805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938" dirty="0"/>
          </a:p>
        </p:txBody>
      </p:sp>
      <p:sp>
        <p:nvSpPr>
          <p:cNvPr id="32" name="Text 30"/>
          <p:cNvSpPr txBox="1"/>
          <p:nvPr/>
        </p:nvSpPr>
        <p:spPr>
          <a:xfrm>
            <a:off x="8153400" y="34480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1.685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9296400" y="34480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36195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35" name="Text 33"/>
          <p:cNvSpPr txBox="1"/>
          <p:nvPr/>
        </p:nvSpPr>
        <p:spPr>
          <a:xfrm>
            <a:off x="1333500" y="36195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5/2</a:t>
            </a:r>
            <a:endParaRPr lang="en-US" sz="938" dirty="0"/>
          </a:p>
        </p:txBody>
      </p:sp>
      <p:sp>
        <p:nvSpPr>
          <p:cNvPr id="36" name="Shape 34"/>
          <p:cNvSpPr/>
          <p:nvPr/>
        </p:nvSpPr>
        <p:spPr>
          <a:xfrm>
            <a:off x="3238500" y="3638550"/>
            <a:ext cx="228600" cy="10477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543300" y="36195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8153400" y="36195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1.689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9296400" y="36195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0.852</a:t>
            </a:r>
            <a:endParaRPr lang="en-US" sz="938" dirty="0"/>
          </a:p>
        </p:txBody>
      </p:sp>
      <p:sp>
        <p:nvSpPr>
          <p:cNvPr id="40" name="Text 38"/>
          <p:cNvSpPr txBox="1"/>
          <p:nvPr/>
        </p:nvSpPr>
        <p:spPr>
          <a:xfrm>
            <a:off x="914400" y="379095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41" name="Text 39"/>
          <p:cNvSpPr txBox="1"/>
          <p:nvPr/>
        </p:nvSpPr>
        <p:spPr>
          <a:xfrm>
            <a:off x="1333500" y="379095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3/2</a:t>
            </a:r>
            <a:endParaRPr lang="en-US" sz="938" dirty="0"/>
          </a:p>
        </p:txBody>
      </p:sp>
      <p:sp>
        <p:nvSpPr>
          <p:cNvPr id="42" name="Shape 40"/>
          <p:cNvSpPr/>
          <p:nvPr/>
        </p:nvSpPr>
        <p:spPr>
          <a:xfrm>
            <a:off x="3238500" y="3810000"/>
            <a:ext cx="502920" cy="10477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817620" y="379095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938" dirty="0"/>
          </a:p>
        </p:txBody>
      </p:sp>
      <p:sp>
        <p:nvSpPr>
          <p:cNvPr id="44" name="Text 42"/>
          <p:cNvSpPr txBox="1"/>
          <p:nvPr/>
        </p:nvSpPr>
        <p:spPr>
          <a:xfrm>
            <a:off x="8153400" y="37909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1.700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9296400" y="37909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0.850</a:t>
            </a:r>
            <a:endParaRPr lang="en-US" sz="938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39624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38" dirty="0"/>
          </a:p>
        </p:txBody>
      </p:sp>
      <p:sp>
        <p:nvSpPr>
          <p:cNvPr id="47" name="Text 45"/>
          <p:cNvSpPr txBox="1"/>
          <p:nvPr/>
        </p:nvSpPr>
        <p:spPr>
          <a:xfrm>
            <a:off x="1333500" y="39624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지수 (Matérn 1/2)</a:t>
            </a:r>
            <a:endParaRPr lang="en-US" sz="938" dirty="0"/>
          </a:p>
        </p:txBody>
      </p:sp>
      <p:sp>
        <p:nvSpPr>
          <p:cNvPr id="48" name="Shape 46"/>
          <p:cNvSpPr/>
          <p:nvPr/>
        </p:nvSpPr>
        <p:spPr>
          <a:xfrm>
            <a:off x="3238500" y="3981450"/>
            <a:ext cx="1485900" cy="10477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4800600" y="39624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8153400" y="39624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1.739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9296400" y="39624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0.843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914400" y="413385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1333500" y="413385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커널회귀 (거리가중 평균)</a:t>
            </a:r>
            <a:endParaRPr lang="en-US" sz="938" dirty="0"/>
          </a:p>
        </p:txBody>
      </p:sp>
      <p:sp>
        <p:nvSpPr>
          <p:cNvPr id="54" name="Shape 52"/>
          <p:cNvSpPr/>
          <p:nvPr/>
        </p:nvSpPr>
        <p:spPr>
          <a:xfrm>
            <a:off x="3238500" y="4152900"/>
            <a:ext cx="2720340" cy="104775"/>
          </a:xfrm>
          <a:prstGeom prst="rect">
            <a:avLst/>
          </a:prstGeom>
          <a:solidFill>
            <a:srgbClr val="55708A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035040" y="413385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8153400" y="41338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1.794</a:t>
            </a:r>
            <a:endParaRPr lang="en-US" sz="938" dirty="0"/>
          </a:p>
        </p:txBody>
      </p:sp>
      <p:sp>
        <p:nvSpPr>
          <p:cNvPr id="57" name="Text 55"/>
          <p:cNvSpPr txBox="1"/>
          <p:nvPr/>
        </p:nvSpPr>
        <p:spPr>
          <a:xfrm>
            <a:off x="9296400" y="41338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0.833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914400" y="4305300"/>
            <a:ext cx="285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938" dirty="0"/>
          </a:p>
        </p:txBody>
      </p:sp>
      <p:sp>
        <p:nvSpPr>
          <p:cNvPr id="59" name="Text 57"/>
          <p:cNvSpPr txBox="1"/>
          <p:nvPr/>
        </p:nvSpPr>
        <p:spPr>
          <a:xfrm>
            <a:off x="1333500" y="4305300"/>
            <a:ext cx="18478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 (온도 구간별 평균)</a:t>
            </a:r>
            <a:endParaRPr lang="en-US" sz="938" dirty="0"/>
          </a:p>
        </p:txBody>
      </p:sp>
      <p:sp>
        <p:nvSpPr>
          <p:cNvPr id="60" name="Shape 58"/>
          <p:cNvSpPr/>
          <p:nvPr/>
        </p:nvSpPr>
        <p:spPr>
          <a:xfrm>
            <a:off x="3238500" y="4324350"/>
            <a:ext cx="4000500" cy="104775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7315200" y="43053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938" dirty="0"/>
          </a:p>
        </p:txBody>
      </p:sp>
      <p:sp>
        <p:nvSpPr>
          <p:cNvPr id="62" name="Text 60"/>
          <p:cNvSpPr txBox="1"/>
          <p:nvPr/>
        </p:nvSpPr>
        <p:spPr>
          <a:xfrm>
            <a:off x="8153400" y="43053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1.874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9296400" y="430530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0.818</a:t>
            </a:r>
            <a:endParaRPr lang="en-US" sz="938" dirty="0"/>
          </a:p>
        </p:txBody>
      </p:sp>
      <p:sp>
        <p:nvSpPr>
          <p:cNvPr id="64" name="Text 62"/>
          <p:cNvSpPr txBox="1"/>
          <p:nvPr/>
        </p:nvSpPr>
        <p:spPr>
          <a:xfrm>
            <a:off x="914400" y="4495800"/>
            <a:ext cx="103632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MAE 평균 오차  ·  RMSE 크게 틀린 경우에 벌점을 더 준 오차  ·  R² 설명력  ·  커널 점과 점 사이를 어떤 모양으로 이을지 정하는 규칙</a:t>
            </a:r>
            <a:endParaRPr lang="en-US" sz="863" dirty="0"/>
          </a:p>
        </p:txBody>
      </p:sp>
      <p:sp>
        <p:nvSpPr>
          <p:cNvPr id="65" name="Shape 63"/>
          <p:cNvSpPr/>
          <p:nvPr/>
        </p:nvSpPr>
        <p:spPr>
          <a:xfrm>
            <a:off x="685800" y="4762500"/>
            <a:ext cx="10820400" cy="11811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14400" y="485775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커널별 보정 곡선  ·  0 ~ 30℃  ·  MW</a:t>
            </a:r>
            <a:endParaRPr lang="en-US" sz="788" dirty="0"/>
          </a:p>
        </p:txBody>
      </p:sp>
      <p:sp>
        <p:nvSpPr>
          <p:cNvPr id="67" name="Shape 65"/>
          <p:cNvSpPr/>
          <p:nvPr/>
        </p:nvSpPr>
        <p:spPr>
          <a:xfrm>
            <a:off x="1905000" y="5048250"/>
            <a:ext cx="4762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1428750" y="4991100"/>
            <a:ext cx="40005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13" dirty="0"/>
          </a:p>
        </p:txBody>
      </p:sp>
      <p:sp>
        <p:nvSpPr>
          <p:cNvPr id="69" name="Shape 67"/>
          <p:cNvSpPr/>
          <p:nvPr/>
        </p:nvSpPr>
        <p:spPr>
          <a:xfrm>
            <a:off x="1905000" y="5518150"/>
            <a:ext cx="4762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1428750" y="5461000"/>
            <a:ext cx="40005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71" name="Shape 69"/>
          <p:cNvSpPr/>
          <p:nvPr/>
        </p:nvSpPr>
        <p:spPr>
          <a:xfrm>
            <a:off x="1905000" y="5753100"/>
            <a:ext cx="47625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1428750" y="5695950"/>
            <a:ext cx="40005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13" dirty="0"/>
          </a:p>
        </p:txBody>
      </p:sp>
      <p:sp>
        <p:nvSpPr>
          <p:cNvPr id="73" name="Text 71"/>
          <p:cNvSpPr txBox="1"/>
          <p:nvPr/>
        </p:nvSpPr>
        <p:spPr>
          <a:xfrm>
            <a:off x="16764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13" dirty="0"/>
          </a:p>
        </p:txBody>
      </p:sp>
      <p:sp>
        <p:nvSpPr>
          <p:cNvPr id="74" name="Text 72"/>
          <p:cNvSpPr txBox="1"/>
          <p:nvPr/>
        </p:nvSpPr>
        <p:spPr>
          <a:xfrm>
            <a:off x="32639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13" dirty="0"/>
          </a:p>
        </p:txBody>
      </p:sp>
      <p:sp>
        <p:nvSpPr>
          <p:cNvPr id="75" name="Text 73"/>
          <p:cNvSpPr txBox="1"/>
          <p:nvPr/>
        </p:nvSpPr>
        <p:spPr>
          <a:xfrm>
            <a:off x="48514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76" name="Text 74"/>
          <p:cNvSpPr txBox="1"/>
          <p:nvPr/>
        </p:nvSpPr>
        <p:spPr>
          <a:xfrm>
            <a:off x="6438900" y="5791200"/>
            <a:ext cx="4572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13" dirty="0"/>
          </a:p>
        </p:txBody>
      </p:sp>
      <p:sp>
        <p:nvSpPr>
          <p:cNvPr id="77" name="Shape 75"/>
          <p:cNvSpPr/>
          <p:nvPr/>
        </p:nvSpPr>
        <p:spPr>
          <a:xfrm>
            <a:off x="1905000" y="5073507"/>
            <a:ext cx="1587500" cy="145669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492500" y="5219176"/>
            <a:ext cx="1587500" cy="98092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5080000" y="5317268"/>
            <a:ext cx="1587500" cy="342440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905000" y="5077619"/>
            <a:ext cx="1587500" cy="14038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3492500" y="5218001"/>
            <a:ext cx="1587500" cy="10631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5080000" y="5324316"/>
            <a:ext cx="1587500" cy="334216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1905000" y="5077031"/>
            <a:ext cx="1587500" cy="155067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3492500" y="5232098"/>
            <a:ext cx="1587500" cy="104553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5080000" y="5336651"/>
            <a:ext cx="1587500" cy="305435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905000" y="5071745"/>
            <a:ext cx="1587500" cy="147431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492500" y="5219176"/>
            <a:ext cx="1587500" cy="96329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080000" y="5315506"/>
            <a:ext cx="1587500" cy="343614"/>
          </a:xfrm>
          <a:prstGeom prst="line">
            <a:avLst/>
          </a:prstGeom>
          <a:noFill/>
          <a:ln w="19050">
            <a:solidFill>
              <a:srgbClr val="55708A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1905000" y="5078794"/>
            <a:ext cx="1587500" cy="135684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492500" y="5214477"/>
            <a:ext cx="1587500" cy="10220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080000" y="5316680"/>
            <a:ext cx="1587500" cy="33597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080000" y="5277406"/>
            <a:ext cx="0" cy="97346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7048500" y="5143500"/>
            <a:ext cx="4229100" cy="5572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커널을 바꾸면 곡선이 갈립니다 — 가장 벌어지는 곳은 </a:t>
            </a:r>
            <a:pPr algn="l" indent="0" marL="0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20℃, 0.36 MW</a:t>
            </a:r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 눈으로는 고를 수 없어서 </a:t>
            </a:r>
            <a:pPr algn="l" indent="0" marL="0">
              <a:lnSpc>
                <a:spcPts val="1463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표로 채점</a:t>
            </a:r>
            <a:pPr algn="l" indent="0" marL="0">
              <a:lnSpc>
                <a:spcPts val="1463"/>
              </a:lnSpc>
              <a:buNone/>
            </a:pPr>
            <a:r>
              <a:rPr lang="en-US" sz="97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했습니다.</a:t>
            </a:r>
            <a:endParaRPr lang="en-US" sz="975" dirty="0"/>
          </a:p>
        </p:txBody>
      </p:sp>
      <p:sp>
        <p:nvSpPr>
          <p:cNvPr id="94" name="Shape 9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96" name="Text 9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곡선의 성격(길이척도·잡음)은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학습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하고, 커널은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채점으로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골랐습니다.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 도출 및 예측/보정 모델 개발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곡선 비교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겉보기엔 같은 곡선인데,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확대하면 온도마다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앞에서 본 그 점들입니다. 이제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채점으로 고른 곡선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그 점들을 따라 지나갑니다.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2552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1940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[출력곡선 비교] 화면과 같은 곡선  ·  가로 외기온도 ℃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1428750" y="2952750"/>
            <a:ext cx="9525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출력  MW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1428750" y="40386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4400" y="3981450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340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1428750" y="3750129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14400" y="3692979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380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1428750" y="3461657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14400" y="3404507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420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1428750" y="3173186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3116036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 flipV="1">
            <a:off x="1428750" y="3214221"/>
            <a:ext cx="381000" cy="8943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 flipV="1">
            <a:off x="1809750" y="3207225"/>
            <a:ext cx="381000" cy="699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 flipV="1">
            <a:off x="2190750" y="3202466"/>
            <a:ext cx="381000" cy="476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 flipV="1">
            <a:off x="2571750" y="3187898"/>
            <a:ext cx="381000" cy="1456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2952750" y="3170373"/>
            <a:ext cx="381000" cy="1752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3333750" y="3170373"/>
            <a:ext cx="381000" cy="12116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3714750" y="3182489"/>
            <a:ext cx="381000" cy="1319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4095750" y="3195686"/>
            <a:ext cx="381000" cy="14784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4476750" y="3210471"/>
            <a:ext cx="381000" cy="16803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4857750" y="3227274"/>
            <a:ext cx="381000" cy="18462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5238750" y="3245736"/>
            <a:ext cx="381000" cy="20409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5619750" y="3266146"/>
            <a:ext cx="381000" cy="2740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000750" y="3293550"/>
            <a:ext cx="381000" cy="29929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381750" y="3323479"/>
            <a:ext cx="381000" cy="31516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762750" y="3354995"/>
            <a:ext cx="381000" cy="3432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7143750" y="3389323"/>
            <a:ext cx="381000" cy="37357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7524750" y="3426680"/>
            <a:ext cx="381000" cy="40314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7905750" y="3466994"/>
            <a:ext cx="381000" cy="32525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8286750" y="3499519"/>
            <a:ext cx="381000" cy="45362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667750" y="3544881"/>
            <a:ext cx="381000" cy="4904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9048750" y="3593921"/>
            <a:ext cx="381000" cy="54161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9429750" y="3648082"/>
            <a:ext cx="381000" cy="5848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9810750" y="3706569"/>
            <a:ext cx="381000" cy="61228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10191750" y="3767797"/>
            <a:ext cx="381000" cy="6231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10572750" y="3830107"/>
            <a:ext cx="381000" cy="6844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1428750" y="3150901"/>
            <a:ext cx="381000" cy="894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1809750" y="3143906"/>
            <a:ext cx="381000" cy="699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2190750" y="3139146"/>
            <a:ext cx="381000" cy="476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2571750" y="3124578"/>
            <a:ext cx="381000" cy="1456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2952750" y="3116429"/>
            <a:ext cx="381000" cy="814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333750" y="3116429"/>
            <a:ext cx="381000" cy="12549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3714750" y="3128977"/>
            <a:ext cx="381000" cy="21131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095750" y="3150108"/>
            <a:ext cx="381000" cy="2120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476750" y="3171311"/>
            <a:ext cx="381000" cy="1968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57750" y="3190999"/>
            <a:ext cx="381000" cy="1745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5238750" y="3208451"/>
            <a:ext cx="381000" cy="1702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5619750" y="3225471"/>
            <a:ext cx="381000" cy="2459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000750" y="3250063"/>
            <a:ext cx="381000" cy="3065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381750" y="3280713"/>
            <a:ext cx="381000" cy="3779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762750" y="3318503"/>
            <a:ext cx="381000" cy="4608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143750" y="3364587"/>
            <a:ext cx="381000" cy="5221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524750" y="3416800"/>
            <a:ext cx="381000" cy="5488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905750" y="3471682"/>
            <a:ext cx="381000" cy="4298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286750" y="3514664"/>
            <a:ext cx="381000" cy="49401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667750" y="3564065"/>
            <a:ext cx="381000" cy="46372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048750" y="3610436"/>
            <a:ext cx="381000" cy="4658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429750" y="3657024"/>
            <a:ext cx="381000" cy="48824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810750" y="3705848"/>
            <a:ext cx="381000" cy="5235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10191750" y="3758206"/>
            <a:ext cx="381000" cy="56757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572750" y="3814963"/>
            <a:ext cx="381000" cy="68368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8743950" y="3114675"/>
            <a:ext cx="247650" cy="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75" name="Text 73"/>
          <p:cNvSpPr txBox="1"/>
          <p:nvPr/>
        </p:nvSpPr>
        <p:spPr>
          <a:xfrm>
            <a:off x="9067800" y="3048000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(IGV 포함 · 보정 없음)</a:t>
            </a:r>
            <a:endParaRPr lang="en-US" sz="900" dirty="0"/>
          </a:p>
        </p:txBody>
      </p:sp>
      <p:sp>
        <p:nvSpPr>
          <p:cNvPr id="76" name="Shape 74"/>
          <p:cNvSpPr/>
          <p:nvPr/>
        </p:nvSpPr>
        <p:spPr>
          <a:xfrm>
            <a:off x="8743950" y="3295650"/>
            <a:ext cx="247650" cy="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9067800" y="32289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만든 곡선</a:t>
            </a:r>
            <a:endParaRPr lang="en-US" sz="900" dirty="0"/>
          </a:p>
        </p:txBody>
      </p:sp>
      <p:sp>
        <p:nvSpPr>
          <p:cNvPr id="78" name="Text 76"/>
          <p:cNvSpPr txBox="1"/>
          <p:nvPr/>
        </p:nvSpPr>
        <p:spPr>
          <a:xfrm>
            <a:off x="5334000" y="3810000"/>
            <a:ext cx="457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곡선이 거의 붙어 보입니다 — 아래는 그 차이만 확대한 것입니다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685800" y="4152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428750" y="50292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14400" y="4972050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-5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1428750" y="4843463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914400" y="4786313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84" name="Shape 82"/>
          <p:cNvSpPr/>
          <p:nvPr/>
        </p:nvSpPr>
        <p:spPr>
          <a:xfrm>
            <a:off x="1428750" y="465772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914400" y="4600575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+5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1428750" y="4471988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914400" y="4414838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+10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1428750" y="428625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89" name="Text 87"/>
          <p:cNvSpPr txBox="1"/>
          <p:nvPr/>
        </p:nvSpPr>
        <p:spPr>
          <a:xfrm>
            <a:off x="914400" y="4229100"/>
            <a:ext cx="4381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+15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1428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1200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-10℃</a:t>
            </a:r>
            <a:endParaRPr lang="en-US" sz="750" dirty="0"/>
          </a:p>
        </p:txBody>
      </p:sp>
      <p:sp>
        <p:nvSpPr>
          <p:cNvPr id="92" name="Shape 90"/>
          <p:cNvSpPr/>
          <p:nvPr/>
        </p:nvSpPr>
        <p:spPr>
          <a:xfrm>
            <a:off x="3333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3" name="Text 91"/>
          <p:cNvSpPr txBox="1"/>
          <p:nvPr/>
        </p:nvSpPr>
        <p:spPr>
          <a:xfrm>
            <a:off x="3105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5238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5010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7143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915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9048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99" name="Text 97"/>
          <p:cNvSpPr txBox="1"/>
          <p:nvPr/>
        </p:nvSpPr>
        <p:spPr>
          <a:xfrm>
            <a:off x="8820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10953750" y="50292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101" name="Text 99"/>
          <p:cNvSpPr txBox="1"/>
          <p:nvPr/>
        </p:nvSpPr>
        <p:spPr>
          <a:xfrm>
            <a:off x="10725150" y="508635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102" name="Text 100"/>
          <p:cNvSpPr txBox="1"/>
          <p:nvPr/>
        </p:nvSpPr>
        <p:spPr>
          <a:xfrm>
            <a:off x="1428750" y="4200525"/>
            <a:ext cx="2476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A88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 = 보정값 (실제 − 이론값 − W)</a:t>
            </a:r>
            <a:endParaRPr lang="en-US" sz="863" dirty="0"/>
          </a:p>
        </p:txBody>
      </p:sp>
      <p:sp>
        <p:nvSpPr>
          <p:cNvPr id="103" name="Shape 101"/>
          <p:cNvSpPr/>
          <p:nvPr/>
        </p:nvSpPr>
        <p:spPr>
          <a:xfrm>
            <a:off x="3798570" y="422719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943350" y="4200525"/>
            <a:ext cx="1619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 = 테스트 40회</a:t>
            </a:r>
            <a:endParaRPr lang="en-US" sz="863" dirty="0"/>
          </a:p>
        </p:txBody>
      </p:sp>
      <p:sp>
        <p:nvSpPr>
          <p:cNvPr id="105" name="Text 103"/>
          <p:cNvSpPr txBox="1"/>
          <p:nvPr/>
        </p:nvSpPr>
        <p:spPr>
          <a:xfrm>
            <a:off x="5715000" y="4200525"/>
            <a:ext cx="25717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위쪽일수록 더 나온 것</a:t>
            </a:r>
            <a:endParaRPr lang="en-US" sz="863" dirty="0"/>
          </a:p>
        </p:txBody>
      </p:sp>
      <p:sp>
        <p:nvSpPr>
          <p:cNvPr id="106" name="Shape 104"/>
          <p:cNvSpPr/>
          <p:nvPr/>
        </p:nvSpPr>
        <p:spPr>
          <a:xfrm>
            <a:off x="8439150" y="4257675"/>
            <a:ext cx="228600" cy="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107" name="Text 105"/>
          <p:cNvSpPr txBox="1"/>
          <p:nvPr/>
        </p:nvSpPr>
        <p:spPr>
          <a:xfrm>
            <a:off x="8705850" y="4200525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· 온도 구분 없이 +2.5</a:t>
            </a:r>
            <a:endParaRPr lang="en-US" sz="863" dirty="0"/>
          </a:p>
        </p:txBody>
      </p:sp>
      <p:sp>
        <p:nvSpPr>
          <p:cNvPr id="108" name="Shape 106"/>
          <p:cNvSpPr/>
          <p:nvPr/>
        </p:nvSpPr>
        <p:spPr>
          <a:xfrm>
            <a:off x="1428750" y="4752265"/>
            <a:ext cx="9525000" cy="0"/>
          </a:xfrm>
          <a:prstGeom prst="line">
            <a:avLst/>
          </a:prstGeom>
          <a:noFill/>
          <a:ln w="27940">
            <a:solidFill>
              <a:srgbClr val="A8BCD1"/>
            </a:solidFill>
            <a:prstDash val="dash"/>
          </a:ln>
        </p:spPr>
      </p:sp>
      <p:sp>
        <p:nvSpPr>
          <p:cNvPr id="109" name="Shape 107"/>
          <p:cNvSpPr/>
          <p:nvPr/>
        </p:nvSpPr>
        <p:spPr>
          <a:xfrm>
            <a:off x="2941320" y="4332108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027045" y="434967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665220" y="448671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046220" y="460075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446270" y="461112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636770" y="462809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827270" y="464385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4998720" y="458121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113020" y="467713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436870" y="462189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722620" y="463341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779770" y="455577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836920" y="457230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046470" y="453991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065520" y="458968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179820" y="4605402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465570" y="4613649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484620" y="460113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7360920" y="471569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8084820" y="4891327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9" name="Shape 127"/>
          <p:cNvSpPr/>
          <p:nvPr/>
        </p:nvSpPr>
        <p:spPr>
          <a:xfrm>
            <a:off x="8122920" y="493497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0" name="Shape 128"/>
          <p:cNvSpPr/>
          <p:nvPr/>
        </p:nvSpPr>
        <p:spPr>
          <a:xfrm>
            <a:off x="8141970" y="483449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1" name="Shape 129"/>
          <p:cNvSpPr/>
          <p:nvPr/>
        </p:nvSpPr>
        <p:spPr>
          <a:xfrm>
            <a:off x="8199120" y="483898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2" name="Shape 130"/>
          <p:cNvSpPr/>
          <p:nvPr/>
        </p:nvSpPr>
        <p:spPr>
          <a:xfrm>
            <a:off x="8522970" y="4912241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8770620" y="499333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4" name="Shape 132"/>
          <p:cNvSpPr/>
          <p:nvPr/>
        </p:nvSpPr>
        <p:spPr>
          <a:xfrm>
            <a:off x="9056370" y="487260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5" name="Shape 133"/>
          <p:cNvSpPr/>
          <p:nvPr/>
        </p:nvSpPr>
        <p:spPr>
          <a:xfrm>
            <a:off x="9056370" y="483077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6" name="Shape 134"/>
          <p:cNvSpPr/>
          <p:nvPr/>
        </p:nvSpPr>
        <p:spPr>
          <a:xfrm>
            <a:off x="9151620" y="494110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7" name="Shape 135"/>
          <p:cNvSpPr/>
          <p:nvPr/>
        </p:nvSpPr>
        <p:spPr>
          <a:xfrm>
            <a:off x="9189720" y="493913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342120" y="4845412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9" name="Shape 137"/>
          <p:cNvSpPr/>
          <p:nvPr/>
        </p:nvSpPr>
        <p:spPr>
          <a:xfrm>
            <a:off x="9475470" y="483601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0" name="Shape 138"/>
          <p:cNvSpPr/>
          <p:nvPr/>
        </p:nvSpPr>
        <p:spPr>
          <a:xfrm>
            <a:off x="9532620" y="490737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1" name="Shape 139"/>
          <p:cNvSpPr/>
          <p:nvPr/>
        </p:nvSpPr>
        <p:spPr>
          <a:xfrm>
            <a:off x="9551670" y="473456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551670" y="476131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551670" y="486993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704070" y="4787796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742170" y="4899425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894570" y="4785530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7" name="Shape 145"/>
          <p:cNvSpPr/>
          <p:nvPr/>
        </p:nvSpPr>
        <p:spPr>
          <a:xfrm>
            <a:off x="10180320" y="4734973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8" name="Shape 146"/>
          <p:cNvSpPr/>
          <p:nvPr/>
        </p:nvSpPr>
        <p:spPr>
          <a:xfrm>
            <a:off x="10523220" y="4760084"/>
            <a:ext cx="60960" cy="6096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428750" y="4517307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1809750" y="4517307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2190750" y="4517307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2571750" y="4517307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952750" y="4517307"/>
            <a:ext cx="381000" cy="48292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3333750" y="4565599"/>
            <a:ext cx="381000" cy="1857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3714750" y="4567457"/>
            <a:ext cx="381000" cy="41234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4095750" y="4608690"/>
            <a:ext cx="381000" cy="33061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4476750" y="4641752"/>
            <a:ext cx="381000" cy="1485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4857750" y="4651410"/>
            <a:ext cx="381000" cy="5201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5238750" y="4633951"/>
            <a:ext cx="381000" cy="1745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5619750" y="4619463"/>
            <a:ext cx="381000" cy="14488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6000750" y="4619463"/>
            <a:ext cx="381000" cy="4086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381750" y="4623549"/>
            <a:ext cx="381000" cy="32318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6762750" y="4655868"/>
            <a:ext cx="381000" cy="6017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143750" y="4716047"/>
            <a:ext cx="381000" cy="76895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7524750" y="4792942"/>
            <a:ext cx="381000" cy="74666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905750" y="4867608"/>
            <a:ext cx="381000" cy="53864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8286750" y="4921472"/>
            <a:ext cx="381000" cy="20803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8667750" y="4928530"/>
            <a:ext cx="381000" cy="13745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9048750" y="4889525"/>
            <a:ext cx="381000" cy="39005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9429750" y="4839376"/>
            <a:ext cx="381000" cy="50149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9810750" y="4794428"/>
            <a:ext cx="381000" cy="44948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10191750" y="4765081"/>
            <a:ext cx="381000" cy="29347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10572750" y="4765081"/>
            <a:ext cx="381000" cy="0"/>
          </a:xfrm>
          <a:prstGeom prst="line">
            <a:avLst/>
          </a:prstGeom>
          <a:noFill/>
          <a:ln w="35560">
            <a:solidFill>
              <a:srgbClr val="EFB13C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685800" y="5372100"/>
            <a:ext cx="10820400" cy="571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75" name="Text 173"/>
          <p:cNvSpPr txBox="1"/>
          <p:nvPr/>
        </p:nvSpPr>
        <p:spPr>
          <a:xfrm>
            <a:off x="914400" y="5486400"/>
            <a:ext cx="103632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출력보다 </a:t>
            </a:r>
            <a:pPr algn="ctr" indent="0" marL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0℃ 는 7.5 MW 더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</a:t>
            </a:r>
            <a:pPr algn="ctr" indent="0" marL="0">
              <a:lnSpc>
                <a:spcPts val="1688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28℃ 는 2.7 MW 덜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나왔습니다.   종전에는 이 차이를 온도 구분 없이 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718B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하나의 값 +2.5</a:t>
            </a:r>
            <a:pPr algn="ctr" indent="0" marL="0">
              <a:lnSpc>
                <a:spcPts val="1688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 덮었습니다.</a:t>
            </a:r>
            <a:endParaRPr lang="en-US" sz="1125" dirty="0"/>
          </a:p>
        </p:txBody>
      </p:sp>
      <p:sp>
        <p:nvSpPr>
          <p:cNvPr id="176" name="Shape 174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77" name="Text 175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78" name="Text 176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차이를 온도마다 배웁니다 — 방식 7가지를 겨뤄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잘 맞는 곡선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골랐습니다.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추이 분석(모니터링 체계 구축)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모니터링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테스트가 쌓이면 스스로 다시 고르고,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의심도 도구가 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다시 정해야 하는 숫자가 없습니다.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넣기 → 채점 → 고르기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한 바퀴입니다.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4287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06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90600" y="2971800"/>
            <a:ext cx="20193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1239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1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11239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결과 넣기</a:t>
            </a:r>
            <a:endParaRPr lang="en-US" sz="1238" dirty="0"/>
          </a:p>
        </p:txBody>
      </p:sp>
      <p:sp>
        <p:nvSpPr>
          <p:cNvPr id="18" name="Text 16"/>
          <p:cNvSpPr txBox="1"/>
          <p:nvPr/>
        </p:nvSpPr>
        <p:spPr>
          <a:xfrm>
            <a:off x="11239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1회 = 한 줄</a:t>
            </a:r>
            <a:endParaRPr lang="en-US" sz="863" dirty="0"/>
          </a:p>
        </p:txBody>
      </p:sp>
      <p:sp>
        <p:nvSpPr>
          <p:cNvPr id="19" name="Text 17"/>
          <p:cNvSpPr txBox="1"/>
          <p:nvPr/>
        </p:nvSpPr>
        <p:spPr>
          <a:xfrm>
            <a:off x="30861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5433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433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6766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2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36766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채점</a:t>
            </a:r>
            <a:endParaRPr lang="en-US" sz="1238" dirty="0"/>
          </a:p>
        </p:txBody>
      </p:sp>
      <p:sp>
        <p:nvSpPr>
          <p:cNvPr id="24" name="Text 22"/>
          <p:cNvSpPr txBox="1"/>
          <p:nvPr/>
        </p:nvSpPr>
        <p:spPr>
          <a:xfrm>
            <a:off x="36766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 7가지 전부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56388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60960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960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2293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3</a:t>
            </a:r>
            <a:endParaRPr lang="en-US" sz="788" dirty="0"/>
          </a:p>
        </p:txBody>
      </p:sp>
      <p:sp>
        <p:nvSpPr>
          <p:cNvPr id="29" name="Text 27"/>
          <p:cNvSpPr txBox="1"/>
          <p:nvPr/>
        </p:nvSpPr>
        <p:spPr>
          <a:xfrm>
            <a:off x="62293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잘 맞는 쪽으로</a:t>
            </a:r>
            <a:endParaRPr lang="en-US" sz="1238" dirty="0"/>
          </a:p>
        </p:txBody>
      </p:sp>
      <p:sp>
        <p:nvSpPr>
          <p:cNvPr id="30" name="Text 28"/>
          <p:cNvSpPr txBox="1"/>
          <p:nvPr/>
        </p:nvSpPr>
        <p:spPr>
          <a:xfrm>
            <a:off x="62293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1위가 바뀌면 교체</a:t>
            </a:r>
            <a:endParaRPr lang="en-US" sz="863" dirty="0"/>
          </a:p>
        </p:txBody>
      </p:sp>
      <p:sp>
        <p:nvSpPr>
          <p:cNvPr id="31" name="Text 29"/>
          <p:cNvSpPr txBox="1"/>
          <p:nvPr/>
        </p:nvSpPr>
        <p:spPr>
          <a:xfrm>
            <a:off x="8191500" y="3200400"/>
            <a:ext cx="419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500" dirty="0"/>
          </a:p>
        </p:txBody>
      </p:sp>
      <p:sp>
        <p:nvSpPr>
          <p:cNvPr id="32" name="Shape 30"/>
          <p:cNvSpPr/>
          <p:nvPr/>
        </p:nvSpPr>
        <p:spPr>
          <a:xfrm>
            <a:off x="8648700" y="2971800"/>
            <a:ext cx="2019300" cy="647700"/>
          </a:xfrm>
          <a:prstGeom prst="rect">
            <a:avLst/>
          </a:prstGeom>
          <a:solidFill>
            <a:srgbClr val="0F1A28"/>
          </a:solidFill>
          <a:ln w="12700">
            <a:solidFill>
              <a:srgbClr val="22354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648700" y="2971800"/>
            <a:ext cx="2019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782050" y="3067050"/>
            <a:ext cx="1143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STEP 4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782050" y="3238500"/>
            <a:ext cx="17526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 갱신</a:t>
            </a:r>
            <a:endParaRPr lang="en-US" sz="1238" dirty="0"/>
          </a:p>
        </p:txBody>
      </p:sp>
      <p:sp>
        <p:nvSpPr>
          <p:cNvPr id="36" name="Text 34"/>
          <p:cNvSpPr txBox="1"/>
          <p:nvPr/>
        </p:nvSpPr>
        <p:spPr>
          <a:xfrm>
            <a:off x="8782050" y="3448050"/>
            <a:ext cx="17526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근거와 함께 출력</a:t>
            </a:r>
            <a:endParaRPr lang="en-US" sz="863" dirty="0"/>
          </a:p>
        </p:txBody>
      </p:sp>
      <p:sp>
        <p:nvSpPr>
          <p:cNvPr id="37" name="Shape 35"/>
          <p:cNvSpPr/>
          <p:nvPr/>
        </p:nvSpPr>
        <p:spPr>
          <a:xfrm>
            <a:off x="2000250" y="3810000"/>
            <a:ext cx="7620000" cy="0"/>
          </a:xfrm>
          <a:prstGeom prst="line">
            <a:avLst/>
          </a:prstGeom>
          <a:noFill/>
          <a:ln w="17780">
            <a:solidFill>
              <a:srgbClr val="8A6620"/>
            </a:solidFill>
            <a:prstDash val="dash"/>
          </a:ln>
        </p:spPr>
      </p:sp>
      <p:sp>
        <p:nvSpPr>
          <p:cNvPr id="38" name="Text 36"/>
          <p:cNvSpPr txBox="1"/>
          <p:nvPr/>
        </p:nvSpPr>
        <p:spPr>
          <a:xfrm>
            <a:off x="2000250" y="3867150"/>
            <a:ext cx="7620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↺   테스트가 늘면 다시 처음으로 — 사람이 손으로 정하는 값은 없습니다</a:t>
            </a:r>
            <a:endParaRPr lang="en-US" sz="975" dirty="0"/>
          </a:p>
        </p:txBody>
      </p:sp>
      <p:sp>
        <p:nvSpPr>
          <p:cNvPr id="39" name="Shape 37"/>
          <p:cNvSpPr/>
          <p:nvPr/>
        </p:nvSpPr>
        <p:spPr>
          <a:xfrm>
            <a:off x="685800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85800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회만 빼도 뒤집히면 버린다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685800" y="4819650"/>
            <a:ext cx="526161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</a:t>
            </a:r>
            <a:endParaRPr lang="en-US" sz="3300" dirty="0"/>
          </a:p>
        </p:txBody>
      </p:sp>
      <p:sp>
        <p:nvSpPr>
          <p:cNvPr id="42" name="Text 40"/>
          <p:cNvSpPr txBox="1"/>
          <p:nvPr/>
        </p:nvSpPr>
        <p:spPr>
          <a:xfrm>
            <a:off x="1269111" y="5029200"/>
            <a:ext cx="4000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85800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회씩 빼 보며 다시 계산합니다.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 번 중 여덟 번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이상 같은 결론이 나와야 믿습니다.</a:t>
            </a:r>
            <a:endParaRPr lang="en-US" sz="1125" dirty="0"/>
          </a:p>
        </p:txBody>
      </p:sp>
      <p:sp>
        <p:nvSpPr>
          <p:cNvPr id="44" name="Shape 42"/>
          <p:cNvSpPr/>
          <p:nvPr/>
        </p:nvSpPr>
        <p:spPr>
          <a:xfrm>
            <a:off x="4448175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448175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우연일 수 있으면 안 믿는다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4448175" y="4819650"/>
            <a:ext cx="526161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3300" dirty="0"/>
          </a:p>
        </p:txBody>
      </p:sp>
      <p:sp>
        <p:nvSpPr>
          <p:cNvPr id="47" name="Text 45"/>
          <p:cNvSpPr txBox="1"/>
          <p:nvPr/>
        </p:nvSpPr>
        <p:spPr>
          <a:xfrm>
            <a:off x="5031486" y="5029200"/>
            <a:ext cx="725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번에 1번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4448175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우연히 그렇게 보일 확률이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이보다 크면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관계가 없다고 봅니다.</a:t>
            </a:r>
            <a:endParaRPr lang="en-US" sz="1125" dirty="0"/>
          </a:p>
        </p:txBody>
      </p:sp>
      <p:sp>
        <p:nvSpPr>
          <p:cNvPr id="49" name="Shape 47"/>
          <p:cNvSpPr/>
          <p:nvPr/>
        </p:nvSpPr>
        <p:spPr>
          <a:xfrm>
            <a:off x="8210550" y="44767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210550" y="46101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뒤를 보지 않고 예측한다</a:t>
            </a:r>
            <a:endParaRPr lang="en-US" sz="788" dirty="0"/>
          </a:p>
        </p:txBody>
      </p:sp>
      <p:sp>
        <p:nvSpPr>
          <p:cNvPr id="51" name="Text 49"/>
          <p:cNvSpPr txBox="1"/>
          <p:nvPr/>
        </p:nvSpPr>
        <p:spPr>
          <a:xfrm>
            <a:off x="8210550" y="4819650"/>
            <a:ext cx="272606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3300" dirty="0"/>
          </a:p>
        </p:txBody>
      </p:sp>
      <p:sp>
        <p:nvSpPr>
          <p:cNvPr id="52" name="Text 50"/>
          <p:cNvSpPr txBox="1"/>
          <p:nvPr/>
        </p:nvSpPr>
        <p:spPr>
          <a:xfrm>
            <a:off x="8540306" y="5029200"/>
            <a:ext cx="40005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8210550" y="5391150"/>
            <a:ext cx="329565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회차를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앞의 데이터만으로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예측했습니다. 뒤 회차를 미리 보지 않습니다.</a:t>
            </a:r>
            <a:endParaRPr lang="en-US" sz="1125" dirty="0"/>
          </a:p>
        </p:txBody>
      </p:sp>
      <p:sp>
        <p:nvSpPr>
          <p:cNvPr id="54" name="Shape 52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다시 정할 숫자가 없습니다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설명은 도구가 걸러냅니다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앞으로는 실측 전에 예측을 남기는 기능도 씁니다.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효과(정량적/정성적)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효과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간단해지고,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숫자는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정확해졌습니다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40회를 종전 방식과 나란히 채점한 결과입니다.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447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96000" y="2914650"/>
            <a:ext cx="0" cy="10287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7051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6096000" y="27051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 일 처리  ·  담당자 업무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3067050"/>
            <a:ext cx="1494282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→ 1</a:t>
            </a:r>
            <a:endParaRPr lang="en-US" sz="3300" dirty="0"/>
          </a:p>
        </p:txBody>
      </p:sp>
      <p:sp>
        <p:nvSpPr>
          <p:cNvPr id="19" name="Text 17"/>
          <p:cNvSpPr txBox="1"/>
          <p:nvPr/>
        </p:nvSpPr>
        <p:spPr>
          <a:xfrm>
            <a:off x="2465832" y="3276600"/>
            <a:ext cx="165687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 → 도구 1개</a:t>
            </a:r>
            <a:endParaRPr lang="en-US" sz="1125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695700"/>
            <a:ext cx="4953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순서를 지켜 파일 4개를 돌리던 일이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 한 번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끝납니다. 손으로 옮겨 적던 값 61개는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63246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신고 정확도  ·  실제와 어긋난 정도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6324600" y="3067050"/>
            <a:ext cx="779717" cy="4400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7161467" y="3276600"/>
            <a:ext cx="4000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감소</a:t>
            </a:r>
            <a:endParaRPr lang="en-US" sz="1125" dirty="0"/>
          </a:p>
        </p:txBody>
      </p:sp>
      <p:sp>
        <p:nvSpPr>
          <p:cNvPr id="24" name="Text 22"/>
          <p:cNvSpPr txBox="1"/>
          <p:nvPr/>
        </p:nvSpPr>
        <p:spPr>
          <a:xfrm>
            <a:off x="8572500" y="3200400"/>
            <a:ext cx="270510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63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3.90 → 1.30 MW</a:t>
            </a:r>
            <a:endParaRPr lang="en-US" sz="1125" dirty="0"/>
          </a:p>
        </p:txBody>
      </p:sp>
      <p:sp>
        <p:nvSpPr>
          <p:cNvPr id="25" name="Text 23"/>
          <p:cNvSpPr txBox="1"/>
          <p:nvPr/>
        </p:nvSpPr>
        <p:spPr>
          <a:xfrm>
            <a:off x="6324600" y="3695700"/>
            <a:ext cx="49530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못 미친 횟수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 → 4회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높게 신고한 양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69.5 → 9.3 MW</a:t>
            </a:r>
            <a:endParaRPr lang="en-US" sz="1125" dirty="0"/>
          </a:p>
        </p:txBody>
      </p:sp>
      <p:sp>
        <p:nvSpPr>
          <p:cNvPr id="26" name="Shape 24"/>
          <p:cNvSpPr/>
          <p:nvPr/>
        </p:nvSpPr>
        <p:spPr>
          <a:xfrm>
            <a:off x="685800" y="4343400"/>
            <a:ext cx="10820400" cy="1600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4767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 9회  ·  그 회차 앞의 데이터만으로 예측(walk-forward)  ·  세로 = 실제 − 예측 MW</a:t>
            </a:r>
            <a:endParaRPr lang="en-US" sz="788" dirty="0"/>
          </a:p>
        </p:txBody>
      </p:sp>
      <p:sp>
        <p:nvSpPr>
          <p:cNvPr id="28" name="Text 26"/>
          <p:cNvSpPr txBox="1"/>
          <p:nvPr/>
        </p:nvSpPr>
        <p:spPr>
          <a:xfrm>
            <a:off x="7810500" y="4457700"/>
            <a:ext cx="34671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편차 −0.044  ·  오차 1.234  ·  종전 대비 +91%</a:t>
            </a:r>
            <a:endParaRPr lang="en-US" sz="938" dirty="0"/>
          </a:p>
        </p:txBody>
      </p:sp>
      <p:sp>
        <p:nvSpPr>
          <p:cNvPr id="29" name="Shape 27"/>
          <p:cNvSpPr/>
          <p:nvPr/>
        </p:nvSpPr>
        <p:spPr>
          <a:xfrm>
            <a:off x="1333500" y="5105400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33500" y="47244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33500" y="5486400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14400" y="4657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914400" y="5038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914400" y="5419725"/>
            <a:ext cx="3429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1504950" y="4804410"/>
            <a:ext cx="438150" cy="30099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371600" y="4642485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+1.58</a:t>
            </a:r>
            <a:endParaRPr lang="en-US" sz="788" dirty="0"/>
          </a:p>
        </p:txBody>
      </p:sp>
      <p:sp>
        <p:nvSpPr>
          <p:cNvPr id="37" name="Text 35"/>
          <p:cNvSpPr txBox="1"/>
          <p:nvPr/>
        </p:nvSpPr>
        <p:spPr>
          <a:xfrm>
            <a:off x="1371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04-15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2552700" y="4877562"/>
            <a:ext cx="438150" cy="227838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2419350" y="4715637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+1.20</a:t>
            </a:r>
            <a:endParaRPr lang="en-US" sz="788" dirty="0"/>
          </a:p>
        </p:txBody>
      </p:sp>
      <p:sp>
        <p:nvSpPr>
          <p:cNvPr id="40" name="Text 38"/>
          <p:cNvSpPr txBox="1"/>
          <p:nvPr/>
        </p:nvSpPr>
        <p:spPr>
          <a:xfrm>
            <a:off x="24193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05-27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600450" y="5062538"/>
            <a:ext cx="438150" cy="42863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3467100" y="4900613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+0.23</a:t>
            </a:r>
            <a:endParaRPr lang="en-US" sz="788" dirty="0"/>
          </a:p>
        </p:txBody>
      </p:sp>
      <p:sp>
        <p:nvSpPr>
          <p:cNvPr id="43" name="Text 41"/>
          <p:cNvSpPr txBox="1"/>
          <p:nvPr/>
        </p:nvSpPr>
        <p:spPr>
          <a:xfrm>
            <a:off x="34671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07-07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4648200" y="5105400"/>
            <a:ext cx="438150" cy="462534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4514850" y="5596509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−2.43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45148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07-22</a:t>
            </a:r>
            <a:endParaRPr lang="en-US" sz="750" dirty="0"/>
          </a:p>
        </p:txBody>
      </p:sp>
      <p:sp>
        <p:nvSpPr>
          <p:cNvPr id="47" name="Shape 45"/>
          <p:cNvSpPr/>
          <p:nvPr/>
        </p:nvSpPr>
        <p:spPr>
          <a:xfrm>
            <a:off x="5695950" y="4986719"/>
            <a:ext cx="438150" cy="118682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562600" y="4824794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+0.62</a:t>
            </a:r>
            <a:endParaRPr lang="en-US" sz="788" dirty="0"/>
          </a:p>
        </p:txBody>
      </p:sp>
      <p:sp>
        <p:nvSpPr>
          <p:cNvPr id="49" name="Text 47"/>
          <p:cNvSpPr txBox="1"/>
          <p:nvPr/>
        </p:nvSpPr>
        <p:spPr>
          <a:xfrm>
            <a:off x="5562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07-29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743700" y="5105400"/>
            <a:ext cx="438150" cy="101918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6610350" y="5235893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−0.54</a:t>
            </a:r>
            <a:endParaRPr lang="en-US" sz="788" dirty="0"/>
          </a:p>
        </p:txBody>
      </p:sp>
      <p:sp>
        <p:nvSpPr>
          <p:cNvPr id="52" name="Text 50"/>
          <p:cNvSpPr txBox="1"/>
          <p:nvPr/>
        </p:nvSpPr>
        <p:spPr>
          <a:xfrm>
            <a:off x="66103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08-04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7791450" y="4776026"/>
            <a:ext cx="438150" cy="329374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7658100" y="4614101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+1.73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76581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08-12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8839200" y="5105400"/>
            <a:ext cx="438150" cy="209169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705850" y="5343144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−1.10</a:t>
            </a:r>
            <a:endParaRPr lang="en-US" sz="788" dirty="0"/>
          </a:p>
        </p:txBody>
      </p:sp>
      <p:sp>
        <p:nvSpPr>
          <p:cNvPr id="58" name="Text 56"/>
          <p:cNvSpPr txBox="1"/>
          <p:nvPr/>
        </p:nvSpPr>
        <p:spPr>
          <a:xfrm>
            <a:off x="870585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08-18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9886950" y="5105400"/>
            <a:ext cx="438150" cy="321374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9753600" y="5455349"/>
            <a:ext cx="7048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−1.69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9753600" y="5753100"/>
            <a:ext cx="70485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08-26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시간도 줄고 숫자도 맞았습니다 — 그리고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숫자인지 설명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 수 있게 됐습니다.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 </a:t>
            </a:r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 및 수평 전개 방안</a:t>
            </a:r>
            <a:pPr algn="l" indent="0" marL="0">
              <a:lnSpc>
                <a:spcPts val="1440"/>
              </a:lnSpc>
              <a:buNone/>
            </a:pPr>
            <a:r>
              <a:rPr lang="en-US" sz="975" spc="60" kern="0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·   수평 전개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106680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4" name="Shape 2"/>
          <p:cNvSpPr/>
          <p:nvPr/>
        </p:nvSpPr>
        <p:spPr>
          <a:xfrm>
            <a:off x="108013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5" name="Shape 3"/>
          <p:cNvSpPr/>
          <p:nvPr/>
        </p:nvSpPr>
        <p:spPr>
          <a:xfrm>
            <a:off x="109347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6" name="Shape 4"/>
          <p:cNvSpPr/>
          <p:nvPr/>
        </p:nvSpPr>
        <p:spPr>
          <a:xfrm>
            <a:off x="110680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7" name="Shape 5"/>
          <p:cNvSpPr/>
          <p:nvPr/>
        </p:nvSpPr>
        <p:spPr>
          <a:xfrm>
            <a:off x="1120140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8" name="Shape 6"/>
          <p:cNvSpPr/>
          <p:nvPr/>
        </p:nvSpPr>
        <p:spPr>
          <a:xfrm>
            <a:off x="11334750" y="485775"/>
            <a:ext cx="38100" cy="76200"/>
          </a:xfrm>
          <a:prstGeom prst="rect">
            <a:avLst/>
          </a:prstGeom>
          <a:solidFill>
            <a:srgbClr val="8A8880"/>
          </a:solidFill>
          <a:ln/>
        </p:spPr>
      </p:sp>
      <p:sp>
        <p:nvSpPr>
          <p:cNvPr id="9" name="Shape 7"/>
          <p:cNvSpPr/>
          <p:nvPr/>
        </p:nvSpPr>
        <p:spPr>
          <a:xfrm>
            <a:off x="11468100" y="419100"/>
            <a:ext cx="38100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구조를 둘로 나눈 덕분에,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이론식만 갈아끼우면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옮겨집니다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배우는 부분은 설비 종류와 상관이 없습니다. 사업소마다 다른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하나입니다.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10820400" cy="1409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96000" y="2914650"/>
            <a:ext cx="0" cy="9906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270510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6096000" y="2705100"/>
            <a:ext cx="5410200" cy="19050"/>
          </a:xfrm>
          <a:prstGeom prst="rect">
            <a:avLst/>
          </a:prstGeom>
          <a:solidFill>
            <a:srgbClr val="718BA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44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그대로 가져가는 것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6324600" y="28575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718B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사업소마다 갈아끼우는 것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10515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차이를 배우고 방식을 고르는 부분</a:t>
            </a:r>
            <a:endParaRPr lang="en-US" sz="1163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339090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의심하고 걸러내는 절차</a:t>
            </a:r>
            <a:endParaRPr lang="en-US" sz="1163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367665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프로파일 생성과 화면</a:t>
            </a:r>
            <a:endParaRPr lang="en-US" sz="1163" dirty="0"/>
          </a:p>
        </p:txBody>
      </p:sp>
      <p:sp>
        <p:nvSpPr>
          <p:cNvPr id="22" name="Text 20"/>
          <p:cNvSpPr txBox="1"/>
          <p:nvPr/>
        </p:nvSpPr>
        <p:spPr>
          <a:xfrm>
            <a:off x="6324600" y="310515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설비별 이론식 (성능 곡선)</a:t>
            </a:r>
            <a:endParaRPr lang="en-US" sz="1163" dirty="0"/>
          </a:p>
        </p:txBody>
      </p:sp>
      <p:sp>
        <p:nvSpPr>
          <p:cNvPr id="23" name="Text 21"/>
          <p:cNvSpPr txBox="1"/>
          <p:nvPr/>
        </p:nvSpPr>
        <p:spPr>
          <a:xfrm>
            <a:off x="6324600" y="3390900"/>
            <a:ext cx="4762500" cy="199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9"/>
              </a:lnSpc>
              <a:buNone/>
            </a:pPr>
            <a:r>
              <a:rPr lang="en-US" sz="1163" b="1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 설비 상수</a:t>
            </a:r>
            <a:endParaRPr lang="en-US" sz="1163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3962400"/>
            <a:ext cx="4762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3 덩어리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6324600" y="3962400"/>
            <a:ext cx="4762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바꿀 것은 2 덩어리뿐</a:t>
            </a:r>
            <a:endParaRPr lang="en-US" sz="863" dirty="0"/>
          </a:p>
        </p:txBody>
      </p:sp>
      <p:sp>
        <p:nvSpPr>
          <p:cNvPr id="26" name="Shape 24"/>
          <p:cNvSpPr/>
          <p:nvPr/>
        </p:nvSpPr>
        <p:spPr>
          <a:xfrm>
            <a:off x="685800" y="4362450"/>
            <a:ext cx="10820400" cy="15811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495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전개 순서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1428750" y="5162550"/>
            <a:ext cx="9239250" cy="0"/>
          </a:xfrm>
          <a:prstGeom prst="line">
            <a:avLst/>
          </a:prstGeom>
          <a:noFill/>
          <a:ln w="17780">
            <a:solidFill>
              <a:srgbClr val="22354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62000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 2026.09</a:t>
            </a:r>
            <a:endParaRPr lang="en-US" sz="863" dirty="0"/>
          </a:p>
        </p:txBody>
      </p:sp>
      <p:sp>
        <p:nvSpPr>
          <p:cNvPr id="30" name="Shape 28"/>
          <p:cNvSpPr/>
          <p:nvPr/>
        </p:nvSpPr>
        <p:spPr>
          <a:xfrm>
            <a:off x="1838325" y="5095875"/>
            <a:ext cx="133350" cy="13335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62000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 정착</a:t>
            </a:r>
            <a:endParaRPr lang="en-US" sz="1238" dirty="0"/>
          </a:p>
        </p:txBody>
      </p:sp>
      <p:sp>
        <p:nvSpPr>
          <p:cNvPr id="32" name="Text 30"/>
          <p:cNvSpPr txBox="1"/>
          <p:nvPr/>
        </p:nvSpPr>
        <p:spPr>
          <a:xfrm>
            <a:off x="723900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회차로 운영 중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3362325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2026.10~12</a:t>
            </a:r>
            <a:endParaRPr lang="en-US" sz="863" dirty="0"/>
          </a:p>
        </p:txBody>
      </p:sp>
      <p:sp>
        <p:nvSpPr>
          <p:cNvPr id="34" name="Shape 32"/>
          <p:cNvSpPr/>
          <p:nvPr/>
        </p:nvSpPr>
        <p:spPr>
          <a:xfrm>
            <a:off x="4452938" y="5110163"/>
            <a:ext cx="104775" cy="104775"/>
          </a:xfrm>
          <a:prstGeom prst="ellipse">
            <a:avLst/>
          </a:prstGeom>
          <a:solidFill>
            <a:srgbClr val="55708A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362325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 문서화</a:t>
            </a:r>
            <a:endParaRPr lang="en-US" sz="1238" dirty="0"/>
          </a:p>
        </p:txBody>
      </p:sp>
      <p:sp>
        <p:nvSpPr>
          <p:cNvPr id="36" name="Text 34"/>
          <p:cNvSpPr txBox="1"/>
          <p:nvPr/>
        </p:nvSpPr>
        <p:spPr>
          <a:xfrm>
            <a:off x="3324225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검증·가드 기준을 사내 문서로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5962650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상반기</a:t>
            </a:r>
            <a:endParaRPr lang="en-US" sz="863" dirty="0"/>
          </a:p>
        </p:txBody>
      </p:sp>
      <p:sp>
        <p:nvSpPr>
          <p:cNvPr id="38" name="Shape 36"/>
          <p:cNvSpPr/>
          <p:nvPr/>
        </p:nvSpPr>
        <p:spPr>
          <a:xfrm>
            <a:off x="7053263" y="5110163"/>
            <a:ext cx="104775" cy="104775"/>
          </a:xfrm>
          <a:prstGeom prst="ellipse">
            <a:avLst/>
          </a:prstGeom>
          <a:solidFill>
            <a:srgbClr val="55708A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962650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 1곳 시범</a:t>
            </a:r>
            <a:endParaRPr lang="en-US" sz="1238" dirty="0"/>
          </a:p>
        </p:txBody>
      </p:sp>
      <p:sp>
        <p:nvSpPr>
          <p:cNvPr id="40" name="Text 38"/>
          <p:cNvSpPr txBox="1"/>
          <p:nvPr/>
        </p:nvSpPr>
        <p:spPr>
          <a:xfrm>
            <a:off x="5924550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이론식만 바꿔 나란히 운전</a:t>
            </a:r>
            <a:endParaRPr lang="en-US" sz="938" dirty="0"/>
          </a:p>
        </p:txBody>
      </p:sp>
      <p:sp>
        <p:nvSpPr>
          <p:cNvPr id="41" name="Text 39"/>
          <p:cNvSpPr txBox="1"/>
          <p:nvPr/>
        </p:nvSpPr>
        <p:spPr>
          <a:xfrm>
            <a:off x="8562975" y="4762500"/>
            <a:ext cx="22860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2027 하반기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9653588" y="5110163"/>
            <a:ext cx="104775" cy="104775"/>
          </a:xfrm>
          <a:prstGeom prst="ellipse">
            <a:avLst/>
          </a:prstGeom>
          <a:solidFill>
            <a:srgbClr val="55708A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8562975" y="5314950"/>
            <a:ext cx="2286000" cy="2043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609"/>
              </a:lnSpc>
              <a:buNone/>
            </a:pPr>
            <a:r>
              <a:rPr lang="en-US" sz="1238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수평 전개</a:t>
            </a:r>
            <a:endParaRPr lang="en-US" sz="1238" dirty="0"/>
          </a:p>
        </p:txBody>
      </p:sp>
      <p:sp>
        <p:nvSpPr>
          <p:cNvPr id="44" name="Text 42"/>
          <p:cNvSpPr txBox="1"/>
          <p:nvPr/>
        </p:nvSpPr>
        <p:spPr>
          <a:xfrm>
            <a:off x="8524875" y="5562600"/>
            <a:ext cx="236220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이론식 부분을 분리한 뒤 확대</a:t>
            </a:r>
            <a:endParaRPr lang="en-US" sz="938" dirty="0"/>
          </a:p>
        </p:txBody>
      </p:sp>
      <p:sp>
        <p:nvSpPr>
          <p:cNvPr id="45" name="Shape 4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7" name="Text 4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위례에서 검증한 절차 그대로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바꿀 것은 이론식 하나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762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125" b="1" spc="60" kern="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Tool</a:t>
            </a:r>
            <a:endParaRPr lang="en-US" sz="1125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4개가 하던 일이,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한 화면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들어왔습니다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287000" cy="2846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탭 6개입니다. 날짜·시각을 넣고 실행하면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−20 ~ 40℃ 61행 신고값 표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그대로 나옵니다.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1019175" y="2343150"/>
            <a:ext cx="425767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 산정 화면  ·  입력 4칸 → 61행 신고값 표</a:t>
            </a:r>
            <a:endParaRPr lang="en-US" sz="788" dirty="0"/>
          </a:p>
        </p:txBody>
      </p:sp>
      <p:sp>
        <p:nvSpPr>
          <p:cNvPr id="7" name="Text 5"/>
          <p:cNvSpPr txBox="1"/>
          <p:nvPr/>
        </p:nvSpPr>
        <p:spPr>
          <a:xfrm>
            <a:off x="5657850" y="2343150"/>
            <a:ext cx="551497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② 출력곡선 비교  ·  이론값 vs 모델 + 실측 40회</a:t>
            </a:r>
            <a:endParaRPr lang="en-US" sz="788" dirty="0"/>
          </a:p>
        </p:txBody>
      </p:sp>
      <p:pic>
        <p:nvPicPr>
          <p:cNvPr id="8" name="Image 0" descr="/home/user/Narae-AI/docs/ppt/assets/tool_wind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175" y="2495550"/>
            <a:ext cx="4257675" cy="28575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1009650" y="2486025"/>
            <a:ext cx="4276725" cy="28765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pic>
        <p:nvPicPr>
          <p:cNvPr id="10" name="Image 1" descr="/home/user/Narae-AI/docs/ppt/assets/tool_curv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7850" y="2495550"/>
            <a:ext cx="5514975" cy="28575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648325" y="2486025"/>
            <a:ext cx="5534025" cy="28765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85800" y="5467350"/>
            <a:ext cx="10820400" cy="476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14400" y="5562600"/>
            <a:ext cx="704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탭 6개</a:t>
            </a:r>
            <a:endParaRPr lang="en-US" sz="788" dirty="0"/>
          </a:p>
        </p:txBody>
      </p:sp>
      <p:sp>
        <p:nvSpPr>
          <p:cNvPr id="14" name="Text 10"/>
          <p:cNvSpPr txBox="1"/>
          <p:nvPr/>
        </p:nvSpPr>
        <p:spPr>
          <a:xfrm>
            <a:off x="1676400" y="5543550"/>
            <a:ext cx="9601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· 온도 구간별 보정값 현황 · Test 결과 List-up · 출력 시뮬레이션 · 출력곡선 비교 · 모델 선정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14400" y="5753100"/>
            <a:ext cx="704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사용 순서</a:t>
            </a:r>
            <a:endParaRPr lang="en-US" sz="788" dirty="0"/>
          </a:p>
        </p:txBody>
      </p:sp>
      <p:sp>
        <p:nvSpPr>
          <p:cNvPr id="16" name="Text 12"/>
          <p:cNvSpPr txBox="1"/>
          <p:nvPr/>
        </p:nvSpPr>
        <p:spPr>
          <a:xfrm>
            <a:off x="1676400" y="5734050"/>
            <a:ext cx="96012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날짜·시각 입력 → ② 실행 → ③ 곡선·표 확인 → ④ 엑셀로 저장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19" name="Text 1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목업이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화면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CFCBC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 — 사람이 손으로 옮겨 적는 칸은 없습니다.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990600"/>
            <a:ext cx="6667500" cy="696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81"/>
              </a:lnSpc>
              <a:buNone/>
            </a:pPr>
            <a:r>
              <a:rPr lang="en-US" sz="4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3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71650"/>
            <a:ext cx="857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숫자가, 이제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40회 실적 위에서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정해집니다.</a:t>
            </a:r>
            <a:endParaRPr lang="en-US" sz="1575" dirty="0"/>
          </a:p>
        </p:txBody>
      </p:sp>
      <p:sp>
        <p:nvSpPr>
          <p:cNvPr id="7" name="Shape 5"/>
          <p:cNvSpPr/>
          <p:nvPr/>
        </p:nvSpPr>
        <p:spPr>
          <a:xfrm>
            <a:off x="685800" y="2381250"/>
            <a:ext cx="10820400" cy="28575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24955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외기온도별 출력  ·  단위 MW  ·  누적 40회 실적으로 학습한 곡선</a:t>
            </a:r>
            <a:endParaRPr lang="en-US" sz="788" dirty="0"/>
          </a:p>
        </p:txBody>
      </p:sp>
      <p:sp>
        <p:nvSpPr>
          <p:cNvPr id="9" name="Shape 7"/>
          <p:cNvSpPr/>
          <p:nvPr/>
        </p:nvSpPr>
        <p:spPr>
          <a:xfrm>
            <a:off x="1428750" y="476821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470154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340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428750" y="448627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441960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360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1428750" y="420433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413766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380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1428750" y="392239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85572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1428750" y="364045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357378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420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1428750" y="335851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14400" y="329184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428750" y="307657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300990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428750" y="2794635"/>
            <a:ext cx="95250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2727960"/>
            <a:ext cx="4381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480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1428750" y="4838700"/>
            <a:ext cx="95250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428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200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333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105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238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010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143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915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9048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820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10953750" y="4838700"/>
            <a:ext cx="0" cy="47625"/>
          </a:xfrm>
          <a:prstGeom prst="line">
            <a:avLst/>
          </a:prstGeom>
          <a:noFill/>
          <a:ln w="12700">
            <a:solidFill>
              <a:srgbClr val="8A888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725150" y="49149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A88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 flipV="1">
            <a:off x="1428750" y="3156787"/>
            <a:ext cx="381000" cy="17480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1809750" y="3143113"/>
            <a:ext cx="381000" cy="13674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2190750" y="3133809"/>
            <a:ext cx="381000" cy="9304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2571750" y="3105333"/>
            <a:ext cx="381000" cy="28476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2952750" y="3071077"/>
            <a:ext cx="381000" cy="34256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3333750" y="3071077"/>
            <a:ext cx="381000" cy="23683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3714750" y="3094760"/>
            <a:ext cx="381000" cy="25798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>
            <a:off x="4095750" y="3120558"/>
            <a:ext cx="381000" cy="28899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4476750" y="3149456"/>
            <a:ext cx="381000" cy="32846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>
            <a:off x="4857750" y="3182303"/>
            <a:ext cx="381000" cy="36088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238750" y="3218391"/>
            <a:ext cx="381000" cy="39895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>
            <a:off x="5619750" y="3258285"/>
            <a:ext cx="381000" cy="53569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6000750" y="3311854"/>
            <a:ext cx="381000" cy="58503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>
            <a:off x="6381750" y="3370356"/>
            <a:ext cx="381000" cy="61604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6762750" y="3431960"/>
            <a:ext cx="381000" cy="67102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>
            <a:off x="7143750" y="3499062"/>
            <a:ext cx="381000" cy="73022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7524750" y="3572085"/>
            <a:ext cx="381000" cy="78802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>
            <a:off x="7905750" y="3650887"/>
            <a:ext cx="381000" cy="63577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8286750" y="3714464"/>
            <a:ext cx="381000" cy="88670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8667750" y="3803134"/>
            <a:ext cx="381000" cy="95860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9048750" y="3898994"/>
            <a:ext cx="381000" cy="105868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>
            <a:off x="9429750" y="4004862"/>
            <a:ext cx="381000" cy="114327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9810750" y="4119189"/>
            <a:ext cx="381000" cy="119684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61" name="Shape 59"/>
          <p:cNvSpPr/>
          <p:nvPr/>
        </p:nvSpPr>
        <p:spPr>
          <a:xfrm>
            <a:off x="10191750" y="4238873"/>
            <a:ext cx="381000" cy="121798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10572750" y="4360671"/>
            <a:ext cx="381000" cy="133781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63" name="Shape 61"/>
          <p:cNvSpPr/>
          <p:nvPr/>
        </p:nvSpPr>
        <p:spPr>
          <a:xfrm flipV="1">
            <a:off x="1428750" y="3033015"/>
            <a:ext cx="381000" cy="17480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1809750" y="3019341"/>
            <a:ext cx="381000" cy="13674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2190750" y="3010037"/>
            <a:ext cx="381000" cy="9304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2571750" y="2981561"/>
            <a:ext cx="381000" cy="28476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2952750" y="2965632"/>
            <a:ext cx="381000" cy="15930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3333750" y="2965632"/>
            <a:ext cx="381000" cy="24529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3714750" y="2990160"/>
            <a:ext cx="381000" cy="41304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4095750" y="3031465"/>
            <a:ext cx="381000" cy="41445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476750" y="3072910"/>
            <a:ext cx="381000" cy="38485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857750" y="3111395"/>
            <a:ext cx="381000" cy="34115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238750" y="3145509"/>
            <a:ext cx="381000" cy="33269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619750" y="3178778"/>
            <a:ext cx="381000" cy="48071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000750" y="3226849"/>
            <a:ext cx="381000" cy="59912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381750" y="3286761"/>
            <a:ext cx="381000" cy="73868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762750" y="3360630"/>
            <a:ext cx="381000" cy="90080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143750" y="3450709"/>
            <a:ext cx="381000" cy="102062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524750" y="3552772"/>
            <a:ext cx="381000" cy="107278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7905750" y="3660050"/>
            <a:ext cx="381000" cy="84018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8286750" y="3744068"/>
            <a:ext cx="381000" cy="96564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667750" y="3840632"/>
            <a:ext cx="381000" cy="90644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048750" y="3931276"/>
            <a:ext cx="381000" cy="91067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9429750" y="4022343"/>
            <a:ext cx="381000" cy="95437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810750" y="4117779"/>
            <a:ext cx="381000" cy="102344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10191750" y="4220124"/>
            <a:ext cx="381000" cy="110943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10572750" y="4331067"/>
            <a:ext cx="381000" cy="133640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939415" y="2890462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89" name="Shape 87"/>
          <p:cNvSpPr/>
          <p:nvPr/>
        </p:nvSpPr>
        <p:spPr>
          <a:xfrm>
            <a:off x="3025140" y="2897130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0" name="Shape 88"/>
          <p:cNvSpPr/>
          <p:nvPr/>
        </p:nvSpPr>
        <p:spPr>
          <a:xfrm>
            <a:off x="3663315" y="2938561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1" name="Shape 89"/>
          <p:cNvSpPr/>
          <p:nvPr/>
        </p:nvSpPr>
        <p:spPr>
          <a:xfrm>
            <a:off x="4044315" y="3007636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2" name="Shape 90"/>
          <p:cNvSpPr/>
          <p:nvPr/>
        </p:nvSpPr>
        <p:spPr>
          <a:xfrm>
            <a:off x="4444365" y="3040468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3" name="Shape 91"/>
          <p:cNvSpPr/>
          <p:nvPr/>
        </p:nvSpPr>
        <p:spPr>
          <a:xfrm>
            <a:off x="4634865" y="3079757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4" name="Shape 92"/>
          <p:cNvSpPr/>
          <p:nvPr/>
        </p:nvSpPr>
        <p:spPr>
          <a:xfrm>
            <a:off x="4825365" y="3085734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5" name="Shape 93"/>
          <p:cNvSpPr/>
          <p:nvPr/>
        </p:nvSpPr>
        <p:spPr>
          <a:xfrm>
            <a:off x="4996815" y="3061966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6" name="Shape 94"/>
          <p:cNvSpPr/>
          <p:nvPr/>
        </p:nvSpPr>
        <p:spPr>
          <a:xfrm>
            <a:off x="5111115" y="3134453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7" name="Shape 95"/>
          <p:cNvSpPr/>
          <p:nvPr/>
        </p:nvSpPr>
        <p:spPr>
          <a:xfrm>
            <a:off x="5434965" y="3153385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8" name="Shape 96"/>
          <p:cNvSpPr/>
          <p:nvPr/>
        </p:nvSpPr>
        <p:spPr>
          <a:xfrm>
            <a:off x="5720715" y="3157755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99" name="Shape 97"/>
          <p:cNvSpPr/>
          <p:nvPr/>
        </p:nvSpPr>
        <p:spPr>
          <a:xfrm>
            <a:off x="5777865" y="3181861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835015" y="3188134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1" name="Shape 99"/>
          <p:cNvSpPr/>
          <p:nvPr/>
        </p:nvSpPr>
        <p:spPr>
          <a:xfrm>
            <a:off x="6044565" y="3175842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063615" y="3194732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177915" y="3259197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4" name="Shape 102"/>
          <p:cNvSpPr/>
          <p:nvPr/>
        </p:nvSpPr>
        <p:spPr>
          <a:xfrm>
            <a:off x="6463665" y="3262327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5" name="Shape 103"/>
          <p:cNvSpPr/>
          <p:nvPr/>
        </p:nvSpPr>
        <p:spPr>
          <a:xfrm>
            <a:off x="6482715" y="3257576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6" name="Shape 104"/>
          <p:cNvSpPr/>
          <p:nvPr/>
        </p:nvSpPr>
        <p:spPr>
          <a:xfrm>
            <a:off x="7359015" y="3502780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82915" y="3711810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121015" y="3728374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8140065" y="3690241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0" name="Shape 108"/>
          <p:cNvSpPr/>
          <p:nvPr/>
        </p:nvSpPr>
        <p:spPr>
          <a:xfrm>
            <a:off x="8197215" y="3691947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1" name="Shape 109"/>
          <p:cNvSpPr/>
          <p:nvPr/>
        </p:nvSpPr>
        <p:spPr>
          <a:xfrm>
            <a:off x="8521065" y="3808417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2" name="Shape 110"/>
          <p:cNvSpPr/>
          <p:nvPr/>
        </p:nvSpPr>
        <p:spPr>
          <a:xfrm>
            <a:off x="8768715" y="3839190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3" name="Shape 111"/>
          <p:cNvSpPr/>
          <p:nvPr/>
        </p:nvSpPr>
        <p:spPr>
          <a:xfrm>
            <a:off x="9054465" y="3889235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9054465" y="3873361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5" name="Shape 113"/>
          <p:cNvSpPr/>
          <p:nvPr/>
        </p:nvSpPr>
        <p:spPr>
          <a:xfrm>
            <a:off x="9149715" y="3915230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6" name="Shape 114"/>
          <p:cNvSpPr/>
          <p:nvPr/>
        </p:nvSpPr>
        <p:spPr>
          <a:xfrm>
            <a:off x="9187815" y="3914482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7" name="Shape 115"/>
          <p:cNvSpPr/>
          <p:nvPr/>
        </p:nvSpPr>
        <p:spPr>
          <a:xfrm>
            <a:off x="9340215" y="3984784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8" name="Shape 116"/>
          <p:cNvSpPr/>
          <p:nvPr/>
        </p:nvSpPr>
        <p:spPr>
          <a:xfrm>
            <a:off x="9473565" y="3981218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530715" y="4008298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0" name="Shape 118"/>
          <p:cNvSpPr/>
          <p:nvPr/>
        </p:nvSpPr>
        <p:spPr>
          <a:xfrm>
            <a:off x="9549765" y="3942719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1" name="Shape 119"/>
          <p:cNvSpPr/>
          <p:nvPr/>
        </p:nvSpPr>
        <p:spPr>
          <a:xfrm>
            <a:off x="9549765" y="3952869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2" name="Shape 120"/>
          <p:cNvSpPr/>
          <p:nvPr/>
        </p:nvSpPr>
        <p:spPr>
          <a:xfrm>
            <a:off x="9549765" y="3994088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3" name="Shape 121"/>
          <p:cNvSpPr/>
          <p:nvPr/>
        </p:nvSpPr>
        <p:spPr>
          <a:xfrm>
            <a:off x="9702165" y="4077246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4" name="Shape 122"/>
          <p:cNvSpPr/>
          <p:nvPr/>
        </p:nvSpPr>
        <p:spPr>
          <a:xfrm>
            <a:off x="9740265" y="4119608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5" name="Shape 123"/>
          <p:cNvSpPr/>
          <p:nvPr/>
        </p:nvSpPr>
        <p:spPr>
          <a:xfrm>
            <a:off x="9892665" y="4076386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6" name="Shape 124"/>
          <p:cNvSpPr/>
          <p:nvPr/>
        </p:nvSpPr>
        <p:spPr>
          <a:xfrm>
            <a:off x="10178415" y="4176884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10521315" y="4308212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67500" y="2714625"/>
            <a:ext cx="228600" cy="0"/>
          </a:xfrm>
          <a:prstGeom prst="line">
            <a:avLst/>
          </a:prstGeom>
          <a:noFill/>
          <a:ln w="25400">
            <a:solidFill>
              <a:srgbClr val="A8BCD1"/>
            </a:solidFill>
            <a:prstDash val="dash"/>
          </a:ln>
        </p:spPr>
      </p:sp>
      <p:sp>
        <p:nvSpPr>
          <p:cNvPr id="129" name="Text 127"/>
          <p:cNvSpPr txBox="1"/>
          <p:nvPr/>
        </p:nvSpPr>
        <p:spPr>
          <a:xfrm>
            <a:off x="6972300" y="2647950"/>
            <a:ext cx="1905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A8BCD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(보정 없음)</a:t>
            </a:r>
            <a:endParaRPr lang="en-US" sz="900" dirty="0"/>
          </a:p>
        </p:txBody>
      </p:sp>
      <p:sp>
        <p:nvSpPr>
          <p:cNvPr id="130" name="Shape 128"/>
          <p:cNvSpPr/>
          <p:nvPr/>
        </p:nvSpPr>
        <p:spPr>
          <a:xfrm>
            <a:off x="8858250" y="2714625"/>
            <a:ext cx="228600" cy="0"/>
          </a:xfrm>
          <a:prstGeom prst="line">
            <a:avLst/>
          </a:prstGeom>
          <a:noFill/>
          <a:ln w="38100">
            <a:solidFill>
              <a:srgbClr val="EFB13C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9163050" y="2647950"/>
            <a:ext cx="1905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모델이 만든 곡선</a:t>
            </a:r>
            <a:endParaRPr lang="en-US" sz="900" dirty="0"/>
          </a:p>
        </p:txBody>
      </p:sp>
      <p:sp>
        <p:nvSpPr>
          <p:cNvPr id="132" name="Shape 130"/>
          <p:cNvSpPr/>
          <p:nvPr/>
        </p:nvSpPr>
        <p:spPr>
          <a:xfrm>
            <a:off x="6692265" y="2872740"/>
            <a:ext cx="64770" cy="64770"/>
          </a:xfrm>
          <a:prstGeom prst="ellipse">
            <a:avLst/>
          </a:prstGeom>
          <a:solidFill>
            <a:srgbClr val="EAE7E0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6858000" y="2838450"/>
            <a:ext cx="1905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테스트 40회</a:t>
            </a:r>
            <a:endParaRPr lang="en-US" sz="900" dirty="0"/>
          </a:p>
        </p:txBody>
      </p:sp>
      <p:sp>
        <p:nvSpPr>
          <p:cNvPr id="134" name="Text 132"/>
          <p:cNvSpPr txBox="1"/>
          <p:nvPr/>
        </p:nvSpPr>
        <p:spPr>
          <a:xfrm>
            <a:off x="685800" y="5410200"/>
            <a:ext cx="108204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A9A79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값이 아니라, 데이터가 만들어 내는 값입니다.</a:t>
            </a:r>
            <a:endParaRPr lang="en-US" sz="1125" dirty="0"/>
          </a:p>
        </p:txBody>
      </p:sp>
      <p:sp>
        <p:nvSpPr>
          <p:cNvPr id="135" name="Shape 133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36" name="Text 134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A9A79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2026-09-04T05:36:10Z</dcterms:created>
  <dcterms:modified xsi:type="dcterms:W3CDTF">2026-09-04T05:36:10Z</dcterms:modified>
</cp:coreProperties>
</file>