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정하던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신고값을 못 채운 횟수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주에 신고한 값보다 실제 출력이 낮게 나온 횟수입니다. 이런 회차는 정산에서 불이익을 받습니다.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905500"/>
            <a:ext cx="108204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누적 40회 실적에 종전 방식과 현재 도구를 각각 적용해 채점한 재현값입니다 (한 회를 가리고 나머지로 예측 · LOOCV 39회, 미달은 ±0.5% 밴드). 실제 신고 이력이 아닙니다.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한 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온도 전부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빈 구간을 메우려고, 한 점에서 구한 보정값 하나를 61개 온도에 똑같이 적용한 것이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보정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552700"/>
            <a:ext cx="10820400" cy="10858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64795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4개를 순서대로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</a:t>
            </a:r>
            <a:endParaRPr lang="en-US" sz="1013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① 날짜·시각 → RiMS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7813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861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계산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30861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② 대기압 → 61개 값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48387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435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1개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51435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온도에서 실측 − 계산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8961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86600" y="2838450"/>
            <a:ext cx="1866900" cy="419100"/>
          </a:xfrm>
          <a:prstGeom prst="rect">
            <a:avLst/>
          </a:prstGeom>
          <a:solidFill>
            <a:srgbClr val="0F1A28"/>
          </a:solidFill>
          <a:ln w="17780">
            <a:solidFill>
              <a:srgbClr val="6B522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009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61개에 똑같이</a:t>
            </a:r>
            <a:endParaRPr lang="en-US" sz="1013" dirty="0"/>
          </a:p>
        </p:txBody>
      </p:sp>
      <p:sp>
        <p:nvSpPr>
          <p:cNvPr id="29" name="Text 27"/>
          <p:cNvSpPr txBox="1"/>
          <p:nvPr/>
        </p:nvSpPr>
        <p:spPr>
          <a:xfrm>
            <a:off x="72009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④ 일괄 보정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9535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1440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583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92583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③ 붙여넣기 → 신고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35280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온도 한 점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에서만 합니다. 나머지 60개 온도의 차이는 알 수 없으니, 같은 값을 얹는 것이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그때로서는 가장 안전한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선택이었습니다.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3752850"/>
            <a:ext cx="10820400" cy="2190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38481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종전 신고(이론값 + 2.5 하나로) vs 실제 능력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1428750" y="539627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329604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428750" y="5188194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4400" y="5121519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428750" y="498011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4400" y="491343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428750" y="47720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470535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428750" y="456394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14400" y="449726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428750" y="435585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289181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428750" y="4147771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4400" y="4081096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428750" y="54483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2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20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33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10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23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01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14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1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904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82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095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72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428750" y="4330157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Shape 63"/>
          <p:cNvSpPr/>
          <p:nvPr/>
        </p:nvSpPr>
        <p:spPr>
          <a:xfrm>
            <a:off x="1809750" y="431866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6" name="Shape 64"/>
          <p:cNvSpPr/>
          <p:nvPr/>
        </p:nvSpPr>
        <p:spPr>
          <a:xfrm>
            <a:off x="2190750" y="431018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7" name="Shape 65"/>
          <p:cNvSpPr/>
          <p:nvPr/>
        </p:nvSpPr>
        <p:spPr>
          <a:xfrm>
            <a:off x="2571750" y="4296240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Shape 66"/>
          <p:cNvSpPr/>
          <p:nvPr/>
        </p:nvSpPr>
        <p:spPr>
          <a:xfrm>
            <a:off x="2952750" y="4279853"/>
            <a:ext cx="386715" cy="5904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9" name="Shape 67"/>
          <p:cNvSpPr/>
          <p:nvPr/>
        </p:nvSpPr>
        <p:spPr>
          <a:xfrm>
            <a:off x="3333750" y="4283026"/>
            <a:ext cx="386715" cy="5196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0" name="Shape 68"/>
          <p:cNvSpPr/>
          <p:nvPr/>
        </p:nvSpPr>
        <p:spPr>
          <a:xfrm>
            <a:off x="3714750" y="4307320"/>
            <a:ext cx="386715" cy="4593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Shape 69"/>
          <p:cNvSpPr/>
          <p:nvPr/>
        </p:nvSpPr>
        <p:spPr>
          <a:xfrm>
            <a:off x="4095750" y="4337856"/>
            <a:ext cx="386715" cy="3558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2" name="Shape 70"/>
          <p:cNvSpPr/>
          <p:nvPr/>
        </p:nvSpPr>
        <p:spPr>
          <a:xfrm>
            <a:off x="4476750" y="4367352"/>
            <a:ext cx="386715" cy="2887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57750" y="4394143"/>
            <a:ext cx="386715" cy="2751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4" name="Shape 72"/>
          <p:cNvSpPr/>
          <p:nvPr/>
        </p:nvSpPr>
        <p:spPr>
          <a:xfrm>
            <a:off x="5238750" y="4419009"/>
            <a:ext cx="386715" cy="3069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5" name="Shape 73"/>
          <p:cNvSpPr/>
          <p:nvPr/>
        </p:nvSpPr>
        <p:spPr>
          <a:xfrm>
            <a:off x="5619750" y="4449026"/>
            <a:ext cx="386715" cy="35166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6" name="Shape 74"/>
          <p:cNvSpPr/>
          <p:nvPr/>
        </p:nvSpPr>
        <p:spPr>
          <a:xfrm>
            <a:off x="6000750" y="4488874"/>
            <a:ext cx="386715" cy="366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7" name="Shape 75"/>
          <p:cNvSpPr/>
          <p:nvPr/>
        </p:nvSpPr>
        <p:spPr>
          <a:xfrm>
            <a:off x="6381750" y="4538242"/>
            <a:ext cx="386715" cy="3162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750" y="4598743"/>
            <a:ext cx="386715" cy="186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143750" y="4669075"/>
            <a:ext cx="386715" cy="571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80" name="Shape 78"/>
          <p:cNvSpPr/>
          <p:nvPr/>
        </p:nvSpPr>
        <p:spPr>
          <a:xfrm>
            <a:off x="7524750" y="4725102"/>
            <a:ext cx="386715" cy="21797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7905750" y="4777643"/>
            <a:ext cx="386715" cy="39848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8286750" y="4833826"/>
            <a:ext cx="386715" cy="50304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8667750" y="4901922"/>
            <a:ext cx="386715" cy="5129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9048750" y="4976364"/>
            <a:ext cx="386715" cy="43906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9429750" y="5057621"/>
            <a:ext cx="386715" cy="3147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9810750" y="5143976"/>
            <a:ext cx="386715" cy="1810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91750" y="5233088"/>
            <a:ext cx="386715" cy="7699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10572750" y="5327403"/>
            <a:ext cx="386715" cy="571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9" name="Shape 87"/>
          <p:cNvSpPr/>
          <p:nvPr/>
        </p:nvSpPr>
        <p:spPr>
          <a:xfrm flipV="1">
            <a:off x="1428750" y="4389513"/>
            <a:ext cx="381000" cy="1290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 flipV="1">
            <a:off x="1809750" y="4379421"/>
            <a:ext cx="381000" cy="1009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V="1">
            <a:off x="2190750" y="4372555"/>
            <a:ext cx="381000" cy="686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2571750" y="4351538"/>
            <a:ext cx="381000" cy="2101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V="1">
            <a:off x="2952750" y="4326256"/>
            <a:ext cx="381000" cy="2528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3333750" y="4326256"/>
            <a:ext cx="381000" cy="1747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3714750" y="4343735"/>
            <a:ext cx="381000" cy="190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>
            <a:off x="4095750" y="4362775"/>
            <a:ext cx="381000" cy="2132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7" name="Shape 95"/>
          <p:cNvSpPr/>
          <p:nvPr/>
        </p:nvSpPr>
        <p:spPr>
          <a:xfrm>
            <a:off x="4476750" y="4384103"/>
            <a:ext cx="381000" cy="2424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>
            <a:off x="4857750" y="4408345"/>
            <a:ext cx="381000" cy="2663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>
            <a:off x="5238750" y="4434980"/>
            <a:ext cx="381000" cy="2944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>
            <a:off x="5619750" y="4464424"/>
            <a:ext cx="381000" cy="395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6000750" y="4503960"/>
            <a:ext cx="381000" cy="4317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>
            <a:off x="6381750" y="4547138"/>
            <a:ext cx="381000" cy="4546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6762750" y="4592604"/>
            <a:ext cx="381000" cy="4952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7143750" y="4642128"/>
            <a:ext cx="381000" cy="5389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7524750" y="4696022"/>
            <a:ext cx="381000" cy="581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7905750" y="4754182"/>
            <a:ext cx="381000" cy="4692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>
            <a:off x="8286750" y="4801105"/>
            <a:ext cx="381000" cy="654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8667750" y="4866547"/>
            <a:ext cx="381000" cy="7074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9048750" y="4937296"/>
            <a:ext cx="381000" cy="781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9429750" y="5015432"/>
            <a:ext cx="381000" cy="8437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9810750" y="5099810"/>
            <a:ext cx="381000" cy="8833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10191750" y="5188142"/>
            <a:ext cx="381000" cy="8989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10572750" y="5278035"/>
            <a:ext cx="381000" cy="987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1428750" y="4323707"/>
            <a:ext cx="381000" cy="129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V="1">
            <a:off x="1809750" y="4313615"/>
            <a:ext cx="381000" cy="100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2190750" y="4306748"/>
            <a:ext cx="381000" cy="68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2571750" y="4285731"/>
            <a:ext cx="381000" cy="2101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2952750" y="4273974"/>
            <a:ext cx="381000" cy="117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33750" y="4273974"/>
            <a:ext cx="381000" cy="181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14750" y="4292078"/>
            <a:ext cx="381000" cy="304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095750" y="4322562"/>
            <a:ext cx="381000" cy="305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76750" y="4353151"/>
            <a:ext cx="381000" cy="284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857750" y="4381554"/>
            <a:ext cx="381000" cy="251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238750" y="4406732"/>
            <a:ext cx="381000" cy="245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619750" y="4431286"/>
            <a:ext cx="381000" cy="354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000750" y="4466765"/>
            <a:ext cx="381000" cy="442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381750" y="4510983"/>
            <a:ext cx="381000" cy="545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62750" y="4565501"/>
            <a:ext cx="381000" cy="6648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143750" y="4631984"/>
            <a:ext cx="381000" cy="7532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24750" y="4707311"/>
            <a:ext cx="381000" cy="7917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5750" y="4786487"/>
            <a:ext cx="381000" cy="6200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86750" y="4848496"/>
            <a:ext cx="381000" cy="712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667750" y="4919765"/>
            <a:ext cx="381000" cy="6689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048750" y="4986664"/>
            <a:ext cx="381000" cy="6721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429750" y="5053876"/>
            <a:ext cx="381000" cy="7043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810750" y="5124312"/>
            <a:ext cx="381000" cy="7553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191750" y="5199847"/>
            <a:ext cx="381000" cy="8188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0572750" y="5281728"/>
            <a:ext cx="381000" cy="9863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524750" y="4095750"/>
            <a:ext cx="0" cy="1352550"/>
          </a:xfrm>
          <a:prstGeom prst="line">
            <a:avLst/>
          </a:prstGeom>
          <a:noFill/>
          <a:ln w="12700">
            <a:solidFill>
              <a:srgbClr val="8A8880"/>
            </a:solidFill>
            <a:prstDash val="dash"/>
          </a:ln>
        </p:spPr>
      </p:sp>
      <p:sp>
        <p:nvSpPr>
          <p:cNvPr id="140" name="Text 138"/>
          <p:cNvSpPr txBox="1"/>
          <p:nvPr/>
        </p:nvSpPr>
        <p:spPr>
          <a:xfrm>
            <a:off x="7600950" y="4114800"/>
            <a:ext cx="209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방향이 바뀝니다 (22℃)</a:t>
            </a:r>
            <a:endParaRPr lang="en-US" sz="863" dirty="0"/>
          </a:p>
        </p:txBody>
      </p:sp>
      <p:sp>
        <p:nvSpPr>
          <p:cNvPr id="141" name="Text 139"/>
          <p:cNvSpPr txBox="1"/>
          <p:nvPr/>
        </p:nvSpPr>
        <p:spPr>
          <a:xfrm>
            <a:off x="3467100" y="4223915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 — 0℃ 에서 5.0 MW 못 팜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6153150" y="4816956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— 28℃ 에서 5.1 MW 미달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1428750" y="4076700"/>
            <a:ext cx="2476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44" name="Text 142"/>
          <p:cNvSpPr txBox="1"/>
          <p:nvPr/>
        </p:nvSpPr>
        <p:spPr>
          <a:xfrm>
            <a:off x="175260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신고 (하나의 값)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4000500" y="4076700"/>
            <a:ext cx="24765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432435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능력</a:t>
            </a:r>
            <a:endParaRPr lang="en-US" sz="900" dirty="0"/>
          </a:p>
        </p:txBody>
      </p:sp>
      <p:sp>
        <p:nvSpPr>
          <p:cNvPr id="147" name="Text 145"/>
          <p:cNvSpPr txBox="1"/>
          <p:nvPr/>
        </p:nvSpPr>
        <p:spPr>
          <a:xfrm>
            <a:off x="914400" y="5695950"/>
            <a:ext cx="103632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누계 — 낮게 신고해 못 판 양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75.3 MW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신고값을 못 채운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(과대 신고 69.5 MW)</a:t>
            </a:r>
            <a:endParaRPr lang="en-US" sz="1013" dirty="0"/>
          </a:p>
        </p:txBody>
      </p:sp>
      <p:sp>
        <p:nvSpPr>
          <p:cNvPr id="148" name="Shape 1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0" name="Text 1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최선이었습니다 — 이제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알 수 있는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데이터가 쌓였습니다.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보정값이 회차마다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~ −5 MW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이론값 − W(IGV)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온도 축에 찍으면 흩어진 게 아니라 온도를 따라 줄줄이 내려갑니다.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38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62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보정값 = 실제 − 이론값 − W(IGV) 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15009" y="318606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24737" y="3226613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41601" y="354285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40711" y="3817458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52775" y="384137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6615" y="388055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40455" y="391689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9911" y="377236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6215" y="399370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20743" y="3866236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6503" y="389281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9655" y="371364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32807" y="375179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201031" y="367704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5415" y="379191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71719" y="382817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7479" y="384720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61863" y="381831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83527" y="408269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10119" y="448799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8887" y="4588726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83271" y="435684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6423" y="436721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70951" y="453626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76513" y="4711970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53703" y="444479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53703" y="434826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5623" y="460287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4391" y="459832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9463" y="438204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90151" y="436035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63303" y="452503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7687" y="412624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7687" y="418796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7687" y="443862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82759" y="424908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31527" y="450668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6599" y="424385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92359" y="412718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31271" y="418513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더 더해야 하고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6667500" y="3276600"/>
            <a:ext cx="4572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은 -1.9℃ 한 회차, −5 는 여름 한 회차 — 가장 큰 값입니다</a:t>
            </a:r>
            <a:endParaRPr lang="en-US" sz="863" dirty="0"/>
          </a:p>
        </p:txBody>
      </p:sp>
      <p:sp>
        <p:nvSpPr>
          <p:cNvPr id="79" name="Text 77"/>
          <p:cNvSpPr txBox="1"/>
          <p:nvPr/>
        </p:nvSpPr>
        <p:spPr>
          <a:xfrm>
            <a:off x="914400" y="520065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이론값은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표준 성능 곡선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우리 설비의 실제 특성과 온도에 따라 어긋나고, 그 차이가 저온 (+) · 고온 (−) 로 남습니다.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85800" y="5429250"/>
            <a:ext cx="108204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554355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실제 적용한 값 16회  ·  회차순  ·  전부 정수 하나</a:t>
            </a:r>
            <a:endParaRPr lang="en-US" sz="788" dirty="0"/>
          </a:p>
        </p:txBody>
      </p:sp>
      <p:sp>
        <p:nvSpPr>
          <p:cNvPr id="82" name="Text 80"/>
          <p:cNvSpPr txBox="1"/>
          <p:nvPr/>
        </p:nvSpPr>
        <p:spPr>
          <a:xfrm>
            <a:off x="533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33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571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571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09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09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47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47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685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685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23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23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7620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7620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001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001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382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382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8763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8763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14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14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52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52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990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990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28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28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066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066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1104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3" name="Text 111"/>
          <p:cNvSpPr txBox="1"/>
          <p:nvPr/>
        </p:nvSpPr>
        <p:spPr>
          <a:xfrm>
            <a:off x="1104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4" name="Text 112"/>
          <p:cNvSpPr txBox="1"/>
          <p:nvPr/>
        </p:nvSpPr>
        <p:spPr>
          <a:xfrm>
            <a:off x="914400" y="573405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5" name="Shape 1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7" name="Text 1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세워 하나씩 확인했고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있었기 때문입니다.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24400"/>
            <a:ext cx="666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'뺀다' = 온도로 설명되는 몫을 먼저 걷어내고, 남은 것끼리 다시 재는 것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4" name="Shape 42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습도 +0.67  — 후보들이 서로 온도에 묶여 있다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50" name="Shape 48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 진공도는 세 번 의심해 세 번 다 기각했습니다.</a:t>
            </a:r>
            <a:endParaRPr lang="en-US" sz="938" dirty="0"/>
          </a:p>
        </p:txBody>
      </p:sp>
      <p:sp>
        <p:nvSpPr>
          <p:cNvPr id="59" name="Shape 5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314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  — 진공도는 여기서 이미 반영합니다. 6장에서 기각한 것은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그러고도 남는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진공도로 더 설명할 수 있느냐였습니다.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0767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41243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400550"/>
            <a:ext cx="10820400" cy="1047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40055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5339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2440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445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눈대중으로 고르지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7429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7가지가 모두 예측 가능한 39회 공통 집합  ·  종전(하나의 값)은 MAE 3.90 MW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8477250" y="2800350"/>
            <a:ext cx="28003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작을수록 좋음 · R² 는 1 에 가까울수록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1524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(IGV 포함 · 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5334000" y="3810000"/>
            <a:ext cx="457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— 아래는 그 차이만 확대한 것입니다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476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보정값 (실제 − 이론값 − 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뒤를 보지 않고 예측한다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앞의 데이터만으로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예측했습니다. 뒤 회차를 미리 보지 않습니다.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앞으로는 실측 전에 예측을 남기는 기능도 씁니다.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3.90 → 1.30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신고값을 못 채운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그 회차 앞의 데이터만으로 예측(walk-forward)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4457700"/>
            <a:ext cx="3467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종전 대비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계속 쌓입니다,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정확해집니다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앞으로도 주기적으로 합니다. 회차가 들어올 때마다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학습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하므로, 데이터가 쌓이는 것 자체가 개선입니다.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771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781300"/>
            <a:ext cx="857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 구간별 예측 오차  ·  단위 MW  ·  각 회차를 그 앞의 회차만으로 예측(walk-forward)  ·  낮을수록 좋음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952750"/>
            <a:ext cx="103632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→ 1.19 MW</a:t>
            </a:r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47% 줄었습니다. 구간마다 오르내림은 있습니다 — 어려운 회차가 몰리면 올라갑니다.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428750" y="421005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0250" y="3333750"/>
            <a:ext cx="914400" cy="87630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714500" y="3143250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19회차</a:t>
            </a:r>
            <a:endParaRPr lang="en-US" sz="863" dirty="0"/>
          </a:p>
        </p:txBody>
      </p:sp>
      <p:sp>
        <p:nvSpPr>
          <p:cNvPr id="20" name="Text 18"/>
          <p:cNvSpPr txBox="1"/>
          <p:nvPr/>
        </p:nvSpPr>
        <p:spPr>
          <a:xfrm>
            <a:off x="32194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4095750" y="3335685"/>
            <a:ext cx="914400" cy="87436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10000" y="3145185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100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26회차</a:t>
            </a:r>
            <a:endParaRPr lang="en-US" sz="863" dirty="0"/>
          </a:p>
        </p:txBody>
      </p:sp>
      <p:sp>
        <p:nvSpPr>
          <p:cNvPr id="24" name="Text 22"/>
          <p:cNvSpPr txBox="1"/>
          <p:nvPr/>
        </p:nvSpPr>
        <p:spPr>
          <a:xfrm>
            <a:off x="53149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3859762"/>
            <a:ext cx="914400" cy="350288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05500" y="3669262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055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33회차</a:t>
            </a:r>
            <a:endParaRPr lang="en-US" sz="863" dirty="0"/>
          </a:p>
        </p:txBody>
      </p:sp>
      <p:sp>
        <p:nvSpPr>
          <p:cNvPr id="28" name="Text 26"/>
          <p:cNvSpPr txBox="1"/>
          <p:nvPr/>
        </p:nvSpPr>
        <p:spPr>
          <a:xfrm>
            <a:off x="74104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8286750" y="3749838"/>
            <a:ext cx="914400" cy="46021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01000" y="3559338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40회차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685800" y="4591050"/>
            <a:ext cx="10820400" cy="1352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" y="4686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34" name="Shape 32"/>
          <p:cNvSpPr/>
          <p:nvPr/>
        </p:nvSpPr>
        <p:spPr>
          <a:xfrm>
            <a:off x="1428750" y="529590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3900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843088" y="5233988"/>
            <a:ext cx="123825" cy="12382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23900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723900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3324225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 ~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4443413" y="5233988"/>
            <a:ext cx="123825" cy="12382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324225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누적 · 고도화</a:t>
            </a:r>
            <a:endParaRPr lang="en-US" sz="1163" dirty="0"/>
          </a:p>
        </p:txBody>
      </p:sp>
      <p:sp>
        <p:nvSpPr>
          <p:cNvPr id="42" name="Text 40"/>
          <p:cNvSpPr txBox="1"/>
          <p:nvPr/>
        </p:nvSpPr>
        <p:spPr>
          <a:xfrm>
            <a:off x="3324225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다시 학습 — 쌓을수록 오차가 줄어듭니다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5924550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7058025" y="5248275"/>
            <a:ext cx="95250" cy="95250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924550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5924550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8524875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9658350" y="5248275"/>
            <a:ext cx="95250" cy="95250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24875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163" dirty="0"/>
          </a:p>
        </p:txBody>
      </p:sp>
      <p:sp>
        <p:nvSpPr>
          <p:cNvPr id="50" name="Text 48"/>
          <p:cNvSpPr txBox="1"/>
          <p:nvPr/>
        </p:nvSpPr>
        <p:spPr>
          <a:xfrm>
            <a:off x="8524875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그대로 옮겨집니다 — 사업소마다 바꿀 것은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19175" y="2343150"/>
            <a:ext cx="42576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산정 화면  ·  입력 4칸 → 61행 신고값 표</a:t>
            </a:r>
            <a:endParaRPr lang="en-US" sz="788" dirty="0"/>
          </a:p>
        </p:txBody>
      </p:sp>
      <p:sp>
        <p:nvSpPr>
          <p:cNvPr id="7" name="Text 5"/>
          <p:cNvSpPr txBox="1"/>
          <p:nvPr/>
        </p:nvSpPr>
        <p:spPr>
          <a:xfrm>
            <a:off x="5657850" y="2343150"/>
            <a:ext cx="55149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출력곡선 비교  ·  이론값 vs 모델 + 실측 40회</a:t>
            </a:r>
            <a:endParaRPr lang="en-US" sz="788" dirty="0"/>
          </a:p>
        </p:txBody>
      </p:sp>
      <p:pic>
        <p:nvPicPr>
          <p:cNvPr id="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75" y="2495550"/>
            <a:ext cx="4257675" cy="2857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09650" y="2486025"/>
            <a:ext cx="42767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10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495550"/>
            <a:ext cx="5514975" cy="2857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48325" y="2486025"/>
            <a:ext cx="55340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5467350"/>
            <a:ext cx="10820400" cy="476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55626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탭 6개</a:t>
            </a:r>
            <a:endParaRPr lang="en-US" sz="788" dirty="0"/>
          </a:p>
        </p:txBody>
      </p:sp>
      <p:sp>
        <p:nvSpPr>
          <p:cNvPr id="14" name="Text 10"/>
          <p:cNvSpPr txBox="1"/>
          <p:nvPr/>
        </p:nvSpPr>
        <p:spPr>
          <a:xfrm>
            <a:off x="1676400" y="55435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· 온도 구간별 보정값 현황 · Test 결과 List-up · 출력 시뮬레이션 · 출력곡선 비교 · 모델 선정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7531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 순서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676400" y="57340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날짜·시각 입력 → ② 실행 → ③ 곡선·표 확인 → ④ 엑셀로 저장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" name="Text 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사람이 손으로 옮겨 적는 칸은 없습니다.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990600"/>
            <a:ext cx="6667500" cy="696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81"/>
              </a:lnSpc>
              <a:buNone/>
            </a:pPr>
            <a:r>
              <a:rPr lang="en-US" sz="4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716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숫자가, 이제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 위에서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정해집니다.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2381250"/>
            <a:ext cx="10820400" cy="2857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95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누적 40회 실적으로 학습한 곡선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1428750" y="47682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15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28750" y="44862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196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428750" y="420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3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8750" y="392239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5572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364045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7378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33585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0765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0099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27946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7279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48387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0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3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0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23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1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4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04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95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2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 flipV="1">
            <a:off x="1428750" y="3156787"/>
            <a:ext cx="381000" cy="1748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1809750" y="3143113"/>
            <a:ext cx="381000" cy="136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2190750" y="3133809"/>
            <a:ext cx="381000" cy="93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2571750" y="3105333"/>
            <a:ext cx="381000" cy="284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2952750" y="3071077"/>
            <a:ext cx="381000" cy="342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333750" y="3071077"/>
            <a:ext cx="381000" cy="2368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714750" y="3094760"/>
            <a:ext cx="381000" cy="2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095750" y="3120558"/>
            <a:ext cx="381000" cy="2889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476750" y="3149456"/>
            <a:ext cx="381000" cy="3284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7750" y="3182303"/>
            <a:ext cx="381000" cy="360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238750" y="3218391"/>
            <a:ext cx="381000" cy="3989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619750" y="3258285"/>
            <a:ext cx="381000" cy="535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000750" y="3311854"/>
            <a:ext cx="381000" cy="5850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6381750" y="3370356"/>
            <a:ext cx="381000" cy="616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762750" y="3431960"/>
            <a:ext cx="381000" cy="6710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7143750" y="3499062"/>
            <a:ext cx="381000" cy="730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524750" y="3572085"/>
            <a:ext cx="381000" cy="7880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05750" y="3650887"/>
            <a:ext cx="381000" cy="6357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286750" y="3714464"/>
            <a:ext cx="381000" cy="8867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667750" y="3803134"/>
            <a:ext cx="381000" cy="958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8750" y="3898994"/>
            <a:ext cx="381000" cy="10586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429750" y="4004862"/>
            <a:ext cx="381000" cy="11432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810750" y="4119189"/>
            <a:ext cx="381000" cy="11968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10191750" y="4238873"/>
            <a:ext cx="381000" cy="121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0572750" y="4360671"/>
            <a:ext cx="381000" cy="13378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1428750" y="3033015"/>
            <a:ext cx="381000" cy="174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09750" y="3019341"/>
            <a:ext cx="381000" cy="136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190750" y="3010037"/>
            <a:ext cx="381000" cy="93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571750" y="2981561"/>
            <a:ext cx="381000" cy="2847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52750" y="2965632"/>
            <a:ext cx="381000" cy="159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3750" y="2965632"/>
            <a:ext cx="381000" cy="2452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14750" y="2990160"/>
            <a:ext cx="381000" cy="413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95750" y="3031465"/>
            <a:ext cx="381000" cy="414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76750" y="3072910"/>
            <a:ext cx="381000" cy="384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57750" y="3111395"/>
            <a:ext cx="381000" cy="3411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38750" y="3145509"/>
            <a:ext cx="381000" cy="332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19750" y="3178778"/>
            <a:ext cx="381000" cy="4807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0750" y="3226849"/>
            <a:ext cx="381000" cy="599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81750" y="3286761"/>
            <a:ext cx="381000" cy="738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2750" y="3360630"/>
            <a:ext cx="381000" cy="900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43750" y="3450709"/>
            <a:ext cx="381000" cy="10206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24750" y="3552772"/>
            <a:ext cx="381000" cy="1072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05750" y="3660050"/>
            <a:ext cx="381000" cy="840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86750" y="3744068"/>
            <a:ext cx="381000" cy="9656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67750" y="3840632"/>
            <a:ext cx="381000" cy="906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48750" y="3931276"/>
            <a:ext cx="381000" cy="910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29750" y="4022343"/>
            <a:ext cx="381000" cy="9543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10750" y="4117779"/>
            <a:ext cx="381000" cy="1023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191750" y="4220124"/>
            <a:ext cx="381000" cy="1109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2750" y="4331067"/>
            <a:ext cx="381000" cy="1336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943225" y="289427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8950" y="290094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0" name="Shape 88"/>
          <p:cNvSpPr/>
          <p:nvPr/>
        </p:nvSpPr>
        <p:spPr>
          <a:xfrm>
            <a:off x="3667125" y="29423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1" name="Shape 89"/>
          <p:cNvSpPr/>
          <p:nvPr/>
        </p:nvSpPr>
        <p:spPr>
          <a:xfrm>
            <a:off x="4048125" y="301144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2" name="Shape 90"/>
          <p:cNvSpPr/>
          <p:nvPr/>
        </p:nvSpPr>
        <p:spPr>
          <a:xfrm>
            <a:off x="4448175" y="304427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8675" y="308356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4" name="Shape 92"/>
          <p:cNvSpPr/>
          <p:nvPr/>
        </p:nvSpPr>
        <p:spPr>
          <a:xfrm>
            <a:off x="4829175" y="308954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5" name="Shape 93"/>
          <p:cNvSpPr/>
          <p:nvPr/>
        </p:nvSpPr>
        <p:spPr>
          <a:xfrm>
            <a:off x="5000625" y="306577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6" name="Shape 94"/>
          <p:cNvSpPr/>
          <p:nvPr/>
        </p:nvSpPr>
        <p:spPr>
          <a:xfrm>
            <a:off x="5114925" y="3138263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7" name="Shape 95"/>
          <p:cNvSpPr/>
          <p:nvPr/>
        </p:nvSpPr>
        <p:spPr>
          <a:xfrm>
            <a:off x="5438775" y="315719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8" name="Shape 96"/>
          <p:cNvSpPr/>
          <p:nvPr/>
        </p:nvSpPr>
        <p:spPr>
          <a:xfrm>
            <a:off x="5724525" y="316156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9" name="Shape 97"/>
          <p:cNvSpPr/>
          <p:nvPr/>
        </p:nvSpPr>
        <p:spPr>
          <a:xfrm>
            <a:off x="5781675" y="31856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838825" y="319194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048375" y="317965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067425" y="319854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181725" y="326300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467475" y="326613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86525" y="326138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362825" y="350659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6725" y="371562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24825" y="373218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43875" y="369405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201025" y="369575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524875" y="381222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772525" y="384300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058275" y="389304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58275" y="38771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53525" y="391904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191625" y="391829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44025" y="398859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477375" y="398502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534525" y="401210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553575" y="3946529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53575" y="3956679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553575" y="399789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705975" y="408105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44075" y="412341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896475" y="408019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82225" y="418069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25125" y="431202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67500" y="2714625"/>
            <a:ext cx="2286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29" name="Text 127"/>
          <p:cNvSpPr txBox="1"/>
          <p:nvPr/>
        </p:nvSpPr>
        <p:spPr>
          <a:xfrm>
            <a:off x="697230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858250" y="2714625"/>
            <a:ext cx="2286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16305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692265" y="287274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858000" y="28384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테스트 40회</a:t>
            </a:r>
            <a:endParaRPr lang="en-US" sz="900" dirty="0"/>
          </a:p>
        </p:txBody>
      </p:sp>
      <p:sp>
        <p:nvSpPr>
          <p:cNvPr id="134" name="Text 132"/>
          <p:cNvSpPr txBox="1"/>
          <p:nvPr/>
        </p:nvSpPr>
        <p:spPr>
          <a:xfrm>
            <a:off x="685800" y="5410200"/>
            <a:ext cx="10820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데이터가 만들어 내는 값입니다.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2026-09-04T07:16:14Z</dcterms:created>
  <dcterms:modified xsi:type="dcterms:W3CDTF">2026-09-04T07:16:14Z</dcterms:modified>
</cp:coreProperties>
</file>