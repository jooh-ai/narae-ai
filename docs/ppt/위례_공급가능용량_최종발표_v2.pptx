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2293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09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정하던 값을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 입력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끝나고, 신고 숫자는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MAE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3.90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값을 미리 계산했을 때 실제와 벌어진 폭의 평균입니다. 작을수록 좋습니다.</a:t>
            </a:r>
            <a:endParaRPr lang="en-US" sz="938" dirty="0"/>
          </a:p>
        </p:txBody>
      </p:sp>
      <p:sp>
        <p:nvSpPr>
          <p:cNvPr id="12" name="Shape 10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신고값을 못 채운 횟수</a:t>
            </a:r>
            <a:endParaRPr lang="en-US" sz="788" dirty="0"/>
          </a:p>
        </p:txBody>
      </p:sp>
      <p:sp>
        <p:nvSpPr>
          <p:cNvPr id="14" name="Text 12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448175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주에 신고한 값보다 실제 출력이 낮게 나온 횟수입니다. 이런 회차는 정산에서 불이익을 받습니다.</a:t>
            </a:r>
            <a:endParaRPr lang="en-US" sz="938" dirty="0"/>
          </a:p>
        </p:txBody>
      </p:sp>
      <p:sp>
        <p:nvSpPr>
          <p:cNvPr id="18" name="Shape 16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821055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동안 실제보다 높게 신고한 양을 모두 더한 값입니다.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엑셀 4개  ·  사람의 판단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순서대로 돌려 만들었습니다.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도구 1개  ·  데이터의 학습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바로 나옵니다.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505450"/>
            <a:ext cx="1036320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 못 받던 </a:t>
            </a:r>
            <a:pPr algn="ctr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</a:t>
            </a:r>
            <a:pPr algn="ctr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연 9,702만원  →  3,943만원   ·   회수 </a:t>
            </a:r>
            <a:pPr algn="ctr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5,759만원/년</a:t>
            </a:r>
            <a:endParaRPr lang="en-US" sz="1088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5715000"/>
            <a:ext cx="10363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 · 150원/kW·일 × 입찰일 335일(정비 30일 제외) · 에너지수익 미포함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5905500"/>
            <a:ext cx="108204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누적 40회 실적에 종전 방식과 현재 도구를 각각 적용해 채점한 재현값입니다 (한 회를 가리고 나머지로 예측 · LOOCV 39회, 미달은 ±0.5% 밴드). 실제 신고 이력이 아닙니다.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한 번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숫자는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한 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 온도 전부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빈 구간을 메우려고, 한 점에서 구한 보정값 하나를 61개 온도에 똑같이 적용한 것이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일괄 보정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552700"/>
            <a:ext cx="10820400" cy="10858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64795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4개를 순서대로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87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</a:t>
            </a:r>
            <a:endParaRPr lang="en-US" sz="1013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① 날짜·시각 → RiMS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27813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718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861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계산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30861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② 대기압 → 61개 값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48387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435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1개</a:t>
            </a:r>
            <a:endParaRPr lang="en-US" sz="1013" dirty="0"/>
          </a:p>
        </p:txBody>
      </p:sp>
      <p:sp>
        <p:nvSpPr>
          <p:cNvPr id="25" name="Text 23"/>
          <p:cNvSpPr txBox="1"/>
          <p:nvPr/>
        </p:nvSpPr>
        <p:spPr>
          <a:xfrm>
            <a:off x="51435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온도에서 실측 − 계산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68961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86600" y="2838450"/>
            <a:ext cx="1866900" cy="419100"/>
          </a:xfrm>
          <a:prstGeom prst="rect">
            <a:avLst/>
          </a:prstGeom>
          <a:solidFill>
            <a:srgbClr val="0F1A28"/>
          </a:solidFill>
          <a:ln w="17780">
            <a:solidFill>
              <a:srgbClr val="6B522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009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61개에 똑같이</a:t>
            </a:r>
            <a:endParaRPr lang="en-US" sz="1013" dirty="0"/>
          </a:p>
        </p:txBody>
      </p:sp>
      <p:sp>
        <p:nvSpPr>
          <p:cNvPr id="29" name="Text 27"/>
          <p:cNvSpPr txBox="1"/>
          <p:nvPr/>
        </p:nvSpPr>
        <p:spPr>
          <a:xfrm>
            <a:off x="72009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④ 일괄 보정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89535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1440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583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완성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92583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③ 붙여넣기 → 신고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352800"/>
            <a:ext cx="103632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온도 한 점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에서만 합니다. 나머지 60개 온도의 차이는 알 수 없으니, 같은 값을 얹는 것이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그때로서는 가장 안전한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선택이었습니다.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685800" y="3752850"/>
            <a:ext cx="10820400" cy="2190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38481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종전 신고(이론값 + 2.5 하나로) vs 실제 능력</a:t>
            </a:r>
            <a:endParaRPr lang="en-US" sz="788" dirty="0"/>
          </a:p>
        </p:txBody>
      </p:sp>
      <p:sp>
        <p:nvSpPr>
          <p:cNvPr id="37" name="Shape 35"/>
          <p:cNvSpPr/>
          <p:nvPr/>
        </p:nvSpPr>
        <p:spPr>
          <a:xfrm>
            <a:off x="1428750" y="539627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329604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428750" y="5188194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4400" y="5121519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428750" y="498011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14400" y="4913435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428750" y="47720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470535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428750" y="456394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14400" y="4497265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428750" y="435585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4400" y="4289181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428750" y="4147771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4400" y="4081096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1428750" y="54483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2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20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33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10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23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01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14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1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904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82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1095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72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428750" y="4330157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5" name="Shape 63"/>
          <p:cNvSpPr/>
          <p:nvPr/>
        </p:nvSpPr>
        <p:spPr>
          <a:xfrm>
            <a:off x="1809750" y="4318661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6" name="Shape 64"/>
          <p:cNvSpPr/>
          <p:nvPr/>
        </p:nvSpPr>
        <p:spPr>
          <a:xfrm>
            <a:off x="2190750" y="4310181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7" name="Shape 65"/>
          <p:cNvSpPr/>
          <p:nvPr/>
        </p:nvSpPr>
        <p:spPr>
          <a:xfrm>
            <a:off x="2571750" y="4296240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8" name="Shape 66"/>
          <p:cNvSpPr/>
          <p:nvPr/>
        </p:nvSpPr>
        <p:spPr>
          <a:xfrm>
            <a:off x="2952750" y="4279853"/>
            <a:ext cx="386715" cy="5904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9" name="Shape 67"/>
          <p:cNvSpPr/>
          <p:nvPr/>
        </p:nvSpPr>
        <p:spPr>
          <a:xfrm>
            <a:off x="3333750" y="4283026"/>
            <a:ext cx="386715" cy="5196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0" name="Shape 68"/>
          <p:cNvSpPr/>
          <p:nvPr/>
        </p:nvSpPr>
        <p:spPr>
          <a:xfrm>
            <a:off x="3714750" y="4307320"/>
            <a:ext cx="386715" cy="4593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1" name="Shape 69"/>
          <p:cNvSpPr/>
          <p:nvPr/>
        </p:nvSpPr>
        <p:spPr>
          <a:xfrm>
            <a:off x="4095750" y="4337856"/>
            <a:ext cx="386715" cy="3558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2" name="Shape 70"/>
          <p:cNvSpPr/>
          <p:nvPr/>
        </p:nvSpPr>
        <p:spPr>
          <a:xfrm>
            <a:off x="4476750" y="4367352"/>
            <a:ext cx="386715" cy="2887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57750" y="4394143"/>
            <a:ext cx="386715" cy="2751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4" name="Shape 72"/>
          <p:cNvSpPr/>
          <p:nvPr/>
        </p:nvSpPr>
        <p:spPr>
          <a:xfrm>
            <a:off x="5238750" y="4419009"/>
            <a:ext cx="386715" cy="3069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5" name="Shape 73"/>
          <p:cNvSpPr/>
          <p:nvPr/>
        </p:nvSpPr>
        <p:spPr>
          <a:xfrm>
            <a:off x="5619750" y="4449026"/>
            <a:ext cx="386715" cy="35166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6" name="Shape 74"/>
          <p:cNvSpPr/>
          <p:nvPr/>
        </p:nvSpPr>
        <p:spPr>
          <a:xfrm>
            <a:off x="6000750" y="4488874"/>
            <a:ext cx="386715" cy="366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7" name="Shape 75"/>
          <p:cNvSpPr/>
          <p:nvPr/>
        </p:nvSpPr>
        <p:spPr>
          <a:xfrm>
            <a:off x="6381750" y="4538242"/>
            <a:ext cx="386715" cy="3162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750" y="4598743"/>
            <a:ext cx="386715" cy="1862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9" name="Shape 77"/>
          <p:cNvSpPr/>
          <p:nvPr/>
        </p:nvSpPr>
        <p:spPr>
          <a:xfrm>
            <a:off x="7143750" y="4669075"/>
            <a:ext cx="386715" cy="571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80" name="Shape 78"/>
          <p:cNvSpPr/>
          <p:nvPr/>
        </p:nvSpPr>
        <p:spPr>
          <a:xfrm>
            <a:off x="7524750" y="4725102"/>
            <a:ext cx="386715" cy="21797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7905750" y="4777643"/>
            <a:ext cx="386715" cy="39848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8286750" y="4833826"/>
            <a:ext cx="386715" cy="50304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8667750" y="4901922"/>
            <a:ext cx="386715" cy="5129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9048750" y="4976364"/>
            <a:ext cx="386715" cy="43906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9429750" y="5057621"/>
            <a:ext cx="386715" cy="3147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9810750" y="5143976"/>
            <a:ext cx="386715" cy="1810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91750" y="5233088"/>
            <a:ext cx="386715" cy="7699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10572750" y="5327403"/>
            <a:ext cx="386715" cy="571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9" name="Shape 87"/>
          <p:cNvSpPr/>
          <p:nvPr/>
        </p:nvSpPr>
        <p:spPr>
          <a:xfrm flipV="1">
            <a:off x="1428750" y="4389513"/>
            <a:ext cx="381000" cy="1290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 flipV="1">
            <a:off x="1809750" y="4379421"/>
            <a:ext cx="381000" cy="1009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V="1">
            <a:off x="2190750" y="4372555"/>
            <a:ext cx="381000" cy="686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V="1">
            <a:off x="2571750" y="4351538"/>
            <a:ext cx="381000" cy="2101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V="1">
            <a:off x="2952750" y="4326256"/>
            <a:ext cx="381000" cy="2528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3333750" y="4326256"/>
            <a:ext cx="381000" cy="1747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3714750" y="4343735"/>
            <a:ext cx="381000" cy="1904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>
            <a:off x="4095750" y="4362775"/>
            <a:ext cx="381000" cy="2132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7" name="Shape 95"/>
          <p:cNvSpPr/>
          <p:nvPr/>
        </p:nvSpPr>
        <p:spPr>
          <a:xfrm>
            <a:off x="4476750" y="4384103"/>
            <a:ext cx="381000" cy="2424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>
            <a:off x="4857750" y="4408345"/>
            <a:ext cx="381000" cy="2663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>
            <a:off x="5238750" y="4434980"/>
            <a:ext cx="381000" cy="2944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>
            <a:off x="5619750" y="4464424"/>
            <a:ext cx="381000" cy="3953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>
            <a:off x="6000750" y="4503960"/>
            <a:ext cx="381000" cy="4317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>
            <a:off x="6381750" y="4547138"/>
            <a:ext cx="381000" cy="4546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>
            <a:off x="6762750" y="4592604"/>
            <a:ext cx="381000" cy="4952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>
            <a:off x="7143750" y="4642128"/>
            <a:ext cx="381000" cy="5389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>
            <a:off x="7524750" y="4696022"/>
            <a:ext cx="381000" cy="5816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7905750" y="4754182"/>
            <a:ext cx="381000" cy="4692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>
            <a:off x="8286750" y="4801105"/>
            <a:ext cx="381000" cy="654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8667750" y="4866547"/>
            <a:ext cx="381000" cy="7074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9048750" y="4937296"/>
            <a:ext cx="381000" cy="7813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9429750" y="5015432"/>
            <a:ext cx="381000" cy="8437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9810750" y="5099810"/>
            <a:ext cx="381000" cy="8833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10191750" y="5188142"/>
            <a:ext cx="381000" cy="8989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10572750" y="5278035"/>
            <a:ext cx="381000" cy="9873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 flipV="1">
            <a:off x="1428750" y="4323707"/>
            <a:ext cx="381000" cy="1290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 flipV="1">
            <a:off x="1809750" y="4313615"/>
            <a:ext cx="381000" cy="1009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2190750" y="4306748"/>
            <a:ext cx="381000" cy="686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V="1">
            <a:off x="2571750" y="4285731"/>
            <a:ext cx="381000" cy="2101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V="1">
            <a:off x="2952750" y="4273974"/>
            <a:ext cx="381000" cy="1175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333750" y="4273974"/>
            <a:ext cx="381000" cy="181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714750" y="4292078"/>
            <a:ext cx="381000" cy="304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095750" y="4322562"/>
            <a:ext cx="381000" cy="3058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76750" y="4353151"/>
            <a:ext cx="381000" cy="2840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857750" y="4381554"/>
            <a:ext cx="381000" cy="251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238750" y="4406732"/>
            <a:ext cx="381000" cy="2455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619750" y="4431286"/>
            <a:ext cx="381000" cy="354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000750" y="4466765"/>
            <a:ext cx="381000" cy="442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381750" y="4510983"/>
            <a:ext cx="381000" cy="545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762750" y="4565501"/>
            <a:ext cx="381000" cy="6648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143750" y="4631984"/>
            <a:ext cx="381000" cy="7532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24750" y="4707311"/>
            <a:ext cx="381000" cy="7917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5750" y="4786487"/>
            <a:ext cx="381000" cy="6200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286750" y="4848496"/>
            <a:ext cx="381000" cy="7126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667750" y="4919765"/>
            <a:ext cx="381000" cy="6689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9048750" y="4986664"/>
            <a:ext cx="381000" cy="6721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429750" y="5053876"/>
            <a:ext cx="381000" cy="7043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810750" y="5124312"/>
            <a:ext cx="381000" cy="7553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0191750" y="5199847"/>
            <a:ext cx="381000" cy="8188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0572750" y="5281728"/>
            <a:ext cx="381000" cy="9863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524750" y="4095750"/>
            <a:ext cx="0" cy="1352550"/>
          </a:xfrm>
          <a:prstGeom prst="line">
            <a:avLst/>
          </a:prstGeom>
          <a:noFill/>
          <a:ln w="12700">
            <a:solidFill>
              <a:srgbClr val="8A8880"/>
            </a:solidFill>
            <a:prstDash val="dash"/>
          </a:ln>
        </p:spPr>
      </p:sp>
      <p:sp>
        <p:nvSpPr>
          <p:cNvPr id="140" name="Text 138"/>
          <p:cNvSpPr txBox="1"/>
          <p:nvPr/>
        </p:nvSpPr>
        <p:spPr>
          <a:xfrm>
            <a:off x="7600950" y="4114800"/>
            <a:ext cx="209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방향이 바뀝니다 (22℃)</a:t>
            </a:r>
            <a:endParaRPr lang="en-US" sz="863" dirty="0"/>
          </a:p>
        </p:txBody>
      </p:sp>
      <p:sp>
        <p:nvSpPr>
          <p:cNvPr id="141" name="Text 139"/>
          <p:cNvSpPr txBox="1"/>
          <p:nvPr/>
        </p:nvSpPr>
        <p:spPr>
          <a:xfrm>
            <a:off x="3467100" y="4223915"/>
            <a:ext cx="2381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 — 0℃ 에서 5.0 MW 못 팜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6153150" y="4816956"/>
            <a:ext cx="2381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 — 28℃ 에서 5.1 MW 미달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1428750" y="4076700"/>
            <a:ext cx="2476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44" name="Text 142"/>
          <p:cNvSpPr txBox="1"/>
          <p:nvPr/>
        </p:nvSpPr>
        <p:spPr>
          <a:xfrm>
            <a:off x="1752600" y="401002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신고 (하나의 값)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4000500" y="4076700"/>
            <a:ext cx="24765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4324350" y="401002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능력</a:t>
            </a:r>
            <a:endParaRPr lang="en-US" sz="900" dirty="0"/>
          </a:p>
        </p:txBody>
      </p:sp>
      <p:sp>
        <p:nvSpPr>
          <p:cNvPr id="147" name="Text 145"/>
          <p:cNvSpPr txBox="1"/>
          <p:nvPr/>
        </p:nvSpPr>
        <p:spPr>
          <a:xfrm>
            <a:off x="914400" y="5638800"/>
            <a:ext cx="103632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누계 — 낮게 신고해 못 판 양 </a:t>
            </a:r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75.3 MW</a:t>
            </a:r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=  용량요금 </a:t>
            </a:r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9,702만원</a:t>
            </a:r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신고값을 못 채운 </a:t>
            </a:r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endParaRPr lang="en-US" sz="1013" dirty="0"/>
          </a:p>
        </p:txBody>
      </p:sp>
      <p:sp>
        <p:nvSpPr>
          <p:cNvPr id="148" name="Text 146"/>
          <p:cNvSpPr txBox="1"/>
          <p:nvPr/>
        </p:nvSpPr>
        <p:spPr>
          <a:xfrm>
            <a:off x="914400" y="5810250"/>
            <a:ext cx="10363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 · 150원/kW·일 × 입찰일 335일(정비 30일 제외)  ·  높게 신고한 쪽은 정산식 Min() 상 용량요금이 늘지 않아 금액에 넣지 않았습니다</a:t>
            </a:r>
            <a:endParaRPr lang="en-US" sz="788" dirty="0"/>
          </a:p>
        </p:txBody>
      </p:sp>
      <p:sp>
        <p:nvSpPr>
          <p:cNvPr id="149" name="Shape 14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51" name="Text 14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그때는 최선이었습니다 — 이제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알 수 있는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데이터가 쌓였습니다.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보정값이 회차마다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 ~ −5 MW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이론값 − W(IGV)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온도 축에 찍으면 흩어진 게 아니라 온도를 따라 줄줄이 내려갑니다.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38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762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 하나가 테스트 1회  ·  누적 40회  ·  가로 외기온도 ℃ / 세로 = 보정값 = 실제 − 이론값 − W(IGV) 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572500" y="3904345"/>
            <a:ext cx="2667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15009" y="318606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24737" y="3226613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41601" y="354285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40711" y="3817458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52775" y="384137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6615" y="388055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40455" y="3916899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9911" y="3772367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6215" y="3993709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20743" y="3866236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6503" y="3892810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9655" y="371364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32807" y="375179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201031" y="3677041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5415" y="379191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71719" y="3828174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7479" y="384720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61863" y="381831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83527" y="4082691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10119" y="4487999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8887" y="4588726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83271" y="4356840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6423" y="436721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70951" y="453626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76513" y="4711970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53703" y="4444794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53703" y="4348267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5623" y="4602871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4391" y="4598327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9463" y="438204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90151" y="4360355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63303" y="452503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7687" y="4126240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7687" y="4187962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7687" y="4438621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82759" y="424908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31527" y="4506687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6599" y="4243854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92359" y="412718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31271" y="4185133"/>
            <a:ext cx="72390" cy="7239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더 더해야 하고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382000" y="4476750"/>
            <a:ext cx="2857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6667500" y="3276600"/>
            <a:ext cx="4572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 은 -1.9℃ 한 회차, −5 는 여름 한 회차 — 가장 큰 값입니다</a:t>
            </a:r>
            <a:endParaRPr lang="en-US" sz="863" dirty="0"/>
          </a:p>
        </p:txBody>
      </p:sp>
      <p:sp>
        <p:nvSpPr>
          <p:cNvPr id="79" name="Text 77"/>
          <p:cNvSpPr txBox="1"/>
          <p:nvPr/>
        </p:nvSpPr>
        <p:spPr>
          <a:xfrm>
            <a:off x="914400" y="5200650"/>
            <a:ext cx="103632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이론값은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표준 성능 곡선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우리 설비의 실제 특성과 온도에 따라 어긋나고, 그 차이가 저온 (+) · 고온 (−) 로 남습니다.</a:t>
            </a:r>
            <a:endParaRPr lang="en-US" sz="938" dirty="0"/>
          </a:p>
        </p:txBody>
      </p:sp>
      <p:sp>
        <p:nvSpPr>
          <p:cNvPr id="80" name="Shape 78"/>
          <p:cNvSpPr/>
          <p:nvPr/>
        </p:nvSpPr>
        <p:spPr>
          <a:xfrm>
            <a:off x="685800" y="5429250"/>
            <a:ext cx="108204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5543550"/>
            <a:ext cx="4191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실제 적용한 값 16회  ·  회차순  ·  전부 정수 하나</a:t>
            </a:r>
            <a:endParaRPr lang="en-US" sz="788" dirty="0"/>
          </a:p>
        </p:txBody>
      </p:sp>
      <p:sp>
        <p:nvSpPr>
          <p:cNvPr id="82" name="Text 80"/>
          <p:cNvSpPr txBox="1"/>
          <p:nvPr/>
        </p:nvSpPr>
        <p:spPr>
          <a:xfrm>
            <a:off x="533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3" name="Text 81"/>
          <p:cNvSpPr txBox="1"/>
          <p:nvPr/>
        </p:nvSpPr>
        <p:spPr>
          <a:xfrm>
            <a:off x="533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4" name="Text 82"/>
          <p:cNvSpPr txBox="1"/>
          <p:nvPr/>
        </p:nvSpPr>
        <p:spPr>
          <a:xfrm>
            <a:off x="571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5" name="Text 83"/>
          <p:cNvSpPr txBox="1"/>
          <p:nvPr/>
        </p:nvSpPr>
        <p:spPr>
          <a:xfrm>
            <a:off x="571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6" name="Text 84"/>
          <p:cNvSpPr txBox="1"/>
          <p:nvPr/>
        </p:nvSpPr>
        <p:spPr>
          <a:xfrm>
            <a:off x="609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7" name="Text 85"/>
          <p:cNvSpPr txBox="1"/>
          <p:nvPr/>
        </p:nvSpPr>
        <p:spPr>
          <a:xfrm>
            <a:off x="609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8" name="Text 86"/>
          <p:cNvSpPr txBox="1"/>
          <p:nvPr/>
        </p:nvSpPr>
        <p:spPr>
          <a:xfrm>
            <a:off x="647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9" name="Text 87"/>
          <p:cNvSpPr txBox="1"/>
          <p:nvPr/>
        </p:nvSpPr>
        <p:spPr>
          <a:xfrm>
            <a:off x="647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90" name="Text 88"/>
          <p:cNvSpPr txBox="1"/>
          <p:nvPr/>
        </p:nvSpPr>
        <p:spPr>
          <a:xfrm>
            <a:off x="685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1" name="Text 89"/>
          <p:cNvSpPr txBox="1"/>
          <p:nvPr/>
        </p:nvSpPr>
        <p:spPr>
          <a:xfrm>
            <a:off x="685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2" name="Text 90"/>
          <p:cNvSpPr txBox="1"/>
          <p:nvPr/>
        </p:nvSpPr>
        <p:spPr>
          <a:xfrm>
            <a:off x="723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3" name="Text 91"/>
          <p:cNvSpPr txBox="1"/>
          <p:nvPr/>
        </p:nvSpPr>
        <p:spPr>
          <a:xfrm>
            <a:off x="723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4" name="Text 92"/>
          <p:cNvSpPr txBox="1"/>
          <p:nvPr/>
        </p:nvSpPr>
        <p:spPr>
          <a:xfrm>
            <a:off x="7620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5" name="Text 93"/>
          <p:cNvSpPr txBox="1"/>
          <p:nvPr/>
        </p:nvSpPr>
        <p:spPr>
          <a:xfrm>
            <a:off x="7620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6" name="Text 94"/>
          <p:cNvSpPr txBox="1"/>
          <p:nvPr/>
        </p:nvSpPr>
        <p:spPr>
          <a:xfrm>
            <a:off x="8001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7" name="Text 95"/>
          <p:cNvSpPr txBox="1"/>
          <p:nvPr/>
        </p:nvSpPr>
        <p:spPr>
          <a:xfrm>
            <a:off x="8001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8" name="Text 96"/>
          <p:cNvSpPr txBox="1"/>
          <p:nvPr/>
        </p:nvSpPr>
        <p:spPr>
          <a:xfrm>
            <a:off x="8382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9" name="Text 97"/>
          <p:cNvSpPr txBox="1"/>
          <p:nvPr/>
        </p:nvSpPr>
        <p:spPr>
          <a:xfrm>
            <a:off x="8382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100" name="Text 98"/>
          <p:cNvSpPr txBox="1"/>
          <p:nvPr/>
        </p:nvSpPr>
        <p:spPr>
          <a:xfrm>
            <a:off x="8763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101" name="Text 99"/>
          <p:cNvSpPr txBox="1"/>
          <p:nvPr/>
        </p:nvSpPr>
        <p:spPr>
          <a:xfrm>
            <a:off x="8763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2" name="Text 100"/>
          <p:cNvSpPr txBox="1"/>
          <p:nvPr/>
        </p:nvSpPr>
        <p:spPr>
          <a:xfrm>
            <a:off x="914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3" name="Text 101"/>
          <p:cNvSpPr txBox="1"/>
          <p:nvPr/>
        </p:nvSpPr>
        <p:spPr>
          <a:xfrm>
            <a:off x="914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4" name="Text 102"/>
          <p:cNvSpPr txBox="1"/>
          <p:nvPr/>
        </p:nvSpPr>
        <p:spPr>
          <a:xfrm>
            <a:off x="952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5" name="Text 103"/>
          <p:cNvSpPr txBox="1"/>
          <p:nvPr/>
        </p:nvSpPr>
        <p:spPr>
          <a:xfrm>
            <a:off x="952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6" name="Text 104"/>
          <p:cNvSpPr txBox="1"/>
          <p:nvPr/>
        </p:nvSpPr>
        <p:spPr>
          <a:xfrm>
            <a:off x="990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7" name="Text 105"/>
          <p:cNvSpPr txBox="1"/>
          <p:nvPr/>
        </p:nvSpPr>
        <p:spPr>
          <a:xfrm>
            <a:off x="990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8" name="Text 106"/>
          <p:cNvSpPr txBox="1"/>
          <p:nvPr/>
        </p:nvSpPr>
        <p:spPr>
          <a:xfrm>
            <a:off x="1028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9" name="Text 107"/>
          <p:cNvSpPr txBox="1"/>
          <p:nvPr/>
        </p:nvSpPr>
        <p:spPr>
          <a:xfrm>
            <a:off x="1028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10" name="Text 108"/>
          <p:cNvSpPr txBox="1"/>
          <p:nvPr/>
        </p:nvSpPr>
        <p:spPr>
          <a:xfrm>
            <a:off x="1066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11" name="Text 109"/>
          <p:cNvSpPr txBox="1"/>
          <p:nvPr/>
        </p:nvSpPr>
        <p:spPr>
          <a:xfrm>
            <a:off x="1066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2" name="Text 110"/>
          <p:cNvSpPr txBox="1"/>
          <p:nvPr/>
        </p:nvSpPr>
        <p:spPr>
          <a:xfrm>
            <a:off x="1104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3" name="Text 111"/>
          <p:cNvSpPr txBox="1"/>
          <p:nvPr/>
        </p:nvSpPr>
        <p:spPr>
          <a:xfrm>
            <a:off x="1104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4" name="Text 112"/>
          <p:cNvSpPr txBox="1"/>
          <p:nvPr/>
        </p:nvSpPr>
        <p:spPr>
          <a:xfrm>
            <a:off x="914400" y="573405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+5</a:t>
            </a:r>
            <a:endParaRPr lang="en-US" sz="975" dirty="0"/>
          </a:p>
        </p:txBody>
      </p:sp>
      <p:sp>
        <p:nvSpPr>
          <p:cNvPr id="115" name="Shape 1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7" name="Text 1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원인 규명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원인처럼 보이는 것이 넷이었는데,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걷어내니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남았습니다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세워 하나씩 확인했고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기각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 후보들이 서로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묶여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있었기 때문입니다.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43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5905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보정값과의 관련성  ·  상관계수 r  ·  0 에 가까우면 관계 없음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239000" y="2781300"/>
            <a:ext cx="4038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±0.31 — 이 선을 넘지 못하면 우연으로 봅니다 (n=40)</a:t>
            </a:r>
            <a:endParaRPr lang="en-US" sz="863" dirty="0"/>
          </a:p>
        </p:txBody>
      </p:sp>
      <p:sp>
        <p:nvSpPr>
          <p:cNvPr id="16" name="Shape 14"/>
          <p:cNvSpPr/>
          <p:nvPr/>
        </p:nvSpPr>
        <p:spPr>
          <a:xfrm>
            <a:off x="914400" y="3048000"/>
            <a:ext cx="171450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990850"/>
            <a:ext cx="1428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그냥 봤을 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24150" y="3048000"/>
            <a:ext cx="171450" cy="7620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52750" y="2990850"/>
            <a:ext cx="2000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온도를 직선으로 뺀 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239000" y="2990850"/>
            <a:ext cx="403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온도를 곡선(모델)으로 뺀 뒤  =  오른쪽 숫자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724400"/>
            <a:ext cx="666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'뺀다' = 온도로 설명되는 몫을 먼저 걷어내고, 남은 것끼리 다시 재는 것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857500" y="3276600"/>
            <a:ext cx="0" cy="13144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9452" y="3276600"/>
            <a:ext cx="0" cy="1314450"/>
          </a:xfrm>
          <a:prstGeom prst="line">
            <a:avLst/>
          </a:prstGeom>
          <a:noFill/>
          <a:ln w="20320">
            <a:solidFill>
              <a:srgbClr val="FF4D6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914400" y="3305175"/>
            <a:ext cx="1809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2857500" y="3295650"/>
            <a:ext cx="512064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54340" y="3286125"/>
            <a:ext cx="666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-0.84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9334500" y="3305175"/>
            <a:ext cx="1943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주된 원인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914400" y="354330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36195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857500" y="3581400"/>
            <a:ext cx="5017008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50708" y="35718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857500" y="3714750"/>
            <a:ext cx="88392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817620" y="37052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−0.14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9334500" y="36195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+0.00 → 사라짐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394335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57500" y="3905250"/>
            <a:ext cx="4474464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08164" y="38957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+0.73</a:t>
            </a:r>
            <a:endParaRPr lang="en-US" sz="825" dirty="0"/>
          </a:p>
        </p:txBody>
      </p:sp>
      <p:sp>
        <p:nvSpPr>
          <p:cNvPr id="38" name="Shape 36"/>
          <p:cNvSpPr/>
          <p:nvPr/>
        </p:nvSpPr>
        <p:spPr>
          <a:xfrm>
            <a:off x="2857500" y="4038600"/>
            <a:ext cx="749808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83508" y="40290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+0.12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9334500" y="394335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−0.13 → 사라짐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42672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57500" y="4229100"/>
            <a:ext cx="4419600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353300" y="42195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−0.72</a:t>
            </a:r>
            <a:endParaRPr lang="en-US" sz="825" dirty="0"/>
          </a:p>
        </p:txBody>
      </p:sp>
      <p:sp>
        <p:nvSpPr>
          <p:cNvPr id="44" name="Shape 42"/>
          <p:cNvSpPr/>
          <p:nvPr/>
        </p:nvSpPr>
        <p:spPr>
          <a:xfrm>
            <a:off x="2857500" y="4362450"/>
            <a:ext cx="2481072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4772" y="43529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−0.41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9334500" y="42672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−0.24 → 사라짐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914400" y="451485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온도와의 r  진공도 +0.95   ·   대기압 −0.83   ·   습도 +0.67  — 후보들이 서로 온도에 묶여 있다</a:t>
            </a:r>
            <a:endParaRPr lang="en-US" sz="863" dirty="0"/>
          </a:p>
        </p:txBody>
      </p:sp>
      <p:sp>
        <p:nvSpPr>
          <p:cNvPr id="48" name="Shape 46"/>
          <p:cNvSpPr/>
          <p:nvPr/>
        </p:nvSpPr>
        <p:spPr>
          <a:xfrm>
            <a:off x="685800" y="4781550"/>
            <a:ext cx="10820400" cy="1162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14400" y="4876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무엇을 알았나</a:t>
            </a:r>
            <a:endParaRPr lang="en-US" sz="788" dirty="0"/>
          </a:p>
        </p:txBody>
      </p:sp>
      <p:sp>
        <p:nvSpPr>
          <p:cNvPr id="50" name="Shape 48"/>
          <p:cNvSpPr/>
          <p:nvPr/>
        </p:nvSpPr>
        <p:spPr>
          <a:xfrm>
            <a:off x="9144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144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진공도·대기압은 온도의 그림자였습니다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에서 강해 보인 것은 이 둘이 온도를 따라가기 때문입니다. 온도를 빼면 사라집니다.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44196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4196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② 에서 남고 ③ 에서 사라졌습니다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44196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남고,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사라집니다 — 관계가 직선이 아니라는 뜻입니다.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79248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9248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남긴 오차는 설명되지 않습니다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79248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1.29 MW 남은 오차를 넷 중 어느 것도 설명하지 못했습니다. 진공도는 세 번 의심해 세 번 다 기각했습니다.</a:t>
            </a:r>
            <a:endParaRPr lang="en-US" sz="938" dirty="0"/>
          </a:p>
        </p:txBody>
      </p:sp>
      <p:sp>
        <p:nvSpPr>
          <p:cNvPr id="59" name="Shape 5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그런데 그 관계가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직선이 아닙니다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곡선을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이론식은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둡니다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배우는 것은 이론값과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3144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손대지 않는 부분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온도·대기압·습도·복수기 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(보정 없음)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이론식입니다. 데이터가 쌓여도 바뀌지 않습니다.  — 진공도는 여기서 이미 반영합니다. 6장에서 기각한 것은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그러고도 남는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진공도로 더 설명할 수 있느냐였습니다.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0767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41243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400550"/>
            <a:ext cx="10820400" cy="1047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40055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5339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데이터가 배우는 부분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72440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= 실제 − 이론값 − W(IGV)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445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다시 배웁니다. 실측 범위 밖은 끝값을 유지합니다(외삽 금지).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선정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눈대중으로 고르지 않았습니다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7가지를 겨뤄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곡선을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맞혀보는 방식(LOOCV)으로 채점했습니다. 세 지표 모두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1위입니다.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62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7429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LOOCV 채점 결과  ·  7가지가 모두 예측 가능한 39회 공통 집합  ·  종전(하나의 값)은 MAE 3.90 MW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8477250" y="2800350"/>
            <a:ext cx="28003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작을수록 좋음 · R² 는 1 에 가까울수록</a:t>
            </a:r>
            <a:endParaRPr lang="en-US" sz="863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285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순위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0670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산출 방식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3238500" y="30670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  (MW)  ·  1.30 ~ 1.48 구간 확대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8153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9296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914400" y="321945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766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1333500" y="32766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3238500" y="3295650"/>
            <a:ext cx="57150" cy="1047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37560" y="32766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938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1.678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296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0.854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4480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1333500" y="34480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Rational Quadratic</a:t>
            </a:r>
            <a:endParaRPr lang="en-US" sz="938" dirty="0"/>
          </a:p>
        </p:txBody>
      </p:sp>
      <p:sp>
        <p:nvSpPr>
          <p:cNvPr id="30" name="Shape 28"/>
          <p:cNvSpPr/>
          <p:nvPr/>
        </p:nvSpPr>
        <p:spPr>
          <a:xfrm>
            <a:off x="3238500" y="3467100"/>
            <a:ext cx="1143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29000" y="34480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9296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6195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333500" y="36195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3238500" y="3638550"/>
            <a:ext cx="2286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43300" y="3619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9296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37909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1333500" y="37909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3238500" y="3810000"/>
            <a:ext cx="50292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817620" y="37909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1.700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9296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0.850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39624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333500" y="39624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 (Matérn 1/2)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3238500" y="3981450"/>
            <a:ext cx="148590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00600" y="39624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1.739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9296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0.843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41338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333500" y="41338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 (거리가중 평균)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3238500" y="4152900"/>
            <a:ext cx="272034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0" y="41338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8153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1.794</a:t>
            </a:r>
            <a:endParaRPr lang="en-US" sz="938" dirty="0"/>
          </a:p>
        </p:txBody>
      </p:sp>
      <p:sp>
        <p:nvSpPr>
          <p:cNvPr id="57" name="Text 55"/>
          <p:cNvSpPr txBox="1"/>
          <p:nvPr/>
        </p:nvSpPr>
        <p:spPr>
          <a:xfrm>
            <a:off x="9296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914400" y="43053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333500" y="43053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 (온도 구간별 평균)</a:t>
            </a:r>
            <a:endParaRPr lang="en-US" sz="938" dirty="0"/>
          </a:p>
        </p:txBody>
      </p:sp>
      <p:sp>
        <p:nvSpPr>
          <p:cNvPr id="60" name="Shape 58"/>
          <p:cNvSpPr/>
          <p:nvPr/>
        </p:nvSpPr>
        <p:spPr>
          <a:xfrm>
            <a:off x="3238500" y="4324350"/>
            <a:ext cx="4000500" cy="1047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315200" y="43053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62" name="Text 60"/>
          <p:cNvSpPr txBox="1"/>
          <p:nvPr/>
        </p:nvSpPr>
        <p:spPr>
          <a:xfrm>
            <a:off x="8153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1.874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9296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0.818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449580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평균 오차  ·  RMSE 크게 틀린 경우에 벌점을 더 준 오차  ·  R² 설명력  ·  커널 점과 점 사이를 어떤 모양으로 이을지 정하는 규칙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685800" y="47625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4400" y="485775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커널별 보정 곡선  ·  0 ~ 30℃  ·  MW</a:t>
            </a:r>
            <a:endParaRPr lang="en-US" sz="788" dirty="0"/>
          </a:p>
        </p:txBody>
      </p:sp>
      <p:sp>
        <p:nvSpPr>
          <p:cNvPr id="67" name="Shape 65"/>
          <p:cNvSpPr/>
          <p:nvPr/>
        </p:nvSpPr>
        <p:spPr>
          <a:xfrm>
            <a:off x="1905000" y="504825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428750" y="49911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69" name="Shape 67"/>
          <p:cNvSpPr/>
          <p:nvPr/>
        </p:nvSpPr>
        <p:spPr>
          <a:xfrm>
            <a:off x="1905000" y="551815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428750" y="54610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71" name="Shape 69"/>
          <p:cNvSpPr/>
          <p:nvPr/>
        </p:nvSpPr>
        <p:spPr>
          <a:xfrm>
            <a:off x="1905000" y="57531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428750" y="569595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13" dirty="0"/>
          </a:p>
        </p:txBody>
      </p:sp>
      <p:sp>
        <p:nvSpPr>
          <p:cNvPr id="73" name="Text 71"/>
          <p:cNvSpPr txBox="1"/>
          <p:nvPr/>
        </p:nvSpPr>
        <p:spPr>
          <a:xfrm>
            <a:off x="1676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74" name="Text 72"/>
          <p:cNvSpPr txBox="1"/>
          <p:nvPr/>
        </p:nvSpPr>
        <p:spPr>
          <a:xfrm>
            <a:off x="3263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75" name="Text 73"/>
          <p:cNvSpPr txBox="1"/>
          <p:nvPr/>
        </p:nvSpPr>
        <p:spPr>
          <a:xfrm>
            <a:off x="4851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76" name="Text 74"/>
          <p:cNvSpPr txBox="1"/>
          <p:nvPr/>
        </p:nvSpPr>
        <p:spPr>
          <a:xfrm>
            <a:off x="6438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77" name="Shape 75"/>
          <p:cNvSpPr/>
          <p:nvPr/>
        </p:nvSpPr>
        <p:spPr>
          <a:xfrm>
            <a:off x="1905000" y="5073507"/>
            <a:ext cx="1587500" cy="145669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92500" y="5219176"/>
            <a:ext cx="1587500" cy="98092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080000" y="5317268"/>
            <a:ext cx="1587500" cy="342440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905000" y="5077619"/>
            <a:ext cx="1587500" cy="140383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92500" y="5218001"/>
            <a:ext cx="1587500" cy="106315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80000" y="5324316"/>
            <a:ext cx="1587500" cy="334216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05000" y="5077031"/>
            <a:ext cx="1587500" cy="155067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92500" y="5232098"/>
            <a:ext cx="1587500" cy="104553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80000" y="5336651"/>
            <a:ext cx="1587500" cy="305435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05000" y="5071745"/>
            <a:ext cx="1587500" cy="147431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92500" y="5219176"/>
            <a:ext cx="1587500" cy="96329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80000" y="5315506"/>
            <a:ext cx="1587500" cy="343614"/>
          </a:xfrm>
          <a:prstGeom prst="line">
            <a:avLst/>
          </a:prstGeom>
          <a:noFill/>
          <a:ln w="12700">
            <a:solidFill>
              <a:srgbClr val="55708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05000" y="5078794"/>
            <a:ext cx="1587500" cy="1356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92500" y="5214477"/>
            <a:ext cx="1587500" cy="1022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080000" y="5316680"/>
            <a:ext cx="1587500" cy="33597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080000" y="5277406"/>
            <a:ext cx="0" cy="97346"/>
          </a:xfrm>
          <a:prstGeom prst="line">
            <a:avLst/>
          </a:prstGeom>
          <a:noFill/>
          <a:ln w="15240">
            <a:solidFill>
              <a:srgbClr val="FF4D6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048500" y="5143500"/>
            <a:ext cx="4229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바꾸면 곡선이 갈립니다 — 가장 벌어지는 곳은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20℃, 0.36 MW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눈으로는 고를 수 없어서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표로 채점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</a:t>
            </a:r>
            <a:endParaRPr lang="en-US" sz="97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곡선의 성격(길이척도·잡음)은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학습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커널은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곡선 비교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겉보기엔 같은 곡선인데,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확대하면 온도마다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본 그 점들입니다. 이제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 고른 곡선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그 점들을 따라 지나갑니다.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552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[출력곡선 비교] 화면과 같은 곡선  ·  가로 외기온도 ℃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1428750" y="2952750"/>
            <a:ext cx="952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 MW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8750" y="40386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814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428750" y="375012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692979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428750" y="346165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404507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428750" y="317318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116036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V="1">
            <a:off x="1428750" y="3214221"/>
            <a:ext cx="381000" cy="89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809750" y="3207225"/>
            <a:ext cx="381000" cy="699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190750" y="3202466"/>
            <a:ext cx="381000" cy="476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571750" y="3187898"/>
            <a:ext cx="381000" cy="1456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952750" y="3170373"/>
            <a:ext cx="381000" cy="17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333750" y="3170373"/>
            <a:ext cx="381000" cy="1211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714750" y="3182489"/>
            <a:ext cx="381000" cy="131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095750" y="3195686"/>
            <a:ext cx="381000" cy="1478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476750" y="3210471"/>
            <a:ext cx="381000" cy="1680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57750" y="3227274"/>
            <a:ext cx="381000" cy="1846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238750" y="3245736"/>
            <a:ext cx="381000" cy="2040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19750" y="3266146"/>
            <a:ext cx="381000" cy="2740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00750" y="3293550"/>
            <a:ext cx="381000" cy="2992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81750" y="3323479"/>
            <a:ext cx="381000" cy="3151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762750" y="3354995"/>
            <a:ext cx="381000" cy="3432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43750" y="3389323"/>
            <a:ext cx="381000" cy="373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524750" y="3426680"/>
            <a:ext cx="381000" cy="4031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05750" y="3466994"/>
            <a:ext cx="381000" cy="32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86750" y="3499519"/>
            <a:ext cx="381000" cy="4536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667750" y="3544881"/>
            <a:ext cx="381000" cy="4904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048750" y="3593921"/>
            <a:ext cx="381000" cy="5416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9429750" y="3648082"/>
            <a:ext cx="381000" cy="584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810750" y="3706569"/>
            <a:ext cx="381000" cy="6122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191750" y="3767797"/>
            <a:ext cx="381000" cy="6231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572750" y="3830107"/>
            <a:ext cx="381000" cy="6844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1428750" y="3150901"/>
            <a:ext cx="381000" cy="894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809750" y="3143906"/>
            <a:ext cx="381000" cy="699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190750" y="3139146"/>
            <a:ext cx="381000" cy="476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571750" y="3124578"/>
            <a:ext cx="381000" cy="1456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952750" y="3116429"/>
            <a:ext cx="381000" cy="814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3750" y="3116429"/>
            <a:ext cx="381000" cy="1254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14750" y="3128977"/>
            <a:ext cx="381000" cy="2113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95750" y="3150108"/>
            <a:ext cx="381000" cy="212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6750" y="3171311"/>
            <a:ext cx="381000" cy="1968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57750" y="3190999"/>
            <a:ext cx="381000" cy="174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8750" y="3208451"/>
            <a:ext cx="381000" cy="1702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19750" y="3225471"/>
            <a:ext cx="381000" cy="2459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0750" y="3250063"/>
            <a:ext cx="381000" cy="3065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81750" y="3280713"/>
            <a:ext cx="381000" cy="377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2750" y="3318503"/>
            <a:ext cx="381000" cy="4608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43750" y="3364587"/>
            <a:ext cx="381000" cy="5221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4750" y="3416800"/>
            <a:ext cx="381000" cy="5488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05750" y="3471682"/>
            <a:ext cx="381000" cy="4298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86750" y="3514664"/>
            <a:ext cx="381000" cy="4940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67750" y="3564065"/>
            <a:ext cx="381000" cy="4637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8750" y="3610436"/>
            <a:ext cx="381000" cy="4658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29750" y="3657024"/>
            <a:ext cx="381000" cy="4882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10750" y="3705848"/>
            <a:ext cx="381000" cy="5235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91750" y="3758206"/>
            <a:ext cx="381000" cy="5675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572750" y="3814963"/>
            <a:ext cx="381000" cy="6836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43950" y="3114675"/>
            <a:ext cx="2476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067800" y="3048000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(IGV 포함 · 보정 없음)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743950" y="3295650"/>
            <a:ext cx="24765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067800" y="32289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5334000" y="3810000"/>
            <a:ext cx="457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곡선이 거의 붙어 보입니다 — 아래는 그 차이만 확대한 것입니다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85800" y="4152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28750" y="50292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49720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428750" y="4843463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14400" y="4786313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428750" y="46577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4400" y="4600575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428750" y="44719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14400" y="4414838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428750" y="42862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14400" y="422910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42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20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33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10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523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01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14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91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4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82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5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72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428750" y="4200525"/>
            <a:ext cx="2476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보정값 (실제 − 이론값 − W)</a:t>
            </a:r>
            <a:endParaRPr lang="en-US" sz="863" dirty="0"/>
          </a:p>
        </p:txBody>
      </p:sp>
      <p:sp>
        <p:nvSpPr>
          <p:cNvPr id="103" name="Shape 101"/>
          <p:cNvSpPr/>
          <p:nvPr/>
        </p:nvSpPr>
        <p:spPr>
          <a:xfrm>
            <a:off x="3798570" y="422719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943350" y="4200525"/>
            <a:ext cx="1619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테스트 40회</a:t>
            </a:r>
            <a:endParaRPr lang="en-US" sz="863" dirty="0"/>
          </a:p>
        </p:txBody>
      </p:sp>
      <p:sp>
        <p:nvSpPr>
          <p:cNvPr id="105" name="Text 103"/>
          <p:cNvSpPr txBox="1"/>
          <p:nvPr/>
        </p:nvSpPr>
        <p:spPr>
          <a:xfrm>
            <a:off x="5715000" y="4200525"/>
            <a:ext cx="2571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위쪽일수록 더 나온 것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8439150" y="4257675"/>
            <a:ext cx="2286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7" name="Text 105"/>
          <p:cNvSpPr txBox="1"/>
          <p:nvPr/>
        </p:nvSpPr>
        <p:spPr>
          <a:xfrm>
            <a:off x="8705850" y="4200525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108" name="Shape 106"/>
          <p:cNvSpPr/>
          <p:nvPr/>
        </p:nvSpPr>
        <p:spPr>
          <a:xfrm>
            <a:off x="1428750" y="4752265"/>
            <a:ext cx="95250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2941320" y="4332108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27045" y="434967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65220" y="448671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46220" y="460075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446270" y="461112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636770" y="462809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7270" y="464385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98720" y="458121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113020" y="46771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36870" y="46218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22620" y="46334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79770" y="45557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36920" y="45723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046470" y="45399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65520" y="458968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79820" y="460540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65570" y="461364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484620" y="46011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360920" y="471569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084820" y="4891327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22920" y="493497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141970" y="483449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199120" y="483898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522970" y="491224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0620" y="49933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6370" y="48726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056370" y="483077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1620" y="49411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89720" y="493913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42120" y="484541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75470" y="483601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2620" y="490737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51670" y="473456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551670" y="476131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51670" y="48699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04070" y="47877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742170" y="489942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894570" y="47855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180320" y="47349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23220" y="476008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428750" y="4517307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809750" y="4517307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190750" y="4517307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571750" y="4517307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952750" y="4517307"/>
            <a:ext cx="381000" cy="4829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33750" y="4565599"/>
            <a:ext cx="381000" cy="185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714750" y="4567457"/>
            <a:ext cx="381000" cy="4123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095750" y="4608690"/>
            <a:ext cx="381000" cy="3306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476750" y="4641752"/>
            <a:ext cx="381000" cy="148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4857750" y="4651410"/>
            <a:ext cx="381000" cy="520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238750" y="4633951"/>
            <a:ext cx="381000" cy="174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5619750" y="4619463"/>
            <a:ext cx="381000" cy="1448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000750" y="4619463"/>
            <a:ext cx="381000" cy="408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381750" y="4623549"/>
            <a:ext cx="381000" cy="323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62750" y="4655868"/>
            <a:ext cx="381000" cy="6017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143750" y="4716047"/>
            <a:ext cx="381000" cy="7689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524750" y="4792942"/>
            <a:ext cx="381000" cy="7466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905750" y="4867608"/>
            <a:ext cx="381000" cy="5386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286750" y="4921472"/>
            <a:ext cx="381000" cy="208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8667750" y="4928530"/>
            <a:ext cx="381000" cy="137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9048750" y="4889525"/>
            <a:ext cx="381000" cy="3900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9429750" y="4839376"/>
            <a:ext cx="381000" cy="5014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9810750" y="4794428"/>
            <a:ext cx="381000" cy="4494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10191750" y="4765081"/>
            <a:ext cx="381000" cy="293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572750" y="4765081"/>
            <a:ext cx="3810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5800" y="5372100"/>
            <a:ext cx="1082040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14400" y="5486400"/>
            <a:ext cx="10363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출력보다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는 7.5 MW 더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28℃ 는 2.7 MW 덜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나왔습니다.   종전에는 이 차이를 온도 구분 없이 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 +2.5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덮었습니다.</a:t>
            </a:r>
            <a:endParaRPr lang="en-US" sz="1125" dirty="0"/>
          </a:p>
        </p:txBody>
      </p:sp>
      <p:sp>
        <p:nvSpPr>
          <p:cNvPr id="176" name="Shape 17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8" name="Text 17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온도마다 배웁니다 — 방식 7가지를 겨뤄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맞는 곡선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의심도 도구가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정해야 하는 숫자가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 → 채점 → 고르기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결과 넣기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 =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 전부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잘 맞는 쪽으로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테스트가 늘면 다시 처음으로 — 사람이 손으로 정하는 값은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회만 빼도 뒤집히면 버린다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회씩 빼 보며 다시 계산합니다.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번 중 여덟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 같은 결론이 나와야 믿습니다.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우연일 수 있으면 안 믿는다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031486" y="5029200"/>
            <a:ext cx="725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번에 1번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우연히 그렇게 보일 확률이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이보다 크면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관계가 없다고 봅니다.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뒤를 보지 않고 예측한다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앞의 데이터만으로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예측했습니다. 뒤 회차를 미리 보지 않습니다.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숫자가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도구가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앞으로는 실측 전에 예측을 남기는 기능도 씁니다.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간단해지고,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정확해졌습니다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40회를 종전 방식과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524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1162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담당자 업무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028950"/>
            <a:ext cx="1427226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→ 1</a:t>
            </a:r>
            <a:endParaRPr lang="en-US" sz="3150" dirty="0"/>
          </a:p>
        </p:txBody>
      </p:sp>
      <p:sp>
        <p:nvSpPr>
          <p:cNvPr id="19" name="Text 17"/>
          <p:cNvSpPr txBox="1"/>
          <p:nvPr/>
        </p:nvSpPr>
        <p:spPr>
          <a:xfrm>
            <a:off x="2398776" y="3228975"/>
            <a:ext cx="16568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 → 도구 1개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195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파일 4개를 돌리던 일이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끝납니다. 손으로 옮겨 적던 값 61개는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 정확도  ·  실제와 어긋난 정도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02895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</a:t>
            </a:r>
            <a:endParaRPr lang="en-US" sz="3150" dirty="0"/>
          </a:p>
        </p:txBody>
      </p:sp>
      <p:sp>
        <p:nvSpPr>
          <p:cNvPr id="23" name="Text 21"/>
          <p:cNvSpPr txBox="1"/>
          <p:nvPr/>
        </p:nvSpPr>
        <p:spPr>
          <a:xfrm>
            <a:off x="7126891" y="3228975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8572500" y="3143250"/>
            <a:ext cx="27051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3.90 → 1.30 MW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448050"/>
            <a:ext cx="4953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 못 받던 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연 5,759만원 회수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3676650"/>
            <a:ext cx="4953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 · 150원/kW·일 × 입찰일 335일(정비 30일 제외)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324600" y="38481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신고값을 못 채운 횟수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4회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높게 신고한 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44767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  ·  그 회차 앞의 데이터만으로 예측(walk-forward)  ·  세로 = 실제 − 예측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7810500" y="4457700"/>
            <a:ext cx="3467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종전 대비 +91%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7" name="Text 55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60" name="Text 58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3" name="Text 61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6" name="Text 6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시간도 줄고 숫자도 맞았습니다 — 회수한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용량요금은 연 5,759만원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계속 쌓입니다,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쌓일수록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정확해집니다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앞으로도 주기적으로 합니다. 회차가 들어올 때마다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학습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하므로, 데이터가 쌓이는 것 자체가 개선입니다.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771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781300"/>
            <a:ext cx="857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 구간별 예측 오차  ·  단위 MW  ·  각 회차를 그 앞의 회차만으로 예측(walk-forward)  ·  낮을수록 좋음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2952750"/>
            <a:ext cx="103632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2.26 → 1.19 MW</a:t>
            </a:r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47% 줄었습니다. 구간마다 오르내림은 있습니다 — 어려운 회차가 몰리면 올라갑니다.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1428750" y="421005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0250" y="3333750"/>
            <a:ext cx="914400" cy="87630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714500" y="3143250"/>
            <a:ext cx="14859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4295775"/>
            <a:ext cx="1485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19회차</a:t>
            </a:r>
            <a:endParaRPr lang="en-US" sz="863" dirty="0"/>
          </a:p>
        </p:txBody>
      </p:sp>
      <p:sp>
        <p:nvSpPr>
          <p:cNvPr id="20" name="Text 18"/>
          <p:cNvSpPr txBox="1"/>
          <p:nvPr/>
        </p:nvSpPr>
        <p:spPr>
          <a:xfrm>
            <a:off x="3219450" y="400050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4095750" y="3335685"/>
            <a:ext cx="914400" cy="87436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810000" y="3145185"/>
            <a:ext cx="14859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810000" y="4295775"/>
            <a:ext cx="1485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26회차</a:t>
            </a:r>
            <a:endParaRPr lang="en-US" sz="863" dirty="0"/>
          </a:p>
        </p:txBody>
      </p:sp>
      <p:sp>
        <p:nvSpPr>
          <p:cNvPr id="24" name="Text 22"/>
          <p:cNvSpPr txBox="1"/>
          <p:nvPr/>
        </p:nvSpPr>
        <p:spPr>
          <a:xfrm>
            <a:off x="5314950" y="400050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191250" y="3859762"/>
            <a:ext cx="914400" cy="350288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05500" y="3669262"/>
            <a:ext cx="14859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05500" y="4295775"/>
            <a:ext cx="1485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~ 33회차</a:t>
            </a:r>
            <a:endParaRPr lang="en-US" sz="863" dirty="0"/>
          </a:p>
        </p:txBody>
      </p:sp>
      <p:sp>
        <p:nvSpPr>
          <p:cNvPr id="28" name="Text 26"/>
          <p:cNvSpPr txBox="1"/>
          <p:nvPr/>
        </p:nvSpPr>
        <p:spPr>
          <a:xfrm>
            <a:off x="7410450" y="400050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8286750" y="3749838"/>
            <a:ext cx="914400" cy="46021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01000" y="3559338"/>
            <a:ext cx="14859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4295775"/>
            <a:ext cx="1485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~ 40회차</a:t>
            </a:r>
            <a:endParaRPr lang="en-US" sz="863" dirty="0"/>
          </a:p>
        </p:txBody>
      </p:sp>
      <p:sp>
        <p:nvSpPr>
          <p:cNvPr id="32" name="Shape 30"/>
          <p:cNvSpPr/>
          <p:nvPr/>
        </p:nvSpPr>
        <p:spPr>
          <a:xfrm>
            <a:off x="685800" y="4591050"/>
            <a:ext cx="10820400" cy="1352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" y="46863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34" name="Shape 32"/>
          <p:cNvSpPr/>
          <p:nvPr/>
        </p:nvSpPr>
        <p:spPr>
          <a:xfrm>
            <a:off x="1428750" y="529590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3900" y="4914900"/>
            <a:ext cx="236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843088" y="5233988"/>
            <a:ext cx="123825" cy="12382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23900" y="5429250"/>
            <a:ext cx="23622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723900" y="5638800"/>
            <a:ext cx="23622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3324225" y="4914900"/>
            <a:ext cx="236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 ~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4443413" y="5233988"/>
            <a:ext cx="123825" cy="12382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324225" y="5429250"/>
            <a:ext cx="23622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누적 · 고도화</a:t>
            </a:r>
            <a:endParaRPr lang="en-US" sz="1163" dirty="0"/>
          </a:p>
        </p:txBody>
      </p:sp>
      <p:sp>
        <p:nvSpPr>
          <p:cNvPr id="42" name="Text 40"/>
          <p:cNvSpPr txBox="1"/>
          <p:nvPr/>
        </p:nvSpPr>
        <p:spPr>
          <a:xfrm>
            <a:off x="3324225" y="5638800"/>
            <a:ext cx="23622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다시 학습 — 쌓을수록 오차가 줄어듭니다</a:t>
            </a:r>
            <a:endParaRPr lang="en-US" sz="863" dirty="0"/>
          </a:p>
        </p:txBody>
      </p:sp>
      <p:sp>
        <p:nvSpPr>
          <p:cNvPr id="43" name="Text 41"/>
          <p:cNvSpPr txBox="1"/>
          <p:nvPr/>
        </p:nvSpPr>
        <p:spPr>
          <a:xfrm>
            <a:off x="5924550" y="4914900"/>
            <a:ext cx="236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7058025" y="5248275"/>
            <a:ext cx="95250" cy="95250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924550" y="5429250"/>
            <a:ext cx="23622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1곳 시범</a:t>
            </a:r>
            <a:endParaRPr lang="en-US" sz="1163" dirty="0"/>
          </a:p>
        </p:txBody>
      </p:sp>
      <p:sp>
        <p:nvSpPr>
          <p:cNvPr id="46" name="Text 44"/>
          <p:cNvSpPr txBox="1"/>
          <p:nvPr/>
        </p:nvSpPr>
        <p:spPr>
          <a:xfrm>
            <a:off x="5924550" y="5638800"/>
            <a:ext cx="23622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바꿔 나란히 운전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8524875" y="4914900"/>
            <a:ext cx="236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8" name="Shape 46"/>
          <p:cNvSpPr/>
          <p:nvPr/>
        </p:nvSpPr>
        <p:spPr>
          <a:xfrm>
            <a:off x="9658350" y="5248275"/>
            <a:ext cx="95250" cy="95250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524875" y="5429250"/>
            <a:ext cx="23622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163" dirty="0"/>
          </a:p>
        </p:txBody>
      </p:sp>
      <p:sp>
        <p:nvSpPr>
          <p:cNvPr id="50" name="Text 48"/>
          <p:cNvSpPr txBox="1"/>
          <p:nvPr/>
        </p:nvSpPr>
        <p:spPr>
          <a:xfrm>
            <a:off x="8524875" y="5638800"/>
            <a:ext cx="23622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부분을 분리한 뒤 확대</a:t>
            </a:r>
            <a:endParaRPr lang="en-US" sz="863" dirty="0"/>
          </a:p>
        </p:txBody>
      </p:sp>
      <p:sp>
        <p:nvSpPr>
          <p:cNvPr id="51" name="Shape 4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배우는 부분은 그대로 옮겨집니다 — 사업소마다 바꿀 것은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4개가 하던 일이,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화면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들어왔습니다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6개입니다. 날짜·시각을 넣고 실행하면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 ~ 40℃ 61행 신고값 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그대로 나옵니다.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19175" y="2343150"/>
            <a:ext cx="42576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산정 화면  ·  입력 4칸 → 61행 신고값 표</a:t>
            </a:r>
            <a:endParaRPr lang="en-US" sz="788" dirty="0"/>
          </a:p>
        </p:txBody>
      </p:sp>
      <p:sp>
        <p:nvSpPr>
          <p:cNvPr id="7" name="Text 5"/>
          <p:cNvSpPr txBox="1"/>
          <p:nvPr/>
        </p:nvSpPr>
        <p:spPr>
          <a:xfrm>
            <a:off x="5657850" y="2343150"/>
            <a:ext cx="55149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출력곡선 비교  ·  이론값 vs 모델 + 실측 40회</a:t>
            </a:r>
            <a:endParaRPr lang="en-US" sz="788" dirty="0"/>
          </a:p>
        </p:txBody>
      </p:sp>
      <p:pic>
        <p:nvPicPr>
          <p:cNvPr id="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175" y="2495550"/>
            <a:ext cx="4257675" cy="2857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09650" y="2486025"/>
            <a:ext cx="42767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pic>
        <p:nvPicPr>
          <p:cNvPr id="10" name="Image 1" descr="/home/user/Narae-AI/docs/ppt/assets/tool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495550"/>
            <a:ext cx="5514975" cy="28575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648325" y="2486025"/>
            <a:ext cx="55340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5467350"/>
            <a:ext cx="10820400" cy="476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55626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탭 6개</a:t>
            </a:r>
            <a:endParaRPr lang="en-US" sz="788" dirty="0"/>
          </a:p>
        </p:txBody>
      </p:sp>
      <p:sp>
        <p:nvSpPr>
          <p:cNvPr id="14" name="Text 10"/>
          <p:cNvSpPr txBox="1"/>
          <p:nvPr/>
        </p:nvSpPr>
        <p:spPr>
          <a:xfrm>
            <a:off x="1676400" y="55435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· 온도 구간별 보정값 현황 · Test 결과 List-up · 출력 시뮬레이션 · 출력곡선 비교 · 모델 선정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57531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 순서</a:t>
            </a:r>
            <a:endParaRPr lang="en-US" sz="788" dirty="0"/>
          </a:p>
        </p:txBody>
      </p:sp>
      <p:sp>
        <p:nvSpPr>
          <p:cNvPr id="16" name="Text 12"/>
          <p:cNvSpPr txBox="1"/>
          <p:nvPr/>
        </p:nvSpPr>
        <p:spPr>
          <a:xfrm>
            <a:off x="1676400" y="57340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날짜·시각 입력 → ② 실행 → ③ 곡선·표 확인 → ④ 엑셀로 저장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9" name="Text 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화면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사람이 손으로 옮겨 적는 칸은 없습니다.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990600"/>
            <a:ext cx="6667500" cy="696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81"/>
              </a:lnSpc>
              <a:buNone/>
            </a:pPr>
            <a:r>
              <a:rPr lang="en-US" sz="4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71650"/>
            <a:ext cx="857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숫자가, 이제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 위에서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정해집니다.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2381250"/>
            <a:ext cx="10820400" cy="2857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495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누적 40회 실적으로 학습한 곡선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1428750" y="47682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7015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28750" y="44862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4196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428750" y="42043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1376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428750" y="392239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5572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8750" y="364045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57378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428750" y="33585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2918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428750" y="30765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0099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428750" y="27946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27279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428750" y="48387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2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0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3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0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23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1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14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1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04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95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72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 flipV="1">
            <a:off x="1428750" y="3156787"/>
            <a:ext cx="381000" cy="1748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1809750" y="3143113"/>
            <a:ext cx="381000" cy="1367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2190750" y="3133809"/>
            <a:ext cx="381000" cy="93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2571750" y="3105333"/>
            <a:ext cx="381000" cy="2847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2952750" y="3071077"/>
            <a:ext cx="381000" cy="342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333750" y="3071077"/>
            <a:ext cx="381000" cy="2368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3714750" y="3094760"/>
            <a:ext cx="381000" cy="25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095750" y="3120558"/>
            <a:ext cx="381000" cy="2889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476750" y="3149456"/>
            <a:ext cx="381000" cy="3284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7750" y="3182303"/>
            <a:ext cx="381000" cy="360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238750" y="3218391"/>
            <a:ext cx="381000" cy="3989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619750" y="3258285"/>
            <a:ext cx="381000" cy="5356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000750" y="3311854"/>
            <a:ext cx="381000" cy="5850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6381750" y="3370356"/>
            <a:ext cx="381000" cy="616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762750" y="3431960"/>
            <a:ext cx="381000" cy="6710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7143750" y="3499062"/>
            <a:ext cx="381000" cy="7302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7524750" y="3572085"/>
            <a:ext cx="381000" cy="7880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7905750" y="3650887"/>
            <a:ext cx="381000" cy="6357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286750" y="3714464"/>
            <a:ext cx="381000" cy="8867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667750" y="3803134"/>
            <a:ext cx="381000" cy="9586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048750" y="3898994"/>
            <a:ext cx="381000" cy="10586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429750" y="4004862"/>
            <a:ext cx="381000" cy="11432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9810750" y="4119189"/>
            <a:ext cx="381000" cy="11968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10191750" y="4238873"/>
            <a:ext cx="381000" cy="121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0572750" y="4360671"/>
            <a:ext cx="381000" cy="13378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 flipV="1">
            <a:off x="1428750" y="3033015"/>
            <a:ext cx="381000" cy="1748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09750" y="3019341"/>
            <a:ext cx="381000" cy="1367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2190750" y="3010037"/>
            <a:ext cx="381000" cy="930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2571750" y="2981561"/>
            <a:ext cx="381000" cy="2847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2952750" y="2965632"/>
            <a:ext cx="381000" cy="1593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33750" y="2965632"/>
            <a:ext cx="381000" cy="2452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714750" y="2990160"/>
            <a:ext cx="381000" cy="4130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95750" y="3031465"/>
            <a:ext cx="381000" cy="414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76750" y="3072910"/>
            <a:ext cx="381000" cy="384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57750" y="3111395"/>
            <a:ext cx="381000" cy="3411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38750" y="3145509"/>
            <a:ext cx="381000" cy="3326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19750" y="3178778"/>
            <a:ext cx="381000" cy="4807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00750" y="3226849"/>
            <a:ext cx="381000" cy="599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381750" y="3286761"/>
            <a:ext cx="381000" cy="7386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762750" y="3360630"/>
            <a:ext cx="381000" cy="9008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143750" y="3450709"/>
            <a:ext cx="381000" cy="10206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524750" y="3552772"/>
            <a:ext cx="381000" cy="1072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905750" y="3660050"/>
            <a:ext cx="381000" cy="840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286750" y="3744068"/>
            <a:ext cx="381000" cy="9656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667750" y="3840632"/>
            <a:ext cx="381000" cy="906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48750" y="3931276"/>
            <a:ext cx="381000" cy="9106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429750" y="4022343"/>
            <a:ext cx="381000" cy="9543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810750" y="4117779"/>
            <a:ext cx="381000" cy="1023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191750" y="4220124"/>
            <a:ext cx="381000" cy="11094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572750" y="4331067"/>
            <a:ext cx="381000" cy="13364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943225" y="289427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89" name="Shape 87"/>
          <p:cNvSpPr/>
          <p:nvPr/>
        </p:nvSpPr>
        <p:spPr>
          <a:xfrm>
            <a:off x="3028950" y="290094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0" name="Shape 88"/>
          <p:cNvSpPr/>
          <p:nvPr/>
        </p:nvSpPr>
        <p:spPr>
          <a:xfrm>
            <a:off x="3667125" y="2942371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1" name="Shape 89"/>
          <p:cNvSpPr/>
          <p:nvPr/>
        </p:nvSpPr>
        <p:spPr>
          <a:xfrm>
            <a:off x="4048125" y="301144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2" name="Shape 90"/>
          <p:cNvSpPr/>
          <p:nvPr/>
        </p:nvSpPr>
        <p:spPr>
          <a:xfrm>
            <a:off x="4448175" y="304427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8675" y="308356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4" name="Shape 92"/>
          <p:cNvSpPr/>
          <p:nvPr/>
        </p:nvSpPr>
        <p:spPr>
          <a:xfrm>
            <a:off x="4829175" y="308954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5" name="Shape 93"/>
          <p:cNvSpPr/>
          <p:nvPr/>
        </p:nvSpPr>
        <p:spPr>
          <a:xfrm>
            <a:off x="5000625" y="306577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6" name="Shape 94"/>
          <p:cNvSpPr/>
          <p:nvPr/>
        </p:nvSpPr>
        <p:spPr>
          <a:xfrm>
            <a:off x="5114925" y="3138263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7" name="Shape 95"/>
          <p:cNvSpPr/>
          <p:nvPr/>
        </p:nvSpPr>
        <p:spPr>
          <a:xfrm>
            <a:off x="5438775" y="3157195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8" name="Shape 96"/>
          <p:cNvSpPr/>
          <p:nvPr/>
        </p:nvSpPr>
        <p:spPr>
          <a:xfrm>
            <a:off x="5724525" y="3161565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9" name="Shape 97"/>
          <p:cNvSpPr/>
          <p:nvPr/>
        </p:nvSpPr>
        <p:spPr>
          <a:xfrm>
            <a:off x="5781675" y="3185671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838825" y="319194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048375" y="317965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067425" y="319854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181725" y="326300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467475" y="326613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86525" y="326138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362825" y="350659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86725" y="371562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24825" y="373218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143875" y="3694051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201025" y="369575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524875" y="3812227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772525" y="384300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058275" y="3893045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058275" y="3877171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153525" y="3919040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191625" y="391829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344025" y="398859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477375" y="398502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534525" y="401210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553575" y="3946529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553575" y="3956679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9553575" y="399789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705975" y="408105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744075" y="4123418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896475" y="4080196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82225" y="4180694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525125" y="4312022"/>
            <a:ext cx="57150" cy="5715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67500" y="2714625"/>
            <a:ext cx="2286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29" name="Text 127"/>
          <p:cNvSpPr txBox="1"/>
          <p:nvPr/>
        </p:nvSpPr>
        <p:spPr>
          <a:xfrm>
            <a:off x="697230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(보정 없음)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8858250" y="2714625"/>
            <a:ext cx="22860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16305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692265" y="287274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858000" y="28384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테스트 40회</a:t>
            </a:r>
            <a:endParaRPr lang="en-US" sz="900" dirty="0"/>
          </a:p>
        </p:txBody>
      </p:sp>
      <p:sp>
        <p:nvSpPr>
          <p:cNvPr id="134" name="Text 132"/>
          <p:cNvSpPr txBox="1"/>
          <p:nvPr/>
        </p:nvSpPr>
        <p:spPr>
          <a:xfrm>
            <a:off x="685800" y="5410200"/>
            <a:ext cx="108204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데이터가 만들어 내는 값입니다.</a:t>
            </a:r>
            <a:endParaRPr lang="en-US" sz="1125" dirty="0"/>
          </a:p>
        </p:txBody>
      </p:sp>
      <p:sp>
        <p:nvSpPr>
          <p:cNvPr id="135" name="Shape 133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2026-09-07T03:08:35Z</dcterms:created>
  <dcterms:modified xsi:type="dcterms:W3CDTF">2026-09-07T03:08:35Z</dcterms:modified>
</cp:coreProperties>
</file>