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5270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7655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정한 값을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28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MW ·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383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28900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242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38300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002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5908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0861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24910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38220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02689"/>
            <a:ext cx="1352550" cy="28603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1988725"/>
            <a:ext cx="1352550" cy="21545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04180"/>
            <a:ext cx="1352550" cy="7082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6458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5062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6608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87435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07464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0306050" y="2960084"/>
            <a:ext cx="6286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515100" y="3695700"/>
            <a:ext cx="47625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에서 5.0 MW 모자라고,  30℃ 에서 4.7 MW 넘칩니다</a:t>
            </a:r>
            <a:endParaRPr lang="en-US" sz="1013" dirty="0"/>
          </a:p>
        </p:txBody>
      </p:sp>
      <p:sp>
        <p:nvSpPr>
          <p:cNvPr id="37" name="Text 35"/>
          <p:cNvSpPr txBox="1"/>
          <p:nvPr/>
        </p:nvSpPr>
        <p:spPr>
          <a:xfrm>
            <a:off x="6515100" y="3905250"/>
            <a:ext cx="48387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+2.5 MW = 누적 40회 보정값의 평균 (온도를 안 보고 하나로 맞출 때 오차 최소)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685800" y="45720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(MAE · 평균 몇 MW 틀렸나)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405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0005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(실제 &lt; 신고값)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40005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4050" dirty="0"/>
          </a:p>
        </p:txBody>
      </p:sp>
      <p:sp>
        <p:nvSpPr>
          <p:cNvPr id="44" name="Text 42"/>
          <p:cNvSpPr txBox="1"/>
          <p:nvPr/>
        </p:nvSpPr>
        <p:spPr>
          <a:xfrm>
            <a:off x="40005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회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3152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(높게 신고한 양)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73152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40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7719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0866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정한 값을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 입력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끝나고, 신고 숫자는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MAE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값을 미리 계산했을 때 실제와 벌어진 폭의 평균입니다. 작을수록 좋습니다.</a:t>
            </a:r>
            <a:endParaRPr lang="en-US" sz="938" dirty="0"/>
          </a:p>
        </p:txBody>
      </p:sp>
      <p:sp>
        <p:nvSpPr>
          <p:cNvPr id="12" name="Shape 10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4" name="Text 12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448175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출력이 신고값에 못 미친 횟수입니다. 40회 중 몇 번이었나.</a:t>
            </a:r>
            <a:endParaRPr lang="en-US" sz="938" dirty="0"/>
          </a:p>
        </p:txBody>
      </p:sp>
      <p:sp>
        <p:nvSpPr>
          <p:cNvPr id="18" name="Shape 16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821055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동안 실제보다 높게 신고한 양을 모두 더한 값입니다.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엑셀 4개  ·  사람의 판단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무관한 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손으로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순서대로 돌려 만들었습니다.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도구 1개  ·  데이터의 학습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바로 나옵니다.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905500"/>
            <a:ext cx="108204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누적 40회 실적에 종전 방식과 현재 도구를 각각 적용해 채점한 재현값입니다 (한 회를 가리고 나머지로 예측 · LOOCV, 미달은 ±0.5% 밴드). 실제 신고 이력이 아닙니다.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한 번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숫자는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손실입니다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구분 없이 하나의 값으로 신고하면,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방식인데도 계절에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어느 쪽으로든 어긋납니다.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133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종전 신고(이론값 + 2.5 하나로) vs 실제 능력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428750" y="44943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4276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8750" y="4259873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193198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428750" y="4025412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958737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428750" y="37909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724275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428750" y="35564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489813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428750" y="332202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3255352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428750" y="308756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302089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428750" y="455295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28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200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333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105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238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10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143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15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048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820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953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725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428750" y="3293071"/>
            <a:ext cx="386715" cy="7414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3" name="Shape 41"/>
          <p:cNvSpPr/>
          <p:nvPr/>
        </p:nvSpPr>
        <p:spPr>
          <a:xfrm>
            <a:off x="1809750" y="3280117"/>
            <a:ext cx="386715" cy="7414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Shape 42"/>
          <p:cNvSpPr/>
          <p:nvPr/>
        </p:nvSpPr>
        <p:spPr>
          <a:xfrm>
            <a:off x="2190750" y="3270563"/>
            <a:ext cx="386715" cy="7414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5" name="Shape 43"/>
          <p:cNvSpPr/>
          <p:nvPr/>
        </p:nvSpPr>
        <p:spPr>
          <a:xfrm>
            <a:off x="2571750" y="3254854"/>
            <a:ext cx="386715" cy="7414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6" name="Shape 44"/>
          <p:cNvSpPr/>
          <p:nvPr/>
        </p:nvSpPr>
        <p:spPr>
          <a:xfrm>
            <a:off x="2952750" y="3236390"/>
            <a:ext cx="386715" cy="6652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7" name="Shape 45"/>
          <p:cNvSpPr/>
          <p:nvPr/>
        </p:nvSpPr>
        <p:spPr>
          <a:xfrm>
            <a:off x="3333750" y="3239965"/>
            <a:ext cx="386715" cy="5855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8" name="Shape 46"/>
          <p:cNvSpPr/>
          <p:nvPr/>
        </p:nvSpPr>
        <p:spPr>
          <a:xfrm>
            <a:off x="3714750" y="3267339"/>
            <a:ext cx="386715" cy="5175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Shape 47"/>
          <p:cNvSpPr/>
          <p:nvPr/>
        </p:nvSpPr>
        <p:spPr>
          <a:xfrm>
            <a:off x="4095750" y="3301746"/>
            <a:ext cx="386715" cy="40093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0" name="Shape 48"/>
          <p:cNvSpPr/>
          <p:nvPr/>
        </p:nvSpPr>
        <p:spPr>
          <a:xfrm>
            <a:off x="4476750" y="3334981"/>
            <a:ext cx="386715" cy="3253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1" name="Shape 49"/>
          <p:cNvSpPr/>
          <p:nvPr/>
        </p:nvSpPr>
        <p:spPr>
          <a:xfrm>
            <a:off x="4857750" y="3365168"/>
            <a:ext cx="386715" cy="3100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2" name="Shape 50"/>
          <p:cNvSpPr/>
          <p:nvPr/>
        </p:nvSpPr>
        <p:spPr>
          <a:xfrm>
            <a:off x="5238750" y="3393186"/>
            <a:ext cx="386715" cy="34583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3" name="Shape 51"/>
          <p:cNvSpPr/>
          <p:nvPr/>
        </p:nvSpPr>
        <p:spPr>
          <a:xfrm>
            <a:off x="5619750" y="3427007"/>
            <a:ext cx="386715" cy="3962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4" name="Shape 52"/>
          <p:cNvSpPr/>
          <p:nvPr/>
        </p:nvSpPr>
        <p:spPr>
          <a:xfrm>
            <a:off x="6000750" y="3471906"/>
            <a:ext cx="386715" cy="4132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Shape 53"/>
          <p:cNvSpPr/>
          <p:nvPr/>
        </p:nvSpPr>
        <p:spPr>
          <a:xfrm>
            <a:off x="6381750" y="3527532"/>
            <a:ext cx="386715" cy="3563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6" name="Shape 54"/>
          <p:cNvSpPr/>
          <p:nvPr/>
        </p:nvSpPr>
        <p:spPr>
          <a:xfrm>
            <a:off x="6762750" y="3595702"/>
            <a:ext cx="386715" cy="2098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7" name="Shape 55"/>
          <p:cNvSpPr/>
          <p:nvPr/>
        </p:nvSpPr>
        <p:spPr>
          <a:xfrm>
            <a:off x="7143750" y="3674950"/>
            <a:ext cx="386715" cy="571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8" name="Shape 56"/>
          <p:cNvSpPr/>
          <p:nvPr/>
        </p:nvSpPr>
        <p:spPr>
          <a:xfrm>
            <a:off x="7524750" y="3738079"/>
            <a:ext cx="386715" cy="2456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905750" y="3797280"/>
            <a:ext cx="386715" cy="44899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8286750" y="3860585"/>
            <a:ext cx="386715" cy="56681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8667750" y="3937313"/>
            <a:ext cx="386715" cy="5779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8750" y="4021191"/>
            <a:ext cx="386715" cy="49471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9429750" y="4112748"/>
            <a:ext cx="386715" cy="35462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9810750" y="4210050"/>
            <a:ext cx="386715" cy="20398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91750" y="4310458"/>
            <a:ext cx="386715" cy="867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10572750" y="4416728"/>
            <a:ext cx="386715" cy="571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7" name="Shape 65"/>
          <p:cNvSpPr/>
          <p:nvPr/>
        </p:nvSpPr>
        <p:spPr>
          <a:xfrm flipV="1">
            <a:off x="1428750" y="3359951"/>
            <a:ext cx="381000" cy="1453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 flipV="1">
            <a:off x="1809750" y="3348580"/>
            <a:ext cx="381000" cy="1137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 flipV="1">
            <a:off x="2190750" y="3340842"/>
            <a:ext cx="381000" cy="773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V="1">
            <a:off x="2571750" y="3317162"/>
            <a:ext cx="381000" cy="2368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2952750" y="3288675"/>
            <a:ext cx="381000" cy="2848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3333750" y="3288675"/>
            <a:ext cx="381000" cy="1969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3714750" y="3308370"/>
            <a:ext cx="381000" cy="2145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4095750" y="3329823"/>
            <a:ext cx="381000" cy="2403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4476750" y="3353855"/>
            <a:ext cx="381000" cy="2731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6" name="Shape 74"/>
          <p:cNvSpPr/>
          <p:nvPr/>
        </p:nvSpPr>
        <p:spPr>
          <a:xfrm>
            <a:off x="4857750" y="3381170"/>
            <a:ext cx="381000" cy="3001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5238750" y="3411181"/>
            <a:ext cx="381000" cy="3317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5619750" y="3444357"/>
            <a:ext cx="381000" cy="4454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6000750" y="3488905"/>
            <a:ext cx="381000" cy="4865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6381750" y="3537556"/>
            <a:ext cx="381000" cy="5123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1" name="Shape 79"/>
          <p:cNvSpPr/>
          <p:nvPr/>
        </p:nvSpPr>
        <p:spPr>
          <a:xfrm>
            <a:off x="6762750" y="3588786"/>
            <a:ext cx="381000" cy="5580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>
            <a:off x="7143750" y="3644587"/>
            <a:ext cx="381000" cy="6072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3" name="Shape 81"/>
          <p:cNvSpPr/>
          <p:nvPr/>
        </p:nvSpPr>
        <p:spPr>
          <a:xfrm>
            <a:off x="7524750" y="3705313"/>
            <a:ext cx="381000" cy="6553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7905750" y="3770845"/>
            <a:ext cx="381000" cy="5287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5" name="Shape 83"/>
          <p:cNvSpPr/>
          <p:nvPr/>
        </p:nvSpPr>
        <p:spPr>
          <a:xfrm>
            <a:off x="8286750" y="3823716"/>
            <a:ext cx="381000" cy="7373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6" name="Shape 84"/>
          <p:cNvSpPr/>
          <p:nvPr/>
        </p:nvSpPr>
        <p:spPr>
          <a:xfrm>
            <a:off x="8667750" y="3897454"/>
            <a:ext cx="381000" cy="7971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7" name="Shape 85"/>
          <p:cNvSpPr/>
          <p:nvPr/>
        </p:nvSpPr>
        <p:spPr>
          <a:xfrm>
            <a:off x="9048750" y="3977171"/>
            <a:ext cx="381000" cy="880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>
            <a:off x="9429750" y="4065211"/>
            <a:ext cx="381000" cy="9507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9" name="Shape 87"/>
          <p:cNvSpPr/>
          <p:nvPr/>
        </p:nvSpPr>
        <p:spPr>
          <a:xfrm>
            <a:off x="9810750" y="4160286"/>
            <a:ext cx="381000" cy="9952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>
            <a:off x="10191750" y="4259814"/>
            <a:ext cx="381000" cy="10128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10572750" y="4361102"/>
            <a:ext cx="381000" cy="11125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V="1">
            <a:off x="1428750" y="3285803"/>
            <a:ext cx="381000" cy="1453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1809750" y="3274431"/>
            <a:ext cx="381000" cy="1137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2190750" y="3266694"/>
            <a:ext cx="381000" cy="773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2571750" y="3243013"/>
            <a:ext cx="381000" cy="2368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2952750" y="3229766"/>
            <a:ext cx="381000" cy="1324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333750" y="3229766"/>
            <a:ext cx="381000" cy="2039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714750" y="3250164"/>
            <a:ext cx="381000" cy="343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095750" y="3284513"/>
            <a:ext cx="381000" cy="3446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476750" y="3318979"/>
            <a:ext cx="381000" cy="3200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857750" y="3350983"/>
            <a:ext cx="381000" cy="2837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238750" y="3379353"/>
            <a:ext cx="381000" cy="2766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619750" y="3407019"/>
            <a:ext cx="381000" cy="3997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000750" y="3446995"/>
            <a:ext cx="381000" cy="4982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381750" y="3496818"/>
            <a:ext cx="381000" cy="6142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762750" y="3558247"/>
            <a:ext cx="381000" cy="7491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143750" y="3633157"/>
            <a:ext cx="381000" cy="8487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24750" y="3718032"/>
            <a:ext cx="381000" cy="89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05750" y="3807245"/>
            <a:ext cx="381000" cy="6987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286750" y="3877115"/>
            <a:ext cx="381000" cy="803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67750" y="3957418"/>
            <a:ext cx="381000" cy="753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48750" y="4032797"/>
            <a:ext cx="381000" cy="7573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429750" y="4108528"/>
            <a:ext cx="381000" cy="7936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810750" y="4187893"/>
            <a:ext cx="381000" cy="8511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191750" y="4273003"/>
            <a:ext cx="381000" cy="9226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572750" y="4365264"/>
            <a:ext cx="381000" cy="1111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467100" y="3183021"/>
            <a:ext cx="2476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 — 0℃ 에서 5.0 MW 못 팜</a:t>
            </a:r>
            <a:endParaRPr lang="en-US" sz="938" dirty="0"/>
          </a:p>
        </p:txBody>
      </p:sp>
      <p:sp>
        <p:nvSpPr>
          <p:cNvPr id="118" name="Text 116"/>
          <p:cNvSpPr txBox="1"/>
          <p:nvPr/>
        </p:nvSpPr>
        <p:spPr>
          <a:xfrm>
            <a:off x="6057900" y="3851236"/>
            <a:ext cx="2476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 — 28℃ 에서 5.1 MW 미달</a:t>
            </a:r>
            <a:endParaRPr lang="en-US" sz="938" dirty="0"/>
          </a:p>
        </p:txBody>
      </p:sp>
      <p:sp>
        <p:nvSpPr>
          <p:cNvPr id="119" name="Shape 117"/>
          <p:cNvSpPr/>
          <p:nvPr/>
        </p:nvSpPr>
        <p:spPr>
          <a:xfrm>
            <a:off x="1428750" y="3028950"/>
            <a:ext cx="24765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20" name="Text 118"/>
          <p:cNvSpPr txBox="1"/>
          <p:nvPr/>
        </p:nvSpPr>
        <p:spPr>
          <a:xfrm>
            <a:off x="1752600" y="296227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신고 (하나의 값)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4000500" y="3028950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4324350" y="296227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능력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685800" y="4953000"/>
            <a:ext cx="108204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096000" y="5143500"/>
            <a:ext cx="0" cy="609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4400" y="50673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신고한 양 누계</a:t>
            </a:r>
            <a:endParaRPr lang="en-US" sz="788" dirty="0"/>
          </a:p>
        </p:txBody>
      </p:sp>
      <p:sp>
        <p:nvSpPr>
          <p:cNvPr id="126" name="Text 124"/>
          <p:cNvSpPr txBox="1"/>
          <p:nvPr/>
        </p:nvSpPr>
        <p:spPr>
          <a:xfrm>
            <a:off x="914400" y="5238750"/>
            <a:ext cx="94107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75.5</a:t>
            </a:r>
            <a:endParaRPr lang="en-US" sz="3000" dirty="0"/>
          </a:p>
        </p:txBody>
      </p:sp>
      <p:sp>
        <p:nvSpPr>
          <p:cNvPr id="127" name="Text 125"/>
          <p:cNvSpPr txBox="1"/>
          <p:nvPr/>
        </p:nvSpPr>
        <p:spPr>
          <a:xfrm>
            <a:off x="1912620" y="542925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125" dirty="0"/>
          </a:p>
        </p:txBody>
      </p:sp>
      <p:sp>
        <p:nvSpPr>
          <p:cNvPr id="128" name="Text 126"/>
          <p:cNvSpPr txBox="1"/>
          <p:nvPr/>
        </p:nvSpPr>
        <p:spPr>
          <a:xfrm>
            <a:off x="914400" y="57150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못 판 양 — 겨울에 몰립니다</a:t>
            </a:r>
            <a:endParaRPr lang="en-US" sz="1125" dirty="0"/>
          </a:p>
        </p:txBody>
      </p:sp>
      <p:sp>
        <p:nvSpPr>
          <p:cNvPr id="129" name="Text 127"/>
          <p:cNvSpPr txBox="1"/>
          <p:nvPr/>
        </p:nvSpPr>
        <p:spPr>
          <a:xfrm>
            <a:off x="6324600" y="50673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0" name="Text 128"/>
          <p:cNvSpPr txBox="1"/>
          <p:nvPr/>
        </p:nvSpPr>
        <p:spPr>
          <a:xfrm>
            <a:off x="6324600" y="5238750"/>
            <a:ext cx="4800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3000" dirty="0"/>
          </a:p>
        </p:txBody>
      </p:sp>
      <p:sp>
        <p:nvSpPr>
          <p:cNvPr id="131" name="Text 129"/>
          <p:cNvSpPr txBox="1"/>
          <p:nvPr/>
        </p:nvSpPr>
        <p:spPr>
          <a:xfrm>
            <a:off x="6861810" y="542925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125" dirty="0"/>
          </a:p>
        </p:txBody>
      </p:sp>
      <p:sp>
        <p:nvSpPr>
          <p:cNvPr id="132" name="Text 130"/>
          <p:cNvSpPr txBox="1"/>
          <p:nvPr/>
        </p:nvSpPr>
        <p:spPr>
          <a:xfrm>
            <a:off x="6324600" y="57150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중  ·  과대 신고 69.5 MW</a:t>
            </a:r>
            <a:endParaRPr lang="en-US" sz="1125" dirty="0"/>
          </a:p>
        </p:txBody>
      </p:sp>
      <p:sp>
        <p:nvSpPr>
          <p:cNvPr id="133" name="Shape 1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35" name="Text 1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MW 더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여름엔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MW 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차이를 온도 축에 찍으면, 흩어진 게 아니라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 줄줄이 내려갑니다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38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7239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 하나가 테스트 1회  ·  누적 40회  ·  가로 외기온도 ℃ / 세로 = 실제 − 이론값 (MW)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572500" y="3904345"/>
            <a:ext cx="2667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05484" y="3176540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5212" y="3217088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32076" y="3533327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36901" y="3813648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48965" y="383756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2805" y="387674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36645" y="39130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6101" y="37685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2405" y="398989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16933" y="386242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2693" y="388900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5845" y="370983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28997" y="374798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197221" y="367323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1605" y="378810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67909" y="382436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3669" y="384339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58053" y="381450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79717" y="407888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06309" y="44841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5077" y="458491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79461" y="43530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2613" y="436340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67141" y="45324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66988" y="4702445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49893" y="444098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9893" y="43444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1813" y="459906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0581" y="459451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5653" y="437823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86341" y="435654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59493" y="452122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3877" y="41224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3877" y="41841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3877" y="443481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78949" y="42452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27717" y="450287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2789" y="424004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88549" y="41233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27461" y="418132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실제가 더 나오고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382000" y="4476750"/>
            <a:ext cx="2857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실제가 덜 나옵니다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914400" y="5200650"/>
            <a:ext cx="103632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이론값은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표준 성능 곡선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우리 설비의 실제 특성과 온도에 따라 어긋나고, 그 차이가 저온 (+) · 고온 (−) 로 남습니다.</a:t>
            </a:r>
            <a:endParaRPr lang="en-US" sz="938" dirty="0"/>
          </a:p>
        </p:txBody>
      </p:sp>
      <p:sp>
        <p:nvSpPr>
          <p:cNvPr id="79" name="Shape 77"/>
          <p:cNvSpPr/>
          <p:nvPr/>
        </p:nvSpPr>
        <p:spPr>
          <a:xfrm>
            <a:off x="685800" y="5429250"/>
            <a:ext cx="108204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14400" y="5543550"/>
            <a:ext cx="4191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담당자가 손으로 정한 값 16회  ·  전부 정수 하나</a:t>
            </a:r>
            <a:endParaRPr lang="en-US" sz="788" dirty="0"/>
          </a:p>
        </p:txBody>
      </p:sp>
      <p:sp>
        <p:nvSpPr>
          <p:cNvPr id="81" name="Text 79"/>
          <p:cNvSpPr txBox="1"/>
          <p:nvPr/>
        </p:nvSpPr>
        <p:spPr>
          <a:xfrm>
            <a:off x="533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2" name="Text 80"/>
          <p:cNvSpPr txBox="1"/>
          <p:nvPr/>
        </p:nvSpPr>
        <p:spPr>
          <a:xfrm>
            <a:off x="533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3" name="Text 81"/>
          <p:cNvSpPr txBox="1"/>
          <p:nvPr/>
        </p:nvSpPr>
        <p:spPr>
          <a:xfrm>
            <a:off x="571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4" name="Text 82"/>
          <p:cNvSpPr txBox="1"/>
          <p:nvPr/>
        </p:nvSpPr>
        <p:spPr>
          <a:xfrm>
            <a:off x="571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5" name="Text 83"/>
          <p:cNvSpPr txBox="1"/>
          <p:nvPr/>
        </p:nvSpPr>
        <p:spPr>
          <a:xfrm>
            <a:off x="609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6" name="Text 84"/>
          <p:cNvSpPr txBox="1"/>
          <p:nvPr/>
        </p:nvSpPr>
        <p:spPr>
          <a:xfrm>
            <a:off x="609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7" name="Text 85"/>
          <p:cNvSpPr txBox="1"/>
          <p:nvPr/>
        </p:nvSpPr>
        <p:spPr>
          <a:xfrm>
            <a:off x="647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8" name="Text 86"/>
          <p:cNvSpPr txBox="1"/>
          <p:nvPr/>
        </p:nvSpPr>
        <p:spPr>
          <a:xfrm>
            <a:off x="647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89" name="Text 87"/>
          <p:cNvSpPr txBox="1"/>
          <p:nvPr/>
        </p:nvSpPr>
        <p:spPr>
          <a:xfrm>
            <a:off x="685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0" name="Text 88"/>
          <p:cNvSpPr txBox="1"/>
          <p:nvPr/>
        </p:nvSpPr>
        <p:spPr>
          <a:xfrm>
            <a:off x="685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1" name="Text 89"/>
          <p:cNvSpPr txBox="1"/>
          <p:nvPr/>
        </p:nvSpPr>
        <p:spPr>
          <a:xfrm>
            <a:off x="723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2" name="Text 90"/>
          <p:cNvSpPr txBox="1"/>
          <p:nvPr/>
        </p:nvSpPr>
        <p:spPr>
          <a:xfrm>
            <a:off x="723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3" name="Text 91"/>
          <p:cNvSpPr txBox="1"/>
          <p:nvPr/>
        </p:nvSpPr>
        <p:spPr>
          <a:xfrm>
            <a:off x="7620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4" name="Text 92"/>
          <p:cNvSpPr txBox="1"/>
          <p:nvPr/>
        </p:nvSpPr>
        <p:spPr>
          <a:xfrm>
            <a:off x="7620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5" name="Text 93"/>
          <p:cNvSpPr txBox="1"/>
          <p:nvPr/>
        </p:nvSpPr>
        <p:spPr>
          <a:xfrm>
            <a:off x="8001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6" name="Text 94"/>
          <p:cNvSpPr txBox="1"/>
          <p:nvPr/>
        </p:nvSpPr>
        <p:spPr>
          <a:xfrm>
            <a:off x="8001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7" name="Text 95"/>
          <p:cNvSpPr txBox="1"/>
          <p:nvPr/>
        </p:nvSpPr>
        <p:spPr>
          <a:xfrm>
            <a:off x="8382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8" name="Text 96"/>
          <p:cNvSpPr txBox="1"/>
          <p:nvPr/>
        </p:nvSpPr>
        <p:spPr>
          <a:xfrm>
            <a:off x="8382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99" name="Text 97"/>
          <p:cNvSpPr txBox="1"/>
          <p:nvPr/>
        </p:nvSpPr>
        <p:spPr>
          <a:xfrm>
            <a:off x="8763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100" name="Text 98"/>
          <p:cNvSpPr txBox="1"/>
          <p:nvPr/>
        </p:nvSpPr>
        <p:spPr>
          <a:xfrm>
            <a:off x="8763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1" name="Text 99"/>
          <p:cNvSpPr txBox="1"/>
          <p:nvPr/>
        </p:nvSpPr>
        <p:spPr>
          <a:xfrm>
            <a:off x="914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2" name="Text 100"/>
          <p:cNvSpPr txBox="1"/>
          <p:nvPr/>
        </p:nvSpPr>
        <p:spPr>
          <a:xfrm>
            <a:off x="914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3" name="Text 101"/>
          <p:cNvSpPr txBox="1"/>
          <p:nvPr/>
        </p:nvSpPr>
        <p:spPr>
          <a:xfrm>
            <a:off x="952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4" name="Text 102"/>
          <p:cNvSpPr txBox="1"/>
          <p:nvPr/>
        </p:nvSpPr>
        <p:spPr>
          <a:xfrm>
            <a:off x="952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5" name="Text 103"/>
          <p:cNvSpPr txBox="1"/>
          <p:nvPr/>
        </p:nvSpPr>
        <p:spPr>
          <a:xfrm>
            <a:off x="990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6" name="Text 104"/>
          <p:cNvSpPr txBox="1"/>
          <p:nvPr/>
        </p:nvSpPr>
        <p:spPr>
          <a:xfrm>
            <a:off x="990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7" name="Text 105"/>
          <p:cNvSpPr txBox="1"/>
          <p:nvPr/>
        </p:nvSpPr>
        <p:spPr>
          <a:xfrm>
            <a:off x="1028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8" name="Text 106"/>
          <p:cNvSpPr txBox="1"/>
          <p:nvPr/>
        </p:nvSpPr>
        <p:spPr>
          <a:xfrm>
            <a:off x="1028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09" name="Text 107"/>
          <p:cNvSpPr txBox="1"/>
          <p:nvPr/>
        </p:nvSpPr>
        <p:spPr>
          <a:xfrm>
            <a:off x="1066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10" name="Text 108"/>
          <p:cNvSpPr txBox="1"/>
          <p:nvPr/>
        </p:nvSpPr>
        <p:spPr>
          <a:xfrm>
            <a:off x="1066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1" name="Text 109"/>
          <p:cNvSpPr txBox="1"/>
          <p:nvPr/>
        </p:nvSpPr>
        <p:spPr>
          <a:xfrm>
            <a:off x="1104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2" name="Text 110"/>
          <p:cNvSpPr txBox="1"/>
          <p:nvPr/>
        </p:nvSpPr>
        <p:spPr>
          <a:xfrm>
            <a:off x="1104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3" name="Text 111"/>
          <p:cNvSpPr txBox="1"/>
          <p:nvPr/>
        </p:nvSpPr>
        <p:spPr>
          <a:xfrm>
            <a:off x="914400" y="573405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+5</a:t>
            </a:r>
            <a:endParaRPr lang="en-US" sz="975" dirty="0"/>
          </a:p>
        </p:txBody>
      </p:sp>
      <p:sp>
        <p:nvSpPr>
          <p:cNvPr id="114" name="Shape 11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6" name="Text 11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원인 규명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원인처럼 보이는 것이 넷이었는데,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걷어내니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남았습니다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세워 하나씩 확인했고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기각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 후보들이 서로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묶여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있었기 때문입니다.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43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5905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보정값과의 관련성  ·  상관계수 r  ·  0 에 가까우면 관계 없음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239000" y="2781300"/>
            <a:ext cx="4038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±0.31 — 이 선을 넘지 못하면 우연으로 봅니다 (n=40)</a:t>
            </a:r>
            <a:endParaRPr lang="en-US" sz="863" dirty="0"/>
          </a:p>
        </p:txBody>
      </p:sp>
      <p:sp>
        <p:nvSpPr>
          <p:cNvPr id="16" name="Shape 14"/>
          <p:cNvSpPr/>
          <p:nvPr/>
        </p:nvSpPr>
        <p:spPr>
          <a:xfrm>
            <a:off x="914400" y="3048000"/>
            <a:ext cx="171450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990850"/>
            <a:ext cx="1428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그냥 봤을 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24150" y="3048000"/>
            <a:ext cx="171450" cy="7620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52750" y="2990850"/>
            <a:ext cx="2000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온도를 직선으로 뺀 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239000" y="2990850"/>
            <a:ext cx="403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온도를 곡선(모델)으로 뺀 뒤  =  오른쪽 숫자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57500" y="3276600"/>
            <a:ext cx="0" cy="13144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9452" y="3276600"/>
            <a:ext cx="0" cy="1314450"/>
          </a:xfrm>
          <a:prstGeom prst="line">
            <a:avLst/>
          </a:prstGeom>
          <a:noFill/>
          <a:ln w="20320">
            <a:solidFill>
              <a:srgbClr val="FF4D63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914400" y="3305175"/>
            <a:ext cx="1809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2857500" y="3295650"/>
            <a:ext cx="512064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54340" y="3286125"/>
            <a:ext cx="666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-0.84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334500" y="3305175"/>
            <a:ext cx="1943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주된 원인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914400" y="354330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36195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857500" y="3581400"/>
            <a:ext cx="5017008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50708" y="35718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−0.82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2857500" y="3714750"/>
            <a:ext cx="88392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817620" y="37052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−0.14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9334500" y="36195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+0.00 → 사라짐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94335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857500" y="3905250"/>
            <a:ext cx="4474464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08164" y="38957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+0.73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857500" y="4038600"/>
            <a:ext cx="749808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83508" y="40290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+0.12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9334500" y="394335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−0.13 → 사라짐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42672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857500" y="4229100"/>
            <a:ext cx="4419600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353300" y="42195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−0.72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2857500" y="4362450"/>
            <a:ext cx="2481072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4772" y="43529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−0.41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9334500" y="42672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−0.24 → 사라짐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451485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온도와의 r  진공도 +0.95   ·   대기압 −0.83   ·   대습도 +0.67  — 후보들이 서로 온도에 묶여 있다</a:t>
            </a:r>
            <a:endParaRPr lang="en-US" sz="863" dirty="0"/>
          </a:p>
        </p:txBody>
      </p:sp>
      <p:sp>
        <p:nvSpPr>
          <p:cNvPr id="47" name="Shape 45"/>
          <p:cNvSpPr/>
          <p:nvPr/>
        </p:nvSpPr>
        <p:spPr>
          <a:xfrm>
            <a:off x="685800" y="4781550"/>
            <a:ext cx="10820400" cy="1162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4400" y="4876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무엇을 알았나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9144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9144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진공도·대기압은 온도의 그림자였습니다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144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에서 강해 보인 것은 이 둘이 온도를 따라가기 때문입니다. 온도를 빼면 사라집니다.</a:t>
            </a:r>
            <a:endParaRPr lang="en-US" sz="938" dirty="0"/>
          </a:p>
        </p:txBody>
      </p:sp>
      <p:sp>
        <p:nvSpPr>
          <p:cNvPr id="52" name="Shape 50"/>
          <p:cNvSpPr/>
          <p:nvPr/>
        </p:nvSpPr>
        <p:spPr>
          <a:xfrm>
            <a:off x="44196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4196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② 에서 남고 ③ 에서 사라졌습니다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44196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남고,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사라집니다 — 관계가 직선이 아니라는 뜻입니다.</a:t>
            </a:r>
            <a:endParaRPr lang="en-US" sz="938" dirty="0"/>
          </a:p>
        </p:txBody>
      </p:sp>
      <p:sp>
        <p:nvSpPr>
          <p:cNvPr id="55" name="Shape 53"/>
          <p:cNvSpPr/>
          <p:nvPr/>
        </p:nvSpPr>
        <p:spPr>
          <a:xfrm>
            <a:off x="79248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9248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남긴 오차는 설명되지 않습니다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79248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1.29 MW 남은 오차를 넷 중 어느 것도 설명하지 못했습니다. 진공도는 세 번 의심해 세 번 다 기각했습니다.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0" name="Text 5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그런데 그 관계가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직선이 아닙니다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곡선을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이론식은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둡니다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배우는 것은 이론값과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손대지 않는 부분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온도·대기압·습도·복수기 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(보정 없음)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이론식입니다. 데이터가 쌓여도 바뀌지 않습니다.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9243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39719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2672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26720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4196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데이터가 배우는 부분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6291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= 실제 − 이론값 − W(IGV)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다시 배웁니다. 실측 범위 밖은 끝값을 유지합니다(외삽 금지).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선정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점을 그대로 잇지 않았습니다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7가지를 겨뤄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곡선을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맞혀보는 방식(LOOCV)으로 40번 채점했습니다. 세 지표 모두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1위입니다.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62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096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LOOCV 채점 결과  ·  종전(온도 구분 없이 하나의 값)은 MAE 3.80 MW 였습니다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143750" y="2800350"/>
            <a:ext cx="413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MAE·RMSE 는 작을수록,  R² 는 1 에 가까울수록 좋습니다</a:t>
            </a:r>
            <a:endParaRPr lang="en-US" sz="863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285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순위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0670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산출 방식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3238500" y="30670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  (MW)  ·  1.30 ~ 1.48 구간 확대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8153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9296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914400" y="321945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766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1333500" y="32766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3238500" y="3295650"/>
            <a:ext cx="57150" cy="1047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37560" y="32766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938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1.678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296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0.854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4480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1333500" y="34480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Rational Quadratic</a:t>
            </a:r>
            <a:endParaRPr lang="en-US" sz="938" dirty="0"/>
          </a:p>
        </p:txBody>
      </p:sp>
      <p:sp>
        <p:nvSpPr>
          <p:cNvPr id="30" name="Shape 28"/>
          <p:cNvSpPr/>
          <p:nvPr/>
        </p:nvSpPr>
        <p:spPr>
          <a:xfrm>
            <a:off x="3238500" y="3467100"/>
            <a:ext cx="1143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29000" y="34480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9296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6195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333500" y="36195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3238500" y="3638550"/>
            <a:ext cx="2286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43300" y="3619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9296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37909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1333500" y="37909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3238500" y="3810000"/>
            <a:ext cx="50292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817620" y="37909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1.700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9296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0.850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39624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333500" y="39624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 (Matérn 1/2)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3238500" y="3981450"/>
            <a:ext cx="148590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00600" y="39624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1.739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9296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0.843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41338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333500" y="41338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 (거리가중 평균)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3238500" y="4152900"/>
            <a:ext cx="272034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0" y="41338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8153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1.794</a:t>
            </a:r>
            <a:endParaRPr lang="en-US" sz="938" dirty="0"/>
          </a:p>
        </p:txBody>
      </p:sp>
      <p:sp>
        <p:nvSpPr>
          <p:cNvPr id="57" name="Text 55"/>
          <p:cNvSpPr txBox="1"/>
          <p:nvPr/>
        </p:nvSpPr>
        <p:spPr>
          <a:xfrm>
            <a:off x="9296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914400" y="43053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333500" y="43053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 (온도 구간별 평균)</a:t>
            </a:r>
            <a:endParaRPr lang="en-US" sz="938" dirty="0"/>
          </a:p>
        </p:txBody>
      </p:sp>
      <p:sp>
        <p:nvSpPr>
          <p:cNvPr id="60" name="Shape 58"/>
          <p:cNvSpPr/>
          <p:nvPr/>
        </p:nvSpPr>
        <p:spPr>
          <a:xfrm>
            <a:off x="3238500" y="4324350"/>
            <a:ext cx="4000500" cy="1047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315200" y="43053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62" name="Text 60"/>
          <p:cNvSpPr txBox="1"/>
          <p:nvPr/>
        </p:nvSpPr>
        <p:spPr>
          <a:xfrm>
            <a:off x="8153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1.874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9296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0.818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449580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평균 오차  ·  RMSE 크게 틀린 경우에 벌점을 더 준 오차  ·  R² 설명력  ·  커널 점과 점 사이를 어떤 모양으로 이을지 정하는 규칙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685800" y="47625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4400" y="485775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커널별 보정 곡선  ·  0 ~ 30℃  ·  MW</a:t>
            </a:r>
            <a:endParaRPr lang="en-US" sz="788" dirty="0"/>
          </a:p>
        </p:txBody>
      </p:sp>
      <p:sp>
        <p:nvSpPr>
          <p:cNvPr id="67" name="Shape 65"/>
          <p:cNvSpPr/>
          <p:nvPr/>
        </p:nvSpPr>
        <p:spPr>
          <a:xfrm>
            <a:off x="1905000" y="504825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428750" y="49911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69" name="Shape 67"/>
          <p:cNvSpPr/>
          <p:nvPr/>
        </p:nvSpPr>
        <p:spPr>
          <a:xfrm>
            <a:off x="1905000" y="551815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428750" y="54610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71" name="Shape 69"/>
          <p:cNvSpPr/>
          <p:nvPr/>
        </p:nvSpPr>
        <p:spPr>
          <a:xfrm>
            <a:off x="1905000" y="57531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428750" y="569595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13" dirty="0"/>
          </a:p>
        </p:txBody>
      </p:sp>
      <p:sp>
        <p:nvSpPr>
          <p:cNvPr id="73" name="Text 71"/>
          <p:cNvSpPr txBox="1"/>
          <p:nvPr/>
        </p:nvSpPr>
        <p:spPr>
          <a:xfrm>
            <a:off x="1676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74" name="Text 72"/>
          <p:cNvSpPr txBox="1"/>
          <p:nvPr/>
        </p:nvSpPr>
        <p:spPr>
          <a:xfrm>
            <a:off x="3263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75" name="Text 73"/>
          <p:cNvSpPr txBox="1"/>
          <p:nvPr/>
        </p:nvSpPr>
        <p:spPr>
          <a:xfrm>
            <a:off x="4851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76" name="Text 74"/>
          <p:cNvSpPr txBox="1"/>
          <p:nvPr/>
        </p:nvSpPr>
        <p:spPr>
          <a:xfrm>
            <a:off x="6438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77" name="Shape 75"/>
          <p:cNvSpPr/>
          <p:nvPr/>
        </p:nvSpPr>
        <p:spPr>
          <a:xfrm>
            <a:off x="1905000" y="5073507"/>
            <a:ext cx="1587500" cy="14566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92500" y="5219176"/>
            <a:ext cx="1587500" cy="9809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080000" y="5317268"/>
            <a:ext cx="1587500" cy="34244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905000" y="5077619"/>
            <a:ext cx="1587500" cy="14038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92500" y="5218001"/>
            <a:ext cx="1587500" cy="10631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80000" y="5324316"/>
            <a:ext cx="1587500" cy="334216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05000" y="5077031"/>
            <a:ext cx="1587500" cy="155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92500" y="5232098"/>
            <a:ext cx="1587500" cy="10455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80000" y="5336651"/>
            <a:ext cx="1587500" cy="30543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05000" y="5071745"/>
            <a:ext cx="1587500" cy="147431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92500" y="5219176"/>
            <a:ext cx="1587500" cy="9632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80000" y="5315506"/>
            <a:ext cx="1587500" cy="343614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05000" y="5078794"/>
            <a:ext cx="1587500" cy="13568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92500" y="5214477"/>
            <a:ext cx="1587500" cy="102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080000" y="5316680"/>
            <a:ext cx="1587500" cy="3359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080000" y="5277406"/>
            <a:ext cx="0" cy="97346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048500" y="5143500"/>
            <a:ext cx="4229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바꾸면 곡선이 갈립니다 — 가장 벌어지는 곳은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20℃, 0.36 MW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눈으로는 고를 수 없어서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표로 채점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</a:t>
            </a:r>
            <a:endParaRPr lang="en-US" sz="97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곡선의 성격(길이척도·잡음)은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학습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커널은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곡선 비교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겉보기엔 같은 곡선인데,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확대하면 온도마다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본 그 점들입니다. 이제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 고른 곡선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그 점들을 따라 지나갑니다.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552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[출력곡선 비교] 화면과 같은 곡선  ·  가로 외기온도 ℃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1428750" y="2952750"/>
            <a:ext cx="952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 MW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8750" y="40386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814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428750" y="375012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692979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428750" y="346165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404507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428750" y="317318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116036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V="1">
            <a:off x="1428750" y="3214221"/>
            <a:ext cx="381000" cy="894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809750" y="3207225"/>
            <a:ext cx="381000" cy="699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190750" y="3202466"/>
            <a:ext cx="381000" cy="476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571750" y="3187898"/>
            <a:ext cx="381000" cy="1456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952750" y="3170373"/>
            <a:ext cx="381000" cy="17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333750" y="3170373"/>
            <a:ext cx="381000" cy="121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714750" y="3182489"/>
            <a:ext cx="381000" cy="1319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095750" y="3195686"/>
            <a:ext cx="381000" cy="1478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476750" y="3210471"/>
            <a:ext cx="381000" cy="1680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57750" y="3227274"/>
            <a:ext cx="381000" cy="184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238750" y="3245736"/>
            <a:ext cx="381000" cy="2040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19750" y="3266146"/>
            <a:ext cx="381000" cy="2740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00750" y="3293550"/>
            <a:ext cx="381000" cy="2992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81750" y="3323479"/>
            <a:ext cx="381000" cy="315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762750" y="3354995"/>
            <a:ext cx="381000" cy="343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43750" y="3389323"/>
            <a:ext cx="381000" cy="3735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524750" y="3426680"/>
            <a:ext cx="381000" cy="4031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05750" y="3466994"/>
            <a:ext cx="381000" cy="32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86750" y="3499519"/>
            <a:ext cx="381000" cy="453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667750" y="3544881"/>
            <a:ext cx="381000" cy="490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048750" y="3593921"/>
            <a:ext cx="381000" cy="5416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9429750" y="3648082"/>
            <a:ext cx="381000" cy="5848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810750" y="3706569"/>
            <a:ext cx="381000" cy="612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191750" y="3767797"/>
            <a:ext cx="381000" cy="6231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572750" y="3830107"/>
            <a:ext cx="381000" cy="684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1428750" y="3150901"/>
            <a:ext cx="381000" cy="894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809750" y="3143906"/>
            <a:ext cx="381000" cy="699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190750" y="3139146"/>
            <a:ext cx="381000" cy="476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571750" y="3124578"/>
            <a:ext cx="381000" cy="145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952750" y="3116429"/>
            <a:ext cx="381000" cy="81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3750" y="3116429"/>
            <a:ext cx="381000" cy="125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14750" y="3128977"/>
            <a:ext cx="381000" cy="2113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95750" y="3150108"/>
            <a:ext cx="381000" cy="21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6750" y="3171311"/>
            <a:ext cx="381000" cy="196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57750" y="3190999"/>
            <a:ext cx="381000" cy="1745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8750" y="3208451"/>
            <a:ext cx="381000" cy="1702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19750" y="3225471"/>
            <a:ext cx="381000" cy="2459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0750" y="3250063"/>
            <a:ext cx="381000" cy="306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81750" y="3280713"/>
            <a:ext cx="381000" cy="3779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2750" y="3318503"/>
            <a:ext cx="381000" cy="4608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43750" y="3364587"/>
            <a:ext cx="381000" cy="52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4750" y="3416800"/>
            <a:ext cx="381000" cy="548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05750" y="3471682"/>
            <a:ext cx="381000" cy="429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86750" y="3514664"/>
            <a:ext cx="381000" cy="4940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67750" y="3564065"/>
            <a:ext cx="381000" cy="4637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8750" y="3610436"/>
            <a:ext cx="381000" cy="465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29750" y="3657024"/>
            <a:ext cx="381000" cy="4882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10750" y="3705848"/>
            <a:ext cx="381000" cy="5235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91750" y="3758206"/>
            <a:ext cx="381000" cy="5675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572750" y="3814963"/>
            <a:ext cx="381000" cy="683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43950" y="3114675"/>
            <a:ext cx="24765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067800" y="3048000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(보정 없음)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743950" y="3295650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067800" y="32289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6096000" y="3810000"/>
            <a:ext cx="3810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곡선이 거의 붙어 보입니다 →  확대해 보겠습니다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85800" y="4152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28750" y="50292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49720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428750" y="4843463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14400" y="4786313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428750" y="46577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4400" y="4600575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428750" y="44719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14400" y="4414838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428750" y="42862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14400" y="422910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42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20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33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10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523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01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14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91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4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82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5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72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428750" y="4200525"/>
            <a:ext cx="2190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실제 − 이론값 (MW)</a:t>
            </a:r>
            <a:endParaRPr lang="en-US" sz="863" dirty="0"/>
          </a:p>
        </p:txBody>
      </p:sp>
      <p:sp>
        <p:nvSpPr>
          <p:cNvPr id="103" name="Shape 101"/>
          <p:cNvSpPr/>
          <p:nvPr/>
        </p:nvSpPr>
        <p:spPr>
          <a:xfrm>
            <a:off x="3798570" y="422719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943350" y="4200525"/>
            <a:ext cx="1619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테스트 40회</a:t>
            </a:r>
            <a:endParaRPr lang="en-US" sz="863" dirty="0"/>
          </a:p>
        </p:txBody>
      </p:sp>
      <p:sp>
        <p:nvSpPr>
          <p:cNvPr id="105" name="Text 103"/>
          <p:cNvSpPr txBox="1"/>
          <p:nvPr/>
        </p:nvSpPr>
        <p:spPr>
          <a:xfrm>
            <a:off x="5715000" y="4200525"/>
            <a:ext cx="2571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위쪽일수록 더 나온 것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8439150" y="4257675"/>
            <a:ext cx="2286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7" name="Text 105"/>
          <p:cNvSpPr txBox="1"/>
          <p:nvPr/>
        </p:nvSpPr>
        <p:spPr>
          <a:xfrm>
            <a:off x="8705850" y="4200525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108" name="Shape 106"/>
          <p:cNvSpPr/>
          <p:nvPr/>
        </p:nvSpPr>
        <p:spPr>
          <a:xfrm>
            <a:off x="1428750" y="4752265"/>
            <a:ext cx="95250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2941320" y="4332108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27045" y="434967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65220" y="448671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46220" y="460075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446270" y="461112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636770" y="462809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7270" y="464385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98720" y="458121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113020" y="46771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36870" y="46218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22620" y="46334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79770" y="45557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36920" y="45723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046470" y="45399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65520" y="458968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79820" y="460540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65570" y="461364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484620" y="46011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360920" y="471569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084820" y="4891327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22920" y="493497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141970" y="483449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199120" y="483898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522970" y="491224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0620" y="49933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6370" y="48726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056370" y="483077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1620" y="49411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89720" y="493913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42120" y="484541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75470" y="483601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2620" y="490737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51670" y="473456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551670" y="476131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51670" y="48699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04070" y="47877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742170" y="489942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894570" y="47855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180320" y="47349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23220" y="476008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428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809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190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571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952750" y="4517307"/>
            <a:ext cx="381000" cy="48292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33750" y="4565599"/>
            <a:ext cx="381000" cy="185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714750" y="4567457"/>
            <a:ext cx="381000" cy="4123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095750" y="4608690"/>
            <a:ext cx="381000" cy="3306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476750" y="4641752"/>
            <a:ext cx="381000" cy="148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4857750" y="4651410"/>
            <a:ext cx="381000" cy="520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238750" y="4633951"/>
            <a:ext cx="381000" cy="174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5619750" y="4619463"/>
            <a:ext cx="381000" cy="1448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000750" y="4619463"/>
            <a:ext cx="381000" cy="408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381750" y="4623549"/>
            <a:ext cx="381000" cy="3231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62750" y="4655868"/>
            <a:ext cx="381000" cy="601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143750" y="4716047"/>
            <a:ext cx="381000" cy="7689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524750" y="4792942"/>
            <a:ext cx="381000" cy="7466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905750" y="4867608"/>
            <a:ext cx="381000" cy="5386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286750" y="4921472"/>
            <a:ext cx="381000" cy="20803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8667750" y="4928530"/>
            <a:ext cx="381000" cy="1374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9048750" y="4889525"/>
            <a:ext cx="381000" cy="3900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9429750" y="4839376"/>
            <a:ext cx="381000" cy="5014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9810750" y="4794428"/>
            <a:ext cx="381000" cy="4494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10191750" y="4765081"/>
            <a:ext cx="381000" cy="2934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572750" y="4765081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5800" y="5372100"/>
            <a:ext cx="1082040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14400" y="5486400"/>
            <a:ext cx="10363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이론값보다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는 7.5 MW 더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28℃ 는 2.7 MW 덜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나왔습니다.   종전에는 이 차이를 온도 구분 없이 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 +2.5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덮었습니다.</a:t>
            </a:r>
            <a:endParaRPr lang="en-US" sz="1125" dirty="0"/>
          </a:p>
        </p:txBody>
      </p:sp>
      <p:sp>
        <p:nvSpPr>
          <p:cNvPr id="176" name="Shape 17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8" name="Text 17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온도마다 배웁니다 — 방식 7가지를 겨뤄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맞는 곡선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의심도 도구가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정해야 하는 숫자가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 → 채점 → 고르기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결과 넣기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 =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 전부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잘 맞는 쪽으로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테스트가 늘면 다시 처음으로 — 사람이 손으로 정하는 값은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회만 빼도 뒤집히면 버린다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회씩 빼 보며 다시 계산합니다.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번 중 여덟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 같은 결론이 나와야 믿습니다.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우연일 수 있으면 안 믿는다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031486" y="5029200"/>
            <a:ext cx="725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번에 1번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우연히 그렇게 보일 확률이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이보다 크면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관계가 없다고 봅니다.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예측을 미리 적어 둔다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실측하기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예측을 기록했습니다. 나중에 맞추는 것을 막습니다.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숫자가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도구가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간단해지고,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정확해졌습니다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40회를 종전 방식과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1028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담당자 업무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067050"/>
            <a:ext cx="1494282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→ 1</a:t>
            </a:r>
            <a:endParaRPr lang="en-US" sz="3300" dirty="0"/>
          </a:p>
        </p:txBody>
      </p:sp>
      <p:sp>
        <p:nvSpPr>
          <p:cNvPr id="19" name="Text 17"/>
          <p:cNvSpPr txBox="1"/>
          <p:nvPr/>
        </p:nvSpPr>
        <p:spPr>
          <a:xfrm>
            <a:off x="2465832" y="3276600"/>
            <a:ext cx="16568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 → 도구 1개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파일 4개를 돌리던 일이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끝납니다. 손으로 옮겨 적던 값 61개는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 정확도  ·  실제와 어긋난 정도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067050"/>
            <a:ext cx="779717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7161467" y="327660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8572500" y="3200400"/>
            <a:ext cx="27051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3.80 → 1.29 MW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미친 횟수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4회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높게 신고한 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76750"/>
            <a:ext cx="6477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  ·  실측 전에 적어 둔 예측과 대조  ·  세로 = 실제 − 예측 MW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7524750" y="4457700"/>
            <a:ext cx="37528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개선율 +91%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시간도 줄고 숫자도 맞았습니다 — 그리고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설명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있게 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둘로 나눈 덕분에,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갈아끼우면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옮겨집니다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배우는 부분은 설비 종류와 상관이 없습니다. 사업소마다 다른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09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990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가져가는 것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사업소마다 갈아끼우는 것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차이를 배우고 방식을 고르는 부분</a:t>
            </a:r>
            <a:endParaRPr lang="en-US" sz="1163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의심하고 걸러내는 절차</a:t>
            </a:r>
            <a:endParaRPr lang="en-US" sz="11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766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프로파일 생성과 화면</a:t>
            </a:r>
            <a:endParaRPr lang="en-US" sz="1163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설비별 이론식 (성능 곡선)</a:t>
            </a:r>
            <a:endParaRPr lang="en-US" sz="1163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 상수</a:t>
            </a:r>
            <a:endParaRPr lang="en-US" sz="1163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 덩어리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2 덩어리뿐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4362450"/>
            <a:ext cx="10820400" cy="1581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95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1428750" y="516255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0" name="Shape 28"/>
          <p:cNvSpPr/>
          <p:nvPr/>
        </p:nvSpPr>
        <p:spPr>
          <a:xfrm>
            <a:off x="1838325" y="509587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200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238" dirty="0"/>
          </a:p>
        </p:txBody>
      </p:sp>
      <p:sp>
        <p:nvSpPr>
          <p:cNvPr id="32" name="Text 30"/>
          <p:cNvSpPr txBox="1"/>
          <p:nvPr/>
        </p:nvSpPr>
        <p:spPr>
          <a:xfrm>
            <a:off x="72390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336232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2026.10~12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445293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36232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문서화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332422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검증·가드 기준을 사내 문서로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596265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7053263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6265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1곳 시범</a:t>
            </a:r>
            <a:endParaRPr lang="en-US" sz="1238" dirty="0"/>
          </a:p>
        </p:txBody>
      </p:sp>
      <p:sp>
        <p:nvSpPr>
          <p:cNvPr id="40" name="Text 38"/>
          <p:cNvSpPr txBox="1"/>
          <p:nvPr/>
        </p:nvSpPr>
        <p:spPr>
          <a:xfrm>
            <a:off x="592455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바꿔 나란히 운전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856297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965358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6297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238" dirty="0"/>
          </a:p>
        </p:txBody>
      </p:sp>
      <p:sp>
        <p:nvSpPr>
          <p:cNvPr id="44" name="Text 42"/>
          <p:cNvSpPr txBox="1"/>
          <p:nvPr/>
        </p:nvSpPr>
        <p:spPr>
          <a:xfrm>
            <a:off x="852487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부분을 분리한 뒤 확대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위례에서 검증한 절차 그대로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이론식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4개가 하던 일이,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화면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들어왔습니다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6개입니다. 날짜·시각을 넣고 실행하면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 ~ 40℃ 61행 신고값 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그대로 나옵니다.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19175" y="2343150"/>
            <a:ext cx="42576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산정 화면  ·  입력 4칸 → 61행 신고값 표</a:t>
            </a:r>
            <a:endParaRPr lang="en-US" sz="788" dirty="0"/>
          </a:p>
        </p:txBody>
      </p:sp>
      <p:sp>
        <p:nvSpPr>
          <p:cNvPr id="7" name="Text 5"/>
          <p:cNvSpPr txBox="1"/>
          <p:nvPr/>
        </p:nvSpPr>
        <p:spPr>
          <a:xfrm>
            <a:off x="5657850" y="2343150"/>
            <a:ext cx="55149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출력곡선 비교  ·  이론값 vs 모델 + 실측 40회</a:t>
            </a:r>
            <a:endParaRPr lang="en-US" sz="788" dirty="0"/>
          </a:p>
        </p:txBody>
      </p:sp>
      <p:pic>
        <p:nvPicPr>
          <p:cNvPr id="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175" y="2495550"/>
            <a:ext cx="4257675" cy="2857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09650" y="2486025"/>
            <a:ext cx="42767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pic>
        <p:nvPicPr>
          <p:cNvPr id="10" name="Image 1" descr="/home/user/Narae-AI/docs/ppt/assets/tool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495550"/>
            <a:ext cx="5514975" cy="28575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648325" y="2486025"/>
            <a:ext cx="55340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5467350"/>
            <a:ext cx="10820400" cy="476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55626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탭 6개</a:t>
            </a:r>
            <a:endParaRPr lang="en-US" sz="788" dirty="0"/>
          </a:p>
        </p:txBody>
      </p:sp>
      <p:sp>
        <p:nvSpPr>
          <p:cNvPr id="14" name="Text 10"/>
          <p:cNvSpPr txBox="1"/>
          <p:nvPr/>
        </p:nvSpPr>
        <p:spPr>
          <a:xfrm>
            <a:off x="1676400" y="55435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· 온도 구간별 보정값 현황 · Test 결과 List-up · 출력 시뮬레이션 · 출력곡선 비교 · 모델 선정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57531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 순서</a:t>
            </a:r>
            <a:endParaRPr lang="en-US" sz="788" dirty="0"/>
          </a:p>
        </p:txBody>
      </p:sp>
      <p:sp>
        <p:nvSpPr>
          <p:cNvPr id="16" name="Text 12"/>
          <p:cNvSpPr txBox="1"/>
          <p:nvPr/>
        </p:nvSpPr>
        <p:spPr>
          <a:xfrm>
            <a:off x="1676400" y="57340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날짜·시각 입력 → ② 실행 → ③ 곡선·표 확인 → ④ 엑셀로 저장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9" name="Text 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화면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사람이 손으로 옮겨 적는 칸은 없습니다.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990600"/>
            <a:ext cx="6667500" cy="696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81"/>
              </a:lnSpc>
              <a:buNone/>
            </a:pPr>
            <a:r>
              <a:rPr lang="en-US" sz="4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71650"/>
            <a:ext cx="857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숫자가, 이제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 위에서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정해집니다.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2381250"/>
            <a:ext cx="10820400" cy="2857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495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누적 40회 실적으로 학습한 곡선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1428750" y="47682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7015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28750" y="44862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4196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428750" y="42043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1376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428750" y="392239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5572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8750" y="364045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57378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428750" y="33585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2918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428750" y="30765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0099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428750" y="27946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27279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428750" y="48387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2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0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3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0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23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1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14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1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04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95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72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 flipV="1">
            <a:off x="1428750" y="3156787"/>
            <a:ext cx="381000" cy="1748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1809750" y="3143113"/>
            <a:ext cx="381000" cy="1367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2190750" y="3133809"/>
            <a:ext cx="381000" cy="930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2571750" y="3105333"/>
            <a:ext cx="381000" cy="2847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2952750" y="3071077"/>
            <a:ext cx="381000" cy="3425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333750" y="3071077"/>
            <a:ext cx="381000" cy="2368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3714750" y="3094760"/>
            <a:ext cx="381000" cy="2579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095750" y="3120558"/>
            <a:ext cx="381000" cy="2889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476750" y="3149456"/>
            <a:ext cx="381000" cy="3284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7750" y="3182303"/>
            <a:ext cx="381000" cy="3608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238750" y="3218391"/>
            <a:ext cx="381000" cy="39895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619750" y="3258285"/>
            <a:ext cx="381000" cy="5356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000750" y="3311854"/>
            <a:ext cx="381000" cy="5850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6381750" y="3370356"/>
            <a:ext cx="381000" cy="6160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762750" y="3431960"/>
            <a:ext cx="381000" cy="6710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7143750" y="3499062"/>
            <a:ext cx="381000" cy="7302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7524750" y="3572085"/>
            <a:ext cx="381000" cy="7880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7905750" y="3650887"/>
            <a:ext cx="381000" cy="63577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286750" y="3714464"/>
            <a:ext cx="381000" cy="8867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667750" y="3803134"/>
            <a:ext cx="381000" cy="9586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048750" y="3898994"/>
            <a:ext cx="381000" cy="10586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429750" y="4004862"/>
            <a:ext cx="381000" cy="114327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9810750" y="4119189"/>
            <a:ext cx="381000" cy="11968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10191750" y="4238873"/>
            <a:ext cx="381000" cy="12179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0572750" y="4360671"/>
            <a:ext cx="381000" cy="133781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 flipV="1">
            <a:off x="1428750" y="3033015"/>
            <a:ext cx="381000" cy="1748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09750" y="3019341"/>
            <a:ext cx="381000" cy="1367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2190750" y="3010037"/>
            <a:ext cx="381000" cy="930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2571750" y="2981561"/>
            <a:ext cx="381000" cy="28476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2952750" y="2965632"/>
            <a:ext cx="381000" cy="1593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33750" y="2965632"/>
            <a:ext cx="381000" cy="24529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714750" y="2990160"/>
            <a:ext cx="381000" cy="4130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95750" y="3031465"/>
            <a:ext cx="381000" cy="4144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76750" y="3072910"/>
            <a:ext cx="381000" cy="3848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57750" y="3111395"/>
            <a:ext cx="381000" cy="3411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38750" y="3145509"/>
            <a:ext cx="381000" cy="33269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19750" y="3178778"/>
            <a:ext cx="381000" cy="48071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00750" y="3226849"/>
            <a:ext cx="381000" cy="59912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381750" y="3286761"/>
            <a:ext cx="381000" cy="7386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762750" y="3360630"/>
            <a:ext cx="381000" cy="9008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143750" y="3450709"/>
            <a:ext cx="381000" cy="102062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524750" y="3552772"/>
            <a:ext cx="381000" cy="10727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905750" y="3660050"/>
            <a:ext cx="381000" cy="8401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286750" y="3744068"/>
            <a:ext cx="381000" cy="9656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667750" y="3840632"/>
            <a:ext cx="381000" cy="9064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48750" y="3931276"/>
            <a:ext cx="381000" cy="91067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429750" y="4022343"/>
            <a:ext cx="381000" cy="95437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810750" y="4117779"/>
            <a:ext cx="381000" cy="10234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191750" y="4220124"/>
            <a:ext cx="381000" cy="110943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572750" y="4331067"/>
            <a:ext cx="381000" cy="13364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939415" y="289046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89" name="Shape 87"/>
          <p:cNvSpPr/>
          <p:nvPr/>
        </p:nvSpPr>
        <p:spPr>
          <a:xfrm>
            <a:off x="3025140" y="289713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0" name="Shape 88"/>
          <p:cNvSpPr/>
          <p:nvPr/>
        </p:nvSpPr>
        <p:spPr>
          <a:xfrm>
            <a:off x="3663315" y="29385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1" name="Shape 89"/>
          <p:cNvSpPr/>
          <p:nvPr/>
        </p:nvSpPr>
        <p:spPr>
          <a:xfrm>
            <a:off x="4044315" y="300763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2" name="Shape 90"/>
          <p:cNvSpPr/>
          <p:nvPr/>
        </p:nvSpPr>
        <p:spPr>
          <a:xfrm>
            <a:off x="4444365" y="304046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4865" y="307975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4" name="Shape 92"/>
          <p:cNvSpPr/>
          <p:nvPr/>
        </p:nvSpPr>
        <p:spPr>
          <a:xfrm>
            <a:off x="4825365" y="308573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5" name="Shape 93"/>
          <p:cNvSpPr/>
          <p:nvPr/>
        </p:nvSpPr>
        <p:spPr>
          <a:xfrm>
            <a:off x="4996815" y="306196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6" name="Shape 94"/>
          <p:cNvSpPr/>
          <p:nvPr/>
        </p:nvSpPr>
        <p:spPr>
          <a:xfrm>
            <a:off x="5111115" y="3134453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7" name="Shape 95"/>
          <p:cNvSpPr/>
          <p:nvPr/>
        </p:nvSpPr>
        <p:spPr>
          <a:xfrm>
            <a:off x="5434965" y="315338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8" name="Shape 96"/>
          <p:cNvSpPr/>
          <p:nvPr/>
        </p:nvSpPr>
        <p:spPr>
          <a:xfrm>
            <a:off x="5720715" y="315775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9" name="Shape 97"/>
          <p:cNvSpPr/>
          <p:nvPr/>
        </p:nvSpPr>
        <p:spPr>
          <a:xfrm>
            <a:off x="5777865" y="31818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835015" y="318813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044565" y="317584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063615" y="319473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177915" y="325919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463665" y="326232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82715" y="325757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359015" y="350278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82915" y="371181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21015" y="372837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140065" y="369024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197215" y="369194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521065" y="380841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768715" y="383919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054465" y="388923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054465" y="38733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149715" y="391523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187815" y="391448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340215" y="398478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473565" y="398121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530715" y="400829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549765" y="3942719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549765" y="3952869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9549765" y="399408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702165" y="407724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740265" y="411960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892665" y="407638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78415" y="417688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521315" y="430821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67500" y="2714625"/>
            <a:ext cx="228600" cy="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29" name="Text 127"/>
          <p:cNvSpPr txBox="1"/>
          <p:nvPr/>
        </p:nvSpPr>
        <p:spPr>
          <a:xfrm>
            <a:off x="697230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(보정 없음)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8858250" y="2714625"/>
            <a:ext cx="228600" cy="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16305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692265" y="287274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858000" y="28384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테스트 40회</a:t>
            </a:r>
            <a:endParaRPr lang="en-US" sz="900" dirty="0"/>
          </a:p>
        </p:txBody>
      </p:sp>
      <p:sp>
        <p:nvSpPr>
          <p:cNvPr id="134" name="Text 132"/>
          <p:cNvSpPr txBox="1"/>
          <p:nvPr/>
        </p:nvSpPr>
        <p:spPr>
          <a:xfrm>
            <a:off x="685800" y="5410200"/>
            <a:ext cx="108204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데이터가 만들어 내는 값입니다.</a:t>
            </a:r>
            <a:endParaRPr lang="en-US" sz="1125" dirty="0"/>
          </a:p>
        </p:txBody>
      </p:sp>
      <p:sp>
        <p:nvSpPr>
          <p:cNvPr id="135" name="Shape 133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2026-09-04T02:49:15Z</dcterms:created>
  <dcterms:modified xsi:type="dcterms:W3CDTF">2026-09-04T02:49:15Z</dcterms:modified>
</cp:coreProperties>
</file>