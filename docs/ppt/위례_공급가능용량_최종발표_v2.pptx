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"위례사업소 정비기술팀 주현M, 정상우M 입니다.
 공급가능용량 산정 자동화와 온도별 보정 모델 개발 결과를 보고드리겠습니다."
— 표지에서 오래 끌지 않는다. 바로 목차로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"크게 두 가지입니다. 앞의 세 항목은 '왜 했는가', 뒤의 네 항목은
 '무엇을 어떻게 바꿨는가' 입니다."
— 목차를 한 줄씩 읽지 않는다. 흐름만 짚고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 여기서 결론을 먼저 말한다
"먼저 결과부터 말씀드리겠습니다. 두 가지가 바뀌었습니다.
 하나는 일 처리입니다. 엑셀 4개를 순서대로 돌리던 일이 날짜·시각 한 번
 입력으로 끝납니다.
 또 하나는 신고하는 숫자입니다. 세 지표가 같이 좋아졌습니다."
 · 예측 오차 3.90 → 1.30 MW (67% 감소)
 · 신고값을 못 채운 횟수 15 → 4회 (73% 감소)
 · 과대 신고 누계 69.5 → 9.3 MW (87% 감소)
 · 금액으로는 낮게 신고해 못 받던 용량요금 연 9,702만원 → 3,943만원
⚠ 반드시 함께 말할 것 — "실제 신고 이력이 아니라, 같은 40회 실적에 두 방식을
 각각 적용해 나란히 채점한 재현값입니다." 이 말을 빼면 나중에 반드시 지적받는다.
예상 질문 "종전 방식이 그렇게 나빴나?"
→ "종전 방식에 가장 유리한 조건을 줬습니다. 담당자가 쓴 정수가 아니라
   오차가 가장 작아지는 상수 +2.5 를 썼는데도 이 차이입니다."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이 장의 핵심은 '왜 일괄 보정이었나'
"먼저 종전에 어떻게 했는지 말씀드리겠습니다.
 엑셀 4개를 순서대로 돌렸습니다. 테스트 결과를 계산하고, 온도별 출력을
 계산하고, 둘의 차이를 구해서, 그 차이 하나를 −20도부터 40도까지
 61개 온도에 똑같이 얹었습니다. 그게 일괄 보정입니다."
"왜 그렇게 했느냐 — 테스트는 그날의 온도 한 점에서만 합니다.
 나머지 60개 온도의 차이는 알 방법이 없었습니다. 같은 값을 얹는 것이
 그때로서는 가장 안전한 선택이었습니다."
— 담당자를 탓하는 자리가 아니다. "그때는 최선이었다" 를 분명히 말한다.
"그런데 실제 능력은 그렇게 평행하게 움직이지 않습니다. 그래서 겨울에는
 낮게 신고해 못 팔고(0℃ 에서 5.0 MW),
 여름에는 높게 신고해 미달이 납니다(28℃ 에서 5.1 MW).
 22도 부근에서 방향이 바뀝니다."
"낮게 신고한 만큼은 용량요금으로 받지 못합니다. 종전 누계로 연 9,702만원 입니다."
예상 질문 "높게 신고하면 더 받는 것 아닌가?"
→ "아닙니다. 정산식이 Min 구조라서 높게 신고해도 용량요금은 실제만큼만
   나옵니다. 늘어나는 건 미달 위험뿐입니다. 그래서 금액에는 낮게 신고한
   쪽만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"실제 데이터입니다. 점 하나가 테스트 한 회이고, 세로축은 보정값 —
 실제에서 이론값과 IGV 몫을 뺀 값입니다."
"흩어져 있는 게 아니라 온도를 따라 줄줄이 내려갑니다. 추울수록 더 더해야
 하고 더울수록 빼야 합니다. 회차마다 +13 에서
 −5 MW 까지 갈립니다."
— +13 는 평균이 아니라 가장 큰 한 회차 값이다. 화면에도 적어 뒀다.
"이론값은 제작사 표준 성능 곡선입니다. 우리 설비의 실제 특성과 온도에 따라
 어긋나고, 그 차이가 저온에서 플러스, 고온에서 마이너스로 남습니다."
"아래는 종전에 실제로 적용한 값 16회분입니다. 전부 정수 하나입니다.
 7.3도와 25.7도에 똑같이 +5 를 줬습니다. 온도를 안 본 것입니다."
예상 질문 "왜 저온에서 더 나오나?"
→ "이론식은 이미 온도·대기압·습도·복수기압을 보정하고 있습니다. 그래도 남는
   차이라서, 제작사 표준 곡선과 우리 설비 실제 특성의 차이로 보고 있습니다.
   기전을 단정하지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표 한 장으로 끝내는 장. 숫자를 다 읽지 말고 오른쪽 '판정' 열만 짚는다.
"차이가 왜 생기는지, 그리고 무엇을 보고 예측할지를 정한 과정입니다."
"먼저 보정값에 영향을 줄 수 있는 환경변수를 후보로 세웠습니다 —
 외기 온도, 복수기 진공도, 대기압, 상대습도 네 개입니다."
"그다음 질문은 하나입니다. '외기 온도 외에 다른 변수를 더 넣으면
 예측이 실제로 좋아지는가.' 같은 모델, 같은 조건에서 변수 조합만
 바꿔 39회를 똑같이 채점했습니다."
"결과는 표와 같습니다. 외기 온도 단독이 RMSE 1.68,
 R² 0.854, AIC 155 — 세 지표에서 1위입니다.
 무엇을 더해도 나아지지 않았습니다."
"그래서 외기 온도를 최종 입력 변수로 선정했습니다."
— 표의 숫자를 한 줄씩 읽지 않는다. 테두리 친 맨 윗줄과 오른쪽 '개선 없음'
  네 개만 손으로 짚으면 충분하다. 4~5초 멈춰서 보게 두는 편이 낫다.
⚠ MAE 열만 「+상대습도」가 1.29 로
  온도 단독 1.30 보다 낮다. 지적받기 전에 먼저 말한다:
  "MAE 하나는 상대습도를 넣은 쪽이 0.01 낮습니다.
   다만 회차별로 짝지어 재면 그 차이가 ±0.08 이라
   우연과 갈리지 않습니다. 나머지 세 지표는 모두 온도 단독이 좋습니다."
⚠ '유의하지 않다' 를 '차이가 0 이다' 로 말하지 않는다. 정확히는
  "이 데이터로는 구분되지 않는다" 다.
예상 질문 "변수를 억지로 섞어서 나빠진 것 아닌가?"
→ "그 반론을 막으려고 변수마다 길이척도를 따로 뒀습니다. 필요 없으면 모델이
   스스로 버릴 수 있는 구조인데, 추가 변수는 모두 '영향 없음' 쪽으로
   붙었습니다. 즉 나빠진 게 아니라 쓸 정보가 없었습니다."
예상 질문 "AIC 가 뭔가?"
→ "적합도와 복잡도를 함께 보는 지표입니다. 변수를 늘리면 벌점을 받습니다.
   낮을수록 좋고, 값 자체보다 행 사이의 차이를 봅니다."
예상 질문 "10월에 복수기 세척하면 달라지지 않나?"
→ "세척은 하는 게 맞습니다. 다만 '진공도를 넣으면 예측이 좋아지느냐' 는
   세 번 다르게 확인해 세 번 다 아니었습니다. 온도를 걷어내고 재면
   진공도의 관련성이 −0.14 로
   임계 0.312 아래입니다.
   세척 후 데이터가 쌓이면 곡선이 그걸 반영해 다시 학습합니다."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"고치는 방법은 구조를 둘로 나누는 것이었습니다."
"1층은 손대지 않습니다. 제작사 성능 곡선과 사내 검증을 거친 이론식입니다.
 데이터가 쌓여도 바뀌지 않습니다."
"2층만 데이터가 배웁니다. 배우는 것은 이론값과 실제의 차이 하나입니다.
 최종 신고값은 이론값 더하기 온도별 보정값입니다."
"이렇게 나눈 덕분에 세 가지가 됩니다 — 검증된 이론을 흔들지 않고,
 틀렸을 때 어디가 틀렸는지 갈리고, 다른 사업소로 옮길 수 있습니다."
— 진공도가 1층에 들어가 있는 것을 짚어 준다. 6장과 모순처럼 들릴 수 있다.
  "진공도는 이론식이 이미 반영합니다. 6장에서 기각한 것은 '그러고도 남는
   차이' 를 진공도로 더 설명할 수 있느냐였습니다."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"그 곡선을 어떻게 그렸는지입니다. 눈대중으로 고르지 않았습니다."
"한 회를 가리고 나머지로 그 회를 맞혀보는 방식으로 채점했습니다.
 방식 7가지를 같은 자리에서 겨뤘습니다."
"1위는 GP · RBF (제곱지수) 입니다. 평균 오차 1.301, 큰 오차 1.678,
 설명력 0.854 — 세 지표 모두 1위입니다.
 종전 방식은 평균 오차 3.90 였습니다."
— 용어는 화면 아래 한 줄에 풀어 뒀다. MAE 평균 오차, RMSE 크게 틀린 경우에
  벌점을 더 준 오차, R² 설명력, 커널은 점 사이를 어떤 모양으로 이을지 정하는 규칙.
"오른쪽은 커널을 바꿨을 때 곡선이 어떻게 갈리는지입니다. 눈으로는 고를 수
 없어서 위 표로 채점했습니다."
예상 질문 "왜 하필 이 방식인가?"
→ "저희가 고른 게 아니라 채점 결과입니다. 회차가 쌓여 1위가 바뀌면
   도구가 알아서 교체합니다."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[55초]
"그래서 나온 곡선입니다. 위는 출력 곡선, 아래는 그 차이만 확대한 것입니다."
"위에서는 두 곡선이 거의 붙어 보입니다. 출력이 온도에 따라 100 MW 넘게
 움직이니까 몇 MW 차이는 묻힙니다."
"아래가 그 차이만 확대한 것입니다. 이론 출력보다 0도는 7.5 MW 더,
 28도는 2.7 MW 덜 나왔습니다.
 종전에는 이 차이를 온도 구분 없이 +2.5 하나로 덮었습니다."
"점은 실제 테스트 40회입니다. 곡선이 그 점들을 따라갑니다."
— 이 그림이 Tool 화면에 그대로 있다는 것을 말해 둔다. 13장에서 다시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"한 번 만들고 끝이 아닙니다. 회차가 들어올 때마다 다시 채점하고,
 1위가 바뀌면 방식까지 다시 고릅니다. 사람이 손으로 정하는 값은 없습니다."
"의심하는 절차도 도구에 넣었습니다. 세 가지입니다."
 · 한 회씩 빼 보며 다시 계산해서, 열 번 중 여덟 번 이상 같은 결론이 나와야 믿는다
 · 우연히 그렇게 보일 확률이 20번에 1번보다 크면 관계가 없다고 본다
 · 시운전 9회 — 각 회차를 그 앞의 데이터만으로 예측했다 (뒤를 보지 않는다)
⚠ "실측 전에 예측을 적어 뒀다" 고 말하지 않는다. 사실이 아니다.
  실제로 한 것은 뒤 회차를 보지 않고 예측한 것(walk-forward)이다.
  앞으로 실측 전 예측을 남기는 기능은 도구에 이미 있다 — 그건 계획으로 말한다.
"이 가드를 넣은 이유가 있습니다. 진공도 하나에 세 번 걸렸습니다.
 데이터를 골라 뽑으면 없는 관계도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효과. 여기서 금액을 말한다.
"효과는 두 갈래입니다."
"첫째, 일 처리입니다. 엑셀 4개를 순서대로 돌리던 일이 날짜·시각 한 번으로
 끝납니다. 손으로 옮겨 적던 값 61개가 0개가 됐습니다."
"둘째, 신고 정확도입니다. 실제와 어긋난 정도가 67% 줄었습니다.
 3.90 에서 1.30 MW 입니다.
 낮게 신고해 못 받던 용량요금 연 5,759만원 을 회수합니다."
⚠ 금액을 말할 때 반드시 조건을 붙인다 — "150원/kW·일 × 입찰일 335일(정비 30일 제외) 기준이고,
  에너지수익은 급전 지시로 정해지므로 넣지 않았습니다."
"아래는 시운전 9회입니다. 각 회차를 그 앞의 데이터만으로 예측해
 실제와 대조했습니다. 평균 편차 −0.0, 평균 오차 1.23 MW,
 종전 방식 대비 91% 개선입니다."
예상 질문 "그 금액 어떻게 나온 건가?"
→ "낮게 신고한 양이 회당 평균 1.93 MW 에서 0.78 MW 로 줄었고,
   여기에 150원/kW·일과 입찰일 335일을 곱했습니다.
   높게 신고한 쪽은 Min 구조상 용량요금이 늘지 않아 넣지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"앞으로입니다. 공급가능용량 테스트는 계속 합니다.
 회차가 들어올 때마다 다시 학습하므로, 데이터가 쌓이는 것 자체가 개선입니다."
"실제로 그렇게 나왔습니다. 구간별 예측 오차가
 2.26 에서 1.19 MW 로 47% 줄었습니다."
— 정직하게 덧붙인다: "구간마다 오르내림은 있습니다. 어려운 회차가 몰리면
  올라갑니다. 마지막 구간이 그 경우입니다."
"전개 순서는 네 단계입니다. 위례 정착 — 테스트 누적과 고도화 —
 같은 구조 사업소 한 곳 시범 — 수평 전개."
"배우는 부분은 설비 종류와 상관이 없습니다. 사업소마다 바꿀 것은
 이론식 하나입니다."
예상 질문 "어느 사업소에 적용할 건가?"
→ 실명은 아직 확정하지 않았다. "같은 구조의 입찰 사업소" 로 답하고
   구체적인 대상은 별도 협의로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발표 40초 + 시연 3~4분]  ★ 여기서 실물을 띄운다
"도구 화면입니다. 탭 6개입니다.
 날짜와 시각을 넣고 실행하면 −20도부터 40도까지 61행 신고값 표가
 그대로 나옵니다."
"왼쪽이 산정 화면이고, 오른쪽이 방금 보신 곡선 비교 화면입니다.
 목업이 아니라 실제 화면입니다."
【시연 순서 — 3~4분】
 ① 날짜·시각 입력 → 실행
 ② 61행 신고값 표가 채워지는 것을 보인다
 ③ [출력곡선 비교] 탭 — 이론값 곡선과 모델 곡선, 실측점 40회
 ④ [모델 선정] 탭 — 후보 7가지가 도구 안에 있다는 것만 보인다
 ⑤ [엑셀로 저장]
【시연 중 강조할 것】
 · 사람이 손으로 옮겨 적는 칸이 없다
 · 숫자 옆에 몇 회로 배운 값인지 함께 나온다
 · 회차를 넣으면 재채점·재선정이 그 자리에서 돌아간다
⚠ 시연 전에 확인 — 노트북에 최신 버전이 설치돼 있는지, 누적 DB 건수가
  맞는지(창 아래 '누적 N건'), 프로젝터 해상도에서 표 글자가 읽히는지.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"감사합니다.
 매주 신고하는 숫자가, 이제 40회 실적 위에서 정해집니다."
— 그림을 한 번 짚는다: "점선이 이론 출력, 실선이 모델이 만든 곡선,
  점이 실제 테스트 40회입니다."
— 질문은 자연스럽게 받는다. "질문 받겠습니다" 를 굳이 말하지 않아도 된다.
【자주 나올 질문 정리】
 · 금액 근거 → 150원/kW·일 × 입찰일 335일(정비 30일 제외), 낮게 신고한 쪽만, 에너지수익 제외
 · 데이터 40건으로 되나 → 한 회씩 가려 채점(39회 공통 집합),
   뒤를 보지 않는 시운전 9회, 그리고 쌓일수록 오차가 줄어드는 학습 곡선
 · 실제 이력인가 → 아니다. 같은 실적에 두 방식을 적용한 재현값이다
 · 다른 사업소 → 이론식만 갈아끼우면 된다 (7장 2단 구조)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8"/>
        </a:solidFill>
      </p:bgPr>
    </p:bg>
    <p:spTree>
      <p:nvGrpSpPr>
        <p:cNvPr id="1" name=""/>
        <p:cNvGrpSpPr/>
        <p:nvPr/>
      </p:nvGrpSpPr>
      <p:grpSpPr>
        <a:xfrm>
          <a:off x="0" y="0"/>
          <a:ext cx="0" cy="0"/>
          <a:chOff x="0" y="0"/>
          <a:chExt cx="0" cy="0"/>
        </a:xfrm>
      </p:grpSpPr>
      <p:sp>
        <p:nvSpPr>
          <p:cNvPr id="2" name="Shape 0"/>
          <p:cNvSpPr/>
          <p:nvPr/>
        </p:nvSpPr>
        <p:spPr>
          <a:xfrm>
            <a:off x="685800" y="533400"/>
            <a:ext cx="2133600" cy="600075"/>
          </a:xfrm>
          <a:prstGeom prst="rect">
            <a:avLst/>
          </a:prstGeom>
          <a:solidFill>
            <a:srgbClr val="FFFFFF"/>
          </a:solidFill>
          <a:ln/>
        </p:spPr>
      </p:sp>
      <p:pic>
        <p:nvPicPr>
          <p:cNvPr id="3" name="Image 0" descr="/home/user/Narae-AI/docs/ppt/assets/ci_narae.png">    </p:cNvPr>
          <p:cNvPicPr>
            <a:picLocks noChangeAspect="1"/>
          </p:cNvPicPr>
          <p:nvPr/>
        </p:nvPicPr>
        <p:blipFill>
          <a:blip r:embed="rId1"/>
          <a:stretch>
            <a:fillRect/>
          </a:stretch>
        </p:blipFill>
        <p:spPr>
          <a:xfrm>
            <a:off x="819150" y="657225"/>
            <a:ext cx="1866900" cy="352425"/>
          </a:xfrm>
          <a:prstGeom prst="rect">
            <a:avLst/>
          </a:prstGeom>
        </p:spPr>
      </p:pic>
      <p:sp>
        <p:nvSpPr>
          <p:cNvPr id="4" name="Text 1"/>
          <p:cNvSpPr txBox="1"/>
          <p:nvPr/>
        </p:nvSpPr>
        <p:spPr>
          <a:xfrm>
            <a:off x="7696200" y="704850"/>
            <a:ext cx="3810000" cy="148828"/>
          </a:xfrm>
          <a:prstGeom prst="rect">
            <a:avLst/>
          </a:prstGeom>
          <a:noFill/>
          <a:ln/>
        </p:spPr>
        <p:txBody>
          <a:bodyPr wrap="square" lIns="0" tIns="0" rIns="0" bIns="0" rtlCol="0" anchor="t"/>
          <a:lstStyle/>
          <a:p>
            <a:pPr algn="r" indent="0" marL="0">
              <a:lnSpc>
                <a:spcPts val="1172"/>
              </a:lnSpc>
              <a:buNone/>
            </a:pPr>
            <a:r>
              <a:rPr lang="en-US" sz="938" spc="200" kern="0" dirty="0">
                <a:solidFill>
                  <a:srgbClr val="A9A79F"/>
                </a:solidFill>
                <a:latin typeface="Consolas" pitchFamily="34" charset="0"/>
                <a:ea typeface="Consolas" pitchFamily="34" charset="-122"/>
                <a:cs typeface="Consolas" pitchFamily="34" charset="-120"/>
              </a:rPr>
              <a:t>개선과제 최종 보고</a:t>
            </a:r>
            <a:endParaRPr lang="en-US" sz="938" dirty="0"/>
          </a:p>
        </p:txBody>
      </p:sp>
      <p:sp>
        <p:nvSpPr>
          <p:cNvPr id="5" name="Shape 2"/>
          <p:cNvSpPr/>
          <p:nvPr/>
        </p:nvSpPr>
        <p:spPr>
          <a:xfrm>
            <a:off x="685800" y="1428750"/>
            <a:ext cx="10820400" cy="0"/>
          </a:xfrm>
          <a:prstGeom prst="line">
            <a:avLst/>
          </a:prstGeom>
          <a:noFill/>
          <a:ln w="12700">
            <a:solidFill>
              <a:srgbClr val="22354A"/>
            </a:solidFill>
            <a:prstDash val="solid"/>
          </a:ln>
        </p:spPr>
      </p:sp>
      <p:sp>
        <p:nvSpPr>
          <p:cNvPr id="6" name="Shape 3"/>
          <p:cNvSpPr/>
          <p:nvPr/>
        </p:nvSpPr>
        <p:spPr>
          <a:xfrm>
            <a:off x="685800" y="2247900"/>
            <a:ext cx="438150" cy="28575"/>
          </a:xfrm>
          <a:prstGeom prst="rect">
            <a:avLst/>
          </a:prstGeom>
          <a:solidFill>
            <a:srgbClr val="EFB13C"/>
          </a:solidFill>
          <a:ln/>
        </p:spPr>
      </p:sp>
      <p:sp>
        <p:nvSpPr>
          <p:cNvPr id="7" name="Text 4"/>
          <p:cNvSpPr txBox="1"/>
          <p:nvPr/>
        </p:nvSpPr>
        <p:spPr>
          <a:xfrm>
            <a:off x="685800" y="2514600"/>
            <a:ext cx="9525000" cy="536448"/>
          </a:xfrm>
          <a:prstGeom prst="rect">
            <a:avLst/>
          </a:prstGeom>
          <a:noFill/>
          <a:ln/>
        </p:spPr>
        <p:txBody>
          <a:bodyPr wrap="square" lIns="0" tIns="0" rIns="0" bIns="0" rtlCol="0" anchor="t"/>
          <a:lstStyle/>
          <a:p>
            <a:pPr algn="l" indent="0" marL="0">
              <a:lnSpc>
                <a:spcPts val="4224"/>
              </a:lnSpc>
              <a:buNone/>
            </a:pPr>
            <a:r>
              <a:rPr lang="en-US" sz="3300" b="1" dirty="0">
                <a:solidFill>
                  <a:srgbClr val="EAE7E0"/>
                </a:solidFill>
                <a:latin typeface="Malgun Gothic" pitchFamily="34" charset="0"/>
                <a:ea typeface="Malgun Gothic" pitchFamily="34" charset="-122"/>
                <a:cs typeface="Malgun Gothic" pitchFamily="34" charset="-120"/>
              </a:rPr>
              <a:t>공급가능용량 산정 자동화 및</a:t>
            </a:r>
            <a:endParaRPr lang="en-US" sz="3300" dirty="0"/>
          </a:p>
        </p:txBody>
      </p:sp>
      <p:sp>
        <p:nvSpPr>
          <p:cNvPr id="8" name="Text 5"/>
          <p:cNvSpPr txBox="1"/>
          <p:nvPr/>
        </p:nvSpPr>
        <p:spPr>
          <a:xfrm>
            <a:off x="685800" y="3048000"/>
            <a:ext cx="9525000" cy="536448"/>
          </a:xfrm>
          <a:prstGeom prst="rect">
            <a:avLst/>
          </a:prstGeom>
          <a:noFill/>
          <a:ln/>
        </p:spPr>
        <p:txBody>
          <a:bodyPr wrap="square" lIns="0" tIns="0" rIns="0" bIns="0" rtlCol="0" anchor="t"/>
          <a:lstStyle/>
          <a:p>
            <a:pPr algn="l" indent="0" marL="0">
              <a:lnSpc>
                <a:spcPts val="4224"/>
              </a:lnSpc>
              <a:buNone/>
            </a:pPr>
            <a:r>
              <a:rPr lang="en-US" sz="3300" b="1" dirty="0">
                <a:solidFill>
                  <a:srgbClr val="EAE7E0"/>
                </a:solidFill>
                <a:latin typeface="Malgun Gothic" pitchFamily="34" charset="0"/>
                <a:ea typeface="Malgun Gothic" pitchFamily="34" charset="-122"/>
                <a:cs typeface="Malgun Gothic" pitchFamily="34" charset="-120"/>
              </a:rPr>
              <a:t>온도별 보정 모델 개발</a:t>
            </a:r>
            <a:endParaRPr lang="en-US" sz="3300" dirty="0"/>
          </a:p>
        </p:txBody>
      </p:sp>
      <p:sp>
        <p:nvSpPr>
          <p:cNvPr id="9" name="Text 6"/>
          <p:cNvSpPr txBox="1"/>
          <p:nvPr/>
        </p:nvSpPr>
        <p:spPr>
          <a:xfrm>
            <a:off x="685800" y="3733800"/>
            <a:ext cx="9525000" cy="242888"/>
          </a:xfrm>
          <a:prstGeom prst="rect">
            <a:avLst/>
          </a:prstGeom>
          <a:noFill/>
          <a:ln/>
        </p:spPr>
        <p:txBody>
          <a:bodyPr wrap="square" lIns="0" tIns="0" rIns="0" bIns="0" rtlCol="0" anchor="t"/>
          <a:lstStyle/>
          <a:p>
            <a:pPr algn="l" indent="0" marL="0">
              <a:lnSpc>
                <a:spcPts val="1913"/>
              </a:lnSpc>
              <a:buNone/>
            </a:pPr>
            <a:r>
              <a:rPr lang="en-US" sz="1275" dirty="0">
                <a:solidFill>
                  <a:srgbClr val="CFCBC2"/>
                </a:solidFill>
                <a:latin typeface="Malgun Gothic" pitchFamily="34" charset="0"/>
                <a:ea typeface="Malgun Gothic" pitchFamily="34" charset="-122"/>
                <a:cs typeface="Malgun Gothic" pitchFamily="34" charset="-120"/>
              </a:rPr>
              <a:t>온도 프로파일 생성 절차 통합과 누적 40회 실적 기반 보정 곡선 적용</a:t>
            </a:r>
            <a:endParaRPr lang="en-US" sz="1275" dirty="0"/>
          </a:p>
        </p:txBody>
      </p:sp>
      <p:sp>
        <p:nvSpPr>
          <p:cNvPr id="10" name="Shape 7"/>
          <p:cNvSpPr/>
          <p:nvPr/>
        </p:nvSpPr>
        <p:spPr>
          <a:xfrm>
            <a:off x="685800" y="4305300"/>
            <a:ext cx="10820400" cy="0"/>
          </a:xfrm>
          <a:prstGeom prst="line">
            <a:avLst/>
          </a:prstGeom>
          <a:noFill/>
          <a:ln w="12700">
            <a:solidFill>
              <a:srgbClr val="22354A"/>
            </a:solidFill>
            <a:prstDash val="solid"/>
          </a:ln>
        </p:spPr>
      </p:sp>
      <p:sp>
        <p:nvSpPr>
          <p:cNvPr id="11" name="Text 8"/>
          <p:cNvSpPr txBox="1"/>
          <p:nvPr/>
        </p:nvSpPr>
        <p:spPr>
          <a:xfrm>
            <a:off x="685800" y="4648200"/>
            <a:ext cx="762000" cy="136922"/>
          </a:xfrm>
          <a:prstGeom prst="rect">
            <a:avLst/>
          </a:prstGeom>
          <a:noFill/>
          <a:ln/>
        </p:spPr>
        <p:txBody>
          <a:bodyPr wrap="square" lIns="0" tIns="0" rIns="0" bIns="0" rtlCol="0" anchor="t"/>
          <a:lstStyle/>
          <a:p>
            <a:pPr algn="l" indent="0" marL="0">
              <a:lnSpc>
                <a:spcPts val="1078"/>
              </a:lnSpc>
              <a:buNone/>
            </a:pPr>
            <a:r>
              <a:rPr lang="en-US" sz="863" spc="140" kern="0" dirty="0">
                <a:solidFill>
                  <a:srgbClr val="8A8880"/>
                </a:solidFill>
                <a:latin typeface="Consolas" pitchFamily="34" charset="0"/>
                <a:ea typeface="Consolas" pitchFamily="34" charset="-122"/>
                <a:cs typeface="Consolas" pitchFamily="34" charset="-120"/>
              </a:rPr>
              <a:t>소  속</a:t>
            </a:r>
            <a:endParaRPr lang="en-US" sz="863" dirty="0"/>
          </a:p>
        </p:txBody>
      </p:sp>
      <p:sp>
        <p:nvSpPr>
          <p:cNvPr id="12" name="Shape 9"/>
          <p:cNvSpPr/>
          <p:nvPr/>
        </p:nvSpPr>
        <p:spPr>
          <a:xfrm>
            <a:off x="1600200" y="4629150"/>
            <a:ext cx="0" cy="190500"/>
          </a:xfrm>
          <a:prstGeom prst="line">
            <a:avLst/>
          </a:prstGeom>
          <a:noFill/>
          <a:ln w="12700">
            <a:solidFill>
              <a:srgbClr val="22354A"/>
            </a:solidFill>
            <a:prstDash val="solid"/>
          </a:ln>
        </p:spPr>
      </p:sp>
      <p:sp>
        <p:nvSpPr>
          <p:cNvPr id="13" name="Text 10"/>
          <p:cNvSpPr txBox="1"/>
          <p:nvPr/>
        </p:nvSpPr>
        <p:spPr>
          <a:xfrm>
            <a:off x="1809750" y="4629150"/>
            <a:ext cx="6667500" cy="205740"/>
          </a:xfrm>
          <a:prstGeom prst="rect">
            <a:avLst/>
          </a:prstGeom>
          <a:noFill/>
          <a:ln/>
        </p:spPr>
        <p:txBody>
          <a:bodyPr wrap="square" lIns="0" tIns="0" rIns="0" bIns="0" rtlCol="0" anchor="t"/>
          <a:lstStyle/>
          <a:p>
            <a:pPr algn="l" indent="0" marL="0">
              <a:lnSpc>
                <a:spcPts val="1620"/>
              </a:lnSpc>
              <a:buNone/>
            </a:pPr>
            <a:r>
              <a:rPr lang="en-US" sz="1200" dirty="0">
                <a:solidFill>
                  <a:srgbClr val="EAE7E0"/>
                </a:solidFill>
                <a:latin typeface="Malgun Gothic" pitchFamily="34" charset="0"/>
                <a:ea typeface="Malgun Gothic" pitchFamily="34" charset="-122"/>
                <a:cs typeface="Malgun Gothic" pitchFamily="34" charset="-120"/>
              </a:rPr>
              <a:t>나래에너지서비스 위례사업소</a:t>
            </a:r>
            <a:endParaRPr lang="en-US" sz="1200" dirty="0"/>
          </a:p>
        </p:txBody>
      </p:sp>
      <p:sp>
        <p:nvSpPr>
          <p:cNvPr id="14" name="Text 11"/>
          <p:cNvSpPr txBox="1"/>
          <p:nvPr/>
        </p:nvSpPr>
        <p:spPr>
          <a:xfrm>
            <a:off x="685800" y="5010150"/>
            <a:ext cx="762000" cy="136922"/>
          </a:xfrm>
          <a:prstGeom prst="rect">
            <a:avLst/>
          </a:prstGeom>
          <a:noFill/>
          <a:ln/>
        </p:spPr>
        <p:txBody>
          <a:bodyPr wrap="square" lIns="0" tIns="0" rIns="0" bIns="0" rtlCol="0" anchor="t"/>
          <a:lstStyle/>
          <a:p>
            <a:pPr algn="l" indent="0" marL="0">
              <a:lnSpc>
                <a:spcPts val="1078"/>
              </a:lnSpc>
              <a:buNone/>
            </a:pPr>
            <a:r>
              <a:rPr lang="en-US" sz="863" spc="140" kern="0" dirty="0">
                <a:solidFill>
                  <a:srgbClr val="8A8880"/>
                </a:solidFill>
                <a:latin typeface="Consolas" pitchFamily="34" charset="0"/>
                <a:ea typeface="Consolas" pitchFamily="34" charset="-122"/>
                <a:cs typeface="Consolas" pitchFamily="34" charset="-120"/>
              </a:rPr>
              <a:t>부  서</a:t>
            </a:r>
            <a:endParaRPr lang="en-US" sz="863" dirty="0"/>
          </a:p>
        </p:txBody>
      </p:sp>
      <p:sp>
        <p:nvSpPr>
          <p:cNvPr id="15" name="Shape 12"/>
          <p:cNvSpPr/>
          <p:nvPr/>
        </p:nvSpPr>
        <p:spPr>
          <a:xfrm>
            <a:off x="1600200" y="4991100"/>
            <a:ext cx="0" cy="190500"/>
          </a:xfrm>
          <a:prstGeom prst="line">
            <a:avLst/>
          </a:prstGeom>
          <a:noFill/>
          <a:ln w="12700">
            <a:solidFill>
              <a:srgbClr val="22354A"/>
            </a:solidFill>
            <a:prstDash val="solid"/>
          </a:ln>
        </p:spPr>
      </p:sp>
      <p:sp>
        <p:nvSpPr>
          <p:cNvPr id="16" name="Text 13"/>
          <p:cNvSpPr txBox="1"/>
          <p:nvPr/>
        </p:nvSpPr>
        <p:spPr>
          <a:xfrm>
            <a:off x="1809750" y="4991100"/>
            <a:ext cx="6667500" cy="205740"/>
          </a:xfrm>
          <a:prstGeom prst="rect">
            <a:avLst/>
          </a:prstGeom>
          <a:noFill/>
          <a:ln/>
        </p:spPr>
        <p:txBody>
          <a:bodyPr wrap="square" lIns="0" tIns="0" rIns="0" bIns="0" rtlCol="0" anchor="t"/>
          <a:lstStyle/>
          <a:p>
            <a:pPr algn="l" indent="0" marL="0">
              <a:lnSpc>
                <a:spcPts val="1620"/>
              </a:lnSpc>
              <a:buNone/>
            </a:pPr>
            <a:r>
              <a:rPr lang="en-US" sz="1200" dirty="0">
                <a:solidFill>
                  <a:srgbClr val="EAE7E0"/>
                </a:solidFill>
                <a:latin typeface="Malgun Gothic" pitchFamily="34" charset="0"/>
                <a:ea typeface="Malgun Gothic" pitchFamily="34" charset="-122"/>
                <a:cs typeface="Malgun Gothic" pitchFamily="34" charset="-120"/>
              </a:rPr>
              <a:t>정비기술팀</a:t>
            </a:r>
            <a:endParaRPr lang="en-US" sz="1200" dirty="0"/>
          </a:p>
        </p:txBody>
      </p:sp>
      <p:sp>
        <p:nvSpPr>
          <p:cNvPr id="17" name="Text 14"/>
          <p:cNvSpPr txBox="1"/>
          <p:nvPr/>
        </p:nvSpPr>
        <p:spPr>
          <a:xfrm>
            <a:off x="685800" y="5372100"/>
            <a:ext cx="762000" cy="136922"/>
          </a:xfrm>
          <a:prstGeom prst="rect">
            <a:avLst/>
          </a:prstGeom>
          <a:noFill/>
          <a:ln/>
        </p:spPr>
        <p:txBody>
          <a:bodyPr wrap="square" lIns="0" tIns="0" rIns="0" bIns="0" rtlCol="0" anchor="t"/>
          <a:lstStyle/>
          <a:p>
            <a:pPr algn="l" indent="0" marL="0">
              <a:lnSpc>
                <a:spcPts val="1078"/>
              </a:lnSpc>
              <a:buNone/>
            </a:pPr>
            <a:r>
              <a:rPr lang="en-US" sz="863" spc="140" kern="0" dirty="0">
                <a:solidFill>
                  <a:srgbClr val="8A8880"/>
                </a:solidFill>
                <a:latin typeface="Consolas" pitchFamily="34" charset="0"/>
                <a:ea typeface="Consolas" pitchFamily="34" charset="-122"/>
                <a:cs typeface="Consolas" pitchFamily="34" charset="-120"/>
              </a:rPr>
              <a:t>작 성 자</a:t>
            </a:r>
            <a:endParaRPr lang="en-US" sz="863" dirty="0"/>
          </a:p>
        </p:txBody>
      </p:sp>
      <p:sp>
        <p:nvSpPr>
          <p:cNvPr id="18" name="Shape 15"/>
          <p:cNvSpPr/>
          <p:nvPr/>
        </p:nvSpPr>
        <p:spPr>
          <a:xfrm>
            <a:off x="1600200" y="5353050"/>
            <a:ext cx="0" cy="190500"/>
          </a:xfrm>
          <a:prstGeom prst="line">
            <a:avLst/>
          </a:prstGeom>
          <a:noFill/>
          <a:ln w="12700">
            <a:solidFill>
              <a:srgbClr val="22354A"/>
            </a:solidFill>
            <a:prstDash val="solid"/>
          </a:ln>
        </p:spPr>
      </p:sp>
      <p:sp>
        <p:nvSpPr>
          <p:cNvPr id="19" name="Text 16"/>
          <p:cNvSpPr txBox="1"/>
          <p:nvPr/>
        </p:nvSpPr>
        <p:spPr>
          <a:xfrm>
            <a:off x="1809750" y="5353050"/>
            <a:ext cx="6667500" cy="205740"/>
          </a:xfrm>
          <a:prstGeom prst="rect">
            <a:avLst/>
          </a:prstGeom>
          <a:noFill/>
          <a:ln/>
        </p:spPr>
        <p:txBody>
          <a:bodyPr wrap="square" lIns="0" tIns="0" rIns="0" bIns="0" rtlCol="0" anchor="t"/>
          <a:lstStyle/>
          <a:p>
            <a:pPr algn="l" indent="0" marL="0">
              <a:lnSpc>
                <a:spcPts val="1620"/>
              </a:lnSpc>
              <a:buNone/>
            </a:pPr>
            <a:r>
              <a:rPr lang="en-US" sz="1200" dirty="0">
                <a:solidFill>
                  <a:srgbClr val="EAE7E0"/>
                </a:solidFill>
                <a:latin typeface="Malgun Gothic" pitchFamily="34" charset="0"/>
                <a:ea typeface="Malgun Gothic" pitchFamily="34" charset="-122"/>
                <a:cs typeface="Malgun Gothic" pitchFamily="34" charset="-120"/>
              </a:rPr>
              <a:t>주현M  ·  정상우M</a:t>
            </a:r>
            <a:endParaRPr lang="en-US" sz="1200" dirty="0"/>
          </a:p>
        </p:txBody>
      </p:sp>
      <p:sp>
        <p:nvSpPr>
          <p:cNvPr id="20" name="Text 17"/>
          <p:cNvSpPr txBox="1"/>
          <p:nvPr/>
        </p:nvSpPr>
        <p:spPr>
          <a:xfrm>
            <a:off x="685800" y="5734050"/>
            <a:ext cx="762000" cy="136922"/>
          </a:xfrm>
          <a:prstGeom prst="rect">
            <a:avLst/>
          </a:prstGeom>
          <a:noFill/>
          <a:ln/>
        </p:spPr>
        <p:txBody>
          <a:bodyPr wrap="square" lIns="0" tIns="0" rIns="0" bIns="0" rtlCol="0" anchor="t"/>
          <a:lstStyle/>
          <a:p>
            <a:pPr algn="l" indent="0" marL="0">
              <a:lnSpc>
                <a:spcPts val="1078"/>
              </a:lnSpc>
              <a:buNone/>
            </a:pPr>
            <a:r>
              <a:rPr lang="en-US" sz="863" spc="140" kern="0" dirty="0">
                <a:solidFill>
                  <a:srgbClr val="8A8880"/>
                </a:solidFill>
                <a:latin typeface="Consolas" pitchFamily="34" charset="0"/>
                <a:ea typeface="Consolas" pitchFamily="34" charset="-122"/>
                <a:cs typeface="Consolas" pitchFamily="34" charset="-120"/>
              </a:rPr>
              <a:t>작성일자</a:t>
            </a:r>
            <a:endParaRPr lang="en-US" sz="863" dirty="0"/>
          </a:p>
        </p:txBody>
      </p:sp>
      <p:sp>
        <p:nvSpPr>
          <p:cNvPr id="21" name="Shape 18"/>
          <p:cNvSpPr/>
          <p:nvPr/>
        </p:nvSpPr>
        <p:spPr>
          <a:xfrm>
            <a:off x="1600200" y="5715000"/>
            <a:ext cx="0" cy="190500"/>
          </a:xfrm>
          <a:prstGeom prst="line">
            <a:avLst/>
          </a:prstGeom>
          <a:noFill/>
          <a:ln w="12700">
            <a:solidFill>
              <a:srgbClr val="22354A"/>
            </a:solidFill>
            <a:prstDash val="solid"/>
          </a:ln>
        </p:spPr>
      </p:sp>
      <p:sp>
        <p:nvSpPr>
          <p:cNvPr id="22" name="Text 19"/>
          <p:cNvSpPr txBox="1"/>
          <p:nvPr/>
        </p:nvSpPr>
        <p:spPr>
          <a:xfrm>
            <a:off x="1809750" y="5715000"/>
            <a:ext cx="6667500" cy="205740"/>
          </a:xfrm>
          <a:prstGeom prst="rect">
            <a:avLst/>
          </a:prstGeom>
          <a:noFill/>
          <a:ln/>
        </p:spPr>
        <p:txBody>
          <a:bodyPr wrap="square" lIns="0" tIns="0" rIns="0" bIns="0" rtlCol="0" anchor="t"/>
          <a:lstStyle/>
          <a:p>
            <a:pPr algn="l" indent="0" marL="0">
              <a:lnSpc>
                <a:spcPts val="1620"/>
              </a:lnSpc>
              <a:buNone/>
            </a:pPr>
            <a:r>
              <a:rPr lang="en-US" sz="1200" dirty="0">
                <a:solidFill>
                  <a:srgbClr val="EAE7E0"/>
                </a:solidFill>
                <a:latin typeface="Malgun Gothic" pitchFamily="34" charset="0"/>
                <a:ea typeface="Malgun Gothic" pitchFamily="34" charset="-122"/>
                <a:cs typeface="Malgun Gothic" pitchFamily="34" charset="-120"/>
              </a:rPr>
              <a:t>2026. 09.</a:t>
            </a:r>
            <a:endParaRPr lang="en-US" sz="1200" dirty="0"/>
          </a:p>
        </p:txBody>
      </p:sp>
      <p:sp>
        <p:nvSpPr>
          <p:cNvPr id="23" name="Shape 20"/>
          <p:cNvSpPr/>
          <p:nvPr/>
        </p:nvSpPr>
        <p:spPr>
          <a:xfrm>
            <a:off x="685800" y="6038850"/>
            <a:ext cx="10820400" cy="0"/>
          </a:xfrm>
          <a:prstGeom prst="line">
            <a:avLst/>
          </a:prstGeom>
          <a:noFill/>
          <a:ln w="12700">
            <a:solidFill>
              <a:srgbClr val="22354A"/>
            </a:solidFill>
            <a:prstDash val="solid"/>
          </a:ln>
        </p:spPr>
      </p:sp>
      <p:sp>
        <p:nvSpPr>
          <p:cNvPr id="24" name="Text 21"/>
          <p:cNvSpPr txBox="1"/>
          <p:nvPr/>
        </p:nvSpPr>
        <p:spPr>
          <a:xfrm>
            <a:off x="685800" y="6229350"/>
            <a:ext cx="7620000" cy="160020"/>
          </a:xfrm>
          <a:prstGeom prst="rect">
            <a:avLst/>
          </a:prstGeom>
          <a:noFill/>
          <a:ln/>
        </p:spPr>
        <p:txBody>
          <a:bodyPr wrap="square" lIns="0" tIns="0" rIns="0" bIns="0" rtlCol="0" anchor="t"/>
          <a:lstStyle/>
          <a:p>
            <a:pPr algn="l" indent="0" marL="0">
              <a:lnSpc>
                <a:spcPts val="1260"/>
              </a:lnSpc>
              <a:buNone/>
            </a:pPr>
            <a:r>
              <a:rPr lang="en-US" sz="900" spc="160" kern="0" dirty="0">
                <a:solidFill>
                  <a:srgbClr val="8A8880"/>
                </a:solidFill>
                <a:latin typeface="Consolas" pitchFamily="34" charset="0"/>
                <a:ea typeface="Consolas" pitchFamily="34" charset="-122"/>
                <a:cs typeface="Consolas" pitchFamily="34" charset="-120"/>
              </a:rPr>
              <a:t>위례열병합발전소  ·  공급가능용량 입찰 산정 Tool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목차</a:t>
            </a:r>
            <a:endParaRPr lang="en-US" sz="1125" dirty="0"/>
          </a:p>
        </p:txBody>
      </p:sp>
      <p:sp>
        <p:nvSpPr>
          <p:cNvPr id="3" name="Shape 1"/>
          <p:cNvSpPr/>
          <p:nvPr/>
        </p:nvSpPr>
        <p:spPr>
          <a:xfrm>
            <a:off x="685800" y="685800"/>
            <a:ext cx="10820400" cy="0"/>
          </a:xfrm>
          <a:prstGeom prst="line">
            <a:avLst/>
          </a:prstGeom>
          <a:noFill/>
          <a:ln w="12700">
            <a:solidFill>
              <a:srgbClr val="22354A"/>
            </a:solidFill>
            <a:prstDash val="solid"/>
          </a:ln>
        </p:spPr>
      </p:sp>
      <p:sp>
        <p:nvSpPr>
          <p:cNvPr id="4" name="Text 2"/>
          <p:cNvSpPr txBox="1"/>
          <p:nvPr/>
        </p:nvSpPr>
        <p:spPr>
          <a:xfrm>
            <a:off x="685800" y="914400"/>
            <a:ext cx="10287000" cy="444056"/>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오늘 말씀드릴 순서입니다</a:t>
            </a:r>
            <a:endParaRPr lang="en-US" sz="2775" dirty="0"/>
          </a:p>
        </p:txBody>
      </p:sp>
      <p:sp>
        <p:nvSpPr>
          <p:cNvPr id="5" name="Text 3"/>
          <p:cNvSpPr txBox="1"/>
          <p:nvPr/>
        </p:nvSpPr>
        <p:spPr>
          <a:xfrm>
            <a:off x="685800" y="156210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앞의 세 항목이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왜</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뒤의 네 항목이 </a:t>
            </a:r>
            <a:pPr algn="l" indent="0" marL="0">
              <a:lnSpc>
                <a:spcPts val="2241"/>
              </a:lnSpc>
              <a:buNone/>
            </a:pPr>
            <a:r>
              <a:rPr lang="en-US" sz="1350" b="1" dirty="0">
                <a:solidFill>
                  <a:srgbClr val="EFB13C"/>
                </a:solidFill>
                <a:latin typeface="Malgun Gothic" pitchFamily="34" charset="0"/>
                <a:ea typeface="Malgun Gothic" pitchFamily="34" charset="-122"/>
                <a:cs typeface="Malgun Gothic" pitchFamily="34" charset="-120"/>
              </a:rPr>
              <a:t>무엇을 어떻게 바꿨는지</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입니다.</a:t>
            </a:r>
            <a:endParaRPr lang="en-US" sz="1350" dirty="0"/>
          </a:p>
        </p:txBody>
      </p:sp>
      <p:sp>
        <p:nvSpPr>
          <p:cNvPr id="6" name="Text 4"/>
          <p:cNvSpPr txBox="1"/>
          <p:nvPr/>
        </p:nvSpPr>
        <p:spPr>
          <a:xfrm>
            <a:off x="685800" y="232410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01</a:t>
            </a:r>
            <a:endParaRPr lang="en-US" sz="2250" dirty="0"/>
          </a:p>
        </p:txBody>
      </p:sp>
      <p:sp>
        <p:nvSpPr>
          <p:cNvPr id="7" name="Text 5"/>
          <p:cNvSpPr txBox="1"/>
          <p:nvPr/>
        </p:nvSpPr>
        <p:spPr>
          <a:xfrm>
            <a:off x="1409700" y="234315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개요 및 추진 배경</a:t>
            </a:r>
            <a:endParaRPr lang="en-US" sz="1575" dirty="0"/>
          </a:p>
        </p:txBody>
      </p:sp>
      <p:sp>
        <p:nvSpPr>
          <p:cNvPr id="8" name="Text 6"/>
          <p:cNvSpPr txBox="1"/>
          <p:nvPr/>
        </p:nvSpPr>
        <p:spPr>
          <a:xfrm>
            <a:off x="10172700" y="240030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04</a:t>
            </a:r>
            <a:endParaRPr lang="en-US" sz="1050" dirty="0"/>
          </a:p>
        </p:txBody>
      </p:sp>
      <p:sp>
        <p:nvSpPr>
          <p:cNvPr id="9" name="Shape 7"/>
          <p:cNvSpPr/>
          <p:nvPr/>
        </p:nvSpPr>
        <p:spPr>
          <a:xfrm>
            <a:off x="685800" y="2724150"/>
            <a:ext cx="10820400" cy="0"/>
          </a:xfrm>
          <a:prstGeom prst="line">
            <a:avLst/>
          </a:prstGeom>
          <a:noFill/>
          <a:ln w="12700">
            <a:solidFill>
              <a:srgbClr val="182838"/>
            </a:solidFill>
            <a:prstDash val="solid"/>
          </a:ln>
        </p:spPr>
      </p:sp>
      <p:sp>
        <p:nvSpPr>
          <p:cNvPr id="10" name="Text 8"/>
          <p:cNvSpPr txBox="1"/>
          <p:nvPr/>
        </p:nvSpPr>
        <p:spPr>
          <a:xfrm>
            <a:off x="685800" y="283845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02</a:t>
            </a:r>
            <a:endParaRPr lang="en-US" sz="2250" dirty="0"/>
          </a:p>
        </p:txBody>
      </p:sp>
      <p:sp>
        <p:nvSpPr>
          <p:cNvPr id="11" name="Text 9"/>
          <p:cNvSpPr txBox="1"/>
          <p:nvPr/>
        </p:nvSpPr>
        <p:spPr>
          <a:xfrm>
            <a:off x="1409700" y="285750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현황 파악 및 문제 정의</a:t>
            </a:r>
            <a:endParaRPr lang="en-US" sz="1575" dirty="0"/>
          </a:p>
        </p:txBody>
      </p:sp>
      <p:sp>
        <p:nvSpPr>
          <p:cNvPr id="12" name="Text 10"/>
          <p:cNvSpPr txBox="1"/>
          <p:nvPr/>
        </p:nvSpPr>
        <p:spPr>
          <a:xfrm>
            <a:off x="10172700" y="291465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05</a:t>
            </a:r>
            <a:endParaRPr lang="en-US" sz="1050" dirty="0"/>
          </a:p>
        </p:txBody>
      </p:sp>
      <p:sp>
        <p:nvSpPr>
          <p:cNvPr id="13" name="Shape 11"/>
          <p:cNvSpPr/>
          <p:nvPr/>
        </p:nvSpPr>
        <p:spPr>
          <a:xfrm>
            <a:off x="685800" y="3238500"/>
            <a:ext cx="10820400" cy="0"/>
          </a:xfrm>
          <a:prstGeom prst="line">
            <a:avLst/>
          </a:prstGeom>
          <a:noFill/>
          <a:ln w="12700">
            <a:solidFill>
              <a:srgbClr val="182838"/>
            </a:solidFill>
            <a:prstDash val="solid"/>
          </a:ln>
        </p:spPr>
      </p:sp>
      <p:sp>
        <p:nvSpPr>
          <p:cNvPr id="14" name="Text 12"/>
          <p:cNvSpPr txBox="1"/>
          <p:nvPr/>
        </p:nvSpPr>
        <p:spPr>
          <a:xfrm>
            <a:off x="685800" y="335280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03</a:t>
            </a:r>
            <a:endParaRPr lang="en-US" sz="2250" dirty="0"/>
          </a:p>
        </p:txBody>
      </p:sp>
      <p:sp>
        <p:nvSpPr>
          <p:cNvPr id="15" name="Text 13"/>
          <p:cNvSpPr txBox="1"/>
          <p:nvPr/>
        </p:nvSpPr>
        <p:spPr>
          <a:xfrm>
            <a:off x="1409700" y="337185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데이터 분석 및 원인 규명(가설 검증)</a:t>
            </a:r>
            <a:endParaRPr lang="en-US" sz="1575" dirty="0"/>
          </a:p>
        </p:txBody>
      </p:sp>
      <p:sp>
        <p:nvSpPr>
          <p:cNvPr id="16" name="Text 14"/>
          <p:cNvSpPr txBox="1"/>
          <p:nvPr/>
        </p:nvSpPr>
        <p:spPr>
          <a:xfrm>
            <a:off x="10172700" y="342900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06</a:t>
            </a:r>
            <a:endParaRPr lang="en-US" sz="1050" dirty="0"/>
          </a:p>
        </p:txBody>
      </p:sp>
      <p:sp>
        <p:nvSpPr>
          <p:cNvPr id="17" name="Shape 15"/>
          <p:cNvSpPr/>
          <p:nvPr/>
        </p:nvSpPr>
        <p:spPr>
          <a:xfrm>
            <a:off x="685800" y="3752850"/>
            <a:ext cx="10820400" cy="0"/>
          </a:xfrm>
          <a:prstGeom prst="line">
            <a:avLst/>
          </a:prstGeom>
          <a:noFill/>
          <a:ln w="12700">
            <a:solidFill>
              <a:srgbClr val="182838"/>
            </a:solidFill>
            <a:prstDash val="solid"/>
          </a:ln>
        </p:spPr>
      </p:sp>
      <p:sp>
        <p:nvSpPr>
          <p:cNvPr id="18" name="Text 16"/>
          <p:cNvSpPr txBox="1"/>
          <p:nvPr/>
        </p:nvSpPr>
        <p:spPr>
          <a:xfrm>
            <a:off x="685800" y="386715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04</a:t>
            </a:r>
            <a:endParaRPr lang="en-US" sz="2250" dirty="0"/>
          </a:p>
        </p:txBody>
      </p:sp>
      <p:sp>
        <p:nvSpPr>
          <p:cNvPr id="19" name="Text 17"/>
          <p:cNvSpPr txBox="1"/>
          <p:nvPr/>
        </p:nvSpPr>
        <p:spPr>
          <a:xfrm>
            <a:off x="1409700" y="388620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해결 방안 도출 및 예측/보정 모델 개발</a:t>
            </a:r>
            <a:endParaRPr lang="en-US" sz="1575" dirty="0"/>
          </a:p>
        </p:txBody>
      </p:sp>
      <p:sp>
        <p:nvSpPr>
          <p:cNvPr id="20" name="Text 18"/>
          <p:cNvSpPr txBox="1"/>
          <p:nvPr/>
        </p:nvSpPr>
        <p:spPr>
          <a:xfrm>
            <a:off x="10172700" y="394335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07 ~ 09</a:t>
            </a:r>
            <a:endParaRPr lang="en-US" sz="1050" dirty="0"/>
          </a:p>
        </p:txBody>
      </p:sp>
      <p:sp>
        <p:nvSpPr>
          <p:cNvPr id="21" name="Shape 19"/>
          <p:cNvSpPr/>
          <p:nvPr/>
        </p:nvSpPr>
        <p:spPr>
          <a:xfrm>
            <a:off x="685800" y="4267200"/>
            <a:ext cx="10820400" cy="0"/>
          </a:xfrm>
          <a:prstGeom prst="line">
            <a:avLst/>
          </a:prstGeom>
          <a:noFill/>
          <a:ln w="12700">
            <a:solidFill>
              <a:srgbClr val="182838"/>
            </a:solidFill>
            <a:prstDash val="solid"/>
          </a:ln>
        </p:spPr>
      </p:sp>
      <p:sp>
        <p:nvSpPr>
          <p:cNvPr id="22" name="Text 20"/>
          <p:cNvSpPr txBox="1"/>
          <p:nvPr/>
        </p:nvSpPr>
        <p:spPr>
          <a:xfrm>
            <a:off x="685800" y="438150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05</a:t>
            </a:r>
            <a:endParaRPr lang="en-US" sz="2250" dirty="0"/>
          </a:p>
        </p:txBody>
      </p:sp>
      <p:sp>
        <p:nvSpPr>
          <p:cNvPr id="23" name="Text 21"/>
          <p:cNvSpPr txBox="1"/>
          <p:nvPr/>
        </p:nvSpPr>
        <p:spPr>
          <a:xfrm>
            <a:off x="1409700" y="440055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향후 추이 분석(모니터링 체계 구축)</a:t>
            </a:r>
            <a:endParaRPr lang="en-US" sz="1575" dirty="0"/>
          </a:p>
        </p:txBody>
      </p:sp>
      <p:sp>
        <p:nvSpPr>
          <p:cNvPr id="24" name="Text 22"/>
          <p:cNvSpPr txBox="1"/>
          <p:nvPr/>
        </p:nvSpPr>
        <p:spPr>
          <a:xfrm>
            <a:off x="10172700" y="445770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10</a:t>
            </a:r>
            <a:endParaRPr lang="en-US" sz="1050" dirty="0"/>
          </a:p>
        </p:txBody>
      </p:sp>
      <p:sp>
        <p:nvSpPr>
          <p:cNvPr id="25" name="Shape 23"/>
          <p:cNvSpPr/>
          <p:nvPr/>
        </p:nvSpPr>
        <p:spPr>
          <a:xfrm>
            <a:off x="685800" y="4781550"/>
            <a:ext cx="10820400" cy="0"/>
          </a:xfrm>
          <a:prstGeom prst="line">
            <a:avLst/>
          </a:prstGeom>
          <a:noFill/>
          <a:ln w="12700">
            <a:solidFill>
              <a:srgbClr val="182838"/>
            </a:solidFill>
            <a:prstDash val="solid"/>
          </a:ln>
        </p:spPr>
      </p:sp>
      <p:sp>
        <p:nvSpPr>
          <p:cNvPr id="26" name="Text 24"/>
          <p:cNvSpPr txBox="1"/>
          <p:nvPr/>
        </p:nvSpPr>
        <p:spPr>
          <a:xfrm>
            <a:off x="685800" y="489585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06</a:t>
            </a:r>
            <a:endParaRPr lang="en-US" sz="2250" dirty="0"/>
          </a:p>
        </p:txBody>
      </p:sp>
      <p:sp>
        <p:nvSpPr>
          <p:cNvPr id="27" name="Text 25"/>
          <p:cNvSpPr txBox="1"/>
          <p:nvPr/>
        </p:nvSpPr>
        <p:spPr>
          <a:xfrm>
            <a:off x="1409700" y="491490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개선 효과(정량적/정성적)</a:t>
            </a:r>
            <a:endParaRPr lang="en-US" sz="1575" dirty="0"/>
          </a:p>
        </p:txBody>
      </p:sp>
      <p:sp>
        <p:nvSpPr>
          <p:cNvPr id="28" name="Text 26"/>
          <p:cNvSpPr txBox="1"/>
          <p:nvPr/>
        </p:nvSpPr>
        <p:spPr>
          <a:xfrm>
            <a:off x="10172700" y="497205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11</a:t>
            </a:r>
            <a:endParaRPr lang="en-US" sz="1050" dirty="0"/>
          </a:p>
        </p:txBody>
      </p:sp>
      <p:sp>
        <p:nvSpPr>
          <p:cNvPr id="29" name="Shape 27"/>
          <p:cNvSpPr/>
          <p:nvPr/>
        </p:nvSpPr>
        <p:spPr>
          <a:xfrm>
            <a:off x="685800" y="5295900"/>
            <a:ext cx="10820400" cy="0"/>
          </a:xfrm>
          <a:prstGeom prst="line">
            <a:avLst/>
          </a:prstGeom>
          <a:noFill/>
          <a:ln w="12700">
            <a:solidFill>
              <a:srgbClr val="182838"/>
            </a:solidFill>
            <a:prstDash val="solid"/>
          </a:ln>
        </p:spPr>
      </p:sp>
      <p:sp>
        <p:nvSpPr>
          <p:cNvPr id="30" name="Text 28"/>
          <p:cNvSpPr txBox="1"/>
          <p:nvPr/>
        </p:nvSpPr>
        <p:spPr>
          <a:xfrm>
            <a:off x="685800" y="5410200"/>
            <a:ext cx="533400" cy="300038"/>
          </a:xfrm>
          <a:prstGeom prst="rect">
            <a:avLst/>
          </a:prstGeom>
          <a:noFill/>
          <a:ln/>
        </p:spPr>
        <p:txBody>
          <a:bodyPr wrap="square" lIns="0" tIns="0" rIns="0" bIns="0" rtlCol="0" anchor="t"/>
          <a:lstStyle/>
          <a:p>
            <a:pPr algn="l" indent="0" marL="0">
              <a:lnSpc>
                <a:spcPts val="2363"/>
              </a:lnSpc>
              <a:buNone/>
            </a:pPr>
            <a:r>
              <a:rPr lang="en-US" sz="2250" b="1" dirty="0">
                <a:solidFill>
                  <a:srgbClr val="EFB13C"/>
                </a:solidFill>
                <a:latin typeface="Consolas" pitchFamily="34" charset="0"/>
                <a:ea typeface="Consolas" pitchFamily="34" charset="-122"/>
                <a:cs typeface="Consolas" pitchFamily="34" charset="-120"/>
              </a:rPr>
              <a:t>07</a:t>
            </a:r>
            <a:endParaRPr lang="en-US" sz="2250" dirty="0"/>
          </a:p>
        </p:txBody>
      </p:sp>
      <p:sp>
        <p:nvSpPr>
          <p:cNvPr id="31" name="Text 29"/>
          <p:cNvSpPr txBox="1"/>
          <p:nvPr/>
        </p:nvSpPr>
        <p:spPr>
          <a:xfrm>
            <a:off x="1409700" y="5429250"/>
            <a:ext cx="7620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향후 계획 및 수평 전개 방안</a:t>
            </a:r>
            <a:endParaRPr lang="en-US" sz="1575" dirty="0"/>
          </a:p>
        </p:txBody>
      </p:sp>
      <p:sp>
        <p:nvSpPr>
          <p:cNvPr id="32" name="Text 30"/>
          <p:cNvSpPr txBox="1"/>
          <p:nvPr/>
        </p:nvSpPr>
        <p:spPr>
          <a:xfrm>
            <a:off x="10172700" y="5486400"/>
            <a:ext cx="1333500" cy="173355"/>
          </a:xfrm>
          <a:prstGeom prst="rect">
            <a:avLst/>
          </a:prstGeom>
          <a:noFill/>
          <a:ln/>
        </p:spPr>
        <p:txBody>
          <a:bodyPr wrap="square" lIns="0" tIns="0" rIns="0" bIns="0" rtlCol="0" anchor="t"/>
          <a:lstStyle/>
          <a:p>
            <a:pPr algn="r" indent="0" marL="0">
              <a:lnSpc>
                <a:spcPts val="1365"/>
              </a:lnSpc>
              <a:buNone/>
            </a:pPr>
            <a:r>
              <a:rPr lang="en-US" sz="1050" dirty="0">
                <a:solidFill>
                  <a:srgbClr val="8A8880"/>
                </a:solidFill>
                <a:latin typeface="Consolas" pitchFamily="34" charset="0"/>
                <a:ea typeface="Consolas" pitchFamily="34" charset="-122"/>
                <a:cs typeface="Consolas" pitchFamily="34" charset="-120"/>
              </a:rPr>
              <a:t>12</a:t>
            </a:r>
            <a:endParaRPr lang="en-US" sz="1050" dirty="0"/>
          </a:p>
        </p:txBody>
      </p:sp>
      <p:sp>
        <p:nvSpPr>
          <p:cNvPr id="33" name="Shape 31"/>
          <p:cNvSpPr/>
          <p:nvPr/>
        </p:nvSpPr>
        <p:spPr>
          <a:xfrm>
            <a:off x="685800" y="6057900"/>
            <a:ext cx="10820400" cy="0"/>
          </a:xfrm>
          <a:prstGeom prst="line">
            <a:avLst/>
          </a:prstGeom>
          <a:noFill/>
          <a:ln w="12700">
            <a:solidFill>
              <a:srgbClr val="22354A"/>
            </a:solidFill>
            <a:prstDash val="solid"/>
          </a:ln>
        </p:spPr>
      </p:sp>
      <p:sp>
        <p:nvSpPr>
          <p:cNvPr id="34" name="Text 32"/>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35" name="Text 33"/>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본문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10장</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 · 발표 10분 + Tool 시연 4분</a:t>
            </a:r>
            <a:endParaRPr lang="en-US" sz="12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한 장 요약</a:t>
            </a:r>
            <a:endParaRPr lang="en-US" sz="1125" dirty="0"/>
          </a:p>
        </p:txBody>
      </p:sp>
      <p:sp>
        <p:nvSpPr>
          <p:cNvPr id="3" name="Shape 1"/>
          <p:cNvSpPr/>
          <p:nvPr/>
        </p:nvSpPr>
        <p:spPr>
          <a:xfrm>
            <a:off x="685800" y="685800"/>
            <a:ext cx="10820400" cy="0"/>
          </a:xfrm>
          <a:prstGeom prst="line">
            <a:avLst/>
          </a:prstGeom>
          <a:noFill/>
          <a:ln w="12700">
            <a:solidFill>
              <a:srgbClr val="22354A"/>
            </a:solidFill>
            <a:prstDash val="solid"/>
          </a:ln>
        </p:spPr>
      </p:sp>
      <p:sp>
        <p:nvSpPr>
          <p:cNvPr id="4" name="Text 2"/>
          <p:cNvSpPr txBox="1"/>
          <p:nvPr/>
        </p:nvSpPr>
        <p:spPr>
          <a:xfrm>
            <a:off x="685800" y="914400"/>
            <a:ext cx="9906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엑셀 4개로 하던 일을 도구 하나로,</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하나로 정하던 값을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데이터로</a:t>
            </a:r>
            <a:endParaRPr lang="en-US" sz="2775" dirty="0"/>
          </a:p>
        </p:txBody>
      </p:sp>
      <p:sp>
        <p:nvSpPr>
          <p:cNvPr id="5" name="Text 3"/>
          <p:cNvSpPr txBox="1"/>
          <p:nvPr/>
        </p:nvSpPr>
        <p:spPr>
          <a:xfrm>
            <a:off x="685800" y="2000250"/>
            <a:ext cx="100965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일 처리는 </a:t>
            </a:r>
            <a:pPr algn="l" indent="0" marL="0">
              <a:lnSpc>
                <a:spcPts val="2241"/>
              </a:lnSpc>
              <a:buNone/>
            </a:pPr>
            <a:r>
              <a:rPr lang="en-US" sz="1350" b="1" dirty="0">
                <a:solidFill>
                  <a:srgbClr val="EFB13C"/>
                </a:solidFill>
                <a:latin typeface="Malgun Gothic" pitchFamily="34" charset="0"/>
                <a:ea typeface="Malgun Gothic" pitchFamily="34" charset="-122"/>
                <a:cs typeface="Malgun Gothic" pitchFamily="34" charset="-120"/>
              </a:rPr>
              <a:t>날짜·시각 한 번 입력</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으로 끝나고, 신고 숫자는 </a:t>
            </a:r>
            <a:pPr algn="l" indent="0" marL="0">
              <a:lnSpc>
                <a:spcPts val="2241"/>
              </a:lnSpc>
              <a:buNone/>
            </a:pPr>
            <a:r>
              <a:rPr lang="en-US" sz="1350" b="1" dirty="0">
                <a:solidFill>
                  <a:srgbClr val="EFB13C"/>
                </a:solidFill>
                <a:latin typeface="Malgun Gothic" pitchFamily="34" charset="0"/>
                <a:ea typeface="Malgun Gothic" pitchFamily="34" charset="-122"/>
                <a:cs typeface="Malgun Gothic" pitchFamily="34" charset="-120"/>
              </a:rPr>
              <a:t>40회 실적</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이 정합니다.</a:t>
            </a:r>
            <a:endParaRPr lang="en-US" sz="1350" dirty="0"/>
          </a:p>
        </p:txBody>
      </p:sp>
      <p:sp>
        <p:nvSpPr>
          <p:cNvPr id="6" name="Shape 4"/>
          <p:cNvSpPr/>
          <p:nvPr/>
        </p:nvSpPr>
        <p:spPr>
          <a:xfrm>
            <a:off x="685800" y="2705100"/>
            <a:ext cx="3295650" cy="19050"/>
          </a:xfrm>
          <a:prstGeom prst="rect">
            <a:avLst/>
          </a:prstGeom>
          <a:solidFill>
            <a:srgbClr val="EFB13C"/>
          </a:solidFill>
          <a:ln/>
        </p:spPr>
      </p:sp>
      <p:sp>
        <p:nvSpPr>
          <p:cNvPr id="7" name="Text 5"/>
          <p:cNvSpPr txBox="1"/>
          <p:nvPr/>
        </p:nvSpPr>
        <p:spPr>
          <a:xfrm>
            <a:off x="685800" y="2838450"/>
            <a:ext cx="32956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예측 오차  ·  MAE</a:t>
            </a:r>
            <a:endParaRPr lang="en-US" sz="788" dirty="0"/>
          </a:p>
        </p:txBody>
      </p:sp>
      <p:sp>
        <p:nvSpPr>
          <p:cNvPr id="8" name="Text 6"/>
          <p:cNvSpPr txBox="1"/>
          <p:nvPr/>
        </p:nvSpPr>
        <p:spPr>
          <a:xfrm>
            <a:off x="685800" y="3067050"/>
            <a:ext cx="1402080" cy="600075"/>
          </a:xfrm>
          <a:prstGeom prst="rect">
            <a:avLst/>
          </a:prstGeom>
          <a:noFill/>
          <a:ln/>
        </p:spPr>
        <p:txBody>
          <a:bodyPr wrap="square" lIns="0" tIns="0" rIns="0" bIns="0" rtlCol="0" anchor="t"/>
          <a:lstStyle/>
          <a:p>
            <a:pPr algn="l" indent="0" marL="0">
              <a:lnSpc>
                <a:spcPts val="4725"/>
              </a:lnSpc>
              <a:buNone/>
            </a:pPr>
            <a:r>
              <a:rPr lang="en-US" sz="4500" b="1" dirty="0">
                <a:solidFill>
                  <a:srgbClr val="EFB13C"/>
                </a:solidFill>
                <a:latin typeface="Consolas" pitchFamily="34" charset="0"/>
                <a:ea typeface="Consolas" pitchFamily="34" charset="-122"/>
                <a:cs typeface="Consolas" pitchFamily="34" charset="-120"/>
              </a:rPr>
              <a:t>1.30</a:t>
            </a:r>
            <a:endParaRPr lang="en-US" sz="4500" dirty="0"/>
          </a:p>
        </p:txBody>
      </p:sp>
      <p:sp>
        <p:nvSpPr>
          <p:cNvPr id="9" name="Text 7"/>
          <p:cNvSpPr txBox="1"/>
          <p:nvPr/>
        </p:nvSpPr>
        <p:spPr>
          <a:xfrm>
            <a:off x="2145030" y="3352800"/>
            <a:ext cx="400050" cy="205740"/>
          </a:xfrm>
          <a:prstGeom prst="rect">
            <a:avLst/>
          </a:prstGeom>
          <a:noFill/>
          <a:ln/>
        </p:spPr>
        <p:txBody>
          <a:bodyPr wrap="square" lIns="0" tIns="0" rIns="0" bIns="0" rtlCol="0" anchor="t"/>
          <a:lstStyle/>
          <a:p>
            <a:pPr algn="l" indent="0" marL="0">
              <a:lnSpc>
                <a:spcPts val="1620"/>
              </a:lnSpc>
              <a:buNone/>
            </a:pPr>
            <a:r>
              <a:rPr lang="en-US" sz="1350" dirty="0">
                <a:solidFill>
                  <a:srgbClr val="A9A79F"/>
                </a:solidFill>
                <a:latin typeface="Malgun Gothic" pitchFamily="34" charset="0"/>
                <a:ea typeface="Malgun Gothic" pitchFamily="34" charset="-122"/>
                <a:cs typeface="Malgun Gothic" pitchFamily="34" charset="-120"/>
              </a:rPr>
              <a:t>MW</a:t>
            </a:r>
            <a:endParaRPr lang="en-US" sz="1350" dirty="0"/>
          </a:p>
        </p:txBody>
      </p:sp>
      <p:sp>
        <p:nvSpPr>
          <p:cNvPr id="10" name="Text 8"/>
          <p:cNvSpPr txBox="1"/>
          <p:nvPr/>
        </p:nvSpPr>
        <p:spPr>
          <a:xfrm>
            <a:off x="2792730" y="3390900"/>
            <a:ext cx="1333500" cy="240030"/>
          </a:xfrm>
          <a:prstGeom prst="rect">
            <a:avLst/>
          </a:prstGeom>
          <a:noFill/>
          <a:ln/>
        </p:spPr>
        <p:txBody>
          <a:bodyPr wrap="square" lIns="0" tIns="0" rIns="0" bIns="0" rtlCol="0" anchor="t"/>
          <a:lstStyle/>
          <a:p>
            <a:pPr algn="l" indent="0" marL="0">
              <a:lnSpc>
                <a:spcPts val="1890"/>
              </a:lnSpc>
              <a:buNone/>
            </a:pPr>
            <a:r>
              <a:rPr lang="en-US" sz="1575" dirty="0">
                <a:solidFill>
                  <a:srgbClr val="A8BCD1"/>
                </a:solidFill>
                <a:latin typeface="Consolas" pitchFamily="34" charset="0"/>
                <a:ea typeface="Consolas" pitchFamily="34" charset="-122"/>
                <a:cs typeface="Consolas" pitchFamily="34" charset="-120"/>
              </a:rPr>
              <a:t>← 3.90</a:t>
            </a:r>
            <a:endParaRPr lang="en-US" sz="1575" dirty="0"/>
          </a:p>
        </p:txBody>
      </p:sp>
      <p:sp>
        <p:nvSpPr>
          <p:cNvPr id="11" name="Text 9"/>
          <p:cNvSpPr txBox="1"/>
          <p:nvPr/>
        </p:nvSpPr>
        <p:spPr>
          <a:xfrm>
            <a:off x="685800" y="3810000"/>
            <a:ext cx="3295650" cy="369094"/>
          </a:xfrm>
          <a:prstGeom prst="rect">
            <a:avLst/>
          </a:prstGeom>
          <a:noFill/>
          <a:ln/>
        </p:spPr>
        <p:txBody>
          <a:bodyPr wrap="square" lIns="0" tIns="0" rIns="0" bIns="0" rtlCol="0" anchor="t"/>
          <a:lstStyle/>
          <a:p>
            <a:pPr algn="l" indent="0" marL="0">
              <a:lnSpc>
                <a:spcPts val="1453"/>
              </a:lnSpc>
              <a:buNone/>
            </a:pPr>
            <a:r>
              <a:rPr lang="en-US" sz="938" dirty="0">
                <a:solidFill>
                  <a:srgbClr val="A9A79F"/>
                </a:solidFill>
                <a:latin typeface="Malgun Gothic" pitchFamily="34" charset="0"/>
                <a:ea typeface="Malgun Gothic" pitchFamily="34" charset="-122"/>
                <a:cs typeface="Malgun Gothic" pitchFamily="34" charset="-120"/>
              </a:rPr>
              <a:t>신고할 값을 미리 계산했을 때 실제와 벌어진 폭의 평균입니다. 작을수록 좋습니다.</a:t>
            </a:r>
            <a:endParaRPr lang="en-US" sz="938" dirty="0"/>
          </a:p>
        </p:txBody>
      </p:sp>
      <p:sp>
        <p:nvSpPr>
          <p:cNvPr id="12" name="Shape 10"/>
          <p:cNvSpPr/>
          <p:nvPr/>
        </p:nvSpPr>
        <p:spPr>
          <a:xfrm>
            <a:off x="4448175" y="2705100"/>
            <a:ext cx="3295650" cy="19050"/>
          </a:xfrm>
          <a:prstGeom prst="rect">
            <a:avLst/>
          </a:prstGeom>
          <a:solidFill>
            <a:srgbClr val="7E2333"/>
          </a:solidFill>
          <a:ln/>
        </p:spPr>
      </p:sp>
      <p:sp>
        <p:nvSpPr>
          <p:cNvPr id="13" name="Text 11"/>
          <p:cNvSpPr txBox="1"/>
          <p:nvPr/>
        </p:nvSpPr>
        <p:spPr>
          <a:xfrm>
            <a:off x="4448175" y="2838450"/>
            <a:ext cx="32956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신고값을 못 채운 횟수</a:t>
            </a:r>
            <a:endParaRPr lang="en-US" sz="788" dirty="0"/>
          </a:p>
        </p:txBody>
      </p:sp>
      <p:sp>
        <p:nvSpPr>
          <p:cNvPr id="14" name="Text 12"/>
          <p:cNvSpPr txBox="1"/>
          <p:nvPr/>
        </p:nvSpPr>
        <p:spPr>
          <a:xfrm>
            <a:off x="4448175" y="3067050"/>
            <a:ext cx="364808" cy="600075"/>
          </a:xfrm>
          <a:prstGeom prst="rect">
            <a:avLst/>
          </a:prstGeom>
          <a:noFill/>
          <a:ln/>
        </p:spPr>
        <p:txBody>
          <a:bodyPr wrap="square" lIns="0" tIns="0" rIns="0" bIns="0" rtlCol="0" anchor="t"/>
          <a:lstStyle/>
          <a:p>
            <a:pPr algn="l" indent="0" marL="0">
              <a:lnSpc>
                <a:spcPts val="4725"/>
              </a:lnSpc>
              <a:buNone/>
            </a:pPr>
            <a:r>
              <a:rPr lang="en-US" sz="4500" b="1" dirty="0">
                <a:solidFill>
                  <a:srgbClr val="EFB13C"/>
                </a:solidFill>
                <a:latin typeface="Consolas" pitchFamily="34" charset="0"/>
                <a:ea typeface="Consolas" pitchFamily="34" charset="-122"/>
                <a:cs typeface="Consolas" pitchFamily="34" charset="-120"/>
              </a:rPr>
              <a:t>4</a:t>
            </a:r>
            <a:endParaRPr lang="en-US" sz="4500" dirty="0"/>
          </a:p>
        </p:txBody>
      </p:sp>
      <p:sp>
        <p:nvSpPr>
          <p:cNvPr id="15" name="Text 13"/>
          <p:cNvSpPr txBox="1"/>
          <p:nvPr/>
        </p:nvSpPr>
        <p:spPr>
          <a:xfrm>
            <a:off x="4870133" y="3352800"/>
            <a:ext cx="400050" cy="205740"/>
          </a:xfrm>
          <a:prstGeom prst="rect">
            <a:avLst/>
          </a:prstGeom>
          <a:noFill/>
          <a:ln/>
        </p:spPr>
        <p:txBody>
          <a:bodyPr wrap="square" lIns="0" tIns="0" rIns="0" bIns="0" rtlCol="0" anchor="t"/>
          <a:lstStyle/>
          <a:p>
            <a:pPr algn="l" indent="0" marL="0">
              <a:lnSpc>
                <a:spcPts val="1620"/>
              </a:lnSpc>
              <a:buNone/>
            </a:pPr>
            <a:r>
              <a:rPr lang="en-US" sz="1350" dirty="0">
                <a:solidFill>
                  <a:srgbClr val="A9A79F"/>
                </a:solidFill>
                <a:latin typeface="Malgun Gothic" pitchFamily="34" charset="0"/>
                <a:ea typeface="Malgun Gothic" pitchFamily="34" charset="-122"/>
                <a:cs typeface="Malgun Gothic" pitchFamily="34" charset="-120"/>
              </a:rPr>
              <a:t>회</a:t>
            </a:r>
            <a:endParaRPr lang="en-US" sz="1350" dirty="0"/>
          </a:p>
        </p:txBody>
      </p:sp>
      <p:sp>
        <p:nvSpPr>
          <p:cNvPr id="16" name="Text 14"/>
          <p:cNvSpPr txBox="1"/>
          <p:nvPr/>
        </p:nvSpPr>
        <p:spPr>
          <a:xfrm>
            <a:off x="5517833" y="3390900"/>
            <a:ext cx="1333500" cy="240030"/>
          </a:xfrm>
          <a:prstGeom prst="rect">
            <a:avLst/>
          </a:prstGeom>
          <a:noFill/>
          <a:ln/>
        </p:spPr>
        <p:txBody>
          <a:bodyPr wrap="square" lIns="0" tIns="0" rIns="0" bIns="0" rtlCol="0" anchor="t"/>
          <a:lstStyle/>
          <a:p>
            <a:pPr algn="l" indent="0" marL="0">
              <a:lnSpc>
                <a:spcPts val="1890"/>
              </a:lnSpc>
              <a:buNone/>
            </a:pPr>
            <a:r>
              <a:rPr lang="en-US" sz="1575" dirty="0">
                <a:solidFill>
                  <a:srgbClr val="FF4D63"/>
                </a:solidFill>
                <a:latin typeface="Consolas" pitchFamily="34" charset="0"/>
                <a:ea typeface="Consolas" pitchFamily="34" charset="-122"/>
                <a:cs typeface="Consolas" pitchFamily="34" charset="-120"/>
              </a:rPr>
              <a:t>← 15</a:t>
            </a:r>
            <a:endParaRPr lang="en-US" sz="1575" dirty="0"/>
          </a:p>
        </p:txBody>
      </p:sp>
      <p:sp>
        <p:nvSpPr>
          <p:cNvPr id="17" name="Text 15"/>
          <p:cNvSpPr txBox="1"/>
          <p:nvPr/>
        </p:nvSpPr>
        <p:spPr>
          <a:xfrm>
            <a:off x="4448175" y="3810000"/>
            <a:ext cx="3295650" cy="369094"/>
          </a:xfrm>
          <a:prstGeom prst="rect">
            <a:avLst/>
          </a:prstGeom>
          <a:noFill/>
          <a:ln/>
        </p:spPr>
        <p:txBody>
          <a:bodyPr wrap="square" lIns="0" tIns="0" rIns="0" bIns="0" rtlCol="0" anchor="t"/>
          <a:lstStyle/>
          <a:p>
            <a:pPr algn="l" indent="0" marL="0">
              <a:lnSpc>
                <a:spcPts val="1453"/>
              </a:lnSpc>
              <a:buNone/>
            </a:pPr>
            <a:r>
              <a:rPr lang="en-US" sz="938" dirty="0">
                <a:solidFill>
                  <a:srgbClr val="A9A79F"/>
                </a:solidFill>
                <a:latin typeface="Malgun Gothic" pitchFamily="34" charset="0"/>
                <a:ea typeface="Malgun Gothic" pitchFamily="34" charset="-122"/>
                <a:cs typeface="Malgun Gothic" pitchFamily="34" charset="-120"/>
              </a:rPr>
              <a:t>그 주에 신고한 값보다 실제 출력이 낮게 나온 횟수입니다. 이런 회차는 정산에서 불이익을 받습니다.</a:t>
            </a:r>
            <a:endParaRPr lang="en-US" sz="938" dirty="0"/>
          </a:p>
        </p:txBody>
      </p:sp>
      <p:sp>
        <p:nvSpPr>
          <p:cNvPr id="18" name="Shape 16"/>
          <p:cNvSpPr/>
          <p:nvPr/>
        </p:nvSpPr>
        <p:spPr>
          <a:xfrm>
            <a:off x="8210550" y="2705100"/>
            <a:ext cx="3295650" cy="19050"/>
          </a:xfrm>
          <a:prstGeom prst="rect">
            <a:avLst/>
          </a:prstGeom>
          <a:solidFill>
            <a:srgbClr val="EFB13C"/>
          </a:solidFill>
          <a:ln/>
        </p:spPr>
      </p:sp>
      <p:sp>
        <p:nvSpPr>
          <p:cNvPr id="19" name="Text 17"/>
          <p:cNvSpPr txBox="1"/>
          <p:nvPr/>
        </p:nvSpPr>
        <p:spPr>
          <a:xfrm>
            <a:off x="8210550" y="2838450"/>
            <a:ext cx="32956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과대 신고 누계</a:t>
            </a:r>
            <a:endParaRPr lang="en-US" sz="788" dirty="0"/>
          </a:p>
        </p:txBody>
      </p:sp>
      <p:sp>
        <p:nvSpPr>
          <p:cNvPr id="20" name="Text 18"/>
          <p:cNvSpPr txBox="1"/>
          <p:nvPr/>
        </p:nvSpPr>
        <p:spPr>
          <a:xfrm>
            <a:off x="8210550" y="3067050"/>
            <a:ext cx="1056323" cy="600075"/>
          </a:xfrm>
          <a:prstGeom prst="rect">
            <a:avLst/>
          </a:prstGeom>
          <a:noFill/>
          <a:ln/>
        </p:spPr>
        <p:txBody>
          <a:bodyPr wrap="square" lIns="0" tIns="0" rIns="0" bIns="0" rtlCol="0" anchor="t"/>
          <a:lstStyle/>
          <a:p>
            <a:pPr algn="l" indent="0" marL="0">
              <a:lnSpc>
                <a:spcPts val="4725"/>
              </a:lnSpc>
              <a:buNone/>
            </a:pPr>
            <a:r>
              <a:rPr lang="en-US" sz="4500" b="1" dirty="0">
                <a:solidFill>
                  <a:srgbClr val="EFB13C"/>
                </a:solidFill>
                <a:latin typeface="Consolas" pitchFamily="34" charset="0"/>
                <a:ea typeface="Consolas" pitchFamily="34" charset="-122"/>
                <a:cs typeface="Consolas" pitchFamily="34" charset="-120"/>
              </a:rPr>
              <a:t>9.3</a:t>
            </a:r>
            <a:endParaRPr lang="en-US" sz="4500" dirty="0"/>
          </a:p>
        </p:txBody>
      </p:sp>
      <p:sp>
        <p:nvSpPr>
          <p:cNvPr id="21" name="Text 19"/>
          <p:cNvSpPr txBox="1"/>
          <p:nvPr/>
        </p:nvSpPr>
        <p:spPr>
          <a:xfrm>
            <a:off x="9324023" y="3352800"/>
            <a:ext cx="400050" cy="205740"/>
          </a:xfrm>
          <a:prstGeom prst="rect">
            <a:avLst/>
          </a:prstGeom>
          <a:noFill/>
          <a:ln/>
        </p:spPr>
        <p:txBody>
          <a:bodyPr wrap="square" lIns="0" tIns="0" rIns="0" bIns="0" rtlCol="0" anchor="t"/>
          <a:lstStyle/>
          <a:p>
            <a:pPr algn="l" indent="0" marL="0">
              <a:lnSpc>
                <a:spcPts val="1620"/>
              </a:lnSpc>
              <a:buNone/>
            </a:pPr>
            <a:r>
              <a:rPr lang="en-US" sz="1350" dirty="0">
                <a:solidFill>
                  <a:srgbClr val="A9A79F"/>
                </a:solidFill>
                <a:latin typeface="Malgun Gothic" pitchFamily="34" charset="0"/>
                <a:ea typeface="Malgun Gothic" pitchFamily="34" charset="-122"/>
                <a:cs typeface="Malgun Gothic" pitchFamily="34" charset="-120"/>
              </a:rPr>
              <a:t>MW</a:t>
            </a:r>
            <a:endParaRPr lang="en-US" sz="1350" dirty="0"/>
          </a:p>
        </p:txBody>
      </p:sp>
      <p:sp>
        <p:nvSpPr>
          <p:cNvPr id="22" name="Text 20"/>
          <p:cNvSpPr txBox="1"/>
          <p:nvPr/>
        </p:nvSpPr>
        <p:spPr>
          <a:xfrm>
            <a:off x="9971723" y="3390900"/>
            <a:ext cx="1333500" cy="240030"/>
          </a:xfrm>
          <a:prstGeom prst="rect">
            <a:avLst/>
          </a:prstGeom>
          <a:noFill/>
          <a:ln/>
        </p:spPr>
        <p:txBody>
          <a:bodyPr wrap="square" lIns="0" tIns="0" rIns="0" bIns="0" rtlCol="0" anchor="t"/>
          <a:lstStyle/>
          <a:p>
            <a:pPr algn="l" indent="0" marL="0">
              <a:lnSpc>
                <a:spcPts val="1890"/>
              </a:lnSpc>
              <a:buNone/>
            </a:pPr>
            <a:r>
              <a:rPr lang="en-US" sz="1575" dirty="0">
                <a:solidFill>
                  <a:srgbClr val="A8BCD1"/>
                </a:solidFill>
                <a:latin typeface="Consolas" pitchFamily="34" charset="0"/>
                <a:ea typeface="Consolas" pitchFamily="34" charset="-122"/>
                <a:cs typeface="Consolas" pitchFamily="34" charset="-120"/>
              </a:rPr>
              <a:t>← 69.5</a:t>
            </a:r>
            <a:endParaRPr lang="en-US" sz="1575" dirty="0"/>
          </a:p>
        </p:txBody>
      </p:sp>
      <p:sp>
        <p:nvSpPr>
          <p:cNvPr id="23" name="Text 21"/>
          <p:cNvSpPr txBox="1"/>
          <p:nvPr/>
        </p:nvSpPr>
        <p:spPr>
          <a:xfrm>
            <a:off x="8210550" y="3810000"/>
            <a:ext cx="3295650" cy="369094"/>
          </a:xfrm>
          <a:prstGeom prst="rect">
            <a:avLst/>
          </a:prstGeom>
          <a:noFill/>
          <a:ln/>
        </p:spPr>
        <p:txBody>
          <a:bodyPr wrap="square" lIns="0" tIns="0" rIns="0" bIns="0" rtlCol="0" anchor="t"/>
          <a:lstStyle/>
          <a:p>
            <a:pPr algn="l" indent="0" marL="0">
              <a:lnSpc>
                <a:spcPts val="1453"/>
              </a:lnSpc>
              <a:buNone/>
            </a:pPr>
            <a:r>
              <a:rPr lang="en-US" sz="938" dirty="0">
                <a:solidFill>
                  <a:srgbClr val="A9A79F"/>
                </a:solidFill>
                <a:latin typeface="Malgun Gothic" pitchFamily="34" charset="0"/>
                <a:ea typeface="Malgun Gothic" pitchFamily="34" charset="-122"/>
                <a:cs typeface="Malgun Gothic" pitchFamily="34" charset="-120"/>
              </a:rPr>
              <a:t>40회 동안 실제보다 높게 신고한 양을 모두 더한 값입니다.</a:t>
            </a:r>
            <a:endParaRPr lang="en-US" sz="938" dirty="0"/>
          </a:p>
        </p:txBody>
      </p:sp>
      <p:sp>
        <p:nvSpPr>
          <p:cNvPr id="24" name="Shape 22"/>
          <p:cNvSpPr/>
          <p:nvPr/>
        </p:nvSpPr>
        <p:spPr>
          <a:xfrm>
            <a:off x="685800" y="4381500"/>
            <a:ext cx="10820400" cy="1485900"/>
          </a:xfrm>
          <a:prstGeom prst="rect">
            <a:avLst/>
          </a:prstGeom>
          <a:solidFill>
            <a:srgbClr val="0A1320"/>
          </a:solidFill>
          <a:ln/>
        </p:spPr>
      </p:sp>
      <p:sp>
        <p:nvSpPr>
          <p:cNvPr id="25" name="Shape 23"/>
          <p:cNvSpPr/>
          <p:nvPr/>
        </p:nvSpPr>
        <p:spPr>
          <a:xfrm>
            <a:off x="685800" y="4381500"/>
            <a:ext cx="5410200" cy="19050"/>
          </a:xfrm>
          <a:prstGeom prst="rect">
            <a:avLst/>
          </a:prstGeom>
          <a:solidFill>
            <a:srgbClr val="718BA6"/>
          </a:solidFill>
          <a:ln/>
        </p:spPr>
      </p:sp>
      <p:sp>
        <p:nvSpPr>
          <p:cNvPr id="26" name="Shape 24"/>
          <p:cNvSpPr/>
          <p:nvPr/>
        </p:nvSpPr>
        <p:spPr>
          <a:xfrm>
            <a:off x="6096000" y="4381500"/>
            <a:ext cx="5410200" cy="19050"/>
          </a:xfrm>
          <a:prstGeom prst="rect">
            <a:avLst/>
          </a:prstGeom>
          <a:solidFill>
            <a:srgbClr val="EFB13C"/>
          </a:solidFill>
          <a:ln/>
        </p:spPr>
      </p:sp>
      <p:sp>
        <p:nvSpPr>
          <p:cNvPr id="27" name="Shape 25"/>
          <p:cNvSpPr/>
          <p:nvPr/>
        </p:nvSpPr>
        <p:spPr>
          <a:xfrm>
            <a:off x="6096000" y="4648200"/>
            <a:ext cx="0" cy="952500"/>
          </a:xfrm>
          <a:prstGeom prst="line">
            <a:avLst/>
          </a:prstGeom>
          <a:noFill/>
          <a:ln w="12700">
            <a:solidFill>
              <a:srgbClr val="22354A"/>
            </a:solidFill>
            <a:prstDash val="solid"/>
          </a:ln>
        </p:spPr>
      </p:sp>
      <p:sp>
        <p:nvSpPr>
          <p:cNvPr id="28" name="Shape 26"/>
          <p:cNvSpPr/>
          <p:nvPr/>
        </p:nvSpPr>
        <p:spPr>
          <a:xfrm>
            <a:off x="5867400" y="4933950"/>
            <a:ext cx="457200" cy="381000"/>
          </a:xfrm>
          <a:prstGeom prst="rect">
            <a:avLst/>
          </a:prstGeom>
          <a:solidFill>
            <a:srgbClr val="0A1320"/>
          </a:solidFill>
          <a:ln/>
        </p:spPr>
      </p:sp>
      <p:sp>
        <p:nvSpPr>
          <p:cNvPr id="29" name="Text 27"/>
          <p:cNvSpPr txBox="1"/>
          <p:nvPr/>
        </p:nvSpPr>
        <p:spPr>
          <a:xfrm>
            <a:off x="5867400" y="4972050"/>
            <a:ext cx="457200" cy="335280"/>
          </a:xfrm>
          <a:prstGeom prst="rect">
            <a:avLst/>
          </a:prstGeom>
          <a:noFill/>
          <a:ln/>
        </p:spPr>
        <p:txBody>
          <a:bodyPr wrap="square" lIns="0" tIns="0" rIns="0" bIns="0" rtlCol="0" anchor="t"/>
          <a:lstStyle/>
          <a:p>
            <a:pPr algn="ctr" indent="0" marL="0">
              <a:lnSpc>
                <a:spcPts val="2640"/>
              </a:lnSpc>
              <a:buNone/>
            </a:pPr>
            <a:r>
              <a:rPr lang="en-US" sz="2400" dirty="0">
                <a:solidFill>
                  <a:srgbClr val="EFB13C"/>
                </a:solidFill>
                <a:latin typeface="Malgun Gothic" pitchFamily="34" charset="0"/>
                <a:ea typeface="Malgun Gothic" pitchFamily="34" charset="-122"/>
                <a:cs typeface="Malgun Gothic" pitchFamily="34" charset="-120"/>
              </a:rPr>
              <a:t>→</a:t>
            </a:r>
            <a:endParaRPr lang="en-US" sz="2400" dirty="0"/>
          </a:p>
        </p:txBody>
      </p:sp>
      <p:sp>
        <p:nvSpPr>
          <p:cNvPr id="30" name="Text 28"/>
          <p:cNvSpPr txBox="1"/>
          <p:nvPr/>
        </p:nvSpPr>
        <p:spPr>
          <a:xfrm>
            <a:off x="914400" y="461010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718BA6"/>
                </a:solidFill>
                <a:latin typeface="Consolas" pitchFamily="34" charset="0"/>
                <a:ea typeface="Consolas" pitchFamily="34" charset="-122"/>
                <a:cs typeface="Consolas" pitchFamily="34" charset="-120"/>
              </a:rPr>
              <a:t>종전  ·  엑셀 4개  ·  사람의 판단</a:t>
            </a:r>
            <a:endParaRPr lang="en-US" sz="788" dirty="0"/>
          </a:p>
        </p:txBody>
      </p:sp>
      <p:sp>
        <p:nvSpPr>
          <p:cNvPr id="31" name="Text 29"/>
          <p:cNvSpPr txBox="1"/>
          <p:nvPr/>
        </p:nvSpPr>
        <p:spPr>
          <a:xfrm>
            <a:off x="914400" y="4838700"/>
            <a:ext cx="4762500" cy="284036"/>
          </a:xfrm>
          <a:prstGeom prst="rect">
            <a:avLst/>
          </a:prstGeom>
          <a:noFill/>
          <a:ln/>
        </p:spPr>
        <p:txBody>
          <a:bodyPr wrap="square" lIns="0" tIns="0" rIns="0" bIns="0" rtlCol="0" anchor="t"/>
          <a:lstStyle/>
          <a:p>
            <a:pPr algn="l" indent="0" marL="0">
              <a:lnSpc>
                <a:spcPts val="2237"/>
              </a:lnSpc>
              <a:buNone/>
            </a:pPr>
            <a:r>
              <a:rPr lang="en-US" sz="1575" b="1" dirty="0">
                <a:solidFill>
                  <a:srgbClr val="718BA6"/>
                </a:solidFill>
                <a:latin typeface="Malgun Gothic" pitchFamily="34" charset="0"/>
                <a:ea typeface="Malgun Gothic" pitchFamily="34" charset="-122"/>
                <a:cs typeface="Malgun Gothic" pitchFamily="34" charset="-120"/>
              </a:rPr>
              <a:t>온도와 무관한 </a:t>
            </a:r>
            <a:pPr algn="l" indent="0" marL="0">
              <a:lnSpc>
                <a:spcPts val="2237"/>
              </a:lnSpc>
              <a:buNone/>
            </a:pPr>
            <a:r>
              <a:rPr lang="en-US" sz="1575" b="1" dirty="0">
                <a:solidFill>
                  <a:srgbClr val="718BA6"/>
                </a:solidFill>
                <a:latin typeface="Malgun Gothic" pitchFamily="34" charset="0"/>
                <a:ea typeface="Malgun Gothic" pitchFamily="34" charset="-122"/>
                <a:cs typeface="Malgun Gothic" pitchFamily="34" charset="-120"/>
              </a:rPr>
              <a:t>하나의 값</a:t>
            </a:r>
            <a:pPr algn="l" indent="0" marL="0">
              <a:lnSpc>
                <a:spcPts val="2237"/>
              </a:lnSpc>
              <a:buNone/>
            </a:pPr>
            <a:r>
              <a:rPr lang="en-US" sz="1575" b="1" dirty="0">
                <a:solidFill>
                  <a:srgbClr val="718BA6"/>
                </a:solidFill>
                <a:latin typeface="Malgun Gothic" pitchFamily="34" charset="0"/>
                <a:ea typeface="Malgun Gothic" pitchFamily="34" charset="-122"/>
                <a:cs typeface="Malgun Gothic" pitchFamily="34" charset="-120"/>
              </a:rPr>
              <a:t> 으로</a:t>
            </a:r>
            <a:endParaRPr lang="en-US" sz="1575" dirty="0"/>
          </a:p>
        </p:txBody>
      </p:sp>
      <p:sp>
        <p:nvSpPr>
          <p:cNvPr id="32" name="Text 30"/>
          <p:cNvSpPr txBox="1"/>
          <p:nvPr/>
        </p:nvSpPr>
        <p:spPr>
          <a:xfrm>
            <a:off x="914400" y="5257800"/>
            <a:ext cx="4762500" cy="24003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엑셀 4개를 순서대로 돌려 만들었습니다.</a:t>
            </a:r>
            <a:endParaRPr lang="en-US" sz="1125" dirty="0"/>
          </a:p>
        </p:txBody>
      </p:sp>
      <p:sp>
        <p:nvSpPr>
          <p:cNvPr id="33" name="Text 31"/>
          <p:cNvSpPr txBox="1"/>
          <p:nvPr/>
        </p:nvSpPr>
        <p:spPr>
          <a:xfrm>
            <a:off x="6324600" y="461010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EFB13C"/>
                </a:solidFill>
                <a:latin typeface="Consolas" pitchFamily="34" charset="0"/>
                <a:ea typeface="Consolas" pitchFamily="34" charset="-122"/>
                <a:cs typeface="Consolas" pitchFamily="34" charset="-120"/>
              </a:rPr>
              <a:t>현재  ·  도구 1개  ·  데이터의 학습</a:t>
            </a:r>
            <a:endParaRPr lang="en-US" sz="788" dirty="0"/>
          </a:p>
        </p:txBody>
      </p:sp>
      <p:sp>
        <p:nvSpPr>
          <p:cNvPr id="34" name="Text 32"/>
          <p:cNvSpPr txBox="1"/>
          <p:nvPr/>
        </p:nvSpPr>
        <p:spPr>
          <a:xfrm>
            <a:off x="6324600" y="4838700"/>
            <a:ext cx="47625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온도별 곡선을 </a:t>
            </a:r>
            <a:pPr algn="l" indent="0" marL="0">
              <a:lnSpc>
                <a:spcPts val="2237"/>
              </a:lnSpc>
              <a:buNone/>
            </a:pPr>
            <a:r>
              <a:rPr lang="en-US" sz="1575" b="1" dirty="0">
                <a:solidFill>
                  <a:srgbClr val="EFB13C"/>
                </a:solidFill>
                <a:latin typeface="Malgun Gothic" pitchFamily="34" charset="0"/>
                <a:ea typeface="Malgun Gothic" pitchFamily="34" charset="-122"/>
                <a:cs typeface="Malgun Gothic" pitchFamily="34" charset="-120"/>
              </a:rPr>
              <a:t>데이터가 갱신</a:t>
            </a:r>
            <a:endParaRPr lang="en-US" sz="1575" dirty="0"/>
          </a:p>
        </p:txBody>
      </p:sp>
      <p:sp>
        <p:nvSpPr>
          <p:cNvPr id="35" name="Text 33"/>
          <p:cNvSpPr txBox="1"/>
          <p:nvPr/>
        </p:nvSpPr>
        <p:spPr>
          <a:xfrm>
            <a:off x="6324600" y="5257800"/>
            <a:ext cx="4762500" cy="24003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날짜·시각만 넣으면 바로 나옵니다.</a:t>
            </a:r>
            <a:endParaRPr lang="en-US" sz="1125" dirty="0"/>
          </a:p>
        </p:txBody>
      </p:sp>
      <p:sp>
        <p:nvSpPr>
          <p:cNvPr id="36" name="Text 34"/>
          <p:cNvSpPr txBox="1"/>
          <p:nvPr/>
        </p:nvSpPr>
        <p:spPr>
          <a:xfrm>
            <a:off x="914400" y="5505450"/>
            <a:ext cx="10363200" cy="179546"/>
          </a:xfrm>
          <a:prstGeom prst="rect">
            <a:avLst/>
          </a:prstGeom>
          <a:noFill/>
          <a:ln/>
        </p:spPr>
        <p:txBody>
          <a:bodyPr wrap="square" lIns="0" tIns="0" rIns="0" bIns="0" rtlCol="0" anchor="t"/>
          <a:lstStyle/>
          <a:p>
            <a:pPr algn="ctr" indent="0" marL="0">
              <a:lnSpc>
                <a:spcPts val="1414"/>
              </a:lnSpc>
              <a:buNone/>
            </a:pPr>
            <a:r>
              <a:rPr lang="en-US" sz="1088" dirty="0">
                <a:solidFill>
                  <a:srgbClr val="CFCBC2"/>
                </a:solidFill>
                <a:latin typeface="Malgun Gothic" pitchFamily="34" charset="0"/>
                <a:ea typeface="Malgun Gothic" pitchFamily="34" charset="-122"/>
                <a:cs typeface="Malgun Gothic" pitchFamily="34" charset="-120"/>
              </a:rPr>
              <a:t>낮게 신고해 못 받던 </a:t>
            </a:r>
            <a:pPr algn="ctr" indent="0" marL="0">
              <a:lnSpc>
                <a:spcPts val="1414"/>
              </a:lnSpc>
              <a:buNone/>
            </a:pPr>
            <a:r>
              <a:rPr lang="en-US" sz="1088" b="1" dirty="0">
                <a:solidFill>
                  <a:srgbClr val="EFB13C"/>
                </a:solidFill>
                <a:latin typeface="Malgun Gothic" pitchFamily="34" charset="0"/>
                <a:ea typeface="Malgun Gothic" pitchFamily="34" charset="-122"/>
                <a:cs typeface="Malgun Gothic" pitchFamily="34" charset="-120"/>
              </a:rPr>
              <a:t>용량요금</a:t>
            </a:r>
            <a:pPr algn="ctr" indent="0" marL="0">
              <a:lnSpc>
                <a:spcPts val="1414"/>
              </a:lnSpc>
              <a:buNone/>
            </a:pPr>
            <a:r>
              <a:rPr lang="en-US" sz="1088" dirty="0">
                <a:solidFill>
                  <a:srgbClr val="CFCBC2"/>
                </a:solidFill>
                <a:latin typeface="Malgun Gothic" pitchFamily="34" charset="0"/>
                <a:ea typeface="Malgun Gothic" pitchFamily="34" charset="-122"/>
                <a:cs typeface="Malgun Gothic" pitchFamily="34" charset="-120"/>
              </a:rPr>
              <a:t>  연 9,702만원  →  3,943만원   ·   회수 </a:t>
            </a:r>
            <a:pPr algn="ctr" indent="0" marL="0">
              <a:lnSpc>
                <a:spcPts val="1414"/>
              </a:lnSpc>
              <a:buNone/>
            </a:pPr>
            <a:r>
              <a:rPr lang="en-US" sz="1088" b="1" dirty="0">
                <a:solidFill>
                  <a:srgbClr val="EFB13C"/>
                </a:solidFill>
                <a:latin typeface="Malgun Gothic" pitchFamily="34" charset="0"/>
                <a:ea typeface="Malgun Gothic" pitchFamily="34" charset="-122"/>
                <a:cs typeface="Malgun Gothic" pitchFamily="34" charset="-120"/>
              </a:rPr>
              <a:t>5,759만원/년</a:t>
            </a:r>
            <a:endParaRPr lang="en-US" sz="1088" dirty="0"/>
          </a:p>
        </p:txBody>
      </p:sp>
      <p:sp>
        <p:nvSpPr>
          <p:cNvPr id="37" name="Text 35"/>
          <p:cNvSpPr txBox="1"/>
          <p:nvPr/>
        </p:nvSpPr>
        <p:spPr>
          <a:xfrm>
            <a:off x="914400" y="5715000"/>
            <a:ext cx="10363200" cy="120015"/>
          </a:xfrm>
          <a:prstGeom prst="rect">
            <a:avLst/>
          </a:prstGeom>
          <a:noFill/>
          <a:ln/>
        </p:spPr>
        <p:txBody>
          <a:bodyPr wrap="square" lIns="0" tIns="0" rIns="0" bIns="0" rtlCol="0" anchor="t"/>
          <a:lstStyle/>
          <a:p>
            <a:pPr algn="ctr" indent="0" marL="0">
              <a:lnSpc>
                <a:spcPts val="945"/>
              </a:lnSpc>
              <a:buNone/>
            </a:pPr>
            <a:r>
              <a:rPr lang="en-US" sz="788" dirty="0">
                <a:solidFill>
                  <a:srgbClr val="8A8880"/>
                </a:solidFill>
                <a:latin typeface="Malgun Gothic" pitchFamily="34" charset="0"/>
                <a:ea typeface="Malgun Gothic" pitchFamily="34" charset="-122"/>
                <a:cs typeface="Malgun Gothic" pitchFamily="34" charset="-120"/>
              </a:rPr>
              <a:t>용량요금 기준 · 150원/kW·일 × 입찰일 335일(정비 30일 제외) · 에너지수익 미포함</a:t>
            </a:r>
            <a:endParaRPr lang="en-US" sz="788" dirty="0"/>
          </a:p>
        </p:txBody>
      </p:sp>
      <p:sp>
        <p:nvSpPr>
          <p:cNvPr id="38" name="Text 36"/>
          <p:cNvSpPr txBox="1"/>
          <p:nvPr/>
        </p:nvSpPr>
        <p:spPr>
          <a:xfrm>
            <a:off x="685800" y="5905500"/>
            <a:ext cx="10820400" cy="136208"/>
          </a:xfrm>
          <a:prstGeom prst="rect">
            <a:avLst/>
          </a:prstGeom>
          <a:noFill/>
          <a:ln/>
        </p:spPr>
        <p:txBody>
          <a:bodyPr wrap="square" lIns="0" tIns="0" rIns="0" bIns="0" rtlCol="0" anchor="t"/>
          <a:lstStyle/>
          <a:p>
            <a:pPr algn="l" indent="0" marL="0">
              <a:lnSpc>
                <a:spcPts val="1073"/>
              </a:lnSpc>
              <a:buNone/>
            </a:pPr>
            <a:r>
              <a:rPr lang="en-US" sz="825" dirty="0">
                <a:solidFill>
                  <a:srgbClr val="8A8880"/>
                </a:solidFill>
                <a:latin typeface="Malgun Gothic" pitchFamily="34" charset="0"/>
                <a:ea typeface="Malgun Gothic" pitchFamily="34" charset="-122"/>
                <a:cs typeface="Malgun Gothic" pitchFamily="34" charset="-120"/>
              </a:rPr>
              <a:t>※ 누적 40회 실적에 종전 방식과 현재 도구를 각각 적용해 채점한 재현값입니다 (한 회를 가리고 나머지로 예측 · LOOCV 39회, 미달은 ±0.5% 밴드). 실제 신고 이력이 아닙니다.</a:t>
            </a:r>
            <a:endParaRPr lang="en-US" sz="825" dirty="0"/>
          </a:p>
        </p:txBody>
      </p:sp>
      <p:sp>
        <p:nvSpPr>
          <p:cNvPr id="39" name="Shape 37"/>
          <p:cNvSpPr/>
          <p:nvPr/>
        </p:nvSpPr>
        <p:spPr>
          <a:xfrm>
            <a:off x="685800" y="6057900"/>
            <a:ext cx="10820400" cy="0"/>
          </a:xfrm>
          <a:prstGeom prst="line">
            <a:avLst/>
          </a:prstGeom>
          <a:noFill/>
          <a:ln w="12700">
            <a:solidFill>
              <a:srgbClr val="22354A"/>
            </a:solidFill>
            <a:prstDash val="solid"/>
          </a:ln>
        </p:spPr>
      </p:sp>
      <p:sp>
        <p:nvSpPr>
          <p:cNvPr id="40" name="Text 38"/>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41" name="Text 39"/>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일은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실행 한 번</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으로, 숫자는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40회 실적이 만들어 내는 값</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으로 바꿨습니다.</a:t>
            </a:r>
            <a:endParaRPr lang="en-US" sz="123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01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개요 및 추진 배경</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왜 하는가</a:t>
            </a:r>
            <a:endParaRPr lang="en-US" sz="1125" dirty="0"/>
          </a:p>
        </p:txBody>
      </p:sp>
      <p:sp>
        <p:nvSpPr>
          <p:cNvPr id="3" name="Shape 1"/>
          <p:cNvSpPr/>
          <p:nvPr/>
        </p:nvSpPr>
        <p:spPr>
          <a:xfrm>
            <a:off x="10668000" y="419100"/>
            <a:ext cx="38100" cy="142875"/>
          </a:xfrm>
          <a:prstGeom prst="rect">
            <a:avLst/>
          </a:prstGeom>
          <a:solidFill>
            <a:srgbClr val="EFB13C"/>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85775"/>
            <a:ext cx="38100" cy="76200"/>
          </a:xfrm>
          <a:prstGeom prst="rect">
            <a:avLst/>
          </a:prstGeom>
          <a:solidFill>
            <a:srgbClr val="8A8880"/>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테스트는 한 점,</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신고는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61개 온도 전부</a:t>
            </a:r>
            <a:endParaRPr lang="en-US" sz="2775" dirty="0"/>
          </a:p>
        </p:txBody>
      </p:sp>
      <p:sp>
        <p:nvSpPr>
          <p:cNvPr id="12" name="Text 10"/>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그 빈 구간을 메우려고, 한 점에서 구한 보정값 하나를 61개 온도에 똑같이 적용한 것이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일괄 보정</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입니다.</a:t>
            </a:r>
            <a:endParaRPr lang="en-US" sz="1350" dirty="0"/>
          </a:p>
        </p:txBody>
      </p:sp>
      <p:sp>
        <p:nvSpPr>
          <p:cNvPr id="13" name="Shape 11"/>
          <p:cNvSpPr/>
          <p:nvPr/>
        </p:nvSpPr>
        <p:spPr>
          <a:xfrm>
            <a:off x="685800" y="2552700"/>
            <a:ext cx="10820400" cy="1085850"/>
          </a:xfrm>
          <a:prstGeom prst="rect">
            <a:avLst/>
          </a:prstGeom>
          <a:solidFill>
            <a:srgbClr val="0A1320"/>
          </a:solidFill>
          <a:ln w="12700">
            <a:solidFill>
              <a:srgbClr val="182838"/>
            </a:solidFill>
            <a:prstDash val="solid"/>
          </a:ln>
        </p:spPr>
      </p:sp>
      <p:sp>
        <p:nvSpPr>
          <p:cNvPr id="14" name="Text 12"/>
          <p:cNvSpPr txBox="1"/>
          <p:nvPr/>
        </p:nvSpPr>
        <p:spPr>
          <a:xfrm>
            <a:off x="914400" y="264795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718BA6"/>
                </a:solidFill>
                <a:latin typeface="Consolas" pitchFamily="34" charset="0"/>
                <a:ea typeface="Consolas" pitchFamily="34" charset="-122"/>
                <a:cs typeface="Consolas" pitchFamily="34" charset="-120"/>
              </a:rPr>
              <a:t>종전 절차  ·  엑셀 4개를 순서대로</a:t>
            </a:r>
            <a:endParaRPr lang="en-US" sz="788" dirty="0"/>
          </a:p>
        </p:txBody>
      </p:sp>
      <p:sp>
        <p:nvSpPr>
          <p:cNvPr id="15" name="Shape 13"/>
          <p:cNvSpPr/>
          <p:nvPr/>
        </p:nvSpPr>
        <p:spPr>
          <a:xfrm>
            <a:off x="914400" y="2838450"/>
            <a:ext cx="1866900" cy="419100"/>
          </a:xfrm>
          <a:prstGeom prst="rect">
            <a:avLst/>
          </a:prstGeom>
          <a:solidFill>
            <a:srgbClr val="0F1A28"/>
          </a:solidFill>
          <a:ln w="12700">
            <a:solidFill>
              <a:srgbClr val="22354A"/>
            </a:solidFill>
            <a:prstDash val="solid"/>
          </a:ln>
        </p:spPr>
      </p:sp>
      <p:sp>
        <p:nvSpPr>
          <p:cNvPr id="16" name="Text 14"/>
          <p:cNvSpPr txBox="1"/>
          <p:nvPr/>
        </p:nvSpPr>
        <p:spPr>
          <a:xfrm>
            <a:off x="1028700" y="2895600"/>
            <a:ext cx="1638300" cy="154305"/>
          </a:xfrm>
          <a:prstGeom prst="rect">
            <a:avLst/>
          </a:prstGeom>
          <a:noFill/>
          <a:ln/>
        </p:spPr>
        <p:txBody>
          <a:bodyPr wrap="square" lIns="0" tIns="0" rIns="0" bIns="0" rtlCol="0" anchor="t"/>
          <a:lstStyle/>
          <a:p>
            <a:pPr algn="l" indent="0" marL="0">
              <a:lnSpc>
                <a:spcPts val="1215"/>
              </a:lnSpc>
              <a:buNone/>
            </a:pPr>
            <a:r>
              <a:rPr lang="en-US" sz="1013" b="1" dirty="0">
                <a:solidFill>
                  <a:srgbClr val="EAE7E0"/>
                </a:solidFill>
                <a:latin typeface="Malgun Gothic" pitchFamily="34" charset="0"/>
                <a:ea typeface="Malgun Gothic" pitchFamily="34" charset="-122"/>
                <a:cs typeface="Malgun Gothic" pitchFamily="34" charset="-120"/>
              </a:rPr>
              <a:t>테스트 1회</a:t>
            </a:r>
            <a:endParaRPr lang="en-US" sz="1013" dirty="0"/>
          </a:p>
        </p:txBody>
      </p:sp>
      <p:sp>
        <p:nvSpPr>
          <p:cNvPr id="17" name="Text 15"/>
          <p:cNvSpPr txBox="1"/>
          <p:nvPr/>
        </p:nvSpPr>
        <p:spPr>
          <a:xfrm>
            <a:off x="1028700" y="3076575"/>
            <a:ext cx="1638300" cy="114300"/>
          </a:xfrm>
          <a:prstGeom prst="rect">
            <a:avLst/>
          </a:prstGeom>
          <a:noFill/>
          <a:ln/>
        </p:spPr>
        <p:txBody>
          <a:bodyPr wrap="square" lIns="0" tIns="0" rIns="0" bIns="0" rtlCol="0" anchor="t"/>
          <a:lstStyle/>
          <a:p>
            <a:pPr algn="l" indent="0" marL="0">
              <a:lnSpc>
                <a:spcPts val="900"/>
              </a:lnSpc>
              <a:buNone/>
            </a:pPr>
            <a:r>
              <a:rPr lang="en-US" sz="750" dirty="0">
                <a:solidFill>
                  <a:srgbClr val="8A8880"/>
                </a:solidFill>
                <a:latin typeface="Malgun Gothic" pitchFamily="34" charset="0"/>
                <a:ea typeface="Malgun Gothic" pitchFamily="34" charset="-122"/>
                <a:cs typeface="Malgun Gothic" pitchFamily="34" charset="-120"/>
              </a:rPr>
              <a:t>엑셀 ① 날짜·시각 → RiMS</a:t>
            </a:r>
            <a:endParaRPr lang="en-US" sz="750" dirty="0"/>
          </a:p>
        </p:txBody>
      </p:sp>
      <p:sp>
        <p:nvSpPr>
          <p:cNvPr id="18" name="Text 16"/>
          <p:cNvSpPr txBox="1"/>
          <p:nvPr/>
        </p:nvSpPr>
        <p:spPr>
          <a:xfrm>
            <a:off x="2781300" y="2971800"/>
            <a:ext cx="190500" cy="160020"/>
          </a:xfrm>
          <a:prstGeom prst="rect">
            <a:avLst/>
          </a:prstGeom>
          <a:noFill/>
          <a:ln/>
        </p:spPr>
        <p:txBody>
          <a:bodyPr wrap="square" lIns="0" tIns="0" rIns="0" bIns="0" rtlCol="0" anchor="t"/>
          <a:lstStyle/>
          <a:p>
            <a:pPr algn="ctr" indent="0" marL="0">
              <a:lnSpc>
                <a:spcPts val="1260"/>
              </a:lnSpc>
              <a:buNone/>
            </a:pPr>
            <a:r>
              <a:rPr lang="en-US" sz="1050" dirty="0">
                <a:solidFill>
                  <a:srgbClr val="8A8880"/>
                </a:solidFill>
                <a:latin typeface="Malgun Gothic" pitchFamily="34" charset="0"/>
                <a:ea typeface="Malgun Gothic" pitchFamily="34" charset="-122"/>
                <a:cs typeface="Malgun Gothic" pitchFamily="34" charset="-120"/>
              </a:rPr>
              <a:t>→</a:t>
            </a:r>
            <a:endParaRPr lang="en-US" sz="1050" dirty="0"/>
          </a:p>
        </p:txBody>
      </p:sp>
      <p:sp>
        <p:nvSpPr>
          <p:cNvPr id="19" name="Shape 17"/>
          <p:cNvSpPr/>
          <p:nvPr/>
        </p:nvSpPr>
        <p:spPr>
          <a:xfrm>
            <a:off x="2971800" y="2838450"/>
            <a:ext cx="1866900" cy="419100"/>
          </a:xfrm>
          <a:prstGeom prst="rect">
            <a:avLst/>
          </a:prstGeom>
          <a:solidFill>
            <a:srgbClr val="0F1A28"/>
          </a:solidFill>
          <a:ln w="12700">
            <a:solidFill>
              <a:srgbClr val="22354A"/>
            </a:solidFill>
            <a:prstDash val="solid"/>
          </a:ln>
        </p:spPr>
      </p:sp>
      <p:sp>
        <p:nvSpPr>
          <p:cNvPr id="20" name="Text 18"/>
          <p:cNvSpPr txBox="1"/>
          <p:nvPr/>
        </p:nvSpPr>
        <p:spPr>
          <a:xfrm>
            <a:off x="3086100" y="2895600"/>
            <a:ext cx="1638300" cy="154305"/>
          </a:xfrm>
          <a:prstGeom prst="rect">
            <a:avLst/>
          </a:prstGeom>
          <a:noFill/>
          <a:ln/>
        </p:spPr>
        <p:txBody>
          <a:bodyPr wrap="square" lIns="0" tIns="0" rIns="0" bIns="0" rtlCol="0" anchor="t"/>
          <a:lstStyle/>
          <a:p>
            <a:pPr algn="l" indent="0" marL="0">
              <a:lnSpc>
                <a:spcPts val="1215"/>
              </a:lnSpc>
              <a:buNone/>
            </a:pPr>
            <a:r>
              <a:rPr lang="en-US" sz="1013" b="1" dirty="0">
                <a:solidFill>
                  <a:srgbClr val="EAE7E0"/>
                </a:solidFill>
                <a:latin typeface="Malgun Gothic" pitchFamily="34" charset="0"/>
                <a:ea typeface="Malgun Gothic" pitchFamily="34" charset="-122"/>
                <a:cs typeface="Malgun Gothic" pitchFamily="34" charset="-120"/>
              </a:rPr>
              <a:t>온도별 계산</a:t>
            </a:r>
            <a:endParaRPr lang="en-US" sz="1013" dirty="0"/>
          </a:p>
        </p:txBody>
      </p:sp>
      <p:sp>
        <p:nvSpPr>
          <p:cNvPr id="21" name="Text 19"/>
          <p:cNvSpPr txBox="1"/>
          <p:nvPr/>
        </p:nvSpPr>
        <p:spPr>
          <a:xfrm>
            <a:off x="3086100" y="3076575"/>
            <a:ext cx="1638300" cy="114300"/>
          </a:xfrm>
          <a:prstGeom prst="rect">
            <a:avLst/>
          </a:prstGeom>
          <a:noFill/>
          <a:ln/>
        </p:spPr>
        <p:txBody>
          <a:bodyPr wrap="square" lIns="0" tIns="0" rIns="0" bIns="0" rtlCol="0" anchor="t"/>
          <a:lstStyle/>
          <a:p>
            <a:pPr algn="l" indent="0" marL="0">
              <a:lnSpc>
                <a:spcPts val="900"/>
              </a:lnSpc>
              <a:buNone/>
            </a:pPr>
            <a:r>
              <a:rPr lang="en-US" sz="750" dirty="0">
                <a:solidFill>
                  <a:srgbClr val="8A8880"/>
                </a:solidFill>
                <a:latin typeface="Malgun Gothic" pitchFamily="34" charset="0"/>
                <a:ea typeface="Malgun Gothic" pitchFamily="34" charset="-122"/>
                <a:cs typeface="Malgun Gothic" pitchFamily="34" charset="-120"/>
              </a:rPr>
              <a:t>엑셀 ② 대기압 → 61개 값</a:t>
            </a:r>
            <a:endParaRPr lang="en-US" sz="750" dirty="0"/>
          </a:p>
        </p:txBody>
      </p:sp>
      <p:sp>
        <p:nvSpPr>
          <p:cNvPr id="22" name="Text 20"/>
          <p:cNvSpPr txBox="1"/>
          <p:nvPr/>
        </p:nvSpPr>
        <p:spPr>
          <a:xfrm>
            <a:off x="4838700" y="2971800"/>
            <a:ext cx="190500" cy="160020"/>
          </a:xfrm>
          <a:prstGeom prst="rect">
            <a:avLst/>
          </a:prstGeom>
          <a:noFill/>
          <a:ln/>
        </p:spPr>
        <p:txBody>
          <a:bodyPr wrap="square" lIns="0" tIns="0" rIns="0" bIns="0" rtlCol="0" anchor="t"/>
          <a:lstStyle/>
          <a:p>
            <a:pPr algn="ctr" indent="0" marL="0">
              <a:lnSpc>
                <a:spcPts val="1260"/>
              </a:lnSpc>
              <a:buNone/>
            </a:pPr>
            <a:r>
              <a:rPr lang="en-US" sz="1050" dirty="0">
                <a:solidFill>
                  <a:srgbClr val="8A8880"/>
                </a:solidFill>
                <a:latin typeface="Malgun Gothic" pitchFamily="34" charset="0"/>
                <a:ea typeface="Malgun Gothic" pitchFamily="34" charset="-122"/>
                <a:cs typeface="Malgun Gothic" pitchFamily="34" charset="-120"/>
              </a:rPr>
              <a:t>→</a:t>
            </a:r>
            <a:endParaRPr lang="en-US" sz="1050" dirty="0"/>
          </a:p>
        </p:txBody>
      </p:sp>
      <p:sp>
        <p:nvSpPr>
          <p:cNvPr id="23" name="Shape 21"/>
          <p:cNvSpPr/>
          <p:nvPr/>
        </p:nvSpPr>
        <p:spPr>
          <a:xfrm>
            <a:off x="5029200" y="2838450"/>
            <a:ext cx="1866900" cy="419100"/>
          </a:xfrm>
          <a:prstGeom prst="rect">
            <a:avLst/>
          </a:prstGeom>
          <a:solidFill>
            <a:srgbClr val="0F1A28"/>
          </a:solidFill>
          <a:ln w="12700">
            <a:solidFill>
              <a:srgbClr val="22354A"/>
            </a:solidFill>
            <a:prstDash val="solid"/>
          </a:ln>
        </p:spPr>
      </p:sp>
      <p:sp>
        <p:nvSpPr>
          <p:cNvPr id="24" name="Text 22"/>
          <p:cNvSpPr txBox="1"/>
          <p:nvPr/>
        </p:nvSpPr>
        <p:spPr>
          <a:xfrm>
            <a:off x="5143500" y="2895600"/>
            <a:ext cx="1638300" cy="154305"/>
          </a:xfrm>
          <a:prstGeom prst="rect">
            <a:avLst/>
          </a:prstGeom>
          <a:noFill/>
          <a:ln/>
        </p:spPr>
        <p:txBody>
          <a:bodyPr wrap="square" lIns="0" tIns="0" rIns="0" bIns="0" rtlCol="0" anchor="t"/>
          <a:lstStyle/>
          <a:p>
            <a:pPr algn="l" indent="0" marL="0">
              <a:lnSpc>
                <a:spcPts val="1215"/>
              </a:lnSpc>
              <a:buNone/>
            </a:pPr>
            <a:r>
              <a:rPr lang="en-US" sz="1013" b="1" dirty="0">
                <a:solidFill>
                  <a:srgbClr val="EAE7E0"/>
                </a:solidFill>
                <a:latin typeface="Malgun Gothic" pitchFamily="34" charset="0"/>
                <a:ea typeface="Malgun Gothic" pitchFamily="34" charset="-122"/>
                <a:cs typeface="Malgun Gothic" pitchFamily="34" charset="-120"/>
              </a:rPr>
              <a:t>차이 1개</a:t>
            </a:r>
            <a:endParaRPr lang="en-US" sz="1013" dirty="0"/>
          </a:p>
        </p:txBody>
      </p:sp>
      <p:sp>
        <p:nvSpPr>
          <p:cNvPr id="25" name="Text 23"/>
          <p:cNvSpPr txBox="1"/>
          <p:nvPr/>
        </p:nvSpPr>
        <p:spPr>
          <a:xfrm>
            <a:off x="5143500" y="3076575"/>
            <a:ext cx="1638300" cy="114300"/>
          </a:xfrm>
          <a:prstGeom prst="rect">
            <a:avLst/>
          </a:prstGeom>
          <a:noFill/>
          <a:ln/>
        </p:spPr>
        <p:txBody>
          <a:bodyPr wrap="square" lIns="0" tIns="0" rIns="0" bIns="0" rtlCol="0" anchor="t"/>
          <a:lstStyle/>
          <a:p>
            <a:pPr algn="l" indent="0" marL="0">
              <a:lnSpc>
                <a:spcPts val="900"/>
              </a:lnSpc>
              <a:buNone/>
            </a:pPr>
            <a:r>
              <a:rPr lang="en-US" sz="750" dirty="0">
                <a:solidFill>
                  <a:srgbClr val="8A8880"/>
                </a:solidFill>
                <a:latin typeface="Malgun Gothic" pitchFamily="34" charset="0"/>
                <a:ea typeface="Malgun Gothic" pitchFamily="34" charset="-122"/>
                <a:cs typeface="Malgun Gothic" pitchFamily="34" charset="-120"/>
              </a:rPr>
              <a:t>그날 온도에서 실측 − 계산</a:t>
            </a:r>
            <a:endParaRPr lang="en-US" sz="750" dirty="0"/>
          </a:p>
        </p:txBody>
      </p:sp>
      <p:sp>
        <p:nvSpPr>
          <p:cNvPr id="26" name="Text 24"/>
          <p:cNvSpPr txBox="1"/>
          <p:nvPr/>
        </p:nvSpPr>
        <p:spPr>
          <a:xfrm>
            <a:off x="6896100" y="2971800"/>
            <a:ext cx="190500" cy="160020"/>
          </a:xfrm>
          <a:prstGeom prst="rect">
            <a:avLst/>
          </a:prstGeom>
          <a:noFill/>
          <a:ln/>
        </p:spPr>
        <p:txBody>
          <a:bodyPr wrap="square" lIns="0" tIns="0" rIns="0" bIns="0" rtlCol="0" anchor="t"/>
          <a:lstStyle/>
          <a:p>
            <a:pPr algn="ctr" indent="0" marL="0">
              <a:lnSpc>
                <a:spcPts val="1260"/>
              </a:lnSpc>
              <a:buNone/>
            </a:pPr>
            <a:r>
              <a:rPr lang="en-US" sz="1050" dirty="0">
                <a:solidFill>
                  <a:srgbClr val="8A8880"/>
                </a:solidFill>
                <a:latin typeface="Malgun Gothic" pitchFamily="34" charset="0"/>
                <a:ea typeface="Malgun Gothic" pitchFamily="34" charset="-122"/>
                <a:cs typeface="Malgun Gothic" pitchFamily="34" charset="-120"/>
              </a:rPr>
              <a:t>→</a:t>
            </a:r>
            <a:endParaRPr lang="en-US" sz="1050" dirty="0"/>
          </a:p>
        </p:txBody>
      </p:sp>
      <p:sp>
        <p:nvSpPr>
          <p:cNvPr id="27" name="Shape 25"/>
          <p:cNvSpPr/>
          <p:nvPr/>
        </p:nvSpPr>
        <p:spPr>
          <a:xfrm>
            <a:off x="7086600" y="2838450"/>
            <a:ext cx="1866900" cy="419100"/>
          </a:xfrm>
          <a:prstGeom prst="rect">
            <a:avLst/>
          </a:prstGeom>
          <a:solidFill>
            <a:srgbClr val="0F1A28"/>
          </a:solidFill>
          <a:ln w="17780">
            <a:solidFill>
              <a:srgbClr val="6B5220"/>
            </a:solidFill>
            <a:prstDash val="solid"/>
          </a:ln>
        </p:spPr>
      </p:sp>
      <p:sp>
        <p:nvSpPr>
          <p:cNvPr id="28" name="Text 26"/>
          <p:cNvSpPr txBox="1"/>
          <p:nvPr/>
        </p:nvSpPr>
        <p:spPr>
          <a:xfrm>
            <a:off x="7200900" y="2895600"/>
            <a:ext cx="1638300" cy="154305"/>
          </a:xfrm>
          <a:prstGeom prst="rect">
            <a:avLst/>
          </a:prstGeom>
          <a:noFill/>
          <a:ln/>
        </p:spPr>
        <p:txBody>
          <a:bodyPr wrap="square" lIns="0" tIns="0" rIns="0" bIns="0" rtlCol="0" anchor="t"/>
          <a:lstStyle/>
          <a:p>
            <a:pPr algn="l" indent="0" marL="0">
              <a:lnSpc>
                <a:spcPts val="1215"/>
              </a:lnSpc>
              <a:buNone/>
            </a:pPr>
            <a:r>
              <a:rPr lang="en-US" sz="1013" b="1" dirty="0">
                <a:solidFill>
                  <a:srgbClr val="EFB13C"/>
                </a:solidFill>
                <a:latin typeface="Malgun Gothic" pitchFamily="34" charset="0"/>
                <a:ea typeface="Malgun Gothic" pitchFamily="34" charset="-122"/>
                <a:cs typeface="Malgun Gothic" pitchFamily="34" charset="-120"/>
              </a:rPr>
              <a:t>61개에 똑같이</a:t>
            </a:r>
            <a:endParaRPr lang="en-US" sz="1013" dirty="0"/>
          </a:p>
        </p:txBody>
      </p:sp>
      <p:sp>
        <p:nvSpPr>
          <p:cNvPr id="29" name="Text 27"/>
          <p:cNvSpPr txBox="1"/>
          <p:nvPr/>
        </p:nvSpPr>
        <p:spPr>
          <a:xfrm>
            <a:off x="7200900" y="3076575"/>
            <a:ext cx="1638300" cy="114300"/>
          </a:xfrm>
          <a:prstGeom prst="rect">
            <a:avLst/>
          </a:prstGeom>
          <a:noFill/>
          <a:ln/>
        </p:spPr>
        <p:txBody>
          <a:bodyPr wrap="square" lIns="0" tIns="0" rIns="0" bIns="0" rtlCol="0" anchor="t"/>
          <a:lstStyle/>
          <a:p>
            <a:pPr algn="l" indent="0" marL="0">
              <a:lnSpc>
                <a:spcPts val="900"/>
              </a:lnSpc>
              <a:buNone/>
            </a:pPr>
            <a:r>
              <a:rPr lang="en-US" sz="750" dirty="0">
                <a:solidFill>
                  <a:srgbClr val="8A8880"/>
                </a:solidFill>
                <a:latin typeface="Malgun Gothic" pitchFamily="34" charset="0"/>
                <a:ea typeface="Malgun Gothic" pitchFamily="34" charset="-122"/>
                <a:cs typeface="Malgun Gothic" pitchFamily="34" charset="-120"/>
              </a:rPr>
              <a:t>엑셀 ④ 일괄 보정</a:t>
            </a:r>
            <a:endParaRPr lang="en-US" sz="750" dirty="0"/>
          </a:p>
        </p:txBody>
      </p:sp>
      <p:sp>
        <p:nvSpPr>
          <p:cNvPr id="30" name="Text 28"/>
          <p:cNvSpPr txBox="1"/>
          <p:nvPr/>
        </p:nvSpPr>
        <p:spPr>
          <a:xfrm>
            <a:off x="8953500" y="2971800"/>
            <a:ext cx="190500" cy="160020"/>
          </a:xfrm>
          <a:prstGeom prst="rect">
            <a:avLst/>
          </a:prstGeom>
          <a:noFill/>
          <a:ln/>
        </p:spPr>
        <p:txBody>
          <a:bodyPr wrap="square" lIns="0" tIns="0" rIns="0" bIns="0" rtlCol="0" anchor="t"/>
          <a:lstStyle/>
          <a:p>
            <a:pPr algn="ctr" indent="0" marL="0">
              <a:lnSpc>
                <a:spcPts val="1260"/>
              </a:lnSpc>
              <a:buNone/>
            </a:pPr>
            <a:r>
              <a:rPr lang="en-US" sz="1050" dirty="0">
                <a:solidFill>
                  <a:srgbClr val="8A8880"/>
                </a:solidFill>
                <a:latin typeface="Malgun Gothic" pitchFamily="34" charset="0"/>
                <a:ea typeface="Malgun Gothic" pitchFamily="34" charset="-122"/>
                <a:cs typeface="Malgun Gothic" pitchFamily="34" charset="-120"/>
              </a:rPr>
              <a:t>→</a:t>
            </a:r>
            <a:endParaRPr lang="en-US" sz="1050" dirty="0"/>
          </a:p>
        </p:txBody>
      </p:sp>
      <p:sp>
        <p:nvSpPr>
          <p:cNvPr id="31" name="Shape 29"/>
          <p:cNvSpPr/>
          <p:nvPr/>
        </p:nvSpPr>
        <p:spPr>
          <a:xfrm>
            <a:off x="9144000" y="2838450"/>
            <a:ext cx="1866900" cy="419100"/>
          </a:xfrm>
          <a:prstGeom prst="rect">
            <a:avLst/>
          </a:prstGeom>
          <a:solidFill>
            <a:srgbClr val="0F1A28"/>
          </a:solidFill>
          <a:ln w="12700">
            <a:solidFill>
              <a:srgbClr val="22354A"/>
            </a:solidFill>
            <a:prstDash val="solid"/>
          </a:ln>
        </p:spPr>
      </p:sp>
      <p:sp>
        <p:nvSpPr>
          <p:cNvPr id="32" name="Text 30"/>
          <p:cNvSpPr txBox="1"/>
          <p:nvPr/>
        </p:nvSpPr>
        <p:spPr>
          <a:xfrm>
            <a:off x="9258300" y="2895600"/>
            <a:ext cx="1638300" cy="154305"/>
          </a:xfrm>
          <a:prstGeom prst="rect">
            <a:avLst/>
          </a:prstGeom>
          <a:noFill/>
          <a:ln/>
        </p:spPr>
        <p:txBody>
          <a:bodyPr wrap="square" lIns="0" tIns="0" rIns="0" bIns="0" rtlCol="0" anchor="t"/>
          <a:lstStyle/>
          <a:p>
            <a:pPr algn="l" indent="0" marL="0">
              <a:lnSpc>
                <a:spcPts val="1215"/>
              </a:lnSpc>
              <a:buNone/>
            </a:pPr>
            <a:r>
              <a:rPr lang="en-US" sz="1013" b="1" dirty="0">
                <a:solidFill>
                  <a:srgbClr val="EAE7E0"/>
                </a:solidFill>
                <a:latin typeface="Malgun Gothic" pitchFamily="34" charset="0"/>
                <a:ea typeface="Malgun Gothic" pitchFamily="34" charset="-122"/>
                <a:cs typeface="Malgun Gothic" pitchFamily="34" charset="-120"/>
              </a:rPr>
              <a:t>프로파일 완성</a:t>
            </a:r>
            <a:endParaRPr lang="en-US" sz="1013" dirty="0"/>
          </a:p>
        </p:txBody>
      </p:sp>
      <p:sp>
        <p:nvSpPr>
          <p:cNvPr id="33" name="Text 31"/>
          <p:cNvSpPr txBox="1"/>
          <p:nvPr/>
        </p:nvSpPr>
        <p:spPr>
          <a:xfrm>
            <a:off x="9258300" y="3076575"/>
            <a:ext cx="1638300" cy="114300"/>
          </a:xfrm>
          <a:prstGeom prst="rect">
            <a:avLst/>
          </a:prstGeom>
          <a:noFill/>
          <a:ln/>
        </p:spPr>
        <p:txBody>
          <a:bodyPr wrap="square" lIns="0" tIns="0" rIns="0" bIns="0" rtlCol="0" anchor="t"/>
          <a:lstStyle/>
          <a:p>
            <a:pPr algn="l" indent="0" marL="0">
              <a:lnSpc>
                <a:spcPts val="900"/>
              </a:lnSpc>
              <a:buNone/>
            </a:pPr>
            <a:r>
              <a:rPr lang="en-US" sz="750" dirty="0">
                <a:solidFill>
                  <a:srgbClr val="8A8880"/>
                </a:solidFill>
                <a:latin typeface="Malgun Gothic" pitchFamily="34" charset="0"/>
                <a:ea typeface="Malgun Gothic" pitchFamily="34" charset="-122"/>
                <a:cs typeface="Malgun Gothic" pitchFamily="34" charset="-120"/>
              </a:rPr>
              <a:t>엑셀 ③ 붙여넣기 → 신고</a:t>
            </a:r>
            <a:endParaRPr lang="en-US" sz="750" dirty="0"/>
          </a:p>
        </p:txBody>
      </p:sp>
      <p:sp>
        <p:nvSpPr>
          <p:cNvPr id="34" name="Text 32"/>
          <p:cNvSpPr txBox="1"/>
          <p:nvPr/>
        </p:nvSpPr>
        <p:spPr>
          <a:xfrm>
            <a:off x="914400" y="3352800"/>
            <a:ext cx="10363200" cy="166688"/>
          </a:xfrm>
          <a:prstGeom prst="rect">
            <a:avLst/>
          </a:prstGeom>
          <a:noFill/>
          <a:ln/>
        </p:spPr>
        <p:txBody>
          <a:bodyPr wrap="square" lIns="0" tIns="0" rIns="0" bIns="0" rtlCol="0" anchor="t"/>
          <a:lstStyle/>
          <a:p>
            <a:pPr algn="l" indent="0" marL="0">
              <a:lnSpc>
                <a:spcPts val="1313"/>
              </a:lnSpc>
              <a:buNone/>
            </a:pPr>
            <a:r>
              <a:rPr lang="en-US" sz="938" dirty="0">
                <a:solidFill>
                  <a:srgbClr val="A9A79F"/>
                </a:solidFill>
                <a:latin typeface="Malgun Gothic" pitchFamily="34" charset="0"/>
                <a:ea typeface="Malgun Gothic" pitchFamily="34" charset="-122"/>
                <a:cs typeface="Malgun Gothic" pitchFamily="34" charset="-120"/>
              </a:rPr>
              <a:t>테스트는 </a:t>
            </a:r>
            <a:pPr algn="l" indent="0" marL="0">
              <a:lnSpc>
                <a:spcPts val="1313"/>
              </a:lnSpc>
              <a:buNone/>
            </a:pPr>
            <a:r>
              <a:rPr lang="en-US" sz="938" b="1" dirty="0">
                <a:solidFill>
                  <a:srgbClr val="EFB13C"/>
                </a:solidFill>
                <a:latin typeface="Malgun Gothic" pitchFamily="34" charset="0"/>
                <a:ea typeface="Malgun Gothic" pitchFamily="34" charset="-122"/>
                <a:cs typeface="Malgun Gothic" pitchFamily="34" charset="-120"/>
              </a:rPr>
              <a:t>그날의 온도 한 점</a:t>
            </a:r>
            <a:pPr algn="l" indent="0" marL="0">
              <a:lnSpc>
                <a:spcPts val="1313"/>
              </a:lnSpc>
              <a:buNone/>
            </a:pPr>
            <a:r>
              <a:rPr lang="en-US" sz="938" dirty="0">
                <a:solidFill>
                  <a:srgbClr val="A9A79F"/>
                </a:solidFill>
                <a:latin typeface="Malgun Gothic" pitchFamily="34" charset="0"/>
                <a:ea typeface="Malgun Gothic" pitchFamily="34" charset="-122"/>
                <a:cs typeface="Malgun Gothic" pitchFamily="34" charset="-120"/>
              </a:rPr>
              <a:t>에서만 합니다. 나머지 60개 온도의 차이는 알 수 없으니, 같은 값을 얹는 것이 </a:t>
            </a:r>
            <a:pPr algn="l" indent="0" marL="0">
              <a:lnSpc>
                <a:spcPts val="1313"/>
              </a:lnSpc>
              <a:buNone/>
            </a:pPr>
            <a:r>
              <a:rPr lang="en-US" sz="938" b="1" dirty="0">
                <a:solidFill>
                  <a:srgbClr val="EAE7E0"/>
                </a:solidFill>
                <a:latin typeface="Malgun Gothic" pitchFamily="34" charset="0"/>
                <a:ea typeface="Malgun Gothic" pitchFamily="34" charset="-122"/>
                <a:cs typeface="Malgun Gothic" pitchFamily="34" charset="-120"/>
              </a:rPr>
              <a:t>그때로서는 가장 안전한</a:t>
            </a:r>
            <a:pPr algn="l" indent="0" marL="0">
              <a:lnSpc>
                <a:spcPts val="1313"/>
              </a:lnSpc>
              <a:buNone/>
            </a:pPr>
            <a:r>
              <a:rPr lang="en-US" sz="938" dirty="0">
                <a:solidFill>
                  <a:srgbClr val="A9A79F"/>
                </a:solidFill>
                <a:latin typeface="Malgun Gothic" pitchFamily="34" charset="0"/>
                <a:ea typeface="Malgun Gothic" pitchFamily="34" charset="-122"/>
                <a:cs typeface="Malgun Gothic" pitchFamily="34" charset="-120"/>
              </a:rPr>
              <a:t> 선택이었습니다.</a:t>
            </a:r>
            <a:endParaRPr lang="en-US" sz="938" dirty="0"/>
          </a:p>
        </p:txBody>
      </p:sp>
      <p:sp>
        <p:nvSpPr>
          <p:cNvPr id="35" name="Shape 33"/>
          <p:cNvSpPr/>
          <p:nvPr/>
        </p:nvSpPr>
        <p:spPr>
          <a:xfrm>
            <a:off x="685800" y="3752850"/>
            <a:ext cx="10820400" cy="2190750"/>
          </a:xfrm>
          <a:prstGeom prst="rect">
            <a:avLst/>
          </a:prstGeom>
          <a:solidFill>
            <a:srgbClr val="0A1320"/>
          </a:solidFill>
          <a:ln w="12700">
            <a:solidFill>
              <a:srgbClr val="182838"/>
            </a:solidFill>
            <a:prstDash val="solid"/>
          </a:ln>
        </p:spPr>
      </p:sp>
      <p:sp>
        <p:nvSpPr>
          <p:cNvPr id="36" name="Text 34"/>
          <p:cNvSpPr txBox="1"/>
          <p:nvPr/>
        </p:nvSpPr>
        <p:spPr>
          <a:xfrm>
            <a:off x="914400" y="3848100"/>
            <a:ext cx="6667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외기온도별 출력  ·  단위 MW  ·  종전 신고(이론값 + 2.5 하나로) vs 실제 능력</a:t>
            </a:r>
            <a:endParaRPr lang="en-US" sz="788" dirty="0"/>
          </a:p>
        </p:txBody>
      </p:sp>
      <p:sp>
        <p:nvSpPr>
          <p:cNvPr id="37" name="Shape 35"/>
          <p:cNvSpPr/>
          <p:nvPr/>
        </p:nvSpPr>
        <p:spPr>
          <a:xfrm>
            <a:off x="1428750" y="5396279"/>
            <a:ext cx="9525000" cy="0"/>
          </a:xfrm>
          <a:prstGeom prst="line">
            <a:avLst/>
          </a:prstGeom>
          <a:noFill/>
          <a:ln w="12700">
            <a:solidFill>
              <a:srgbClr val="182838"/>
            </a:solidFill>
            <a:prstDash val="solid"/>
          </a:ln>
        </p:spPr>
      </p:sp>
      <p:sp>
        <p:nvSpPr>
          <p:cNvPr id="38" name="Text 36"/>
          <p:cNvSpPr txBox="1"/>
          <p:nvPr/>
        </p:nvSpPr>
        <p:spPr>
          <a:xfrm>
            <a:off x="914400" y="5329604"/>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360</a:t>
            </a:r>
            <a:endParaRPr lang="en-US" sz="750" dirty="0"/>
          </a:p>
        </p:txBody>
      </p:sp>
      <p:sp>
        <p:nvSpPr>
          <p:cNvPr id="39" name="Shape 37"/>
          <p:cNvSpPr/>
          <p:nvPr/>
        </p:nvSpPr>
        <p:spPr>
          <a:xfrm>
            <a:off x="1428750" y="5188194"/>
            <a:ext cx="9525000" cy="0"/>
          </a:xfrm>
          <a:prstGeom prst="line">
            <a:avLst/>
          </a:prstGeom>
          <a:noFill/>
          <a:ln w="12700">
            <a:solidFill>
              <a:srgbClr val="182838"/>
            </a:solidFill>
            <a:prstDash val="solid"/>
          </a:ln>
        </p:spPr>
      </p:sp>
      <p:sp>
        <p:nvSpPr>
          <p:cNvPr id="40" name="Text 38"/>
          <p:cNvSpPr txBox="1"/>
          <p:nvPr/>
        </p:nvSpPr>
        <p:spPr>
          <a:xfrm>
            <a:off x="914400" y="5121519"/>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380</a:t>
            </a:r>
            <a:endParaRPr lang="en-US" sz="750" dirty="0"/>
          </a:p>
        </p:txBody>
      </p:sp>
      <p:sp>
        <p:nvSpPr>
          <p:cNvPr id="41" name="Shape 39"/>
          <p:cNvSpPr/>
          <p:nvPr/>
        </p:nvSpPr>
        <p:spPr>
          <a:xfrm>
            <a:off x="1428750" y="4980110"/>
            <a:ext cx="9525000" cy="0"/>
          </a:xfrm>
          <a:prstGeom prst="line">
            <a:avLst/>
          </a:prstGeom>
          <a:noFill/>
          <a:ln w="12700">
            <a:solidFill>
              <a:srgbClr val="182838"/>
            </a:solidFill>
            <a:prstDash val="solid"/>
          </a:ln>
        </p:spPr>
      </p:sp>
      <p:sp>
        <p:nvSpPr>
          <p:cNvPr id="42" name="Text 40"/>
          <p:cNvSpPr txBox="1"/>
          <p:nvPr/>
        </p:nvSpPr>
        <p:spPr>
          <a:xfrm>
            <a:off x="914400" y="4913435"/>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400</a:t>
            </a:r>
            <a:endParaRPr lang="en-US" sz="750" dirty="0"/>
          </a:p>
        </p:txBody>
      </p:sp>
      <p:sp>
        <p:nvSpPr>
          <p:cNvPr id="43" name="Shape 41"/>
          <p:cNvSpPr/>
          <p:nvPr/>
        </p:nvSpPr>
        <p:spPr>
          <a:xfrm>
            <a:off x="1428750" y="4772025"/>
            <a:ext cx="9525000" cy="0"/>
          </a:xfrm>
          <a:prstGeom prst="line">
            <a:avLst/>
          </a:prstGeom>
          <a:noFill/>
          <a:ln w="12700">
            <a:solidFill>
              <a:srgbClr val="182838"/>
            </a:solidFill>
            <a:prstDash val="solid"/>
          </a:ln>
        </p:spPr>
      </p:sp>
      <p:sp>
        <p:nvSpPr>
          <p:cNvPr id="44" name="Text 42"/>
          <p:cNvSpPr txBox="1"/>
          <p:nvPr/>
        </p:nvSpPr>
        <p:spPr>
          <a:xfrm>
            <a:off x="914400" y="470535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420</a:t>
            </a:r>
            <a:endParaRPr lang="en-US" sz="750" dirty="0"/>
          </a:p>
        </p:txBody>
      </p:sp>
      <p:sp>
        <p:nvSpPr>
          <p:cNvPr id="45" name="Shape 43"/>
          <p:cNvSpPr/>
          <p:nvPr/>
        </p:nvSpPr>
        <p:spPr>
          <a:xfrm>
            <a:off x="1428750" y="4563940"/>
            <a:ext cx="9525000" cy="0"/>
          </a:xfrm>
          <a:prstGeom prst="line">
            <a:avLst/>
          </a:prstGeom>
          <a:noFill/>
          <a:ln w="12700">
            <a:solidFill>
              <a:srgbClr val="182838"/>
            </a:solidFill>
            <a:prstDash val="solid"/>
          </a:ln>
        </p:spPr>
      </p:sp>
      <p:sp>
        <p:nvSpPr>
          <p:cNvPr id="46" name="Text 44"/>
          <p:cNvSpPr txBox="1"/>
          <p:nvPr/>
        </p:nvSpPr>
        <p:spPr>
          <a:xfrm>
            <a:off x="914400" y="4497265"/>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440</a:t>
            </a:r>
            <a:endParaRPr lang="en-US" sz="750" dirty="0"/>
          </a:p>
        </p:txBody>
      </p:sp>
      <p:sp>
        <p:nvSpPr>
          <p:cNvPr id="47" name="Shape 45"/>
          <p:cNvSpPr/>
          <p:nvPr/>
        </p:nvSpPr>
        <p:spPr>
          <a:xfrm>
            <a:off x="1428750" y="4355856"/>
            <a:ext cx="9525000" cy="0"/>
          </a:xfrm>
          <a:prstGeom prst="line">
            <a:avLst/>
          </a:prstGeom>
          <a:noFill/>
          <a:ln w="12700">
            <a:solidFill>
              <a:srgbClr val="182838"/>
            </a:solidFill>
            <a:prstDash val="solid"/>
          </a:ln>
        </p:spPr>
      </p:sp>
      <p:sp>
        <p:nvSpPr>
          <p:cNvPr id="48" name="Text 46"/>
          <p:cNvSpPr txBox="1"/>
          <p:nvPr/>
        </p:nvSpPr>
        <p:spPr>
          <a:xfrm>
            <a:off x="914400" y="4289181"/>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460</a:t>
            </a:r>
            <a:endParaRPr lang="en-US" sz="750" dirty="0"/>
          </a:p>
        </p:txBody>
      </p:sp>
      <p:sp>
        <p:nvSpPr>
          <p:cNvPr id="49" name="Shape 47"/>
          <p:cNvSpPr/>
          <p:nvPr/>
        </p:nvSpPr>
        <p:spPr>
          <a:xfrm>
            <a:off x="1428750" y="4147771"/>
            <a:ext cx="9525000" cy="0"/>
          </a:xfrm>
          <a:prstGeom prst="line">
            <a:avLst/>
          </a:prstGeom>
          <a:noFill/>
          <a:ln w="12700">
            <a:solidFill>
              <a:srgbClr val="182838"/>
            </a:solidFill>
            <a:prstDash val="solid"/>
          </a:ln>
        </p:spPr>
      </p:sp>
      <p:sp>
        <p:nvSpPr>
          <p:cNvPr id="50" name="Text 48"/>
          <p:cNvSpPr txBox="1"/>
          <p:nvPr/>
        </p:nvSpPr>
        <p:spPr>
          <a:xfrm>
            <a:off x="914400" y="4081096"/>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480</a:t>
            </a:r>
            <a:endParaRPr lang="en-US" sz="750" dirty="0"/>
          </a:p>
        </p:txBody>
      </p:sp>
      <p:sp>
        <p:nvSpPr>
          <p:cNvPr id="51" name="Shape 49"/>
          <p:cNvSpPr/>
          <p:nvPr/>
        </p:nvSpPr>
        <p:spPr>
          <a:xfrm>
            <a:off x="1428750" y="5448300"/>
            <a:ext cx="9525000" cy="0"/>
          </a:xfrm>
          <a:prstGeom prst="line">
            <a:avLst/>
          </a:prstGeom>
          <a:noFill/>
          <a:ln w="12700">
            <a:solidFill>
              <a:srgbClr val="22354A"/>
            </a:solidFill>
            <a:prstDash val="solid"/>
          </a:ln>
        </p:spPr>
      </p:sp>
      <p:sp>
        <p:nvSpPr>
          <p:cNvPr id="52" name="Shape 50"/>
          <p:cNvSpPr/>
          <p:nvPr/>
        </p:nvSpPr>
        <p:spPr>
          <a:xfrm>
            <a:off x="1428750" y="5448300"/>
            <a:ext cx="0" cy="47625"/>
          </a:xfrm>
          <a:prstGeom prst="line">
            <a:avLst/>
          </a:prstGeom>
          <a:noFill/>
          <a:ln w="12700">
            <a:solidFill>
              <a:srgbClr val="8A8880"/>
            </a:solidFill>
            <a:prstDash val="solid"/>
          </a:ln>
        </p:spPr>
      </p:sp>
      <p:sp>
        <p:nvSpPr>
          <p:cNvPr id="53" name="Text 51"/>
          <p:cNvSpPr txBox="1"/>
          <p:nvPr/>
        </p:nvSpPr>
        <p:spPr>
          <a:xfrm>
            <a:off x="1200150" y="55054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54" name="Shape 52"/>
          <p:cNvSpPr/>
          <p:nvPr/>
        </p:nvSpPr>
        <p:spPr>
          <a:xfrm>
            <a:off x="3333750" y="5448300"/>
            <a:ext cx="0" cy="47625"/>
          </a:xfrm>
          <a:prstGeom prst="line">
            <a:avLst/>
          </a:prstGeom>
          <a:noFill/>
          <a:ln w="12700">
            <a:solidFill>
              <a:srgbClr val="8A8880"/>
            </a:solidFill>
            <a:prstDash val="solid"/>
          </a:ln>
        </p:spPr>
      </p:sp>
      <p:sp>
        <p:nvSpPr>
          <p:cNvPr id="55" name="Text 53"/>
          <p:cNvSpPr txBox="1"/>
          <p:nvPr/>
        </p:nvSpPr>
        <p:spPr>
          <a:xfrm>
            <a:off x="3105150" y="55054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56" name="Shape 54"/>
          <p:cNvSpPr/>
          <p:nvPr/>
        </p:nvSpPr>
        <p:spPr>
          <a:xfrm>
            <a:off x="5238750" y="5448300"/>
            <a:ext cx="0" cy="47625"/>
          </a:xfrm>
          <a:prstGeom prst="line">
            <a:avLst/>
          </a:prstGeom>
          <a:noFill/>
          <a:ln w="12700">
            <a:solidFill>
              <a:srgbClr val="8A8880"/>
            </a:solidFill>
            <a:prstDash val="solid"/>
          </a:ln>
        </p:spPr>
      </p:sp>
      <p:sp>
        <p:nvSpPr>
          <p:cNvPr id="57" name="Text 55"/>
          <p:cNvSpPr txBox="1"/>
          <p:nvPr/>
        </p:nvSpPr>
        <p:spPr>
          <a:xfrm>
            <a:off x="5010150" y="55054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58" name="Shape 56"/>
          <p:cNvSpPr/>
          <p:nvPr/>
        </p:nvSpPr>
        <p:spPr>
          <a:xfrm>
            <a:off x="7143750" y="5448300"/>
            <a:ext cx="0" cy="47625"/>
          </a:xfrm>
          <a:prstGeom prst="line">
            <a:avLst/>
          </a:prstGeom>
          <a:noFill/>
          <a:ln w="12700">
            <a:solidFill>
              <a:srgbClr val="8A8880"/>
            </a:solidFill>
            <a:prstDash val="solid"/>
          </a:ln>
        </p:spPr>
      </p:sp>
      <p:sp>
        <p:nvSpPr>
          <p:cNvPr id="59" name="Text 57"/>
          <p:cNvSpPr txBox="1"/>
          <p:nvPr/>
        </p:nvSpPr>
        <p:spPr>
          <a:xfrm>
            <a:off x="6915150" y="55054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20</a:t>
            </a:r>
            <a:endParaRPr lang="en-US" sz="750" dirty="0"/>
          </a:p>
        </p:txBody>
      </p:sp>
      <p:sp>
        <p:nvSpPr>
          <p:cNvPr id="60" name="Shape 58"/>
          <p:cNvSpPr/>
          <p:nvPr/>
        </p:nvSpPr>
        <p:spPr>
          <a:xfrm>
            <a:off x="9048750" y="5448300"/>
            <a:ext cx="0" cy="47625"/>
          </a:xfrm>
          <a:prstGeom prst="line">
            <a:avLst/>
          </a:prstGeom>
          <a:noFill/>
          <a:ln w="12700">
            <a:solidFill>
              <a:srgbClr val="8A8880"/>
            </a:solidFill>
            <a:prstDash val="solid"/>
          </a:ln>
        </p:spPr>
      </p:sp>
      <p:sp>
        <p:nvSpPr>
          <p:cNvPr id="61" name="Text 59"/>
          <p:cNvSpPr txBox="1"/>
          <p:nvPr/>
        </p:nvSpPr>
        <p:spPr>
          <a:xfrm>
            <a:off x="8820150" y="55054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30</a:t>
            </a:r>
            <a:endParaRPr lang="en-US" sz="750" dirty="0"/>
          </a:p>
        </p:txBody>
      </p:sp>
      <p:sp>
        <p:nvSpPr>
          <p:cNvPr id="62" name="Shape 60"/>
          <p:cNvSpPr/>
          <p:nvPr/>
        </p:nvSpPr>
        <p:spPr>
          <a:xfrm>
            <a:off x="10953750" y="5448300"/>
            <a:ext cx="0" cy="47625"/>
          </a:xfrm>
          <a:prstGeom prst="line">
            <a:avLst/>
          </a:prstGeom>
          <a:noFill/>
          <a:ln w="12700">
            <a:solidFill>
              <a:srgbClr val="8A8880"/>
            </a:solidFill>
            <a:prstDash val="solid"/>
          </a:ln>
        </p:spPr>
      </p:sp>
      <p:sp>
        <p:nvSpPr>
          <p:cNvPr id="63" name="Text 61"/>
          <p:cNvSpPr txBox="1"/>
          <p:nvPr/>
        </p:nvSpPr>
        <p:spPr>
          <a:xfrm>
            <a:off x="10725150" y="55054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40</a:t>
            </a:r>
            <a:endParaRPr lang="en-US" sz="750" dirty="0"/>
          </a:p>
        </p:txBody>
      </p:sp>
      <p:sp>
        <p:nvSpPr>
          <p:cNvPr id="64" name="Shape 62"/>
          <p:cNvSpPr/>
          <p:nvPr/>
        </p:nvSpPr>
        <p:spPr>
          <a:xfrm>
            <a:off x="1428750" y="4330157"/>
            <a:ext cx="386715" cy="65807"/>
          </a:xfrm>
          <a:prstGeom prst="rect">
            <a:avLst/>
          </a:prstGeom>
          <a:solidFill>
            <a:srgbClr val="55708A"/>
          </a:solidFill>
          <a:ln/>
        </p:spPr>
      </p:sp>
      <p:sp>
        <p:nvSpPr>
          <p:cNvPr id="65" name="Shape 63"/>
          <p:cNvSpPr/>
          <p:nvPr/>
        </p:nvSpPr>
        <p:spPr>
          <a:xfrm>
            <a:off x="1809750" y="4318661"/>
            <a:ext cx="386715" cy="65807"/>
          </a:xfrm>
          <a:prstGeom prst="rect">
            <a:avLst/>
          </a:prstGeom>
          <a:solidFill>
            <a:srgbClr val="55708A"/>
          </a:solidFill>
          <a:ln/>
        </p:spPr>
      </p:sp>
      <p:sp>
        <p:nvSpPr>
          <p:cNvPr id="66" name="Shape 64"/>
          <p:cNvSpPr/>
          <p:nvPr/>
        </p:nvSpPr>
        <p:spPr>
          <a:xfrm>
            <a:off x="2190750" y="4310181"/>
            <a:ext cx="386715" cy="65807"/>
          </a:xfrm>
          <a:prstGeom prst="rect">
            <a:avLst/>
          </a:prstGeom>
          <a:solidFill>
            <a:srgbClr val="55708A"/>
          </a:solidFill>
          <a:ln/>
        </p:spPr>
      </p:sp>
      <p:sp>
        <p:nvSpPr>
          <p:cNvPr id="67" name="Shape 65"/>
          <p:cNvSpPr/>
          <p:nvPr/>
        </p:nvSpPr>
        <p:spPr>
          <a:xfrm>
            <a:off x="2571750" y="4296240"/>
            <a:ext cx="386715" cy="65807"/>
          </a:xfrm>
          <a:prstGeom prst="rect">
            <a:avLst/>
          </a:prstGeom>
          <a:solidFill>
            <a:srgbClr val="55708A"/>
          </a:solidFill>
          <a:ln/>
        </p:spPr>
      </p:sp>
      <p:sp>
        <p:nvSpPr>
          <p:cNvPr id="68" name="Shape 66"/>
          <p:cNvSpPr/>
          <p:nvPr/>
        </p:nvSpPr>
        <p:spPr>
          <a:xfrm>
            <a:off x="2952750" y="4279853"/>
            <a:ext cx="386715" cy="59044"/>
          </a:xfrm>
          <a:prstGeom prst="rect">
            <a:avLst/>
          </a:prstGeom>
          <a:solidFill>
            <a:srgbClr val="55708A"/>
          </a:solidFill>
          <a:ln/>
        </p:spPr>
      </p:sp>
      <p:sp>
        <p:nvSpPr>
          <p:cNvPr id="69" name="Shape 67"/>
          <p:cNvSpPr/>
          <p:nvPr/>
        </p:nvSpPr>
        <p:spPr>
          <a:xfrm>
            <a:off x="3333750" y="4283026"/>
            <a:ext cx="386715" cy="51969"/>
          </a:xfrm>
          <a:prstGeom prst="rect">
            <a:avLst/>
          </a:prstGeom>
          <a:solidFill>
            <a:srgbClr val="55708A"/>
          </a:solidFill>
          <a:ln/>
        </p:spPr>
      </p:sp>
      <p:sp>
        <p:nvSpPr>
          <p:cNvPr id="70" name="Shape 68"/>
          <p:cNvSpPr/>
          <p:nvPr/>
        </p:nvSpPr>
        <p:spPr>
          <a:xfrm>
            <a:off x="3714750" y="4307320"/>
            <a:ext cx="386715" cy="45935"/>
          </a:xfrm>
          <a:prstGeom prst="rect">
            <a:avLst/>
          </a:prstGeom>
          <a:solidFill>
            <a:srgbClr val="55708A"/>
          </a:solidFill>
          <a:ln/>
        </p:spPr>
      </p:sp>
      <p:sp>
        <p:nvSpPr>
          <p:cNvPr id="71" name="Shape 69"/>
          <p:cNvSpPr/>
          <p:nvPr/>
        </p:nvSpPr>
        <p:spPr>
          <a:xfrm>
            <a:off x="4095750" y="4337856"/>
            <a:ext cx="386715" cy="35582"/>
          </a:xfrm>
          <a:prstGeom prst="rect">
            <a:avLst/>
          </a:prstGeom>
          <a:solidFill>
            <a:srgbClr val="55708A"/>
          </a:solidFill>
          <a:ln/>
        </p:spPr>
      </p:sp>
      <p:sp>
        <p:nvSpPr>
          <p:cNvPr id="72" name="Shape 70"/>
          <p:cNvSpPr/>
          <p:nvPr/>
        </p:nvSpPr>
        <p:spPr>
          <a:xfrm>
            <a:off x="4476750" y="4367352"/>
            <a:ext cx="386715" cy="28872"/>
          </a:xfrm>
          <a:prstGeom prst="rect">
            <a:avLst/>
          </a:prstGeom>
          <a:solidFill>
            <a:srgbClr val="55708A"/>
          </a:solidFill>
          <a:ln/>
        </p:spPr>
      </p:sp>
      <p:sp>
        <p:nvSpPr>
          <p:cNvPr id="73" name="Shape 71"/>
          <p:cNvSpPr/>
          <p:nvPr/>
        </p:nvSpPr>
        <p:spPr>
          <a:xfrm>
            <a:off x="4857750" y="4394143"/>
            <a:ext cx="386715" cy="27519"/>
          </a:xfrm>
          <a:prstGeom prst="rect">
            <a:avLst/>
          </a:prstGeom>
          <a:solidFill>
            <a:srgbClr val="55708A"/>
          </a:solidFill>
          <a:ln/>
        </p:spPr>
      </p:sp>
      <p:sp>
        <p:nvSpPr>
          <p:cNvPr id="74" name="Shape 72"/>
          <p:cNvSpPr/>
          <p:nvPr/>
        </p:nvSpPr>
        <p:spPr>
          <a:xfrm>
            <a:off x="5238750" y="4419009"/>
            <a:ext cx="386715" cy="30692"/>
          </a:xfrm>
          <a:prstGeom prst="rect">
            <a:avLst/>
          </a:prstGeom>
          <a:solidFill>
            <a:srgbClr val="55708A"/>
          </a:solidFill>
          <a:ln/>
        </p:spPr>
      </p:sp>
      <p:sp>
        <p:nvSpPr>
          <p:cNvPr id="75" name="Shape 73"/>
          <p:cNvSpPr/>
          <p:nvPr/>
        </p:nvSpPr>
        <p:spPr>
          <a:xfrm>
            <a:off x="5619750" y="4449026"/>
            <a:ext cx="386715" cy="35166"/>
          </a:xfrm>
          <a:prstGeom prst="rect">
            <a:avLst/>
          </a:prstGeom>
          <a:solidFill>
            <a:srgbClr val="55708A"/>
          </a:solidFill>
          <a:ln/>
        </p:spPr>
      </p:sp>
      <p:sp>
        <p:nvSpPr>
          <p:cNvPr id="76" name="Shape 74"/>
          <p:cNvSpPr/>
          <p:nvPr/>
        </p:nvSpPr>
        <p:spPr>
          <a:xfrm>
            <a:off x="6000750" y="4488874"/>
            <a:ext cx="386715" cy="36675"/>
          </a:xfrm>
          <a:prstGeom prst="rect">
            <a:avLst/>
          </a:prstGeom>
          <a:solidFill>
            <a:srgbClr val="55708A"/>
          </a:solidFill>
          <a:ln/>
        </p:spPr>
      </p:sp>
      <p:sp>
        <p:nvSpPr>
          <p:cNvPr id="77" name="Shape 75"/>
          <p:cNvSpPr/>
          <p:nvPr/>
        </p:nvSpPr>
        <p:spPr>
          <a:xfrm>
            <a:off x="6381750" y="4538242"/>
            <a:ext cx="386715" cy="31629"/>
          </a:xfrm>
          <a:prstGeom prst="rect">
            <a:avLst/>
          </a:prstGeom>
          <a:solidFill>
            <a:srgbClr val="55708A"/>
          </a:solidFill>
          <a:ln/>
        </p:spPr>
      </p:sp>
      <p:sp>
        <p:nvSpPr>
          <p:cNvPr id="78" name="Shape 76"/>
          <p:cNvSpPr/>
          <p:nvPr/>
        </p:nvSpPr>
        <p:spPr>
          <a:xfrm>
            <a:off x="6762750" y="4598743"/>
            <a:ext cx="386715" cy="18624"/>
          </a:xfrm>
          <a:prstGeom prst="rect">
            <a:avLst/>
          </a:prstGeom>
          <a:solidFill>
            <a:srgbClr val="55708A"/>
          </a:solidFill>
          <a:ln/>
        </p:spPr>
      </p:sp>
      <p:sp>
        <p:nvSpPr>
          <p:cNvPr id="79" name="Shape 77"/>
          <p:cNvSpPr/>
          <p:nvPr/>
        </p:nvSpPr>
        <p:spPr>
          <a:xfrm>
            <a:off x="7143750" y="4669075"/>
            <a:ext cx="386715" cy="5715"/>
          </a:xfrm>
          <a:prstGeom prst="rect">
            <a:avLst/>
          </a:prstGeom>
          <a:solidFill>
            <a:srgbClr val="55708A"/>
          </a:solidFill>
          <a:ln/>
        </p:spPr>
      </p:sp>
      <p:sp>
        <p:nvSpPr>
          <p:cNvPr id="80" name="Shape 78"/>
          <p:cNvSpPr/>
          <p:nvPr/>
        </p:nvSpPr>
        <p:spPr>
          <a:xfrm>
            <a:off x="7524750" y="4725102"/>
            <a:ext cx="386715" cy="21797"/>
          </a:xfrm>
          <a:prstGeom prst="rect">
            <a:avLst/>
          </a:prstGeom>
          <a:solidFill>
            <a:srgbClr val="7E2333"/>
          </a:solidFill>
          <a:ln/>
        </p:spPr>
      </p:sp>
      <p:sp>
        <p:nvSpPr>
          <p:cNvPr id="81" name="Shape 79"/>
          <p:cNvSpPr/>
          <p:nvPr/>
        </p:nvSpPr>
        <p:spPr>
          <a:xfrm>
            <a:off x="7905750" y="4777643"/>
            <a:ext cx="386715" cy="39848"/>
          </a:xfrm>
          <a:prstGeom prst="rect">
            <a:avLst/>
          </a:prstGeom>
          <a:solidFill>
            <a:srgbClr val="7E2333"/>
          </a:solidFill>
          <a:ln/>
        </p:spPr>
      </p:sp>
      <p:sp>
        <p:nvSpPr>
          <p:cNvPr id="82" name="Shape 80"/>
          <p:cNvSpPr/>
          <p:nvPr/>
        </p:nvSpPr>
        <p:spPr>
          <a:xfrm>
            <a:off x="8286750" y="4833826"/>
            <a:ext cx="386715" cy="50304"/>
          </a:xfrm>
          <a:prstGeom prst="rect">
            <a:avLst/>
          </a:prstGeom>
          <a:solidFill>
            <a:srgbClr val="7E2333"/>
          </a:solidFill>
          <a:ln/>
        </p:spPr>
      </p:sp>
      <p:sp>
        <p:nvSpPr>
          <p:cNvPr id="83" name="Shape 81"/>
          <p:cNvSpPr/>
          <p:nvPr/>
        </p:nvSpPr>
        <p:spPr>
          <a:xfrm>
            <a:off x="8667750" y="4901922"/>
            <a:ext cx="386715" cy="51293"/>
          </a:xfrm>
          <a:prstGeom prst="rect">
            <a:avLst/>
          </a:prstGeom>
          <a:solidFill>
            <a:srgbClr val="7E2333"/>
          </a:solidFill>
          <a:ln/>
        </p:spPr>
      </p:sp>
      <p:sp>
        <p:nvSpPr>
          <p:cNvPr id="84" name="Shape 82"/>
          <p:cNvSpPr/>
          <p:nvPr/>
        </p:nvSpPr>
        <p:spPr>
          <a:xfrm>
            <a:off x="9048750" y="4976364"/>
            <a:ext cx="386715" cy="43906"/>
          </a:xfrm>
          <a:prstGeom prst="rect">
            <a:avLst/>
          </a:prstGeom>
          <a:solidFill>
            <a:srgbClr val="7E2333"/>
          </a:solidFill>
          <a:ln/>
        </p:spPr>
      </p:sp>
      <p:sp>
        <p:nvSpPr>
          <p:cNvPr id="85" name="Shape 83"/>
          <p:cNvSpPr/>
          <p:nvPr/>
        </p:nvSpPr>
        <p:spPr>
          <a:xfrm>
            <a:off x="9429750" y="5057621"/>
            <a:ext cx="386715" cy="31473"/>
          </a:xfrm>
          <a:prstGeom prst="rect">
            <a:avLst/>
          </a:prstGeom>
          <a:solidFill>
            <a:srgbClr val="7E2333"/>
          </a:solidFill>
          <a:ln/>
        </p:spPr>
      </p:sp>
      <p:sp>
        <p:nvSpPr>
          <p:cNvPr id="86" name="Shape 84"/>
          <p:cNvSpPr/>
          <p:nvPr/>
        </p:nvSpPr>
        <p:spPr>
          <a:xfrm>
            <a:off x="9810750" y="5143976"/>
            <a:ext cx="386715" cy="18103"/>
          </a:xfrm>
          <a:prstGeom prst="rect">
            <a:avLst/>
          </a:prstGeom>
          <a:solidFill>
            <a:srgbClr val="7E2333"/>
          </a:solidFill>
          <a:ln/>
        </p:spPr>
      </p:sp>
      <p:sp>
        <p:nvSpPr>
          <p:cNvPr id="87" name="Shape 85"/>
          <p:cNvSpPr/>
          <p:nvPr/>
        </p:nvSpPr>
        <p:spPr>
          <a:xfrm>
            <a:off x="10191750" y="5233088"/>
            <a:ext cx="386715" cy="7699"/>
          </a:xfrm>
          <a:prstGeom prst="rect">
            <a:avLst/>
          </a:prstGeom>
          <a:solidFill>
            <a:srgbClr val="7E2333"/>
          </a:solidFill>
          <a:ln/>
        </p:spPr>
      </p:sp>
      <p:sp>
        <p:nvSpPr>
          <p:cNvPr id="88" name="Shape 86"/>
          <p:cNvSpPr/>
          <p:nvPr/>
        </p:nvSpPr>
        <p:spPr>
          <a:xfrm>
            <a:off x="10572750" y="5327403"/>
            <a:ext cx="386715" cy="5715"/>
          </a:xfrm>
          <a:prstGeom prst="rect">
            <a:avLst/>
          </a:prstGeom>
          <a:solidFill>
            <a:srgbClr val="7E2333"/>
          </a:solidFill>
          <a:ln/>
        </p:spPr>
      </p:sp>
      <p:sp>
        <p:nvSpPr>
          <p:cNvPr id="89" name="Shape 87"/>
          <p:cNvSpPr/>
          <p:nvPr/>
        </p:nvSpPr>
        <p:spPr>
          <a:xfrm flipV="1">
            <a:off x="1428750" y="4389513"/>
            <a:ext cx="381000" cy="12901"/>
          </a:xfrm>
          <a:prstGeom prst="line">
            <a:avLst/>
          </a:prstGeom>
          <a:noFill/>
          <a:ln w="17780">
            <a:solidFill>
              <a:srgbClr val="A8BCD1"/>
            </a:solidFill>
            <a:prstDash val="dash"/>
          </a:ln>
        </p:spPr>
      </p:sp>
      <p:sp>
        <p:nvSpPr>
          <p:cNvPr id="90" name="Shape 88"/>
          <p:cNvSpPr/>
          <p:nvPr/>
        </p:nvSpPr>
        <p:spPr>
          <a:xfrm flipV="1">
            <a:off x="1809750" y="4379421"/>
            <a:ext cx="381000" cy="10092"/>
          </a:xfrm>
          <a:prstGeom prst="line">
            <a:avLst/>
          </a:prstGeom>
          <a:noFill/>
          <a:ln w="17780">
            <a:solidFill>
              <a:srgbClr val="A8BCD1"/>
            </a:solidFill>
            <a:prstDash val="dash"/>
          </a:ln>
        </p:spPr>
      </p:sp>
      <p:sp>
        <p:nvSpPr>
          <p:cNvPr id="91" name="Shape 89"/>
          <p:cNvSpPr/>
          <p:nvPr/>
        </p:nvSpPr>
        <p:spPr>
          <a:xfrm flipV="1">
            <a:off x="2190750" y="4372555"/>
            <a:ext cx="381000" cy="6867"/>
          </a:xfrm>
          <a:prstGeom prst="line">
            <a:avLst/>
          </a:prstGeom>
          <a:noFill/>
          <a:ln w="17780">
            <a:solidFill>
              <a:srgbClr val="A8BCD1"/>
            </a:solidFill>
            <a:prstDash val="dash"/>
          </a:ln>
        </p:spPr>
      </p:sp>
      <p:sp>
        <p:nvSpPr>
          <p:cNvPr id="92" name="Shape 90"/>
          <p:cNvSpPr/>
          <p:nvPr/>
        </p:nvSpPr>
        <p:spPr>
          <a:xfrm flipV="1">
            <a:off x="2571750" y="4351538"/>
            <a:ext cx="381000" cy="21017"/>
          </a:xfrm>
          <a:prstGeom prst="line">
            <a:avLst/>
          </a:prstGeom>
          <a:noFill/>
          <a:ln w="17780">
            <a:solidFill>
              <a:srgbClr val="A8BCD1"/>
            </a:solidFill>
            <a:prstDash val="dash"/>
          </a:ln>
        </p:spPr>
      </p:sp>
      <p:sp>
        <p:nvSpPr>
          <p:cNvPr id="93" name="Shape 91"/>
          <p:cNvSpPr/>
          <p:nvPr/>
        </p:nvSpPr>
        <p:spPr>
          <a:xfrm flipV="1">
            <a:off x="2952750" y="4326256"/>
            <a:ext cx="381000" cy="25282"/>
          </a:xfrm>
          <a:prstGeom prst="line">
            <a:avLst/>
          </a:prstGeom>
          <a:noFill/>
          <a:ln w="17780">
            <a:solidFill>
              <a:srgbClr val="A8BCD1"/>
            </a:solidFill>
            <a:prstDash val="dash"/>
          </a:ln>
        </p:spPr>
      </p:sp>
      <p:sp>
        <p:nvSpPr>
          <p:cNvPr id="94" name="Shape 92"/>
          <p:cNvSpPr/>
          <p:nvPr/>
        </p:nvSpPr>
        <p:spPr>
          <a:xfrm>
            <a:off x="3333750" y="4326256"/>
            <a:ext cx="381000" cy="17479"/>
          </a:xfrm>
          <a:prstGeom prst="line">
            <a:avLst/>
          </a:prstGeom>
          <a:noFill/>
          <a:ln w="17780">
            <a:solidFill>
              <a:srgbClr val="A8BCD1"/>
            </a:solidFill>
            <a:prstDash val="dash"/>
          </a:ln>
        </p:spPr>
      </p:sp>
      <p:sp>
        <p:nvSpPr>
          <p:cNvPr id="95" name="Shape 93"/>
          <p:cNvSpPr/>
          <p:nvPr/>
        </p:nvSpPr>
        <p:spPr>
          <a:xfrm>
            <a:off x="3714750" y="4343735"/>
            <a:ext cx="381000" cy="19040"/>
          </a:xfrm>
          <a:prstGeom prst="line">
            <a:avLst/>
          </a:prstGeom>
          <a:noFill/>
          <a:ln w="17780">
            <a:solidFill>
              <a:srgbClr val="A8BCD1"/>
            </a:solidFill>
            <a:prstDash val="dash"/>
          </a:ln>
        </p:spPr>
      </p:sp>
      <p:sp>
        <p:nvSpPr>
          <p:cNvPr id="96" name="Shape 94"/>
          <p:cNvSpPr/>
          <p:nvPr/>
        </p:nvSpPr>
        <p:spPr>
          <a:xfrm>
            <a:off x="4095750" y="4362775"/>
            <a:ext cx="381000" cy="21329"/>
          </a:xfrm>
          <a:prstGeom prst="line">
            <a:avLst/>
          </a:prstGeom>
          <a:noFill/>
          <a:ln w="17780">
            <a:solidFill>
              <a:srgbClr val="A8BCD1"/>
            </a:solidFill>
            <a:prstDash val="dash"/>
          </a:ln>
        </p:spPr>
      </p:sp>
      <p:sp>
        <p:nvSpPr>
          <p:cNvPr id="97" name="Shape 95"/>
          <p:cNvSpPr/>
          <p:nvPr/>
        </p:nvSpPr>
        <p:spPr>
          <a:xfrm>
            <a:off x="4476750" y="4384103"/>
            <a:ext cx="381000" cy="24242"/>
          </a:xfrm>
          <a:prstGeom prst="line">
            <a:avLst/>
          </a:prstGeom>
          <a:noFill/>
          <a:ln w="17780">
            <a:solidFill>
              <a:srgbClr val="A8BCD1"/>
            </a:solidFill>
            <a:prstDash val="dash"/>
          </a:ln>
        </p:spPr>
      </p:sp>
      <p:sp>
        <p:nvSpPr>
          <p:cNvPr id="98" name="Shape 96"/>
          <p:cNvSpPr/>
          <p:nvPr/>
        </p:nvSpPr>
        <p:spPr>
          <a:xfrm>
            <a:off x="4857750" y="4408345"/>
            <a:ext cx="381000" cy="26635"/>
          </a:xfrm>
          <a:prstGeom prst="line">
            <a:avLst/>
          </a:prstGeom>
          <a:noFill/>
          <a:ln w="17780">
            <a:solidFill>
              <a:srgbClr val="A8BCD1"/>
            </a:solidFill>
            <a:prstDash val="dash"/>
          </a:ln>
        </p:spPr>
      </p:sp>
      <p:sp>
        <p:nvSpPr>
          <p:cNvPr id="99" name="Shape 97"/>
          <p:cNvSpPr/>
          <p:nvPr/>
        </p:nvSpPr>
        <p:spPr>
          <a:xfrm>
            <a:off x="5238750" y="4434980"/>
            <a:ext cx="381000" cy="29444"/>
          </a:xfrm>
          <a:prstGeom prst="line">
            <a:avLst/>
          </a:prstGeom>
          <a:noFill/>
          <a:ln w="17780">
            <a:solidFill>
              <a:srgbClr val="A8BCD1"/>
            </a:solidFill>
            <a:prstDash val="dash"/>
          </a:ln>
        </p:spPr>
      </p:sp>
      <p:sp>
        <p:nvSpPr>
          <p:cNvPr id="100" name="Shape 98"/>
          <p:cNvSpPr/>
          <p:nvPr/>
        </p:nvSpPr>
        <p:spPr>
          <a:xfrm>
            <a:off x="5619750" y="4464424"/>
            <a:ext cx="381000" cy="39536"/>
          </a:xfrm>
          <a:prstGeom prst="line">
            <a:avLst/>
          </a:prstGeom>
          <a:noFill/>
          <a:ln w="17780">
            <a:solidFill>
              <a:srgbClr val="A8BCD1"/>
            </a:solidFill>
            <a:prstDash val="dash"/>
          </a:ln>
        </p:spPr>
      </p:sp>
      <p:sp>
        <p:nvSpPr>
          <p:cNvPr id="101" name="Shape 99"/>
          <p:cNvSpPr/>
          <p:nvPr/>
        </p:nvSpPr>
        <p:spPr>
          <a:xfrm>
            <a:off x="6000750" y="4503960"/>
            <a:ext cx="381000" cy="43178"/>
          </a:xfrm>
          <a:prstGeom prst="line">
            <a:avLst/>
          </a:prstGeom>
          <a:noFill/>
          <a:ln w="17780">
            <a:solidFill>
              <a:srgbClr val="A8BCD1"/>
            </a:solidFill>
            <a:prstDash val="dash"/>
          </a:ln>
        </p:spPr>
      </p:sp>
      <p:sp>
        <p:nvSpPr>
          <p:cNvPr id="102" name="Shape 100"/>
          <p:cNvSpPr/>
          <p:nvPr/>
        </p:nvSpPr>
        <p:spPr>
          <a:xfrm>
            <a:off x="6381750" y="4547138"/>
            <a:ext cx="381000" cy="45466"/>
          </a:xfrm>
          <a:prstGeom prst="line">
            <a:avLst/>
          </a:prstGeom>
          <a:noFill/>
          <a:ln w="17780">
            <a:solidFill>
              <a:srgbClr val="A8BCD1"/>
            </a:solidFill>
            <a:prstDash val="dash"/>
          </a:ln>
        </p:spPr>
      </p:sp>
      <p:sp>
        <p:nvSpPr>
          <p:cNvPr id="103" name="Shape 101"/>
          <p:cNvSpPr/>
          <p:nvPr/>
        </p:nvSpPr>
        <p:spPr>
          <a:xfrm>
            <a:off x="6762750" y="4592604"/>
            <a:ext cx="381000" cy="49524"/>
          </a:xfrm>
          <a:prstGeom prst="line">
            <a:avLst/>
          </a:prstGeom>
          <a:noFill/>
          <a:ln w="17780">
            <a:solidFill>
              <a:srgbClr val="A8BCD1"/>
            </a:solidFill>
            <a:prstDash val="dash"/>
          </a:ln>
        </p:spPr>
      </p:sp>
      <p:sp>
        <p:nvSpPr>
          <p:cNvPr id="104" name="Shape 102"/>
          <p:cNvSpPr/>
          <p:nvPr/>
        </p:nvSpPr>
        <p:spPr>
          <a:xfrm>
            <a:off x="7143750" y="4642128"/>
            <a:ext cx="381000" cy="53894"/>
          </a:xfrm>
          <a:prstGeom prst="line">
            <a:avLst/>
          </a:prstGeom>
          <a:noFill/>
          <a:ln w="17780">
            <a:solidFill>
              <a:srgbClr val="A8BCD1"/>
            </a:solidFill>
            <a:prstDash val="dash"/>
          </a:ln>
        </p:spPr>
      </p:sp>
      <p:sp>
        <p:nvSpPr>
          <p:cNvPr id="105" name="Shape 103"/>
          <p:cNvSpPr/>
          <p:nvPr/>
        </p:nvSpPr>
        <p:spPr>
          <a:xfrm>
            <a:off x="7524750" y="4696022"/>
            <a:ext cx="381000" cy="58160"/>
          </a:xfrm>
          <a:prstGeom prst="line">
            <a:avLst/>
          </a:prstGeom>
          <a:noFill/>
          <a:ln w="17780">
            <a:solidFill>
              <a:srgbClr val="A8BCD1"/>
            </a:solidFill>
            <a:prstDash val="dash"/>
          </a:ln>
        </p:spPr>
      </p:sp>
      <p:sp>
        <p:nvSpPr>
          <p:cNvPr id="106" name="Shape 104"/>
          <p:cNvSpPr/>
          <p:nvPr/>
        </p:nvSpPr>
        <p:spPr>
          <a:xfrm>
            <a:off x="7905750" y="4754182"/>
            <a:ext cx="381000" cy="46923"/>
          </a:xfrm>
          <a:prstGeom prst="line">
            <a:avLst/>
          </a:prstGeom>
          <a:noFill/>
          <a:ln w="17780">
            <a:solidFill>
              <a:srgbClr val="A8BCD1"/>
            </a:solidFill>
            <a:prstDash val="dash"/>
          </a:ln>
        </p:spPr>
      </p:sp>
      <p:sp>
        <p:nvSpPr>
          <p:cNvPr id="107" name="Shape 105"/>
          <p:cNvSpPr/>
          <p:nvPr/>
        </p:nvSpPr>
        <p:spPr>
          <a:xfrm>
            <a:off x="8286750" y="4801105"/>
            <a:ext cx="381000" cy="65443"/>
          </a:xfrm>
          <a:prstGeom prst="line">
            <a:avLst/>
          </a:prstGeom>
          <a:noFill/>
          <a:ln w="17780">
            <a:solidFill>
              <a:srgbClr val="A8BCD1"/>
            </a:solidFill>
            <a:prstDash val="dash"/>
          </a:ln>
        </p:spPr>
      </p:sp>
      <p:sp>
        <p:nvSpPr>
          <p:cNvPr id="108" name="Shape 106"/>
          <p:cNvSpPr/>
          <p:nvPr/>
        </p:nvSpPr>
        <p:spPr>
          <a:xfrm>
            <a:off x="8667750" y="4866547"/>
            <a:ext cx="381000" cy="70749"/>
          </a:xfrm>
          <a:prstGeom prst="line">
            <a:avLst/>
          </a:prstGeom>
          <a:noFill/>
          <a:ln w="17780">
            <a:solidFill>
              <a:srgbClr val="A8BCD1"/>
            </a:solidFill>
            <a:prstDash val="dash"/>
          </a:ln>
        </p:spPr>
      </p:sp>
      <p:sp>
        <p:nvSpPr>
          <p:cNvPr id="109" name="Shape 107"/>
          <p:cNvSpPr/>
          <p:nvPr/>
        </p:nvSpPr>
        <p:spPr>
          <a:xfrm>
            <a:off x="9048750" y="4937296"/>
            <a:ext cx="381000" cy="78136"/>
          </a:xfrm>
          <a:prstGeom prst="line">
            <a:avLst/>
          </a:prstGeom>
          <a:noFill/>
          <a:ln w="17780">
            <a:solidFill>
              <a:srgbClr val="A8BCD1"/>
            </a:solidFill>
            <a:prstDash val="dash"/>
          </a:ln>
        </p:spPr>
      </p:sp>
      <p:sp>
        <p:nvSpPr>
          <p:cNvPr id="110" name="Shape 108"/>
          <p:cNvSpPr/>
          <p:nvPr/>
        </p:nvSpPr>
        <p:spPr>
          <a:xfrm>
            <a:off x="9429750" y="5015432"/>
            <a:ext cx="381000" cy="84378"/>
          </a:xfrm>
          <a:prstGeom prst="line">
            <a:avLst/>
          </a:prstGeom>
          <a:noFill/>
          <a:ln w="17780">
            <a:solidFill>
              <a:srgbClr val="A8BCD1"/>
            </a:solidFill>
            <a:prstDash val="dash"/>
          </a:ln>
        </p:spPr>
      </p:sp>
      <p:sp>
        <p:nvSpPr>
          <p:cNvPr id="111" name="Shape 109"/>
          <p:cNvSpPr/>
          <p:nvPr/>
        </p:nvSpPr>
        <p:spPr>
          <a:xfrm>
            <a:off x="9810750" y="5099810"/>
            <a:ext cx="381000" cy="88332"/>
          </a:xfrm>
          <a:prstGeom prst="line">
            <a:avLst/>
          </a:prstGeom>
          <a:noFill/>
          <a:ln w="17780">
            <a:solidFill>
              <a:srgbClr val="A8BCD1"/>
            </a:solidFill>
            <a:prstDash val="dash"/>
          </a:ln>
        </p:spPr>
      </p:sp>
      <p:sp>
        <p:nvSpPr>
          <p:cNvPr id="112" name="Shape 110"/>
          <p:cNvSpPr/>
          <p:nvPr/>
        </p:nvSpPr>
        <p:spPr>
          <a:xfrm>
            <a:off x="10191750" y="5188142"/>
            <a:ext cx="381000" cy="89893"/>
          </a:xfrm>
          <a:prstGeom prst="line">
            <a:avLst/>
          </a:prstGeom>
          <a:noFill/>
          <a:ln w="17780">
            <a:solidFill>
              <a:srgbClr val="A8BCD1"/>
            </a:solidFill>
            <a:prstDash val="dash"/>
          </a:ln>
        </p:spPr>
      </p:sp>
      <p:sp>
        <p:nvSpPr>
          <p:cNvPr id="113" name="Shape 111"/>
          <p:cNvSpPr/>
          <p:nvPr/>
        </p:nvSpPr>
        <p:spPr>
          <a:xfrm>
            <a:off x="10572750" y="5278035"/>
            <a:ext cx="381000" cy="98736"/>
          </a:xfrm>
          <a:prstGeom prst="line">
            <a:avLst/>
          </a:prstGeom>
          <a:noFill/>
          <a:ln w="17780">
            <a:solidFill>
              <a:srgbClr val="A8BCD1"/>
            </a:solidFill>
            <a:prstDash val="dash"/>
          </a:ln>
        </p:spPr>
      </p:sp>
      <p:sp>
        <p:nvSpPr>
          <p:cNvPr id="114" name="Shape 112"/>
          <p:cNvSpPr/>
          <p:nvPr/>
        </p:nvSpPr>
        <p:spPr>
          <a:xfrm flipV="1">
            <a:off x="1428750" y="4323707"/>
            <a:ext cx="381000" cy="12901"/>
          </a:xfrm>
          <a:prstGeom prst="line">
            <a:avLst/>
          </a:prstGeom>
          <a:noFill/>
          <a:ln w="22860">
            <a:solidFill>
              <a:srgbClr val="EFB13C"/>
            </a:solidFill>
            <a:prstDash val="solid"/>
          </a:ln>
        </p:spPr>
      </p:sp>
      <p:sp>
        <p:nvSpPr>
          <p:cNvPr id="115" name="Shape 113"/>
          <p:cNvSpPr/>
          <p:nvPr/>
        </p:nvSpPr>
        <p:spPr>
          <a:xfrm flipV="1">
            <a:off x="1809750" y="4313615"/>
            <a:ext cx="381000" cy="10092"/>
          </a:xfrm>
          <a:prstGeom prst="line">
            <a:avLst/>
          </a:prstGeom>
          <a:noFill/>
          <a:ln w="22860">
            <a:solidFill>
              <a:srgbClr val="EFB13C"/>
            </a:solidFill>
            <a:prstDash val="solid"/>
          </a:ln>
        </p:spPr>
      </p:sp>
      <p:sp>
        <p:nvSpPr>
          <p:cNvPr id="116" name="Shape 114"/>
          <p:cNvSpPr/>
          <p:nvPr/>
        </p:nvSpPr>
        <p:spPr>
          <a:xfrm flipV="1">
            <a:off x="2190750" y="4306748"/>
            <a:ext cx="381000" cy="6867"/>
          </a:xfrm>
          <a:prstGeom prst="line">
            <a:avLst/>
          </a:prstGeom>
          <a:noFill/>
          <a:ln w="22860">
            <a:solidFill>
              <a:srgbClr val="EFB13C"/>
            </a:solidFill>
            <a:prstDash val="solid"/>
          </a:ln>
        </p:spPr>
      </p:sp>
      <p:sp>
        <p:nvSpPr>
          <p:cNvPr id="117" name="Shape 115"/>
          <p:cNvSpPr/>
          <p:nvPr/>
        </p:nvSpPr>
        <p:spPr>
          <a:xfrm flipV="1">
            <a:off x="2571750" y="4285731"/>
            <a:ext cx="381000" cy="21017"/>
          </a:xfrm>
          <a:prstGeom prst="line">
            <a:avLst/>
          </a:prstGeom>
          <a:noFill/>
          <a:ln w="22860">
            <a:solidFill>
              <a:srgbClr val="EFB13C"/>
            </a:solidFill>
            <a:prstDash val="solid"/>
          </a:ln>
        </p:spPr>
      </p:sp>
      <p:sp>
        <p:nvSpPr>
          <p:cNvPr id="118" name="Shape 116"/>
          <p:cNvSpPr/>
          <p:nvPr/>
        </p:nvSpPr>
        <p:spPr>
          <a:xfrm flipV="1">
            <a:off x="2952750" y="4273974"/>
            <a:ext cx="381000" cy="11757"/>
          </a:xfrm>
          <a:prstGeom prst="line">
            <a:avLst/>
          </a:prstGeom>
          <a:noFill/>
          <a:ln w="22860">
            <a:solidFill>
              <a:srgbClr val="EFB13C"/>
            </a:solidFill>
            <a:prstDash val="solid"/>
          </a:ln>
        </p:spPr>
      </p:sp>
      <p:sp>
        <p:nvSpPr>
          <p:cNvPr id="119" name="Shape 117"/>
          <p:cNvSpPr/>
          <p:nvPr/>
        </p:nvSpPr>
        <p:spPr>
          <a:xfrm>
            <a:off x="3333750" y="4273974"/>
            <a:ext cx="381000" cy="18103"/>
          </a:xfrm>
          <a:prstGeom prst="line">
            <a:avLst/>
          </a:prstGeom>
          <a:noFill/>
          <a:ln w="22860">
            <a:solidFill>
              <a:srgbClr val="EFB13C"/>
            </a:solidFill>
            <a:prstDash val="solid"/>
          </a:ln>
        </p:spPr>
      </p:sp>
      <p:sp>
        <p:nvSpPr>
          <p:cNvPr id="120" name="Shape 118"/>
          <p:cNvSpPr/>
          <p:nvPr/>
        </p:nvSpPr>
        <p:spPr>
          <a:xfrm>
            <a:off x="3714750" y="4292078"/>
            <a:ext cx="381000" cy="30484"/>
          </a:xfrm>
          <a:prstGeom prst="line">
            <a:avLst/>
          </a:prstGeom>
          <a:noFill/>
          <a:ln w="22860">
            <a:solidFill>
              <a:srgbClr val="EFB13C"/>
            </a:solidFill>
            <a:prstDash val="solid"/>
          </a:ln>
        </p:spPr>
      </p:sp>
      <p:sp>
        <p:nvSpPr>
          <p:cNvPr id="121" name="Shape 119"/>
          <p:cNvSpPr/>
          <p:nvPr/>
        </p:nvSpPr>
        <p:spPr>
          <a:xfrm>
            <a:off x="4095750" y="4322562"/>
            <a:ext cx="381000" cy="30588"/>
          </a:xfrm>
          <a:prstGeom prst="line">
            <a:avLst/>
          </a:prstGeom>
          <a:noFill/>
          <a:ln w="22860">
            <a:solidFill>
              <a:srgbClr val="EFB13C"/>
            </a:solidFill>
            <a:prstDash val="solid"/>
          </a:ln>
        </p:spPr>
      </p:sp>
      <p:sp>
        <p:nvSpPr>
          <p:cNvPr id="122" name="Shape 120"/>
          <p:cNvSpPr/>
          <p:nvPr/>
        </p:nvSpPr>
        <p:spPr>
          <a:xfrm>
            <a:off x="4476750" y="4353151"/>
            <a:ext cx="381000" cy="28404"/>
          </a:xfrm>
          <a:prstGeom prst="line">
            <a:avLst/>
          </a:prstGeom>
          <a:noFill/>
          <a:ln w="22860">
            <a:solidFill>
              <a:srgbClr val="EFB13C"/>
            </a:solidFill>
            <a:prstDash val="solid"/>
          </a:ln>
        </p:spPr>
      </p:sp>
      <p:sp>
        <p:nvSpPr>
          <p:cNvPr id="123" name="Shape 121"/>
          <p:cNvSpPr/>
          <p:nvPr/>
        </p:nvSpPr>
        <p:spPr>
          <a:xfrm>
            <a:off x="4857750" y="4381554"/>
            <a:ext cx="381000" cy="25178"/>
          </a:xfrm>
          <a:prstGeom prst="line">
            <a:avLst/>
          </a:prstGeom>
          <a:noFill/>
          <a:ln w="22860">
            <a:solidFill>
              <a:srgbClr val="EFB13C"/>
            </a:solidFill>
            <a:prstDash val="solid"/>
          </a:ln>
        </p:spPr>
      </p:sp>
      <p:sp>
        <p:nvSpPr>
          <p:cNvPr id="124" name="Shape 122"/>
          <p:cNvSpPr/>
          <p:nvPr/>
        </p:nvSpPr>
        <p:spPr>
          <a:xfrm>
            <a:off x="5238750" y="4406732"/>
            <a:ext cx="381000" cy="24554"/>
          </a:xfrm>
          <a:prstGeom prst="line">
            <a:avLst/>
          </a:prstGeom>
          <a:noFill/>
          <a:ln w="22860">
            <a:solidFill>
              <a:srgbClr val="EFB13C"/>
            </a:solidFill>
            <a:prstDash val="solid"/>
          </a:ln>
        </p:spPr>
      </p:sp>
      <p:sp>
        <p:nvSpPr>
          <p:cNvPr id="125" name="Shape 123"/>
          <p:cNvSpPr/>
          <p:nvPr/>
        </p:nvSpPr>
        <p:spPr>
          <a:xfrm>
            <a:off x="5619750" y="4431286"/>
            <a:ext cx="381000" cy="35478"/>
          </a:xfrm>
          <a:prstGeom prst="line">
            <a:avLst/>
          </a:prstGeom>
          <a:noFill/>
          <a:ln w="22860">
            <a:solidFill>
              <a:srgbClr val="EFB13C"/>
            </a:solidFill>
            <a:prstDash val="solid"/>
          </a:ln>
        </p:spPr>
      </p:sp>
      <p:sp>
        <p:nvSpPr>
          <p:cNvPr id="126" name="Shape 124"/>
          <p:cNvSpPr/>
          <p:nvPr/>
        </p:nvSpPr>
        <p:spPr>
          <a:xfrm>
            <a:off x="6000750" y="4466765"/>
            <a:ext cx="381000" cy="44218"/>
          </a:xfrm>
          <a:prstGeom prst="line">
            <a:avLst/>
          </a:prstGeom>
          <a:noFill/>
          <a:ln w="22860">
            <a:solidFill>
              <a:srgbClr val="EFB13C"/>
            </a:solidFill>
            <a:prstDash val="solid"/>
          </a:ln>
        </p:spPr>
      </p:sp>
      <p:sp>
        <p:nvSpPr>
          <p:cNvPr id="127" name="Shape 125"/>
          <p:cNvSpPr/>
          <p:nvPr/>
        </p:nvSpPr>
        <p:spPr>
          <a:xfrm>
            <a:off x="6381750" y="4510983"/>
            <a:ext cx="381000" cy="54518"/>
          </a:xfrm>
          <a:prstGeom prst="line">
            <a:avLst/>
          </a:prstGeom>
          <a:noFill/>
          <a:ln w="22860">
            <a:solidFill>
              <a:srgbClr val="EFB13C"/>
            </a:solidFill>
            <a:prstDash val="solid"/>
          </a:ln>
        </p:spPr>
      </p:sp>
      <p:sp>
        <p:nvSpPr>
          <p:cNvPr id="128" name="Shape 126"/>
          <p:cNvSpPr/>
          <p:nvPr/>
        </p:nvSpPr>
        <p:spPr>
          <a:xfrm>
            <a:off x="6762750" y="4565501"/>
            <a:ext cx="381000" cy="66483"/>
          </a:xfrm>
          <a:prstGeom prst="line">
            <a:avLst/>
          </a:prstGeom>
          <a:noFill/>
          <a:ln w="22860">
            <a:solidFill>
              <a:srgbClr val="EFB13C"/>
            </a:solidFill>
            <a:prstDash val="solid"/>
          </a:ln>
        </p:spPr>
      </p:sp>
      <p:sp>
        <p:nvSpPr>
          <p:cNvPr id="129" name="Shape 127"/>
          <p:cNvSpPr/>
          <p:nvPr/>
        </p:nvSpPr>
        <p:spPr>
          <a:xfrm>
            <a:off x="7143750" y="4631984"/>
            <a:ext cx="381000" cy="75327"/>
          </a:xfrm>
          <a:prstGeom prst="line">
            <a:avLst/>
          </a:prstGeom>
          <a:noFill/>
          <a:ln w="22860">
            <a:solidFill>
              <a:srgbClr val="EFB13C"/>
            </a:solidFill>
            <a:prstDash val="solid"/>
          </a:ln>
        </p:spPr>
      </p:sp>
      <p:sp>
        <p:nvSpPr>
          <p:cNvPr id="130" name="Shape 128"/>
          <p:cNvSpPr/>
          <p:nvPr/>
        </p:nvSpPr>
        <p:spPr>
          <a:xfrm>
            <a:off x="7524750" y="4707311"/>
            <a:ext cx="381000" cy="79176"/>
          </a:xfrm>
          <a:prstGeom prst="line">
            <a:avLst/>
          </a:prstGeom>
          <a:noFill/>
          <a:ln w="22860">
            <a:solidFill>
              <a:srgbClr val="EFB13C"/>
            </a:solidFill>
            <a:prstDash val="solid"/>
          </a:ln>
        </p:spPr>
      </p:sp>
      <p:sp>
        <p:nvSpPr>
          <p:cNvPr id="131" name="Shape 129"/>
          <p:cNvSpPr/>
          <p:nvPr/>
        </p:nvSpPr>
        <p:spPr>
          <a:xfrm>
            <a:off x="7905750" y="4786487"/>
            <a:ext cx="381000" cy="62009"/>
          </a:xfrm>
          <a:prstGeom prst="line">
            <a:avLst/>
          </a:prstGeom>
          <a:noFill/>
          <a:ln w="22860">
            <a:solidFill>
              <a:srgbClr val="EFB13C"/>
            </a:solidFill>
            <a:prstDash val="solid"/>
          </a:ln>
        </p:spPr>
      </p:sp>
      <p:sp>
        <p:nvSpPr>
          <p:cNvPr id="132" name="Shape 130"/>
          <p:cNvSpPr/>
          <p:nvPr/>
        </p:nvSpPr>
        <p:spPr>
          <a:xfrm>
            <a:off x="8286750" y="4848496"/>
            <a:ext cx="381000" cy="71269"/>
          </a:xfrm>
          <a:prstGeom prst="line">
            <a:avLst/>
          </a:prstGeom>
          <a:noFill/>
          <a:ln w="22860">
            <a:solidFill>
              <a:srgbClr val="EFB13C"/>
            </a:solidFill>
            <a:prstDash val="solid"/>
          </a:ln>
        </p:spPr>
      </p:sp>
      <p:sp>
        <p:nvSpPr>
          <p:cNvPr id="133" name="Shape 131"/>
          <p:cNvSpPr/>
          <p:nvPr/>
        </p:nvSpPr>
        <p:spPr>
          <a:xfrm>
            <a:off x="8667750" y="4919765"/>
            <a:ext cx="381000" cy="66899"/>
          </a:xfrm>
          <a:prstGeom prst="line">
            <a:avLst/>
          </a:prstGeom>
          <a:noFill/>
          <a:ln w="22860">
            <a:solidFill>
              <a:srgbClr val="EFB13C"/>
            </a:solidFill>
            <a:prstDash val="solid"/>
          </a:ln>
        </p:spPr>
      </p:sp>
      <p:sp>
        <p:nvSpPr>
          <p:cNvPr id="134" name="Shape 132"/>
          <p:cNvSpPr/>
          <p:nvPr/>
        </p:nvSpPr>
        <p:spPr>
          <a:xfrm>
            <a:off x="9048750" y="4986664"/>
            <a:ext cx="381000" cy="67211"/>
          </a:xfrm>
          <a:prstGeom prst="line">
            <a:avLst/>
          </a:prstGeom>
          <a:noFill/>
          <a:ln w="22860">
            <a:solidFill>
              <a:srgbClr val="EFB13C"/>
            </a:solidFill>
            <a:prstDash val="solid"/>
          </a:ln>
        </p:spPr>
      </p:sp>
      <p:sp>
        <p:nvSpPr>
          <p:cNvPr id="135" name="Shape 133"/>
          <p:cNvSpPr/>
          <p:nvPr/>
        </p:nvSpPr>
        <p:spPr>
          <a:xfrm>
            <a:off x="9429750" y="5053876"/>
            <a:ext cx="381000" cy="70437"/>
          </a:xfrm>
          <a:prstGeom prst="line">
            <a:avLst/>
          </a:prstGeom>
          <a:noFill/>
          <a:ln w="22860">
            <a:solidFill>
              <a:srgbClr val="EFB13C"/>
            </a:solidFill>
            <a:prstDash val="solid"/>
          </a:ln>
        </p:spPr>
      </p:sp>
      <p:sp>
        <p:nvSpPr>
          <p:cNvPr id="136" name="Shape 134"/>
          <p:cNvSpPr/>
          <p:nvPr/>
        </p:nvSpPr>
        <p:spPr>
          <a:xfrm>
            <a:off x="9810750" y="5124312"/>
            <a:ext cx="381000" cy="75535"/>
          </a:xfrm>
          <a:prstGeom prst="line">
            <a:avLst/>
          </a:prstGeom>
          <a:noFill/>
          <a:ln w="22860">
            <a:solidFill>
              <a:srgbClr val="EFB13C"/>
            </a:solidFill>
            <a:prstDash val="solid"/>
          </a:ln>
        </p:spPr>
      </p:sp>
      <p:sp>
        <p:nvSpPr>
          <p:cNvPr id="137" name="Shape 135"/>
          <p:cNvSpPr/>
          <p:nvPr/>
        </p:nvSpPr>
        <p:spPr>
          <a:xfrm>
            <a:off x="10191750" y="5199847"/>
            <a:ext cx="381000" cy="81881"/>
          </a:xfrm>
          <a:prstGeom prst="line">
            <a:avLst/>
          </a:prstGeom>
          <a:noFill/>
          <a:ln w="22860">
            <a:solidFill>
              <a:srgbClr val="EFB13C"/>
            </a:solidFill>
            <a:prstDash val="solid"/>
          </a:ln>
        </p:spPr>
      </p:sp>
      <p:sp>
        <p:nvSpPr>
          <p:cNvPr id="138" name="Shape 136"/>
          <p:cNvSpPr/>
          <p:nvPr/>
        </p:nvSpPr>
        <p:spPr>
          <a:xfrm>
            <a:off x="10572750" y="5281728"/>
            <a:ext cx="381000" cy="98632"/>
          </a:xfrm>
          <a:prstGeom prst="line">
            <a:avLst/>
          </a:prstGeom>
          <a:noFill/>
          <a:ln w="22860">
            <a:solidFill>
              <a:srgbClr val="EFB13C"/>
            </a:solidFill>
            <a:prstDash val="solid"/>
          </a:ln>
        </p:spPr>
      </p:sp>
      <p:sp>
        <p:nvSpPr>
          <p:cNvPr id="139" name="Shape 137"/>
          <p:cNvSpPr/>
          <p:nvPr/>
        </p:nvSpPr>
        <p:spPr>
          <a:xfrm>
            <a:off x="7524750" y="4095750"/>
            <a:ext cx="0" cy="1352550"/>
          </a:xfrm>
          <a:prstGeom prst="line">
            <a:avLst/>
          </a:prstGeom>
          <a:noFill/>
          <a:ln w="12700">
            <a:solidFill>
              <a:srgbClr val="8A8880"/>
            </a:solidFill>
            <a:prstDash val="dash"/>
          </a:ln>
        </p:spPr>
      </p:sp>
      <p:sp>
        <p:nvSpPr>
          <p:cNvPr id="140" name="Text 138"/>
          <p:cNvSpPr txBox="1"/>
          <p:nvPr/>
        </p:nvSpPr>
        <p:spPr>
          <a:xfrm>
            <a:off x="7600950" y="4114800"/>
            <a:ext cx="2095500" cy="131445"/>
          </a:xfrm>
          <a:prstGeom prst="rect">
            <a:avLst/>
          </a:prstGeom>
          <a:noFill/>
          <a:ln/>
        </p:spPr>
        <p:txBody>
          <a:bodyPr wrap="square" lIns="0" tIns="0" rIns="0" bIns="0" rtlCol="0" anchor="t"/>
          <a:lstStyle/>
          <a:p>
            <a:pPr algn="l"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여기서 방향이 바뀝니다 (22℃)</a:t>
            </a:r>
            <a:endParaRPr lang="en-US" sz="863" dirty="0"/>
          </a:p>
        </p:txBody>
      </p:sp>
      <p:sp>
        <p:nvSpPr>
          <p:cNvPr id="141" name="Text 139"/>
          <p:cNvSpPr txBox="1"/>
          <p:nvPr/>
        </p:nvSpPr>
        <p:spPr>
          <a:xfrm>
            <a:off x="3467100" y="4223915"/>
            <a:ext cx="2381250" cy="137160"/>
          </a:xfrm>
          <a:prstGeom prst="rect">
            <a:avLst/>
          </a:prstGeom>
          <a:noFill/>
          <a:ln/>
        </p:spPr>
        <p:txBody>
          <a:bodyPr wrap="square" lIns="0" tIns="0" rIns="0" bIns="0" rtlCol="0" anchor="t"/>
          <a:lstStyle/>
          <a:p>
            <a:pPr algn="l" indent="0" marL="0">
              <a:lnSpc>
                <a:spcPts val="1080"/>
              </a:lnSpc>
              <a:buNone/>
            </a:pPr>
            <a:r>
              <a:rPr lang="en-US" sz="900" b="1" dirty="0">
                <a:solidFill>
                  <a:srgbClr val="A8BCD1"/>
                </a:solidFill>
                <a:latin typeface="Malgun Gothic" pitchFamily="34" charset="0"/>
                <a:ea typeface="Malgun Gothic" pitchFamily="34" charset="-122"/>
                <a:cs typeface="Malgun Gothic" pitchFamily="34" charset="-120"/>
              </a:rPr>
              <a:t>낮게 신고 — 0℃ 에서 5.0 MW 못 팜</a:t>
            </a:r>
            <a:endParaRPr lang="en-US" sz="900" dirty="0"/>
          </a:p>
        </p:txBody>
      </p:sp>
      <p:sp>
        <p:nvSpPr>
          <p:cNvPr id="142" name="Text 140"/>
          <p:cNvSpPr txBox="1"/>
          <p:nvPr/>
        </p:nvSpPr>
        <p:spPr>
          <a:xfrm>
            <a:off x="6153150" y="4816956"/>
            <a:ext cx="2381250" cy="137160"/>
          </a:xfrm>
          <a:prstGeom prst="rect">
            <a:avLst/>
          </a:prstGeom>
          <a:noFill/>
          <a:ln/>
        </p:spPr>
        <p:txBody>
          <a:bodyPr wrap="square" lIns="0" tIns="0" rIns="0" bIns="0" rtlCol="0" anchor="t"/>
          <a:lstStyle/>
          <a:p>
            <a:pPr algn="r" indent="0" marL="0">
              <a:lnSpc>
                <a:spcPts val="1080"/>
              </a:lnSpc>
              <a:buNone/>
            </a:pPr>
            <a:r>
              <a:rPr lang="en-US" sz="900" b="1" dirty="0">
                <a:solidFill>
                  <a:srgbClr val="FF4D63"/>
                </a:solidFill>
                <a:latin typeface="Malgun Gothic" pitchFamily="34" charset="0"/>
                <a:ea typeface="Malgun Gothic" pitchFamily="34" charset="-122"/>
                <a:cs typeface="Malgun Gothic" pitchFamily="34" charset="-120"/>
              </a:rPr>
              <a:t>높게 신고 — 28℃ 에서 5.1 MW 미달</a:t>
            </a:r>
            <a:endParaRPr lang="en-US" sz="900" dirty="0"/>
          </a:p>
        </p:txBody>
      </p:sp>
      <p:sp>
        <p:nvSpPr>
          <p:cNvPr id="143" name="Shape 141"/>
          <p:cNvSpPr/>
          <p:nvPr/>
        </p:nvSpPr>
        <p:spPr>
          <a:xfrm>
            <a:off x="1428750" y="4076700"/>
            <a:ext cx="247650" cy="0"/>
          </a:xfrm>
          <a:prstGeom prst="line">
            <a:avLst/>
          </a:prstGeom>
          <a:noFill/>
          <a:ln w="17780">
            <a:solidFill>
              <a:srgbClr val="A8BCD1"/>
            </a:solidFill>
            <a:prstDash val="dash"/>
          </a:ln>
        </p:spPr>
      </p:sp>
      <p:sp>
        <p:nvSpPr>
          <p:cNvPr id="144" name="Text 142"/>
          <p:cNvSpPr txBox="1"/>
          <p:nvPr/>
        </p:nvSpPr>
        <p:spPr>
          <a:xfrm>
            <a:off x="1752600" y="4010025"/>
            <a:ext cx="2286000" cy="148590"/>
          </a:xfrm>
          <a:prstGeom prst="rect">
            <a:avLst/>
          </a:prstGeom>
          <a:noFill/>
          <a:ln/>
        </p:spPr>
        <p:txBody>
          <a:bodyPr wrap="square" lIns="0" tIns="0" rIns="0" bIns="0" rtlCol="0" anchor="t"/>
          <a:lstStyle/>
          <a:p>
            <a:pPr algn="l" indent="0" marL="0">
              <a:lnSpc>
                <a:spcPts val="1170"/>
              </a:lnSpc>
              <a:buNone/>
            </a:pPr>
            <a:r>
              <a:rPr lang="en-US" sz="900" dirty="0">
                <a:solidFill>
                  <a:srgbClr val="A8BCD1"/>
                </a:solidFill>
                <a:latin typeface="Malgun Gothic" pitchFamily="34" charset="0"/>
                <a:ea typeface="Malgun Gothic" pitchFamily="34" charset="-122"/>
                <a:cs typeface="Malgun Gothic" pitchFamily="34" charset="-120"/>
              </a:rPr>
              <a:t>종전 신고 (하나의 값)</a:t>
            </a:r>
            <a:endParaRPr lang="en-US" sz="900" dirty="0"/>
          </a:p>
        </p:txBody>
      </p:sp>
      <p:sp>
        <p:nvSpPr>
          <p:cNvPr id="145" name="Shape 143"/>
          <p:cNvSpPr/>
          <p:nvPr/>
        </p:nvSpPr>
        <p:spPr>
          <a:xfrm>
            <a:off x="4000500" y="4076700"/>
            <a:ext cx="247650" cy="0"/>
          </a:xfrm>
          <a:prstGeom prst="line">
            <a:avLst/>
          </a:prstGeom>
          <a:noFill/>
          <a:ln w="22860">
            <a:solidFill>
              <a:srgbClr val="EFB13C"/>
            </a:solidFill>
            <a:prstDash val="solid"/>
          </a:ln>
        </p:spPr>
      </p:sp>
      <p:sp>
        <p:nvSpPr>
          <p:cNvPr id="146" name="Text 144"/>
          <p:cNvSpPr txBox="1"/>
          <p:nvPr/>
        </p:nvSpPr>
        <p:spPr>
          <a:xfrm>
            <a:off x="4324350" y="4010025"/>
            <a:ext cx="2286000" cy="148590"/>
          </a:xfrm>
          <a:prstGeom prst="rect">
            <a:avLst/>
          </a:prstGeom>
          <a:noFill/>
          <a:ln/>
        </p:spPr>
        <p:txBody>
          <a:bodyPr wrap="square" lIns="0" tIns="0" rIns="0" bIns="0" rtlCol="0" anchor="t"/>
          <a:lstStyle/>
          <a:p>
            <a:pPr algn="l" indent="0" marL="0">
              <a:lnSpc>
                <a:spcPts val="1170"/>
              </a:lnSpc>
              <a:buNone/>
            </a:pPr>
            <a:r>
              <a:rPr lang="en-US" sz="900" dirty="0">
                <a:solidFill>
                  <a:srgbClr val="EFB13C"/>
                </a:solidFill>
                <a:latin typeface="Malgun Gothic" pitchFamily="34" charset="0"/>
                <a:ea typeface="Malgun Gothic" pitchFamily="34" charset="-122"/>
                <a:cs typeface="Malgun Gothic" pitchFamily="34" charset="-120"/>
              </a:rPr>
              <a:t>실제 능력</a:t>
            </a:r>
            <a:endParaRPr lang="en-US" sz="900" dirty="0"/>
          </a:p>
        </p:txBody>
      </p:sp>
      <p:sp>
        <p:nvSpPr>
          <p:cNvPr id="147" name="Text 145"/>
          <p:cNvSpPr txBox="1"/>
          <p:nvPr/>
        </p:nvSpPr>
        <p:spPr>
          <a:xfrm>
            <a:off x="914400" y="5638800"/>
            <a:ext cx="10363200" cy="167164"/>
          </a:xfrm>
          <a:prstGeom prst="rect">
            <a:avLst/>
          </a:prstGeom>
          <a:noFill/>
          <a:ln/>
        </p:spPr>
        <p:txBody>
          <a:bodyPr wrap="square" lIns="0" tIns="0" rIns="0" bIns="0" rtlCol="0" anchor="t"/>
          <a:lstStyle/>
          <a:p>
            <a:pPr algn="ctr" indent="0" marL="0">
              <a:lnSpc>
                <a:spcPts val="1316"/>
              </a:lnSpc>
              <a:buNone/>
            </a:pPr>
            <a:r>
              <a:rPr lang="en-US" sz="1013" dirty="0">
                <a:solidFill>
                  <a:srgbClr val="CFCBC2"/>
                </a:solidFill>
                <a:latin typeface="Malgun Gothic" pitchFamily="34" charset="0"/>
                <a:ea typeface="Malgun Gothic" pitchFamily="34" charset="-122"/>
                <a:cs typeface="Malgun Gothic" pitchFamily="34" charset="-120"/>
              </a:rPr>
              <a:t>종전 누계 — 낮게 신고해 못 판 양 </a:t>
            </a:r>
            <a:pPr algn="ctr" indent="0" marL="0">
              <a:lnSpc>
                <a:spcPts val="1316"/>
              </a:lnSpc>
              <a:buNone/>
            </a:pPr>
            <a:r>
              <a:rPr lang="en-US" sz="1013" b="1" dirty="0">
                <a:solidFill>
                  <a:srgbClr val="EFB13C"/>
                </a:solidFill>
                <a:latin typeface="Malgun Gothic" pitchFamily="34" charset="0"/>
                <a:ea typeface="Malgun Gothic" pitchFamily="34" charset="-122"/>
                <a:cs typeface="Malgun Gothic" pitchFamily="34" charset="-120"/>
              </a:rPr>
              <a:t>75.3 MW</a:t>
            </a:r>
            <a:pPr algn="ctr" indent="0" marL="0">
              <a:lnSpc>
                <a:spcPts val="1316"/>
              </a:lnSpc>
              <a:buNone/>
            </a:pPr>
            <a:r>
              <a:rPr lang="en-US" sz="1013" dirty="0">
                <a:solidFill>
                  <a:srgbClr val="CFCBC2"/>
                </a:solidFill>
                <a:latin typeface="Malgun Gothic" pitchFamily="34" charset="0"/>
                <a:ea typeface="Malgun Gothic" pitchFamily="34" charset="-122"/>
                <a:cs typeface="Malgun Gothic" pitchFamily="34" charset="-120"/>
              </a:rPr>
              <a:t>  =  용량요금 </a:t>
            </a:r>
            <a:pPr algn="ctr" indent="0" marL="0">
              <a:lnSpc>
                <a:spcPts val="1316"/>
              </a:lnSpc>
              <a:buNone/>
            </a:pPr>
            <a:r>
              <a:rPr lang="en-US" sz="1013" b="1" dirty="0">
                <a:solidFill>
                  <a:srgbClr val="EFB13C"/>
                </a:solidFill>
                <a:latin typeface="Malgun Gothic" pitchFamily="34" charset="0"/>
                <a:ea typeface="Malgun Gothic" pitchFamily="34" charset="-122"/>
                <a:cs typeface="Malgun Gothic" pitchFamily="34" charset="-120"/>
              </a:rPr>
              <a:t>연 9,702만원</a:t>
            </a:r>
            <a:pPr algn="ctr" indent="0" marL="0">
              <a:lnSpc>
                <a:spcPts val="1316"/>
              </a:lnSpc>
              <a:buNone/>
            </a:pPr>
            <a:r>
              <a:rPr lang="en-US" sz="1013" dirty="0">
                <a:solidFill>
                  <a:srgbClr val="CFCBC2"/>
                </a:solidFill>
                <a:latin typeface="Malgun Gothic" pitchFamily="34" charset="0"/>
                <a:ea typeface="Malgun Gothic" pitchFamily="34" charset="-122"/>
                <a:cs typeface="Malgun Gothic" pitchFamily="34" charset="-120"/>
              </a:rPr>
              <a:t>   ·   신고값을 못 채운 </a:t>
            </a:r>
            <a:pPr algn="ctr" indent="0" marL="0">
              <a:lnSpc>
                <a:spcPts val="1316"/>
              </a:lnSpc>
              <a:buNone/>
            </a:pPr>
            <a:r>
              <a:rPr lang="en-US" sz="1013" b="1" dirty="0">
                <a:solidFill>
                  <a:srgbClr val="EFB13C"/>
                </a:solidFill>
                <a:latin typeface="Malgun Gothic" pitchFamily="34" charset="0"/>
                <a:ea typeface="Malgun Gothic" pitchFamily="34" charset="-122"/>
                <a:cs typeface="Malgun Gothic" pitchFamily="34" charset="-120"/>
              </a:rPr>
              <a:t>15회</a:t>
            </a:r>
            <a:endParaRPr lang="en-US" sz="1013" dirty="0"/>
          </a:p>
        </p:txBody>
      </p:sp>
      <p:sp>
        <p:nvSpPr>
          <p:cNvPr id="148" name="Text 146"/>
          <p:cNvSpPr txBox="1"/>
          <p:nvPr/>
        </p:nvSpPr>
        <p:spPr>
          <a:xfrm>
            <a:off x="914400" y="5810250"/>
            <a:ext cx="10363200" cy="120015"/>
          </a:xfrm>
          <a:prstGeom prst="rect">
            <a:avLst/>
          </a:prstGeom>
          <a:noFill/>
          <a:ln/>
        </p:spPr>
        <p:txBody>
          <a:bodyPr wrap="square" lIns="0" tIns="0" rIns="0" bIns="0" rtlCol="0" anchor="t"/>
          <a:lstStyle/>
          <a:p>
            <a:pPr algn="ctr" indent="0" marL="0">
              <a:lnSpc>
                <a:spcPts val="945"/>
              </a:lnSpc>
              <a:buNone/>
            </a:pPr>
            <a:r>
              <a:rPr lang="en-US" sz="788" dirty="0">
                <a:solidFill>
                  <a:srgbClr val="8A8880"/>
                </a:solidFill>
                <a:latin typeface="Malgun Gothic" pitchFamily="34" charset="0"/>
                <a:ea typeface="Malgun Gothic" pitchFamily="34" charset="-122"/>
                <a:cs typeface="Malgun Gothic" pitchFamily="34" charset="-120"/>
              </a:rPr>
              <a:t>용량요금 기준 · 150원/kW·일 × 입찰일 335일(정비 30일 제외)  ·  높게 신고한 쪽은 정산식 Min() 상 용량요금이 늘지 않아 금액에 넣지 않았습니다</a:t>
            </a:r>
            <a:endParaRPr lang="en-US" sz="788" dirty="0"/>
          </a:p>
        </p:txBody>
      </p:sp>
      <p:sp>
        <p:nvSpPr>
          <p:cNvPr id="149" name="Shape 147"/>
          <p:cNvSpPr/>
          <p:nvPr/>
        </p:nvSpPr>
        <p:spPr>
          <a:xfrm>
            <a:off x="685800" y="6057900"/>
            <a:ext cx="10820400" cy="0"/>
          </a:xfrm>
          <a:prstGeom prst="line">
            <a:avLst/>
          </a:prstGeom>
          <a:noFill/>
          <a:ln w="12700">
            <a:solidFill>
              <a:srgbClr val="22354A"/>
            </a:solidFill>
            <a:prstDash val="solid"/>
          </a:ln>
        </p:spPr>
      </p:sp>
      <p:sp>
        <p:nvSpPr>
          <p:cNvPr id="150" name="Text 148"/>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151" name="Text 149"/>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그때는 최선이었습니다 — 이제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온도별로 알 수 있는</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 데이터가 쌓였습니다.</a:t>
            </a:r>
            <a:endParaRPr lang="en-US" sz="123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02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현황 파악 및 문제 정의</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문제</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19100"/>
            <a:ext cx="38100" cy="142875"/>
          </a:xfrm>
          <a:prstGeom prst="rect">
            <a:avLst/>
          </a:prstGeom>
          <a:solidFill>
            <a:srgbClr val="EFB13C"/>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85775"/>
            <a:ext cx="38100" cy="76200"/>
          </a:xfrm>
          <a:prstGeom prst="rect">
            <a:avLst/>
          </a:prstGeom>
          <a:solidFill>
            <a:srgbClr val="8A8880"/>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이론값 하나로는 맞출 수 없습니다 —</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보정값이 회차마다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+13 ~ −5 MW</a:t>
            </a:r>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 로 갈립니다</a:t>
            </a:r>
            <a:endParaRPr lang="en-US" sz="2775" dirty="0"/>
          </a:p>
        </p:txBody>
      </p:sp>
      <p:sp>
        <p:nvSpPr>
          <p:cNvPr id="12" name="Text 10"/>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보정값은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실제 − 이론값 − W(IGV)</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입니다. 온도 축에 찍으면 흩어진 게 아니라 온도를 따라 줄줄이 내려갑니다.</a:t>
            </a:r>
            <a:endParaRPr lang="en-US" sz="1350" dirty="0"/>
          </a:p>
        </p:txBody>
      </p:sp>
      <p:sp>
        <p:nvSpPr>
          <p:cNvPr id="13" name="Shape 11"/>
          <p:cNvSpPr/>
          <p:nvPr/>
        </p:nvSpPr>
        <p:spPr>
          <a:xfrm>
            <a:off x="685800" y="2705100"/>
            <a:ext cx="10820400" cy="2438400"/>
          </a:xfrm>
          <a:prstGeom prst="rect">
            <a:avLst/>
          </a:prstGeom>
          <a:solidFill>
            <a:srgbClr val="0A1320"/>
          </a:solidFill>
          <a:ln w="12700">
            <a:solidFill>
              <a:srgbClr val="182838"/>
            </a:solidFill>
            <a:prstDash val="solid"/>
          </a:ln>
        </p:spPr>
      </p:sp>
      <p:sp>
        <p:nvSpPr>
          <p:cNvPr id="14" name="Text 12"/>
          <p:cNvSpPr txBox="1"/>
          <p:nvPr/>
        </p:nvSpPr>
        <p:spPr>
          <a:xfrm>
            <a:off x="914400" y="2838450"/>
            <a:ext cx="7620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점 하나가 테스트 1회  ·  누적 40회  ·  가로 외기온도 ℃ / 세로 = 보정값 = 실제 − 이론값 − W(IGV)  MW</a:t>
            </a:r>
            <a:endParaRPr lang="en-US" sz="788" dirty="0"/>
          </a:p>
        </p:txBody>
      </p:sp>
      <p:sp>
        <p:nvSpPr>
          <p:cNvPr id="15" name="Shape 13"/>
          <p:cNvSpPr/>
          <p:nvPr/>
        </p:nvSpPr>
        <p:spPr>
          <a:xfrm>
            <a:off x="1238250" y="3314700"/>
            <a:ext cx="10001250" cy="0"/>
          </a:xfrm>
          <a:prstGeom prst="line">
            <a:avLst/>
          </a:prstGeom>
          <a:noFill/>
          <a:ln w="12700">
            <a:solidFill>
              <a:srgbClr val="182838"/>
            </a:solidFill>
            <a:prstDash val="solid"/>
          </a:ln>
        </p:spPr>
      </p:sp>
      <p:sp>
        <p:nvSpPr>
          <p:cNvPr id="16" name="Shape 14"/>
          <p:cNvSpPr/>
          <p:nvPr/>
        </p:nvSpPr>
        <p:spPr>
          <a:xfrm>
            <a:off x="1238250" y="3657600"/>
            <a:ext cx="10001250" cy="0"/>
          </a:xfrm>
          <a:prstGeom prst="line">
            <a:avLst/>
          </a:prstGeom>
          <a:noFill/>
          <a:ln w="12700">
            <a:solidFill>
              <a:srgbClr val="182838"/>
            </a:solidFill>
            <a:prstDash val="solid"/>
          </a:ln>
        </p:spPr>
      </p:sp>
      <p:sp>
        <p:nvSpPr>
          <p:cNvPr id="17" name="Shape 15"/>
          <p:cNvSpPr/>
          <p:nvPr/>
        </p:nvSpPr>
        <p:spPr>
          <a:xfrm>
            <a:off x="1238250" y="4000500"/>
            <a:ext cx="10001250" cy="0"/>
          </a:xfrm>
          <a:prstGeom prst="line">
            <a:avLst/>
          </a:prstGeom>
          <a:noFill/>
          <a:ln w="12700">
            <a:solidFill>
              <a:srgbClr val="182838"/>
            </a:solidFill>
            <a:prstDash val="solid"/>
          </a:ln>
        </p:spPr>
      </p:sp>
      <p:sp>
        <p:nvSpPr>
          <p:cNvPr id="18" name="Shape 16"/>
          <p:cNvSpPr/>
          <p:nvPr/>
        </p:nvSpPr>
        <p:spPr>
          <a:xfrm>
            <a:off x="1238250" y="4686300"/>
            <a:ext cx="10001250" cy="0"/>
          </a:xfrm>
          <a:prstGeom prst="line">
            <a:avLst/>
          </a:prstGeom>
          <a:noFill/>
          <a:ln w="12700">
            <a:solidFill>
              <a:srgbClr val="182838"/>
            </a:solidFill>
            <a:prstDash val="solid"/>
          </a:ln>
        </p:spPr>
      </p:sp>
      <p:sp>
        <p:nvSpPr>
          <p:cNvPr id="19" name="Shape 17"/>
          <p:cNvSpPr/>
          <p:nvPr/>
        </p:nvSpPr>
        <p:spPr>
          <a:xfrm>
            <a:off x="1238250" y="4343400"/>
            <a:ext cx="10001250" cy="0"/>
          </a:xfrm>
          <a:prstGeom prst="line">
            <a:avLst/>
          </a:prstGeom>
          <a:noFill/>
          <a:ln w="12700">
            <a:solidFill>
              <a:srgbClr val="22354A"/>
            </a:solidFill>
            <a:prstDash val="solid"/>
          </a:ln>
        </p:spPr>
      </p:sp>
      <p:sp>
        <p:nvSpPr>
          <p:cNvPr id="20" name="Shape 18"/>
          <p:cNvSpPr/>
          <p:nvPr/>
        </p:nvSpPr>
        <p:spPr>
          <a:xfrm>
            <a:off x="1238250" y="3143250"/>
            <a:ext cx="0" cy="1714500"/>
          </a:xfrm>
          <a:prstGeom prst="line">
            <a:avLst/>
          </a:prstGeom>
          <a:noFill/>
          <a:ln w="12700">
            <a:solidFill>
              <a:srgbClr val="22354A"/>
            </a:solidFill>
            <a:prstDash val="solid"/>
          </a:ln>
        </p:spPr>
      </p:sp>
      <p:sp>
        <p:nvSpPr>
          <p:cNvPr id="21" name="Text 19"/>
          <p:cNvSpPr txBox="1"/>
          <p:nvPr/>
        </p:nvSpPr>
        <p:spPr>
          <a:xfrm>
            <a:off x="876300" y="3248025"/>
            <a:ext cx="3048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+12</a:t>
            </a:r>
            <a:endParaRPr lang="en-US" sz="750" dirty="0"/>
          </a:p>
        </p:txBody>
      </p:sp>
      <p:sp>
        <p:nvSpPr>
          <p:cNvPr id="22" name="Text 20"/>
          <p:cNvSpPr txBox="1"/>
          <p:nvPr/>
        </p:nvSpPr>
        <p:spPr>
          <a:xfrm>
            <a:off x="876300" y="3590925"/>
            <a:ext cx="3048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+8</a:t>
            </a:r>
            <a:endParaRPr lang="en-US" sz="750" dirty="0"/>
          </a:p>
        </p:txBody>
      </p:sp>
      <p:sp>
        <p:nvSpPr>
          <p:cNvPr id="23" name="Text 21"/>
          <p:cNvSpPr txBox="1"/>
          <p:nvPr/>
        </p:nvSpPr>
        <p:spPr>
          <a:xfrm>
            <a:off x="876300" y="3933825"/>
            <a:ext cx="3048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a:t>
            </a:r>
            <a:endParaRPr lang="en-US" sz="750" dirty="0"/>
          </a:p>
        </p:txBody>
      </p:sp>
      <p:sp>
        <p:nvSpPr>
          <p:cNvPr id="24" name="Text 22"/>
          <p:cNvSpPr txBox="1"/>
          <p:nvPr/>
        </p:nvSpPr>
        <p:spPr>
          <a:xfrm>
            <a:off x="876300" y="4276725"/>
            <a:ext cx="3048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25" name="Text 23"/>
          <p:cNvSpPr txBox="1"/>
          <p:nvPr/>
        </p:nvSpPr>
        <p:spPr>
          <a:xfrm>
            <a:off x="876300" y="4619625"/>
            <a:ext cx="3048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a:t>
            </a:r>
            <a:endParaRPr lang="en-US" sz="750" dirty="0"/>
          </a:p>
        </p:txBody>
      </p:sp>
      <p:sp>
        <p:nvSpPr>
          <p:cNvPr id="26" name="Shape 24"/>
          <p:cNvSpPr/>
          <p:nvPr/>
        </p:nvSpPr>
        <p:spPr>
          <a:xfrm>
            <a:off x="1725930" y="4857750"/>
            <a:ext cx="0" cy="47625"/>
          </a:xfrm>
          <a:prstGeom prst="line">
            <a:avLst/>
          </a:prstGeom>
          <a:noFill/>
          <a:ln w="12700">
            <a:solidFill>
              <a:srgbClr val="8A8880"/>
            </a:solidFill>
            <a:prstDash val="solid"/>
          </a:ln>
        </p:spPr>
      </p:sp>
      <p:sp>
        <p:nvSpPr>
          <p:cNvPr id="27" name="Text 25"/>
          <p:cNvSpPr txBox="1"/>
          <p:nvPr/>
        </p:nvSpPr>
        <p:spPr>
          <a:xfrm>
            <a:off x="1497330" y="4943475"/>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28" name="Shape 26"/>
          <p:cNvSpPr/>
          <p:nvPr/>
        </p:nvSpPr>
        <p:spPr>
          <a:xfrm>
            <a:off x="4164330" y="4857750"/>
            <a:ext cx="0" cy="47625"/>
          </a:xfrm>
          <a:prstGeom prst="line">
            <a:avLst/>
          </a:prstGeom>
          <a:noFill/>
          <a:ln w="12700">
            <a:solidFill>
              <a:srgbClr val="8A8880"/>
            </a:solidFill>
            <a:prstDash val="solid"/>
          </a:ln>
        </p:spPr>
      </p:sp>
      <p:sp>
        <p:nvSpPr>
          <p:cNvPr id="29" name="Text 27"/>
          <p:cNvSpPr txBox="1"/>
          <p:nvPr/>
        </p:nvSpPr>
        <p:spPr>
          <a:xfrm>
            <a:off x="3935730" y="4943475"/>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30" name="Shape 28"/>
          <p:cNvSpPr/>
          <p:nvPr/>
        </p:nvSpPr>
        <p:spPr>
          <a:xfrm>
            <a:off x="6602730" y="4857750"/>
            <a:ext cx="0" cy="47625"/>
          </a:xfrm>
          <a:prstGeom prst="line">
            <a:avLst/>
          </a:prstGeom>
          <a:noFill/>
          <a:ln w="12700">
            <a:solidFill>
              <a:srgbClr val="8A8880"/>
            </a:solidFill>
            <a:prstDash val="solid"/>
          </a:ln>
        </p:spPr>
      </p:sp>
      <p:sp>
        <p:nvSpPr>
          <p:cNvPr id="31" name="Text 29"/>
          <p:cNvSpPr txBox="1"/>
          <p:nvPr/>
        </p:nvSpPr>
        <p:spPr>
          <a:xfrm>
            <a:off x="6374130" y="4943475"/>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20</a:t>
            </a:r>
            <a:endParaRPr lang="en-US" sz="750" dirty="0"/>
          </a:p>
        </p:txBody>
      </p:sp>
      <p:sp>
        <p:nvSpPr>
          <p:cNvPr id="32" name="Shape 30"/>
          <p:cNvSpPr/>
          <p:nvPr/>
        </p:nvSpPr>
        <p:spPr>
          <a:xfrm>
            <a:off x="9041130" y="4857750"/>
            <a:ext cx="0" cy="47625"/>
          </a:xfrm>
          <a:prstGeom prst="line">
            <a:avLst/>
          </a:prstGeom>
          <a:noFill/>
          <a:ln w="12700">
            <a:solidFill>
              <a:srgbClr val="8A8880"/>
            </a:solidFill>
            <a:prstDash val="solid"/>
          </a:ln>
        </p:spPr>
      </p:sp>
      <p:sp>
        <p:nvSpPr>
          <p:cNvPr id="33" name="Text 31"/>
          <p:cNvSpPr txBox="1"/>
          <p:nvPr/>
        </p:nvSpPr>
        <p:spPr>
          <a:xfrm>
            <a:off x="8812530" y="4943475"/>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30</a:t>
            </a:r>
            <a:endParaRPr lang="en-US" sz="750" dirty="0"/>
          </a:p>
        </p:txBody>
      </p:sp>
      <p:sp>
        <p:nvSpPr>
          <p:cNvPr id="34" name="Shape 32"/>
          <p:cNvSpPr/>
          <p:nvPr/>
        </p:nvSpPr>
        <p:spPr>
          <a:xfrm>
            <a:off x="1238250" y="4132945"/>
            <a:ext cx="10001250" cy="0"/>
          </a:xfrm>
          <a:prstGeom prst="line">
            <a:avLst/>
          </a:prstGeom>
          <a:noFill/>
          <a:ln w="17780">
            <a:solidFill>
              <a:srgbClr val="A8BCD1"/>
            </a:solidFill>
            <a:prstDash val="dash"/>
          </a:ln>
        </p:spPr>
      </p:sp>
      <p:sp>
        <p:nvSpPr>
          <p:cNvPr id="35" name="Text 33"/>
          <p:cNvSpPr txBox="1"/>
          <p:nvPr/>
        </p:nvSpPr>
        <p:spPr>
          <a:xfrm>
            <a:off x="8572500" y="3904345"/>
            <a:ext cx="2667000" cy="154781"/>
          </a:xfrm>
          <a:prstGeom prst="rect">
            <a:avLst/>
          </a:prstGeom>
          <a:noFill/>
          <a:ln/>
        </p:spPr>
        <p:txBody>
          <a:bodyPr wrap="square" lIns="0" tIns="0" rIns="0" bIns="0" rtlCol="0" anchor="t"/>
          <a:lstStyle/>
          <a:p>
            <a:pPr algn="r" indent="0" marL="0">
              <a:lnSpc>
                <a:spcPts val="1219"/>
              </a:lnSpc>
              <a:buNone/>
            </a:pPr>
            <a:r>
              <a:rPr lang="en-US" sz="938" b="1" dirty="0">
                <a:solidFill>
                  <a:srgbClr val="A8BCD1"/>
                </a:solidFill>
                <a:latin typeface="Consolas" pitchFamily="34" charset="0"/>
                <a:ea typeface="Consolas" pitchFamily="34" charset="-122"/>
                <a:cs typeface="Consolas" pitchFamily="34" charset="-120"/>
              </a:rPr>
              <a:t>종전 · 온도 구분 없이 +2.5 MW</a:t>
            </a:r>
            <a:endParaRPr lang="en-US" sz="938" dirty="0"/>
          </a:p>
        </p:txBody>
      </p:sp>
      <p:sp>
        <p:nvSpPr>
          <p:cNvPr id="36" name="Shape 34"/>
          <p:cNvSpPr/>
          <p:nvPr/>
        </p:nvSpPr>
        <p:spPr>
          <a:xfrm>
            <a:off x="1215009" y="3186065"/>
            <a:ext cx="95250" cy="95250"/>
          </a:xfrm>
          <a:prstGeom prst="ellipse">
            <a:avLst/>
          </a:prstGeom>
          <a:solidFill>
            <a:srgbClr val="FF4D63"/>
          </a:solidFill>
          <a:ln/>
        </p:spPr>
      </p:sp>
      <p:sp>
        <p:nvSpPr>
          <p:cNvPr id="37" name="Shape 35"/>
          <p:cNvSpPr/>
          <p:nvPr/>
        </p:nvSpPr>
        <p:spPr>
          <a:xfrm>
            <a:off x="1324737" y="3226613"/>
            <a:ext cx="95250" cy="95250"/>
          </a:xfrm>
          <a:prstGeom prst="ellipse">
            <a:avLst/>
          </a:prstGeom>
          <a:solidFill>
            <a:srgbClr val="FF4D63"/>
          </a:solidFill>
          <a:ln/>
        </p:spPr>
      </p:sp>
      <p:sp>
        <p:nvSpPr>
          <p:cNvPr id="38" name="Shape 36"/>
          <p:cNvSpPr/>
          <p:nvPr/>
        </p:nvSpPr>
        <p:spPr>
          <a:xfrm>
            <a:off x="2141601" y="3542852"/>
            <a:ext cx="95250" cy="95250"/>
          </a:xfrm>
          <a:prstGeom prst="ellipse">
            <a:avLst/>
          </a:prstGeom>
          <a:solidFill>
            <a:srgbClr val="FF4D63"/>
          </a:solidFill>
          <a:ln/>
        </p:spPr>
      </p:sp>
      <p:sp>
        <p:nvSpPr>
          <p:cNvPr id="39" name="Shape 37"/>
          <p:cNvSpPr/>
          <p:nvPr/>
        </p:nvSpPr>
        <p:spPr>
          <a:xfrm>
            <a:off x="2640711" y="3817458"/>
            <a:ext cx="72390" cy="72390"/>
          </a:xfrm>
          <a:prstGeom prst="ellipse">
            <a:avLst/>
          </a:prstGeom>
          <a:solidFill>
            <a:srgbClr val="CFCBC2"/>
          </a:solidFill>
          <a:ln/>
        </p:spPr>
      </p:sp>
      <p:sp>
        <p:nvSpPr>
          <p:cNvPr id="40" name="Shape 38"/>
          <p:cNvSpPr/>
          <p:nvPr/>
        </p:nvSpPr>
        <p:spPr>
          <a:xfrm>
            <a:off x="3152775" y="3841375"/>
            <a:ext cx="72390" cy="72390"/>
          </a:xfrm>
          <a:prstGeom prst="ellipse">
            <a:avLst/>
          </a:prstGeom>
          <a:solidFill>
            <a:srgbClr val="CFCBC2"/>
          </a:solidFill>
          <a:ln/>
        </p:spPr>
      </p:sp>
      <p:sp>
        <p:nvSpPr>
          <p:cNvPr id="41" name="Shape 39"/>
          <p:cNvSpPr/>
          <p:nvPr/>
        </p:nvSpPr>
        <p:spPr>
          <a:xfrm>
            <a:off x="3396615" y="3880552"/>
            <a:ext cx="72390" cy="72390"/>
          </a:xfrm>
          <a:prstGeom prst="ellipse">
            <a:avLst/>
          </a:prstGeom>
          <a:solidFill>
            <a:srgbClr val="CFCBC2"/>
          </a:solidFill>
          <a:ln/>
        </p:spPr>
      </p:sp>
      <p:sp>
        <p:nvSpPr>
          <p:cNvPr id="42" name="Shape 40"/>
          <p:cNvSpPr/>
          <p:nvPr/>
        </p:nvSpPr>
        <p:spPr>
          <a:xfrm>
            <a:off x="3640455" y="3916899"/>
            <a:ext cx="72390" cy="72390"/>
          </a:xfrm>
          <a:prstGeom prst="ellipse">
            <a:avLst/>
          </a:prstGeom>
          <a:solidFill>
            <a:srgbClr val="CFCBC2"/>
          </a:solidFill>
          <a:ln/>
        </p:spPr>
      </p:sp>
      <p:sp>
        <p:nvSpPr>
          <p:cNvPr id="43" name="Shape 41"/>
          <p:cNvSpPr/>
          <p:nvPr/>
        </p:nvSpPr>
        <p:spPr>
          <a:xfrm>
            <a:off x="3859911" y="3772367"/>
            <a:ext cx="72390" cy="72390"/>
          </a:xfrm>
          <a:prstGeom prst="ellipse">
            <a:avLst/>
          </a:prstGeom>
          <a:solidFill>
            <a:srgbClr val="CFCBC2"/>
          </a:solidFill>
          <a:ln/>
        </p:spPr>
      </p:sp>
      <p:sp>
        <p:nvSpPr>
          <p:cNvPr id="44" name="Shape 42"/>
          <p:cNvSpPr/>
          <p:nvPr/>
        </p:nvSpPr>
        <p:spPr>
          <a:xfrm>
            <a:off x="4006215" y="3993709"/>
            <a:ext cx="72390" cy="72390"/>
          </a:xfrm>
          <a:prstGeom prst="ellipse">
            <a:avLst/>
          </a:prstGeom>
          <a:solidFill>
            <a:srgbClr val="CFCBC2"/>
          </a:solidFill>
          <a:ln/>
        </p:spPr>
      </p:sp>
      <p:sp>
        <p:nvSpPr>
          <p:cNvPr id="45" name="Shape 43"/>
          <p:cNvSpPr/>
          <p:nvPr/>
        </p:nvSpPr>
        <p:spPr>
          <a:xfrm>
            <a:off x="4420743" y="3866236"/>
            <a:ext cx="72390" cy="72390"/>
          </a:xfrm>
          <a:prstGeom prst="ellipse">
            <a:avLst/>
          </a:prstGeom>
          <a:solidFill>
            <a:srgbClr val="CFCBC2"/>
          </a:solidFill>
          <a:ln/>
        </p:spPr>
      </p:sp>
      <p:sp>
        <p:nvSpPr>
          <p:cNvPr id="46" name="Shape 44"/>
          <p:cNvSpPr/>
          <p:nvPr/>
        </p:nvSpPr>
        <p:spPr>
          <a:xfrm>
            <a:off x="4786503" y="3892810"/>
            <a:ext cx="72390" cy="72390"/>
          </a:xfrm>
          <a:prstGeom prst="ellipse">
            <a:avLst/>
          </a:prstGeom>
          <a:solidFill>
            <a:srgbClr val="CFCBC2"/>
          </a:solidFill>
          <a:ln/>
        </p:spPr>
      </p:sp>
      <p:sp>
        <p:nvSpPr>
          <p:cNvPr id="47" name="Shape 45"/>
          <p:cNvSpPr/>
          <p:nvPr/>
        </p:nvSpPr>
        <p:spPr>
          <a:xfrm>
            <a:off x="4859655" y="3713645"/>
            <a:ext cx="72390" cy="72390"/>
          </a:xfrm>
          <a:prstGeom prst="ellipse">
            <a:avLst/>
          </a:prstGeom>
          <a:solidFill>
            <a:srgbClr val="CFCBC2"/>
          </a:solidFill>
          <a:ln/>
        </p:spPr>
      </p:sp>
      <p:sp>
        <p:nvSpPr>
          <p:cNvPr id="48" name="Shape 46"/>
          <p:cNvSpPr/>
          <p:nvPr/>
        </p:nvSpPr>
        <p:spPr>
          <a:xfrm>
            <a:off x="4932807" y="3751793"/>
            <a:ext cx="72390" cy="72390"/>
          </a:xfrm>
          <a:prstGeom prst="ellipse">
            <a:avLst/>
          </a:prstGeom>
          <a:solidFill>
            <a:srgbClr val="CFCBC2"/>
          </a:solidFill>
          <a:ln/>
        </p:spPr>
      </p:sp>
      <p:sp>
        <p:nvSpPr>
          <p:cNvPr id="49" name="Shape 47"/>
          <p:cNvSpPr/>
          <p:nvPr/>
        </p:nvSpPr>
        <p:spPr>
          <a:xfrm>
            <a:off x="5201031" y="3677041"/>
            <a:ext cx="72390" cy="72390"/>
          </a:xfrm>
          <a:prstGeom prst="ellipse">
            <a:avLst/>
          </a:prstGeom>
          <a:solidFill>
            <a:srgbClr val="CFCBC2"/>
          </a:solidFill>
          <a:ln/>
        </p:spPr>
      </p:sp>
      <p:sp>
        <p:nvSpPr>
          <p:cNvPr id="50" name="Shape 48"/>
          <p:cNvSpPr/>
          <p:nvPr/>
        </p:nvSpPr>
        <p:spPr>
          <a:xfrm>
            <a:off x="5225415" y="3791912"/>
            <a:ext cx="72390" cy="72390"/>
          </a:xfrm>
          <a:prstGeom prst="ellipse">
            <a:avLst/>
          </a:prstGeom>
          <a:solidFill>
            <a:srgbClr val="CFCBC2"/>
          </a:solidFill>
          <a:ln/>
        </p:spPr>
      </p:sp>
      <p:sp>
        <p:nvSpPr>
          <p:cNvPr id="51" name="Shape 49"/>
          <p:cNvSpPr/>
          <p:nvPr/>
        </p:nvSpPr>
        <p:spPr>
          <a:xfrm>
            <a:off x="5371719" y="3828174"/>
            <a:ext cx="72390" cy="72390"/>
          </a:xfrm>
          <a:prstGeom prst="ellipse">
            <a:avLst/>
          </a:prstGeom>
          <a:solidFill>
            <a:srgbClr val="CFCBC2"/>
          </a:solidFill>
          <a:ln/>
        </p:spPr>
      </p:sp>
      <p:sp>
        <p:nvSpPr>
          <p:cNvPr id="52" name="Shape 50"/>
          <p:cNvSpPr/>
          <p:nvPr/>
        </p:nvSpPr>
        <p:spPr>
          <a:xfrm>
            <a:off x="5737479" y="3847205"/>
            <a:ext cx="72390" cy="72390"/>
          </a:xfrm>
          <a:prstGeom prst="ellipse">
            <a:avLst/>
          </a:prstGeom>
          <a:solidFill>
            <a:srgbClr val="CFCBC2"/>
          </a:solidFill>
          <a:ln/>
        </p:spPr>
      </p:sp>
      <p:sp>
        <p:nvSpPr>
          <p:cNvPr id="53" name="Shape 51"/>
          <p:cNvSpPr/>
          <p:nvPr/>
        </p:nvSpPr>
        <p:spPr>
          <a:xfrm>
            <a:off x="5761863" y="3818315"/>
            <a:ext cx="72390" cy="72390"/>
          </a:xfrm>
          <a:prstGeom prst="ellipse">
            <a:avLst/>
          </a:prstGeom>
          <a:solidFill>
            <a:srgbClr val="CFCBC2"/>
          </a:solidFill>
          <a:ln/>
        </p:spPr>
      </p:sp>
      <p:sp>
        <p:nvSpPr>
          <p:cNvPr id="54" name="Shape 52"/>
          <p:cNvSpPr/>
          <p:nvPr/>
        </p:nvSpPr>
        <p:spPr>
          <a:xfrm>
            <a:off x="6883527" y="4082691"/>
            <a:ext cx="72390" cy="72390"/>
          </a:xfrm>
          <a:prstGeom prst="ellipse">
            <a:avLst/>
          </a:prstGeom>
          <a:solidFill>
            <a:srgbClr val="CFCBC2"/>
          </a:solidFill>
          <a:ln/>
        </p:spPr>
      </p:sp>
      <p:sp>
        <p:nvSpPr>
          <p:cNvPr id="55" name="Shape 53"/>
          <p:cNvSpPr/>
          <p:nvPr/>
        </p:nvSpPr>
        <p:spPr>
          <a:xfrm>
            <a:off x="7810119" y="4487999"/>
            <a:ext cx="72390" cy="72390"/>
          </a:xfrm>
          <a:prstGeom prst="ellipse">
            <a:avLst/>
          </a:prstGeom>
          <a:solidFill>
            <a:srgbClr val="CFCBC2"/>
          </a:solidFill>
          <a:ln/>
        </p:spPr>
      </p:sp>
      <p:sp>
        <p:nvSpPr>
          <p:cNvPr id="56" name="Shape 54"/>
          <p:cNvSpPr/>
          <p:nvPr/>
        </p:nvSpPr>
        <p:spPr>
          <a:xfrm>
            <a:off x="7858887" y="4588726"/>
            <a:ext cx="72390" cy="72390"/>
          </a:xfrm>
          <a:prstGeom prst="ellipse">
            <a:avLst/>
          </a:prstGeom>
          <a:solidFill>
            <a:srgbClr val="CFCBC2"/>
          </a:solidFill>
          <a:ln/>
        </p:spPr>
      </p:sp>
      <p:sp>
        <p:nvSpPr>
          <p:cNvPr id="57" name="Shape 55"/>
          <p:cNvSpPr/>
          <p:nvPr/>
        </p:nvSpPr>
        <p:spPr>
          <a:xfrm>
            <a:off x="7883271" y="4356840"/>
            <a:ext cx="72390" cy="72390"/>
          </a:xfrm>
          <a:prstGeom prst="ellipse">
            <a:avLst/>
          </a:prstGeom>
          <a:solidFill>
            <a:srgbClr val="CFCBC2"/>
          </a:solidFill>
          <a:ln/>
        </p:spPr>
      </p:sp>
      <p:sp>
        <p:nvSpPr>
          <p:cNvPr id="58" name="Shape 56"/>
          <p:cNvSpPr/>
          <p:nvPr/>
        </p:nvSpPr>
        <p:spPr>
          <a:xfrm>
            <a:off x="7956423" y="4367212"/>
            <a:ext cx="72390" cy="72390"/>
          </a:xfrm>
          <a:prstGeom prst="ellipse">
            <a:avLst/>
          </a:prstGeom>
          <a:solidFill>
            <a:srgbClr val="CFCBC2"/>
          </a:solidFill>
          <a:ln/>
        </p:spPr>
      </p:sp>
      <p:sp>
        <p:nvSpPr>
          <p:cNvPr id="59" name="Shape 57"/>
          <p:cNvSpPr/>
          <p:nvPr/>
        </p:nvSpPr>
        <p:spPr>
          <a:xfrm>
            <a:off x="8370951" y="4536262"/>
            <a:ext cx="72390" cy="72390"/>
          </a:xfrm>
          <a:prstGeom prst="ellipse">
            <a:avLst/>
          </a:prstGeom>
          <a:solidFill>
            <a:srgbClr val="CFCBC2"/>
          </a:solidFill>
          <a:ln/>
        </p:spPr>
      </p:sp>
      <p:sp>
        <p:nvSpPr>
          <p:cNvPr id="60" name="Shape 58"/>
          <p:cNvSpPr/>
          <p:nvPr/>
        </p:nvSpPr>
        <p:spPr>
          <a:xfrm>
            <a:off x="8676513" y="4711970"/>
            <a:ext cx="95250" cy="95250"/>
          </a:xfrm>
          <a:prstGeom prst="ellipse">
            <a:avLst/>
          </a:prstGeom>
          <a:solidFill>
            <a:srgbClr val="FF4D63"/>
          </a:solidFill>
          <a:ln/>
        </p:spPr>
      </p:sp>
      <p:sp>
        <p:nvSpPr>
          <p:cNvPr id="61" name="Shape 59"/>
          <p:cNvSpPr/>
          <p:nvPr/>
        </p:nvSpPr>
        <p:spPr>
          <a:xfrm>
            <a:off x="9053703" y="4444794"/>
            <a:ext cx="72390" cy="72390"/>
          </a:xfrm>
          <a:prstGeom prst="ellipse">
            <a:avLst/>
          </a:prstGeom>
          <a:solidFill>
            <a:srgbClr val="CFCBC2"/>
          </a:solidFill>
          <a:ln/>
        </p:spPr>
      </p:sp>
      <p:sp>
        <p:nvSpPr>
          <p:cNvPr id="62" name="Shape 60"/>
          <p:cNvSpPr/>
          <p:nvPr/>
        </p:nvSpPr>
        <p:spPr>
          <a:xfrm>
            <a:off x="9053703" y="4348267"/>
            <a:ext cx="72390" cy="72390"/>
          </a:xfrm>
          <a:prstGeom prst="ellipse">
            <a:avLst/>
          </a:prstGeom>
          <a:solidFill>
            <a:srgbClr val="CFCBC2"/>
          </a:solidFill>
          <a:ln/>
        </p:spPr>
      </p:sp>
      <p:sp>
        <p:nvSpPr>
          <p:cNvPr id="63" name="Shape 61"/>
          <p:cNvSpPr/>
          <p:nvPr/>
        </p:nvSpPr>
        <p:spPr>
          <a:xfrm>
            <a:off x="9175623" y="4602871"/>
            <a:ext cx="72390" cy="72390"/>
          </a:xfrm>
          <a:prstGeom prst="ellipse">
            <a:avLst/>
          </a:prstGeom>
          <a:solidFill>
            <a:srgbClr val="CFCBC2"/>
          </a:solidFill>
          <a:ln/>
        </p:spPr>
      </p:sp>
      <p:sp>
        <p:nvSpPr>
          <p:cNvPr id="64" name="Shape 62"/>
          <p:cNvSpPr/>
          <p:nvPr/>
        </p:nvSpPr>
        <p:spPr>
          <a:xfrm>
            <a:off x="9224391" y="4598327"/>
            <a:ext cx="72390" cy="72390"/>
          </a:xfrm>
          <a:prstGeom prst="ellipse">
            <a:avLst/>
          </a:prstGeom>
          <a:solidFill>
            <a:srgbClr val="CFCBC2"/>
          </a:solidFill>
          <a:ln/>
        </p:spPr>
      </p:sp>
      <p:sp>
        <p:nvSpPr>
          <p:cNvPr id="65" name="Shape 63"/>
          <p:cNvSpPr/>
          <p:nvPr/>
        </p:nvSpPr>
        <p:spPr>
          <a:xfrm>
            <a:off x="9419463" y="4382043"/>
            <a:ext cx="72390" cy="72390"/>
          </a:xfrm>
          <a:prstGeom prst="ellipse">
            <a:avLst/>
          </a:prstGeom>
          <a:solidFill>
            <a:srgbClr val="CFCBC2"/>
          </a:solidFill>
          <a:ln/>
        </p:spPr>
      </p:sp>
      <p:sp>
        <p:nvSpPr>
          <p:cNvPr id="66" name="Shape 64"/>
          <p:cNvSpPr/>
          <p:nvPr/>
        </p:nvSpPr>
        <p:spPr>
          <a:xfrm>
            <a:off x="9590151" y="4360355"/>
            <a:ext cx="72390" cy="72390"/>
          </a:xfrm>
          <a:prstGeom prst="ellipse">
            <a:avLst/>
          </a:prstGeom>
          <a:solidFill>
            <a:srgbClr val="CFCBC2"/>
          </a:solidFill>
          <a:ln/>
        </p:spPr>
      </p:sp>
      <p:sp>
        <p:nvSpPr>
          <p:cNvPr id="67" name="Shape 65"/>
          <p:cNvSpPr/>
          <p:nvPr/>
        </p:nvSpPr>
        <p:spPr>
          <a:xfrm>
            <a:off x="9663303" y="4525032"/>
            <a:ext cx="72390" cy="72390"/>
          </a:xfrm>
          <a:prstGeom prst="ellipse">
            <a:avLst/>
          </a:prstGeom>
          <a:solidFill>
            <a:srgbClr val="CFCBC2"/>
          </a:solidFill>
          <a:ln/>
        </p:spPr>
      </p:sp>
      <p:sp>
        <p:nvSpPr>
          <p:cNvPr id="68" name="Shape 66"/>
          <p:cNvSpPr/>
          <p:nvPr/>
        </p:nvSpPr>
        <p:spPr>
          <a:xfrm>
            <a:off x="9687687" y="4126240"/>
            <a:ext cx="72390" cy="72390"/>
          </a:xfrm>
          <a:prstGeom prst="ellipse">
            <a:avLst/>
          </a:prstGeom>
          <a:solidFill>
            <a:srgbClr val="CFCBC2"/>
          </a:solidFill>
          <a:ln/>
        </p:spPr>
      </p:sp>
      <p:sp>
        <p:nvSpPr>
          <p:cNvPr id="69" name="Shape 67"/>
          <p:cNvSpPr/>
          <p:nvPr/>
        </p:nvSpPr>
        <p:spPr>
          <a:xfrm>
            <a:off x="9687687" y="4187962"/>
            <a:ext cx="72390" cy="72390"/>
          </a:xfrm>
          <a:prstGeom prst="ellipse">
            <a:avLst/>
          </a:prstGeom>
          <a:solidFill>
            <a:srgbClr val="CFCBC2"/>
          </a:solidFill>
          <a:ln/>
        </p:spPr>
      </p:sp>
      <p:sp>
        <p:nvSpPr>
          <p:cNvPr id="70" name="Shape 68"/>
          <p:cNvSpPr/>
          <p:nvPr/>
        </p:nvSpPr>
        <p:spPr>
          <a:xfrm>
            <a:off x="9687687" y="4438621"/>
            <a:ext cx="72390" cy="72390"/>
          </a:xfrm>
          <a:prstGeom prst="ellipse">
            <a:avLst/>
          </a:prstGeom>
          <a:solidFill>
            <a:srgbClr val="CFCBC2"/>
          </a:solidFill>
          <a:ln/>
        </p:spPr>
      </p:sp>
      <p:sp>
        <p:nvSpPr>
          <p:cNvPr id="71" name="Shape 69"/>
          <p:cNvSpPr/>
          <p:nvPr/>
        </p:nvSpPr>
        <p:spPr>
          <a:xfrm>
            <a:off x="9882759" y="4249083"/>
            <a:ext cx="72390" cy="72390"/>
          </a:xfrm>
          <a:prstGeom prst="ellipse">
            <a:avLst/>
          </a:prstGeom>
          <a:solidFill>
            <a:srgbClr val="CFCBC2"/>
          </a:solidFill>
          <a:ln/>
        </p:spPr>
      </p:sp>
      <p:sp>
        <p:nvSpPr>
          <p:cNvPr id="72" name="Shape 70"/>
          <p:cNvSpPr/>
          <p:nvPr/>
        </p:nvSpPr>
        <p:spPr>
          <a:xfrm>
            <a:off x="9931527" y="4506687"/>
            <a:ext cx="72390" cy="72390"/>
          </a:xfrm>
          <a:prstGeom prst="ellipse">
            <a:avLst/>
          </a:prstGeom>
          <a:solidFill>
            <a:srgbClr val="CFCBC2"/>
          </a:solidFill>
          <a:ln/>
        </p:spPr>
      </p:sp>
      <p:sp>
        <p:nvSpPr>
          <p:cNvPr id="73" name="Shape 71"/>
          <p:cNvSpPr/>
          <p:nvPr/>
        </p:nvSpPr>
        <p:spPr>
          <a:xfrm>
            <a:off x="10126599" y="4243854"/>
            <a:ext cx="72390" cy="72390"/>
          </a:xfrm>
          <a:prstGeom prst="ellipse">
            <a:avLst/>
          </a:prstGeom>
          <a:solidFill>
            <a:srgbClr val="CFCBC2"/>
          </a:solidFill>
          <a:ln/>
        </p:spPr>
      </p:sp>
      <p:sp>
        <p:nvSpPr>
          <p:cNvPr id="74" name="Shape 72"/>
          <p:cNvSpPr/>
          <p:nvPr/>
        </p:nvSpPr>
        <p:spPr>
          <a:xfrm>
            <a:off x="10492359" y="4127183"/>
            <a:ext cx="72390" cy="72390"/>
          </a:xfrm>
          <a:prstGeom prst="ellipse">
            <a:avLst/>
          </a:prstGeom>
          <a:solidFill>
            <a:srgbClr val="CFCBC2"/>
          </a:solidFill>
          <a:ln/>
        </p:spPr>
      </p:sp>
      <p:sp>
        <p:nvSpPr>
          <p:cNvPr id="75" name="Shape 73"/>
          <p:cNvSpPr/>
          <p:nvPr/>
        </p:nvSpPr>
        <p:spPr>
          <a:xfrm>
            <a:off x="10931271" y="4185133"/>
            <a:ext cx="72390" cy="72390"/>
          </a:xfrm>
          <a:prstGeom prst="ellipse">
            <a:avLst/>
          </a:prstGeom>
          <a:solidFill>
            <a:srgbClr val="CFCBC2"/>
          </a:solidFill>
          <a:ln/>
        </p:spPr>
      </p:sp>
      <p:sp>
        <p:nvSpPr>
          <p:cNvPr id="76" name="Text 74"/>
          <p:cNvSpPr txBox="1"/>
          <p:nvPr/>
        </p:nvSpPr>
        <p:spPr>
          <a:xfrm>
            <a:off x="1809750" y="3276600"/>
            <a:ext cx="2476500" cy="186690"/>
          </a:xfrm>
          <a:prstGeom prst="rect">
            <a:avLst/>
          </a:prstGeom>
          <a:noFill/>
          <a:ln/>
        </p:spPr>
        <p:txBody>
          <a:bodyPr wrap="square" lIns="0" tIns="0" rIns="0" bIns="0" rtlCol="0" anchor="t"/>
          <a:lstStyle/>
          <a:p>
            <a:pPr algn="l" indent="0" marL="0">
              <a:lnSpc>
                <a:spcPts val="1470"/>
              </a:lnSpc>
              <a:buNone/>
            </a:pPr>
            <a:r>
              <a:rPr lang="en-US" sz="1050" dirty="0">
                <a:solidFill>
                  <a:srgbClr val="A9A79F"/>
                </a:solidFill>
                <a:latin typeface="Malgun Gothic" pitchFamily="34" charset="0"/>
                <a:ea typeface="Malgun Gothic" pitchFamily="34" charset="-122"/>
                <a:cs typeface="Malgun Gothic" pitchFamily="34" charset="-120"/>
              </a:rPr>
              <a:t>추울수록 더 더해야 하고</a:t>
            </a:r>
            <a:endParaRPr lang="en-US" sz="1050" dirty="0"/>
          </a:p>
        </p:txBody>
      </p:sp>
      <p:sp>
        <p:nvSpPr>
          <p:cNvPr id="77" name="Text 75"/>
          <p:cNvSpPr txBox="1"/>
          <p:nvPr/>
        </p:nvSpPr>
        <p:spPr>
          <a:xfrm>
            <a:off x="8382000" y="4476750"/>
            <a:ext cx="2857500" cy="186690"/>
          </a:xfrm>
          <a:prstGeom prst="rect">
            <a:avLst/>
          </a:prstGeom>
          <a:noFill/>
          <a:ln/>
        </p:spPr>
        <p:txBody>
          <a:bodyPr wrap="square" lIns="0" tIns="0" rIns="0" bIns="0" rtlCol="0" anchor="t"/>
          <a:lstStyle/>
          <a:p>
            <a:pPr algn="r" indent="0" marL="0">
              <a:lnSpc>
                <a:spcPts val="1470"/>
              </a:lnSpc>
              <a:buNone/>
            </a:pPr>
            <a:r>
              <a:rPr lang="en-US" sz="1050" dirty="0">
                <a:solidFill>
                  <a:srgbClr val="A9A79F"/>
                </a:solidFill>
                <a:latin typeface="Malgun Gothic" pitchFamily="34" charset="0"/>
                <a:ea typeface="Malgun Gothic" pitchFamily="34" charset="-122"/>
                <a:cs typeface="Malgun Gothic" pitchFamily="34" charset="-120"/>
              </a:rPr>
              <a:t>더울수록 빼야 합니다</a:t>
            </a:r>
            <a:endParaRPr lang="en-US" sz="1050" dirty="0"/>
          </a:p>
        </p:txBody>
      </p:sp>
      <p:sp>
        <p:nvSpPr>
          <p:cNvPr id="78" name="Text 76"/>
          <p:cNvSpPr txBox="1"/>
          <p:nvPr/>
        </p:nvSpPr>
        <p:spPr>
          <a:xfrm>
            <a:off x="6667500" y="3276600"/>
            <a:ext cx="4572000" cy="142399"/>
          </a:xfrm>
          <a:prstGeom prst="rect">
            <a:avLst/>
          </a:prstGeom>
          <a:noFill/>
          <a:ln/>
        </p:spPr>
        <p:txBody>
          <a:bodyPr wrap="square" lIns="0" tIns="0" rIns="0" bIns="0" rtlCol="0" anchor="t"/>
          <a:lstStyle/>
          <a:p>
            <a:pPr algn="r" indent="0" marL="0">
              <a:lnSpc>
                <a:spcPts val="1121"/>
              </a:lnSpc>
              <a:buNone/>
            </a:pPr>
            <a:r>
              <a:rPr lang="en-US" sz="863" dirty="0">
                <a:solidFill>
                  <a:srgbClr val="8A8880"/>
                </a:solidFill>
                <a:latin typeface="Malgun Gothic" pitchFamily="34" charset="0"/>
                <a:ea typeface="Malgun Gothic" pitchFamily="34" charset="-122"/>
                <a:cs typeface="Malgun Gothic" pitchFamily="34" charset="-120"/>
              </a:rPr>
              <a:t>+13 은 -1.9℃ 한 회차, −5 는 여름 한 회차 — 가장 큰 값입니다</a:t>
            </a:r>
            <a:endParaRPr lang="en-US" sz="863" dirty="0"/>
          </a:p>
        </p:txBody>
      </p:sp>
      <p:sp>
        <p:nvSpPr>
          <p:cNvPr id="79" name="Text 77"/>
          <p:cNvSpPr txBox="1"/>
          <p:nvPr/>
        </p:nvSpPr>
        <p:spPr>
          <a:xfrm>
            <a:off x="914400" y="5200650"/>
            <a:ext cx="10363200" cy="166688"/>
          </a:xfrm>
          <a:prstGeom prst="rect">
            <a:avLst/>
          </a:prstGeom>
          <a:noFill/>
          <a:ln/>
        </p:spPr>
        <p:txBody>
          <a:bodyPr wrap="square" lIns="0" tIns="0" rIns="0" bIns="0" rtlCol="0" anchor="t"/>
          <a:lstStyle/>
          <a:p>
            <a:pPr algn="l" indent="0" marL="0">
              <a:lnSpc>
                <a:spcPts val="1313"/>
              </a:lnSpc>
              <a:buNone/>
            </a:pPr>
            <a:r>
              <a:rPr lang="en-US" sz="938" dirty="0">
                <a:solidFill>
                  <a:srgbClr val="A9A79F"/>
                </a:solidFill>
                <a:latin typeface="Malgun Gothic" pitchFamily="34" charset="0"/>
                <a:ea typeface="Malgun Gothic" pitchFamily="34" charset="-122"/>
                <a:cs typeface="Malgun Gothic" pitchFamily="34" charset="-120"/>
              </a:rPr>
              <a:t>이론값은 </a:t>
            </a:r>
            <a:pPr algn="l" indent="0" marL="0">
              <a:lnSpc>
                <a:spcPts val="1313"/>
              </a:lnSpc>
              <a:buNone/>
            </a:pPr>
            <a:r>
              <a:rPr lang="en-US" sz="938" b="1" dirty="0">
                <a:solidFill>
                  <a:srgbClr val="EFB13C"/>
                </a:solidFill>
                <a:latin typeface="Malgun Gothic" pitchFamily="34" charset="0"/>
                <a:ea typeface="Malgun Gothic" pitchFamily="34" charset="-122"/>
                <a:cs typeface="Malgun Gothic" pitchFamily="34" charset="-120"/>
              </a:rPr>
              <a:t>제작사 표준 성능 곡선</a:t>
            </a:r>
            <a:pPr algn="l" indent="0" marL="0">
              <a:lnSpc>
                <a:spcPts val="1313"/>
              </a:lnSpc>
              <a:buNone/>
            </a:pPr>
            <a:r>
              <a:rPr lang="en-US" sz="938" dirty="0">
                <a:solidFill>
                  <a:srgbClr val="A9A79F"/>
                </a:solidFill>
                <a:latin typeface="Malgun Gothic" pitchFamily="34" charset="0"/>
                <a:ea typeface="Malgun Gothic" pitchFamily="34" charset="-122"/>
                <a:cs typeface="Malgun Gothic" pitchFamily="34" charset="-120"/>
              </a:rPr>
              <a:t>입니다. 우리 설비의 실제 특성과 온도에 따라 어긋나고, 그 차이가 저온 (+) · 고온 (−) 로 남습니다.</a:t>
            </a:r>
            <a:endParaRPr lang="en-US" sz="938" dirty="0"/>
          </a:p>
        </p:txBody>
      </p:sp>
      <p:sp>
        <p:nvSpPr>
          <p:cNvPr id="80" name="Shape 78"/>
          <p:cNvSpPr/>
          <p:nvPr/>
        </p:nvSpPr>
        <p:spPr>
          <a:xfrm>
            <a:off x="685800" y="5429250"/>
            <a:ext cx="10820400" cy="514350"/>
          </a:xfrm>
          <a:prstGeom prst="rect">
            <a:avLst/>
          </a:prstGeom>
          <a:solidFill>
            <a:srgbClr val="0A1320"/>
          </a:solidFill>
          <a:ln w="12700">
            <a:solidFill>
              <a:srgbClr val="182838"/>
            </a:solidFill>
            <a:prstDash val="solid"/>
          </a:ln>
        </p:spPr>
      </p:sp>
      <p:sp>
        <p:nvSpPr>
          <p:cNvPr id="81" name="Text 79"/>
          <p:cNvSpPr txBox="1"/>
          <p:nvPr/>
        </p:nvSpPr>
        <p:spPr>
          <a:xfrm>
            <a:off x="914400" y="5543550"/>
            <a:ext cx="4191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718BA6"/>
                </a:solidFill>
                <a:latin typeface="Consolas" pitchFamily="34" charset="0"/>
                <a:ea typeface="Consolas" pitchFamily="34" charset="-122"/>
                <a:cs typeface="Consolas" pitchFamily="34" charset="-120"/>
              </a:rPr>
              <a:t>종전 · 실제 적용한 값 16회  ·  회차순  ·  전부 정수 하나</a:t>
            </a:r>
            <a:endParaRPr lang="en-US" sz="788" dirty="0"/>
          </a:p>
        </p:txBody>
      </p:sp>
      <p:sp>
        <p:nvSpPr>
          <p:cNvPr id="82" name="Text 80"/>
          <p:cNvSpPr txBox="1"/>
          <p:nvPr/>
        </p:nvSpPr>
        <p:spPr>
          <a:xfrm>
            <a:off x="5334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4</a:t>
            </a:r>
            <a:endParaRPr lang="en-US" sz="1275" dirty="0"/>
          </a:p>
        </p:txBody>
      </p:sp>
      <p:sp>
        <p:nvSpPr>
          <p:cNvPr id="83" name="Text 81"/>
          <p:cNvSpPr txBox="1"/>
          <p:nvPr/>
        </p:nvSpPr>
        <p:spPr>
          <a:xfrm>
            <a:off x="5334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12.5</a:t>
            </a:r>
            <a:endParaRPr lang="en-US" sz="713" dirty="0"/>
          </a:p>
        </p:txBody>
      </p:sp>
      <p:sp>
        <p:nvSpPr>
          <p:cNvPr id="84" name="Text 82"/>
          <p:cNvSpPr txBox="1"/>
          <p:nvPr/>
        </p:nvSpPr>
        <p:spPr>
          <a:xfrm>
            <a:off x="5715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FF4D63"/>
                </a:solidFill>
                <a:latin typeface="Consolas" pitchFamily="34" charset="0"/>
                <a:ea typeface="Consolas" pitchFamily="34" charset="-122"/>
                <a:cs typeface="Consolas" pitchFamily="34" charset="-120"/>
              </a:rPr>
              <a:t>5</a:t>
            </a:r>
            <a:endParaRPr lang="en-US" sz="1275" dirty="0"/>
          </a:p>
        </p:txBody>
      </p:sp>
      <p:sp>
        <p:nvSpPr>
          <p:cNvPr id="85" name="Text 83"/>
          <p:cNvSpPr txBox="1"/>
          <p:nvPr/>
        </p:nvSpPr>
        <p:spPr>
          <a:xfrm>
            <a:off x="5715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FF4D63"/>
                </a:solidFill>
                <a:latin typeface="Consolas" pitchFamily="34" charset="0"/>
                <a:ea typeface="Consolas" pitchFamily="34" charset="-122"/>
                <a:cs typeface="Consolas" pitchFamily="34" charset="-120"/>
              </a:rPr>
              <a:t>7.3</a:t>
            </a:r>
            <a:endParaRPr lang="en-US" sz="713" dirty="0"/>
          </a:p>
        </p:txBody>
      </p:sp>
      <p:sp>
        <p:nvSpPr>
          <p:cNvPr id="86" name="Text 84"/>
          <p:cNvSpPr txBox="1"/>
          <p:nvPr/>
        </p:nvSpPr>
        <p:spPr>
          <a:xfrm>
            <a:off x="6096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FF4D63"/>
                </a:solidFill>
                <a:latin typeface="Consolas" pitchFamily="34" charset="0"/>
                <a:ea typeface="Consolas" pitchFamily="34" charset="-122"/>
                <a:cs typeface="Consolas" pitchFamily="34" charset="-120"/>
              </a:rPr>
              <a:t>5</a:t>
            </a:r>
            <a:endParaRPr lang="en-US" sz="1275" dirty="0"/>
          </a:p>
        </p:txBody>
      </p:sp>
      <p:sp>
        <p:nvSpPr>
          <p:cNvPr id="87" name="Text 85"/>
          <p:cNvSpPr txBox="1"/>
          <p:nvPr/>
        </p:nvSpPr>
        <p:spPr>
          <a:xfrm>
            <a:off x="6096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FF4D63"/>
                </a:solidFill>
                <a:latin typeface="Consolas" pitchFamily="34" charset="0"/>
                <a:ea typeface="Consolas" pitchFamily="34" charset="-122"/>
                <a:cs typeface="Consolas" pitchFamily="34" charset="-120"/>
              </a:rPr>
              <a:t>25.7</a:t>
            </a:r>
            <a:endParaRPr lang="en-US" sz="713" dirty="0"/>
          </a:p>
        </p:txBody>
      </p:sp>
      <p:sp>
        <p:nvSpPr>
          <p:cNvPr id="88" name="Text 86"/>
          <p:cNvSpPr txBox="1"/>
          <p:nvPr/>
        </p:nvSpPr>
        <p:spPr>
          <a:xfrm>
            <a:off x="6477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5</a:t>
            </a:r>
            <a:endParaRPr lang="en-US" sz="1275" dirty="0"/>
          </a:p>
        </p:txBody>
      </p:sp>
      <p:sp>
        <p:nvSpPr>
          <p:cNvPr id="89" name="Text 87"/>
          <p:cNvSpPr txBox="1"/>
          <p:nvPr/>
        </p:nvSpPr>
        <p:spPr>
          <a:xfrm>
            <a:off x="6477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16.0</a:t>
            </a:r>
            <a:endParaRPr lang="en-US" sz="713" dirty="0"/>
          </a:p>
        </p:txBody>
      </p:sp>
      <p:sp>
        <p:nvSpPr>
          <p:cNvPr id="90" name="Text 88"/>
          <p:cNvSpPr txBox="1"/>
          <p:nvPr/>
        </p:nvSpPr>
        <p:spPr>
          <a:xfrm>
            <a:off x="6858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5</a:t>
            </a:r>
            <a:endParaRPr lang="en-US" sz="1275" dirty="0"/>
          </a:p>
        </p:txBody>
      </p:sp>
      <p:sp>
        <p:nvSpPr>
          <p:cNvPr id="91" name="Text 89"/>
          <p:cNvSpPr txBox="1"/>
          <p:nvPr/>
        </p:nvSpPr>
        <p:spPr>
          <a:xfrm>
            <a:off x="6858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18.8</a:t>
            </a:r>
            <a:endParaRPr lang="en-US" sz="713" dirty="0"/>
          </a:p>
        </p:txBody>
      </p:sp>
      <p:sp>
        <p:nvSpPr>
          <p:cNvPr id="92" name="Text 90"/>
          <p:cNvSpPr txBox="1"/>
          <p:nvPr/>
        </p:nvSpPr>
        <p:spPr>
          <a:xfrm>
            <a:off x="7239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5</a:t>
            </a:r>
            <a:endParaRPr lang="en-US" sz="1275" dirty="0"/>
          </a:p>
        </p:txBody>
      </p:sp>
      <p:sp>
        <p:nvSpPr>
          <p:cNvPr id="93" name="Text 91"/>
          <p:cNvSpPr txBox="1"/>
          <p:nvPr/>
        </p:nvSpPr>
        <p:spPr>
          <a:xfrm>
            <a:off x="7239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13.7</a:t>
            </a:r>
            <a:endParaRPr lang="en-US" sz="713" dirty="0"/>
          </a:p>
        </p:txBody>
      </p:sp>
      <p:sp>
        <p:nvSpPr>
          <p:cNvPr id="94" name="Text 92"/>
          <p:cNvSpPr txBox="1"/>
          <p:nvPr/>
        </p:nvSpPr>
        <p:spPr>
          <a:xfrm>
            <a:off x="7620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1</a:t>
            </a:r>
            <a:endParaRPr lang="en-US" sz="1275" dirty="0"/>
          </a:p>
        </p:txBody>
      </p:sp>
      <p:sp>
        <p:nvSpPr>
          <p:cNvPr id="95" name="Text 93"/>
          <p:cNvSpPr txBox="1"/>
          <p:nvPr/>
        </p:nvSpPr>
        <p:spPr>
          <a:xfrm>
            <a:off x="7620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23.5</a:t>
            </a:r>
            <a:endParaRPr lang="en-US" sz="713" dirty="0"/>
          </a:p>
        </p:txBody>
      </p:sp>
      <p:sp>
        <p:nvSpPr>
          <p:cNvPr id="96" name="Text 94"/>
          <p:cNvSpPr txBox="1"/>
          <p:nvPr/>
        </p:nvSpPr>
        <p:spPr>
          <a:xfrm>
            <a:off x="8001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3</a:t>
            </a:r>
            <a:endParaRPr lang="en-US" sz="1275" dirty="0"/>
          </a:p>
        </p:txBody>
      </p:sp>
      <p:sp>
        <p:nvSpPr>
          <p:cNvPr id="97" name="Text 95"/>
          <p:cNvSpPr txBox="1"/>
          <p:nvPr/>
        </p:nvSpPr>
        <p:spPr>
          <a:xfrm>
            <a:off x="8001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21.4</a:t>
            </a:r>
            <a:endParaRPr lang="en-US" sz="713" dirty="0"/>
          </a:p>
        </p:txBody>
      </p:sp>
      <p:sp>
        <p:nvSpPr>
          <p:cNvPr id="98" name="Text 96"/>
          <p:cNvSpPr txBox="1"/>
          <p:nvPr/>
        </p:nvSpPr>
        <p:spPr>
          <a:xfrm>
            <a:off x="8382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6</a:t>
            </a:r>
            <a:endParaRPr lang="en-US" sz="1275" dirty="0"/>
          </a:p>
        </p:txBody>
      </p:sp>
      <p:sp>
        <p:nvSpPr>
          <p:cNvPr id="99" name="Text 97"/>
          <p:cNvSpPr txBox="1"/>
          <p:nvPr/>
        </p:nvSpPr>
        <p:spPr>
          <a:xfrm>
            <a:off x="8382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20.0</a:t>
            </a:r>
            <a:endParaRPr lang="en-US" sz="713" dirty="0"/>
          </a:p>
        </p:txBody>
      </p:sp>
      <p:sp>
        <p:nvSpPr>
          <p:cNvPr id="100" name="Text 98"/>
          <p:cNvSpPr txBox="1"/>
          <p:nvPr/>
        </p:nvSpPr>
        <p:spPr>
          <a:xfrm>
            <a:off x="8763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6</a:t>
            </a:r>
            <a:endParaRPr lang="en-US" sz="1275" dirty="0"/>
          </a:p>
        </p:txBody>
      </p:sp>
      <p:sp>
        <p:nvSpPr>
          <p:cNvPr id="101" name="Text 99"/>
          <p:cNvSpPr txBox="1"/>
          <p:nvPr/>
        </p:nvSpPr>
        <p:spPr>
          <a:xfrm>
            <a:off x="8763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27.4</a:t>
            </a:r>
            <a:endParaRPr lang="en-US" sz="713" dirty="0"/>
          </a:p>
        </p:txBody>
      </p:sp>
      <p:sp>
        <p:nvSpPr>
          <p:cNvPr id="102" name="Text 100"/>
          <p:cNvSpPr txBox="1"/>
          <p:nvPr/>
        </p:nvSpPr>
        <p:spPr>
          <a:xfrm>
            <a:off x="9144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5</a:t>
            </a:r>
            <a:endParaRPr lang="en-US" sz="1275" dirty="0"/>
          </a:p>
        </p:txBody>
      </p:sp>
      <p:sp>
        <p:nvSpPr>
          <p:cNvPr id="103" name="Text 101"/>
          <p:cNvSpPr txBox="1"/>
          <p:nvPr/>
        </p:nvSpPr>
        <p:spPr>
          <a:xfrm>
            <a:off x="9144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25.5</a:t>
            </a:r>
            <a:endParaRPr lang="en-US" sz="713" dirty="0"/>
          </a:p>
        </p:txBody>
      </p:sp>
      <p:sp>
        <p:nvSpPr>
          <p:cNvPr id="104" name="Text 102"/>
          <p:cNvSpPr txBox="1"/>
          <p:nvPr/>
        </p:nvSpPr>
        <p:spPr>
          <a:xfrm>
            <a:off x="9525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5</a:t>
            </a:r>
            <a:endParaRPr lang="en-US" sz="1275" dirty="0"/>
          </a:p>
        </p:txBody>
      </p:sp>
      <p:sp>
        <p:nvSpPr>
          <p:cNvPr id="105" name="Text 103"/>
          <p:cNvSpPr txBox="1"/>
          <p:nvPr/>
        </p:nvSpPr>
        <p:spPr>
          <a:xfrm>
            <a:off x="9525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28.9</a:t>
            </a:r>
            <a:endParaRPr lang="en-US" sz="713" dirty="0"/>
          </a:p>
        </p:txBody>
      </p:sp>
      <p:sp>
        <p:nvSpPr>
          <p:cNvPr id="106" name="Text 104"/>
          <p:cNvSpPr txBox="1"/>
          <p:nvPr/>
        </p:nvSpPr>
        <p:spPr>
          <a:xfrm>
            <a:off x="9906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2</a:t>
            </a:r>
            <a:endParaRPr lang="en-US" sz="1275" dirty="0"/>
          </a:p>
        </p:txBody>
      </p:sp>
      <p:sp>
        <p:nvSpPr>
          <p:cNvPr id="107" name="Text 105"/>
          <p:cNvSpPr txBox="1"/>
          <p:nvPr/>
        </p:nvSpPr>
        <p:spPr>
          <a:xfrm>
            <a:off x="9906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29.9</a:t>
            </a:r>
            <a:endParaRPr lang="en-US" sz="713" dirty="0"/>
          </a:p>
        </p:txBody>
      </p:sp>
      <p:sp>
        <p:nvSpPr>
          <p:cNvPr id="108" name="Text 106"/>
          <p:cNvSpPr txBox="1"/>
          <p:nvPr/>
        </p:nvSpPr>
        <p:spPr>
          <a:xfrm>
            <a:off x="10287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2</a:t>
            </a:r>
            <a:endParaRPr lang="en-US" sz="1275" dirty="0"/>
          </a:p>
        </p:txBody>
      </p:sp>
      <p:sp>
        <p:nvSpPr>
          <p:cNvPr id="109" name="Text 107"/>
          <p:cNvSpPr txBox="1"/>
          <p:nvPr/>
        </p:nvSpPr>
        <p:spPr>
          <a:xfrm>
            <a:off x="10287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27.6</a:t>
            </a:r>
            <a:endParaRPr lang="en-US" sz="713" dirty="0"/>
          </a:p>
        </p:txBody>
      </p:sp>
      <p:sp>
        <p:nvSpPr>
          <p:cNvPr id="110" name="Text 108"/>
          <p:cNvSpPr txBox="1"/>
          <p:nvPr/>
        </p:nvSpPr>
        <p:spPr>
          <a:xfrm>
            <a:off x="10668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1</a:t>
            </a:r>
            <a:endParaRPr lang="en-US" sz="1275" dirty="0"/>
          </a:p>
        </p:txBody>
      </p:sp>
      <p:sp>
        <p:nvSpPr>
          <p:cNvPr id="111" name="Text 109"/>
          <p:cNvSpPr txBox="1"/>
          <p:nvPr/>
        </p:nvSpPr>
        <p:spPr>
          <a:xfrm>
            <a:off x="10668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31.9</a:t>
            </a:r>
            <a:endParaRPr lang="en-US" sz="713" dirty="0"/>
          </a:p>
        </p:txBody>
      </p:sp>
      <p:sp>
        <p:nvSpPr>
          <p:cNvPr id="112" name="Text 110"/>
          <p:cNvSpPr txBox="1"/>
          <p:nvPr/>
        </p:nvSpPr>
        <p:spPr>
          <a:xfrm>
            <a:off x="11049000" y="5524500"/>
            <a:ext cx="381000" cy="210503"/>
          </a:xfrm>
          <a:prstGeom prst="rect">
            <a:avLst/>
          </a:prstGeom>
          <a:noFill/>
          <a:ln/>
        </p:spPr>
        <p:txBody>
          <a:bodyPr wrap="square" lIns="0" tIns="0" rIns="0" bIns="0" rtlCol="0" anchor="t"/>
          <a:lstStyle/>
          <a:p>
            <a:pPr algn="ctr" indent="0" marL="0">
              <a:lnSpc>
                <a:spcPts val="1658"/>
              </a:lnSpc>
              <a:buNone/>
            </a:pPr>
            <a:r>
              <a:rPr lang="en-US" sz="1275" b="1" dirty="0">
                <a:solidFill>
                  <a:srgbClr val="EAE7E0"/>
                </a:solidFill>
                <a:latin typeface="Consolas" pitchFamily="34" charset="0"/>
                <a:ea typeface="Consolas" pitchFamily="34" charset="-122"/>
                <a:cs typeface="Consolas" pitchFamily="34" charset="-120"/>
              </a:rPr>
              <a:t>-1</a:t>
            </a:r>
            <a:endParaRPr lang="en-US" sz="1275" dirty="0"/>
          </a:p>
        </p:txBody>
      </p:sp>
      <p:sp>
        <p:nvSpPr>
          <p:cNvPr id="113" name="Text 111"/>
          <p:cNvSpPr txBox="1"/>
          <p:nvPr/>
        </p:nvSpPr>
        <p:spPr>
          <a:xfrm>
            <a:off x="11049000" y="5734050"/>
            <a:ext cx="381000" cy="117634"/>
          </a:xfrm>
          <a:prstGeom prst="rect">
            <a:avLst/>
          </a:prstGeom>
          <a:noFill/>
          <a:ln/>
        </p:spPr>
        <p:txBody>
          <a:bodyPr wrap="square" lIns="0" tIns="0" rIns="0" bIns="0" rtlCol="0" anchor="t"/>
          <a:lstStyle/>
          <a:p>
            <a:pPr algn="ctr" indent="0" marL="0">
              <a:lnSpc>
                <a:spcPts val="926"/>
              </a:lnSpc>
              <a:buNone/>
            </a:pPr>
            <a:r>
              <a:rPr lang="en-US" sz="713" dirty="0">
                <a:solidFill>
                  <a:srgbClr val="8A8880"/>
                </a:solidFill>
                <a:latin typeface="Consolas" pitchFamily="34" charset="0"/>
                <a:ea typeface="Consolas" pitchFamily="34" charset="-122"/>
                <a:cs typeface="Consolas" pitchFamily="34" charset="-120"/>
              </a:rPr>
              <a:t>36.6</a:t>
            </a:r>
            <a:endParaRPr lang="en-US" sz="713" dirty="0"/>
          </a:p>
        </p:txBody>
      </p:sp>
      <p:sp>
        <p:nvSpPr>
          <p:cNvPr id="114" name="Text 112"/>
          <p:cNvSpPr txBox="1"/>
          <p:nvPr/>
        </p:nvSpPr>
        <p:spPr>
          <a:xfrm>
            <a:off x="914400" y="5734050"/>
            <a:ext cx="4191000" cy="173355"/>
          </a:xfrm>
          <a:prstGeom prst="rect">
            <a:avLst/>
          </a:prstGeom>
          <a:noFill/>
          <a:ln/>
        </p:spPr>
        <p:txBody>
          <a:bodyPr wrap="square" lIns="0" tIns="0" rIns="0" bIns="0" rtlCol="0" anchor="t"/>
          <a:lstStyle/>
          <a:p>
            <a:pPr algn="l" indent="0" marL="0">
              <a:lnSpc>
                <a:spcPts val="1365"/>
              </a:lnSpc>
              <a:buNone/>
            </a:pPr>
            <a:r>
              <a:rPr lang="en-US" sz="975" dirty="0">
                <a:solidFill>
                  <a:srgbClr val="FF4D63"/>
                </a:solidFill>
                <a:latin typeface="Malgun Gothic" pitchFamily="34" charset="0"/>
                <a:ea typeface="Malgun Gothic" pitchFamily="34" charset="-122"/>
                <a:cs typeface="Malgun Gothic" pitchFamily="34" charset="-120"/>
              </a:rPr>
              <a:t>7.3℃ 와 25.7℃ 에 똑같이 +5</a:t>
            </a:r>
            <a:endParaRPr lang="en-US" sz="975" dirty="0"/>
          </a:p>
        </p:txBody>
      </p:sp>
      <p:sp>
        <p:nvSpPr>
          <p:cNvPr id="115" name="Shape 113"/>
          <p:cNvSpPr/>
          <p:nvPr/>
        </p:nvSpPr>
        <p:spPr>
          <a:xfrm>
            <a:off x="685800" y="6057900"/>
            <a:ext cx="10820400" cy="0"/>
          </a:xfrm>
          <a:prstGeom prst="line">
            <a:avLst/>
          </a:prstGeom>
          <a:noFill/>
          <a:ln w="12700">
            <a:solidFill>
              <a:srgbClr val="22354A"/>
            </a:solidFill>
            <a:prstDash val="solid"/>
          </a:ln>
        </p:spPr>
      </p:sp>
      <p:sp>
        <p:nvSpPr>
          <p:cNvPr id="116" name="Text 114"/>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117" name="Text 115"/>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고쳐야 할 것은 값의 크기가 아니라,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온도마다 다르게 주는 것</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이었습니다.</a:t>
            </a:r>
            <a:endParaRPr lang="en-US" sz="123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03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데이터 분석 및 원인 규명(가설 검증)</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원인 규명</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19100"/>
            <a:ext cx="38100" cy="142875"/>
          </a:xfrm>
          <a:prstGeom prst="rect">
            <a:avLst/>
          </a:prstGeom>
          <a:solidFill>
            <a:srgbClr val="EFB13C"/>
          </a:solidFill>
          <a:ln/>
        </p:spPr>
      </p:sp>
      <p:sp>
        <p:nvSpPr>
          <p:cNvPr id="6" name="Shape 4"/>
          <p:cNvSpPr/>
          <p:nvPr/>
        </p:nvSpPr>
        <p:spPr>
          <a:xfrm>
            <a:off x="11068050" y="485775"/>
            <a:ext cx="38100" cy="76200"/>
          </a:xfrm>
          <a:prstGeom prst="rect">
            <a:avLst/>
          </a:prstGeom>
          <a:solidFill>
            <a:srgbClr val="8A8880"/>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변수를 더 넣으면 좋아질까 —</a:t>
            </a:r>
            <a:endParaRPr lang="en-US" sz="2775" dirty="0"/>
          </a:p>
          <a:p>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같은 모델에 조합만 바꿔</a:t>
            </a:r>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 확인했습니다</a:t>
            </a:r>
            <a:endParaRPr lang="en-US" sz="2775" dirty="0"/>
          </a:p>
        </p:txBody>
      </p:sp>
      <p:sp>
        <p:nvSpPr>
          <p:cNvPr id="12" name="Text 10"/>
          <p:cNvSpPr txBox="1"/>
          <p:nvPr/>
        </p:nvSpPr>
        <p:spPr>
          <a:xfrm>
            <a:off x="685800" y="2000250"/>
            <a:ext cx="10287000" cy="569214"/>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보정값에 영향을 줄 수 있는 환경변수로 </a:t>
            </a:r>
            <a:pPr algn="l" indent="0" marL="0">
              <a:lnSpc>
                <a:spcPts val="2241"/>
              </a:lnSpc>
              <a:buNone/>
            </a:pPr>
            <a:r>
              <a:rPr lang="en-US" sz="1350" b="1" dirty="0">
                <a:solidFill>
                  <a:srgbClr val="EFB13C"/>
                </a:solidFill>
                <a:latin typeface="Malgun Gothic" pitchFamily="34" charset="0"/>
                <a:ea typeface="Malgun Gothic" pitchFamily="34" charset="-122"/>
                <a:cs typeface="Malgun Gothic" pitchFamily="34" charset="-120"/>
              </a:rPr>
              <a:t>외기 온도 · 복수기 진공도 · 대기압 · 상대습도</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4개를 후보로 세우고, 온도 외의 변수를 더했을 때 예측이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실제로</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좋아지는지 확인했습니다.</a:t>
            </a:r>
            <a:endParaRPr lang="en-US" sz="1350" dirty="0"/>
          </a:p>
        </p:txBody>
      </p:sp>
      <p:sp>
        <p:nvSpPr>
          <p:cNvPr id="13" name="Shape 11"/>
          <p:cNvSpPr/>
          <p:nvPr/>
        </p:nvSpPr>
        <p:spPr>
          <a:xfrm>
            <a:off x="685800" y="2705100"/>
            <a:ext cx="10820400" cy="1962150"/>
          </a:xfrm>
          <a:prstGeom prst="rect">
            <a:avLst/>
          </a:prstGeom>
          <a:solidFill>
            <a:srgbClr val="0A1320"/>
          </a:solidFill>
          <a:ln w="12700">
            <a:solidFill>
              <a:srgbClr val="182838"/>
            </a:solidFill>
            <a:prstDash val="solid"/>
          </a:ln>
        </p:spPr>
      </p:sp>
      <p:sp>
        <p:nvSpPr>
          <p:cNvPr id="14" name="Text 12"/>
          <p:cNvSpPr txBox="1"/>
          <p:nvPr/>
        </p:nvSpPr>
        <p:spPr>
          <a:xfrm>
            <a:off x="914400" y="2819400"/>
            <a:ext cx="5905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같은 모델(GP · RBF 커널) · 같은 조건에서 </a:t>
            </a:r>
            <a:pPr algn="l" indent="0" marL="0">
              <a:lnSpc>
                <a:spcPts val="984"/>
              </a:lnSpc>
              <a:buNone/>
            </a:pPr>
            <a:r>
              <a:rPr lang="en-US" sz="788" b="1" spc="150" kern="0" dirty="0">
                <a:solidFill>
                  <a:srgbClr val="EFB13C"/>
                </a:solidFill>
                <a:latin typeface="Consolas" pitchFamily="34" charset="0"/>
                <a:ea typeface="Consolas" pitchFamily="34" charset="-122"/>
                <a:cs typeface="Consolas" pitchFamily="34" charset="-120"/>
              </a:rPr>
              <a:t>변수 조합만</a:t>
            </a:r>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 바꿔 채점  ·  공통 39회</a:t>
            </a:r>
            <a:endParaRPr lang="en-US" sz="788" dirty="0"/>
          </a:p>
        </p:txBody>
      </p:sp>
      <p:sp>
        <p:nvSpPr>
          <p:cNvPr id="15" name="Text 13"/>
          <p:cNvSpPr txBox="1"/>
          <p:nvPr/>
        </p:nvSpPr>
        <p:spPr>
          <a:xfrm>
            <a:off x="8477250" y="2800350"/>
            <a:ext cx="2800350" cy="131445"/>
          </a:xfrm>
          <a:prstGeom prst="rect">
            <a:avLst/>
          </a:prstGeom>
          <a:noFill/>
          <a:ln/>
        </p:spPr>
        <p:txBody>
          <a:bodyPr wrap="square" lIns="0" tIns="0" rIns="0" bIns="0" rtlCol="0" anchor="t"/>
          <a:lstStyle/>
          <a:p>
            <a:pPr algn="r"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작을수록 좋음 · R² 만 1 에 가까울수록</a:t>
            </a:r>
            <a:endParaRPr lang="en-US" sz="863" dirty="0"/>
          </a:p>
        </p:txBody>
      </p:sp>
      <p:sp>
        <p:nvSpPr>
          <p:cNvPr id="16" name="Text 14"/>
          <p:cNvSpPr txBox="1"/>
          <p:nvPr/>
        </p:nvSpPr>
        <p:spPr>
          <a:xfrm>
            <a:off x="914400" y="3048000"/>
            <a:ext cx="25146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모델  ·  입력 변수 조합</a:t>
            </a:r>
            <a:endParaRPr lang="en-US" sz="788" dirty="0"/>
          </a:p>
        </p:txBody>
      </p:sp>
      <p:sp>
        <p:nvSpPr>
          <p:cNvPr id="17" name="Text 15"/>
          <p:cNvSpPr txBox="1"/>
          <p:nvPr/>
        </p:nvSpPr>
        <p:spPr>
          <a:xfrm>
            <a:off x="3714750" y="304800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RMSE</a:t>
            </a:r>
            <a:endParaRPr lang="en-US" sz="788" dirty="0"/>
          </a:p>
        </p:txBody>
      </p:sp>
      <p:sp>
        <p:nvSpPr>
          <p:cNvPr id="18" name="Text 16"/>
          <p:cNvSpPr txBox="1"/>
          <p:nvPr/>
        </p:nvSpPr>
        <p:spPr>
          <a:xfrm>
            <a:off x="4857750" y="304800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MAE</a:t>
            </a:r>
            <a:endParaRPr lang="en-US" sz="788" dirty="0"/>
          </a:p>
        </p:txBody>
      </p:sp>
      <p:sp>
        <p:nvSpPr>
          <p:cNvPr id="19" name="Text 17"/>
          <p:cNvSpPr txBox="1"/>
          <p:nvPr/>
        </p:nvSpPr>
        <p:spPr>
          <a:xfrm>
            <a:off x="6019800" y="304800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R²</a:t>
            </a:r>
            <a:endParaRPr lang="en-US" sz="788" dirty="0"/>
          </a:p>
        </p:txBody>
      </p:sp>
      <p:sp>
        <p:nvSpPr>
          <p:cNvPr id="20" name="Text 18"/>
          <p:cNvSpPr txBox="1"/>
          <p:nvPr/>
        </p:nvSpPr>
        <p:spPr>
          <a:xfrm>
            <a:off x="7181850" y="304800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AIC</a:t>
            </a:r>
            <a:endParaRPr lang="en-US" sz="788" dirty="0"/>
          </a:p>
        </p:txBody>
      </p:sp>
      <p:sp>
        <p:nvSpPr>
          <p:cNvPr id="21" name="Text 19"/>
          <p:cNvSpPr txBox="1"/>
          <p:nvPr/>
        </p:nvSpPr>
        <p:spPr>
          <a:xfrm>
            <a:off x="10515600" y="304800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판정</a:t>
            </a:r>
            <a:endParaRPr lang="en-US" sz="788" dirty="0"/>
          </a:p>
        </p:txBody>
      </p:sp>
      <p:sp>
        <p:nvSpPr>
          <p:cNvPr id="22" name="Shape 20"/>
          <p:cNvSpPr/>
          <p:nvPr/>
        </p:nvSpPr>
        <p:spPr>
          <a:xfrm>
            <a:off x="914400" y="3200400"/>
            <a:ext cx="10363200" cy="0"/>
          </a:xfrm>
          <a:prstGeom prst="line">
            <a:avLst/>
          </a:prstGeom>
          <a:noFill/>
          <a:ln w="12700">
            <a:solidFill>
              <a:srgbClr val="22354A"/>
            </a:solidFill>
            <a:prstDash val="solid"/>
          </a:ln>
        </p:spPr>
      </p:sp>
      <p:sp>
        <p:nvSpPr>
          <p:cNvPr id="23" name="Shape 21"/>
          <p:cNvSpPr/>
          <p:nvPr/>
        </p:nvSpPr>
        <p:spPr>
          <a:xfrm>
            <a:off x="838200" y="3228975"/>
            <a:ext cx="10515600" cy="238125"/>
          </a:xfrm>
          <a:prstGeom prst="rect">
            <a:avLst/>
          </a:prstGeom>
          <a:ln w="17780">
            <a:solidFill>
              <a:srgbClr val="EFB13C"/>
            </a:solidFill>
            <a:prstDash val="solid"/>
          </a:ln>
        </p:spPr>
      </p:sp>
      <p:sp>
        <p:nvSpPr>
          <p:cNvPr id="24" name="Text 22"/>
          <p:cNvSpPr txBox="1"/>
          <p:nvPr/>
        </p:nvSpPr>
        <p:spPr>
          <a:xfrm>
            <a:off x="914400" y="3276600"/>
            <a:ext cx="2514600" cy="154781"/>
          </a:xfrm>
          <a:prstGeom prst="rect">
            <a:avLst/>
          </a:prstGeom>
          <a:noFill/>
          <a:ln/>
        </p:spPr>
        <p:txBody>
          <a:bodyPr wrap="square" lIns="0" tIns="0" rIns="0" bIns="0" rtlCol="0" anchor="t"/>
          <a:lstStyle/>
          <a:p>
            <a:pPr algn="l" indent="0" marL="0">
              <a:lnSpc>
                <a:spcPts val="1219"/>
              </a:lnSpc>
              <a:buNone/>
            </a:pPr>
            <a:r>
              <a:rPr lang="en-US" sz="975" b="1" dirty="0">
                <a:solidFill>
                  <a:srgbClr val="EFB13C"/>
                </a:solidFill>
                <a:latin typeface="Malgun Gothic" pitchFamily="34" charset="0"/>
                <a:ea typeface="Malgun Gothic" pitchFamily="34" charset="-122"/>
                <a:cs typeface="Malgun Gothic" pitchFamily="34" charset="-120"/>
              </a:rPr>
              <a:t>외기 온도</a:t>
            </a:r>
            <a:endParaRPr lang="en-US" sz="975" dirty="0"/>
          </a:p>
        </p:txBody>
      </p:sp>
      <p:sp>
        <p:nvSpPr>
          <p:cNvPr id="25" name="Text 23"/>
          <p:cNvSpPr txBox="1"/>
          <p:nvPr/>
        </p:nvSpPr>
        <p:spPr>
          <a:xfrm>
            <a:off x="3714750" y="3276600"/>
            <a:ext cx="762000" cy="154781"/>
          </a:xfrm>
          <a:prstGeom prst="rect">
            <a:avLst/>
          </a:prstGeom>
          <a:noFill/>
          <a:ln/>
        </p:spPr>
        <p:txBody>
          <a:bodyPr wrap="square" lIns="0" tIns="0" rIns="0" bIns="0" rtlCol="0" anchor="t"/>
          <a:lstStyle/>
          <a:p>
            <a:pPr algn="r" indent="0" marL="0">
              <a:lnSpc>
                <a:spcPts val="1219"/>
              </a:lnSpc>
              <a:buNone/>
            </a:pPr>
            <a:r>
              <a:rPr lang="en-US" sz="975" b="1" dirty="0">
                <a:solidFill>
                  <a:srgbClr val="EFB13C"/>
                </a:solidFill>
                <a:latin typeface="Consolas" pitchFamily="34" charset="0"/>
                <a:ea typeface="Consolas" pitchFamily="34" charset="-122"/>
                <a:cs typeface="Consolas" pitchFamily="34" charset="-120"/>
              </a:rPr>
              <a:t>1.678</a:t>
            </a:r>
            <a:endParaRPr lang="en-US" sz="975" dirty="0"/>
          </a:p>
        </p:txBody>
      </p:sp>
      <p:sp>
        <p:nvSpPr>
          <p:cNvPr id="26" name="Text 24"/>
          <p:cNvSpPr txBox="1"/>
          <p:nvPr/>
        </p:nvSpPr>
        <p:spPr>
          <a:xfrm>
            <a:off x="4857750" y="3276600"/>
            <a:ext cx="762000" cy="154781"/>
          </a:xfrm>
          <a:prstGeom prst="rect">
            <a:avLst/>
          </a:prstGeom>
          <a:noFill/>
          <a:ln/>
        </p:spPr>
        <p:txBody>
          <a:bodyPr wrap="square" lIns="0" tIns="0" rIns="0" bIns="0" rtlCol="0" anchor="t"/>
          <a:lstStyle/>
          <a:p>
            <a:pPr algn="r" indent="0" marL="0">
              <a:lnSpc>
                <a:spcPts val="1219"/>
              </a:lnSpc>
              <a:buNone/>
            </a:pPr>
            <a:r>
              <a:rPr lang="en-US" sz="975" b="1" dirty="0">
                <a:solidFill>
                  <a:srgbClr val="EFB13C"/>
                </a:solidFill>
                <a:latin typeface="Consolas" pitchFamily="34" charset="0"/>
                <a:ea typeface="Consolas" pitchFamily="34" charset="-122"/>
                <a:cs typeface="Consolas" pitchFamily="34" charset="-120"/>
              </a:rPr>
              <a:t>1.301</a:t>
            </a:r>
            <a:endParaRPr lang="en-US" sz="975" dirty="0"/>
          </a:p>
        </p:txBody>
      </p:sp>
      <p:sp>
        <p:nvSpPr>
          <p:cNvPr id="27" name="Text 25"/>
          <p:cNvSpPr txBox="1"/>
          <p:nvPr/>
        </p:nvSpPr>
        <p:spPr>
          <a:xfrm>
            <a:off x="6019800" y="3276600"/>
            <a:ext cx="762000" cy="154781"/>
          </a:xfrm>
          <a:prstGeom prst="rect">
            <a:avLst/>
          </a:prstGeom>
          <a:noFill/>
          <a:ln/>
        </p:spPr>
        <p:txBody>
          <a:bodyPr wrap="square" lIns="0" tIns="0" rIns="0" bIns="0" rtlCol="0" anchor="t"/>
          <a:lstStyle/>
          <a:p>
            <a:pPr algn="r" indent="0" marL="0">
              <a:lnSpc>
                <a:spcPts val="1219"/>
              </a:lnSpc>
              <a:buNone/>
            </a:pPr>
            <a:r>
              <a:rPr lang="en-US" sz="975" b="1" dirty="0">
                <a:solidFill>
                  <a:srgbClr val="EFB13C"/>
                </a:solidFill>
                <a:latin typeface="Consolas" pitchFamily="34" charset="0"/>
                <a:ea typeface="Consolas" pitchFamily="34" charset="-122"/>
                <a:cs typeface="Consolas" pitchFamily="34" charset="-120"/>
              </a:rPr>
              <a:t>0.854</a:t>
            </a:r>
            <a:endParaRPr lang="en-US" sz="975" dirty="0"/>
          </a:p>
        </p:txBody>
      </p:sp>
      <p:sp>
        <p:nvSpPr>
          <p:cNvPr id="28" name="Text 26"/>
          <p:cNvSpPr txBox="1"/>
          <p:nvPr/>
        </p:nvSpPr>
        <p:spPr>
          <a:xfrm>
            <a:off x="7181850" y="3276600"/>
            <a:ext cx="762000" cy="154781"/>
          </a:xfrm>
          <a:prstGeom prst="rect">
            <a:avLst/>
          </a:prstGeom>
          <a:noFill/>
          <a:ln/>
        </p:spPr>
        <p:txBody>
          <a:bodyPr wrap="square" lIns="0" tIns="0" rIns="0" bIns="0" rtlCol="0" anchor="t"/>
          <a:lstStyle/>
          <a:p>
            <a:pPr algn="r" indent="0" marL="0">
              <a:lnSpc>
                <a:spcPts val="1219"/>
              </a:lnSpc>
              <a:buNone/>
            </a:pPr>
            <a:r>
              <a:rPr lang="en-US" sz="975" b="1" dirty="0">
                <a:solidFill>
                  <a:srgbClr val="EFB13C"/>
                </a:solidFill>
                <a:latin typeface="Consolas" pitchFamily="34" charset="0"/>
                <a:ea typeface="Consolas" pitchFamily="34" charset="-122"/>
                <a:cs typeface="Consolas" pitchFamily="34" charset="-120"/>
              </a:rPr>
              <a:t>155.4</a:t>
            </a:r>
            <a:endParaRPr lang="en-US" sz="975" dirty="0"/>
          </a:p>
        </p:txBody>
      </p:sp>
      <p:sp>
        <p:nvSpPr>
          <p:cNvPr id="29" name="Text 27"/>
          <p:cNvSpPr txBox="1"/>
          <p:nvPr/>
        </p:nvSpPr>
        <p:spPr>
          <a:xfrm>
            <a:off x="8572500" y="3276600"/>
            <a:ext cx="2705100" cy="148828"/>
          </a:xfrm>
          <a:prstGeom prst="rect">
            <a:avLst/>
          </a:prstGeom>
          <a:noFill/>
          <a:ln/>
        </p:spPr>
        <p:txBody>
          <a:bodyPr wrap="square" lIns="0" tIns="0" rIns="0" bIns="0" rtlCol="0" anchor="t"/>
          <a:lstStyle/>
          <a:p>
            <a:pPr algn="r" indent="0" marL="0">
              <a:lnSpc>
                <a:spcPts val="1172"/>
              </a:lnSpc>
              <a:buNone/>
            </a:pPr>
            <a:r>
              <a:rPr lang="en-US" sz="938" b="1" dirty="0">
                <a:solidFill>
                  <a:srgbClr val="EFB13C"/>
                </a:solidFill>
                <a:latin typeface="Malgun Gothic" pitchFamily="34" charset="0"/>
                <a:ea typeface="Malgun Gothic" pitchFamily="34" charset="-122"/>
                <a:cs typeface="Malgun Gothic" pitchFamily="34" charset="-120"/>
              </a:rPr>
              <a:t>★ 최종 선정</a:t>
            </a:r>
            <a:endParaRPr lang="en-US" sz="938" dirty="0"/>
          </a:p>
        </p:txBody>
      </p:sp>
      <p:sp>
        <p:nvSpPr>
          <p:cNvPr id="30" name="Text 28"/>
          <p:cNvSpPr txBox="1"/>
          <p:nvPr/>
        </p:nvSpPr>
        <p:spPr>
          <a:xfrm>
            <a:off x="914400" y="3486150"/>
            <a:ext cx="2514600" cy="154781"/>
          </a:xfrm>
          <a:prstGeom prst="rect">
            <a:avLst/>
          </a:prstGeom>
          <a:noFill/>
          <a:ln/>
        </p:spPr>
        <p:txBody>
          <a:bodyPr wrap="square" lIns="0" tIns="0" rIns="0" bIns="0" rtlCol="0" anchor="t"/>
          <a:lstStyle/>
          <a:p>
            <a:pPr algn="l" indent="0" marL="0">
              <a:lnSpc>
                <a:spcPts val="1219"/>
              </a:lnSpc>
              <a:buNone/>
            </a:pPr>
            <a:r>
              <a:rPr lang="en-US" sz="975" dirty="0">
                <a:solidFill>
                  <a:srgbClr val="CFCBC2"/>
                </a:solidFill>
                <a:latin typeface="Malgun Gothic" pitchFamily="34" charset="0"/>
                <a:ea typeface="Malgun Gothic" pitchFamily="34" charset="-122"/>
                <a:cs typeface="Malgun Gothic" pitchFamily="34" charset="-120"/>
              </a:rPr>
              <a:t>외기 온도 + 상대습도</a:t>
            </a:r>
            <a:endParaRPr lang="en-US" sz="975" dirty="0"/>
          </a:p>
        </p:txBody>
      </p:sp>
      <p:sp>
        <p:nvSpPr>
          <p:cNvPr id="31" name="Text 29"/>
          <p:cNvSpPr txBox="1"/>
          <p:nvPr/>
        </p:nvSpPr>
        <p:spPr>
          <a:xfrm>
            <a:off x="3714750" y="34861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1.706</a:t>
            </a:r>
            <a:endParaRPr lang="en-US" sz="975" dirty="0"/>
          </a:p>
        </p:txBody>
      </p:sp>
      <p:sp>
        <p:nvSpPr>
          <p:cNvPr id="32" name="Text 30"/>
          <p:cNvSpPr txBox="1"/>
          <p:nvPr/>
        </p:nvSpPr>
        <p:spPr>
          <a:xfrm>
            <a:off x="4857750" y="34861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1.293</a:t>
            </a:r>
            <a:endParaRPr lang="en-US" sz="975" dirty="0"/>
          </a:p>
        </p:txBody>
      </p:sp>
      <p:sp>
        <p:nvSpPr>
          <p:cNvPr id="33" name="Text 31"/>
          <p:cNvSpPr txBox="1"/>
          <p:nvPr/>
        </p:nvSpPr>
        <p:spPr>
          <a:xfrm>
            <a:off x="6019800" y="34861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0.849</a:t>
            </a:r>
            <a:endParaRPr lang="en-US" sz="975" dirty="0"/>
          </a:p>
        </p:txBody>
      </p:sp>
      <p:sp>
        <p:nvSpPr>
          <p:cNvPr id="34" name="Text 32"/>
          <p:cNvSpPr txBox="1"/>
          <p:nvPr/>
        </p:nvSpPr>
        <p:spPr>
          <a:xfrm>
            <a:off x="7181850" y="34861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165.2</a:t>
            </a:r>
            <a:endParaRPr lang="en-US" sz="975" dirty="0"/>
          </a:p>
        </p:txBody>
      </p:sp>
      <p:sp>
        <p:nvSpPr>
          <p:cNvPr id="35" name="Text 33"/>
          <p:cNvSpPr txBox="1"/>
          <p:nvPr/>
        </p:nvSpPr>
        <p:spPr>
          <a:xfrm>
            <a:off x="8572500" y="3486150"/>
            <a:ext cx="2705100" cy="148828"/>
          </a:xfrm>
          <a:prstGeom prst="rect">
            <a:avLst/>
          </a:prstGeom>
          <a:noFill/>
          <a:ln/>
        </p:spPr>
        <p:txBody>
          <a:bodyPr wrap="square" lIns="0" tIns="0" rIns="0" bIns="0" rtlCol="0" anchor="t"/>
          <a:lstStyle/>
          <a:p>
            <a:pPr algn="r" indent="0" marL="0">
              <a:lnSpc>
                <a:spcPts val="1172"/>
              </a:lnSpc>
              <a:buNone/>
            </a:pPr>
            <a:r>
              <a:rPr lang="en-US" sz="938" dirty="0">
                <a:solidFill>
                  <a:srgbClr val="8A8880"/>
                </a:solidFill>
                <a:latin typeface="Malgun Gothic" pitchFamily="34" charset="0"/>
                <a:ea typeface="Malgun Gothic" pitchFamily="34" charset="-122"/>
                <a:cs typeface="Malgun Gothic" pitchFamily="34" charset="-120"/>
              </a:rPr>
              <a:t>개선 없음</a:t>
            </a:r>
            <a:endParaRPr lang="en-US" sz="938" dirty="0"/>
          </a:p>
        </p:txBody>
      </p:sp>
      <p:sp>
        <p:nvSpPr>
          <p:cNvPr id="36" name="Text 34"/>
          <p:cNvSpPr txBox="1"/>
          <p:nvPr/>
        </p:nvSpPr>
        <p:spPr>
          <a:xfrm>
            <a:off x="914400" y="3695700"/>
            <a:ext cx="2514600" cy="154781"/>
          </a:xfrm>
          <a:prstGeom prst="rect">
            <a:avLst/>
          </a:prstGeom>
          <a:noFill/>
          <a:ln/>
        </p:spPr>
        <p:txBody>
          <a:bodyPr wrap="square" lIns="0" tIns="0" rIns="0" bIns="0" rtlCol="0" anchor="t"/>
          <a:lstStyle/>
          <a:p>
            <a:pPr algn="l" indent="0" marL="0">
              <a:lnSpc>
                <a:spcPts val="1219"/>
              </a:lnSpc>
              <a:buNone/>
            </a:pPr>
            <a:r>
              <a:rPr lang="en-US" sz="975" dirty="0">
                <a:solidFill>
                  <a:srgbClr val="CFCBC2"/>
                </a:solidFill>
                <a:latin typeface="Malgun Gothic" pitchFamily="34" charset="0"/>
                <a:ea typeface="Malgun Gothic" pitchFamily="34" charset="-122"/>
                <a:cs typeface="Malgun Gothic" pitchFamily="34" charset="-120"/>
              </a:rPr>
              <a:t>외기 온도 + 대기압</a:t>
            </a:r>
            <a:endParaRPr lang="en-US" sz="975" dirty="0"/>
          </a:p>
        </p:txBody>
      </p:sp>
      <p:sp>
        <p:nvSpPr>
          <p:cNvPr id="37" name="Text 35"/>
          <p:cNvSpPr txBox="1"/>
          <p:nvPr/>
        </p:nvSpPr>
        <p:spPr>
          <a:xfrm>
            <a:off x="3714750" y="36957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1.721</a:t>
            </a:r>
            <a:endParaRPr lang="en-US" sz="975" dirty="0"/>
          </a:p>
        </p:txBody>
      </p:sp>
      <p:sp>
        <p:nvSpPr>
          <p:cNvPr id="38" name="Text 36"/>
          <p:cNvSpPr txBox="1"/>
          <p:nvPr/>
        </p:nvSpPr>
        <p:spPr>
          <a:xfrm>
            <a:off x="4857750" y="36957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1.330</a:t>
            </a:r>
            <a:endParaRPr lang="en-US" sz="975" dirty="0"/>
          </a:p>
        </p:txBody>
      </p:sp>
      <p:sp>
        <p:nvSpPr>
          <p:cNvPr id="39" name="Text 37"/>
          <p:cNvSpPr txBox="1"/>
          <p:nvPr/>
        </p:nvSpPr>
        <p:spPr>
          <a:xfrm>
            <a:off x="6019800" y="36957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0.846</a:t>
            </a:r>
            <a:endParaRPr lang="en-US" sz="975" dirty="0"/>
          </a:p>
        </p:txBody>
      </p:sp>
      <p:sp>
        <p:nvSpPr>
          <p:cNvPr id="40" name="Text 38"/>
          <p:cNvSpPr txBox="1"/>
          <p:nvPr/>
        </p:nvSpPr>
        <p:spPr>
          <a:xfrm>
            <a:off x="7181850" y="36957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161.0</a:t>
            </a:r>
            <a:endParaRPr lang="en-US" sz="975" dirty="0"/>
          </a:p>
        </p:txBody>
      </p:sp>
      <p:sp>
        <p:nvSpPr>
          <p:cNvPr id="41" name="Text 39"/>
          <p:cNvSpPr txBox="1"/>
          <p:nvPr/>
        </p:nvSpPr>
        <p:spPr>
          <a:xfrm>
            <a:off x="8572500" y="3695700"/>
            <a:ext cx="2705100" cy="148828"/>
          </a:xfrm>
          <a:prstGeom prst="rect">
            <a:avLst/>
          </a:prstGeom>
          <a:noFill/>
          <a:ln/>
        </p:spPr>
        <p:txBody>
          <a:bodyPr wrap="square" lIns="0" tIns="0" rIns="0" bIns="0" rtlCol="0" anchor="t"/>
          <a:lstStyle/>
          <a:p>
            <a:pPr algn="r" indent="0" marL="0">
              <a:lnSpc>
                <a:spcPts val="1172"/>
              </a:lnSpc>
              <a:buNone/>
            </a:pPr>
            <a:r>
              <a:rPr lang="en-US" sz="938" dirty="0">
                <a:solidFill>
                  <a:srgbClr val="8A8880"/>
                </a:solidFill>
                <a:latin typeface="Malgun Gothic" pitchFamily="34" charset="0"/>
                <a:ea typeface="Malgun Gothic" pitchFamily="34" charset="-122"/>
                <a:cs typeface="Malgun Gothic" pitchFamily="34" charset="-120"/>
              </a:rPr>
              <a:t>개선 없음</a:t>
            </a:r>
            <a:endParaRPr lang="en-US" sz="938" dirty="0"/>
          </a:p>
        </p:txBody>
      </p:sp>
      <p:sp>
        <p:nvSpPr>
          <p:cNvPr id="42" name="Text 40"/>
          <p:cNvSpPr txBox="1"/>
          <p:nvPr/>
        </p:nvSpPr>
        <p:spPr>
          <a:xfrm>
            <a:off x="914400" y="3905250"/>
            <a:ext cx="2514600" cy="154781"/>
          </a:xfrm>
          <a:prstGeom prst="rect">
            <a:avLst/>
          </a:prstGeom>
          <a:noFill/>
          <a:ln/>
        </p:spPr>
        <p:txBody>
          <a:bodyPr wrap="square" lIns="0" tIns="0" rIns="0" bIns="0" rtlCol="0" anchor="t"/>
          <a:lstStyle/>
          <a:p>
            <a:pPr algn="l" indent="0" marL="0">
              <a:lnSpc>
                <a:spcPts val="1219"/>
              </a:lnSpc>
              <a:buNone/>
            </a:pPr>
            <a:r>
              <a:rPr lang="en-US" sz="975" dirty="0">
                <a:solidFill>
                  <a:srgbClr val="CFCBC2"/>
                </a:solidFill>
                <a:latin typeface="Malgun Gothic" pitchFamily="34" charset="0"/>
                <a:ea typeface="Malgun Gothic" pitchFamily="34" charset="-122"/>
                <a:cs typeface="Malgun Gothic" pitchFamily="34" charset="-120"/>
              </a:rPr>
              <a:t>외기 온도 + 복수기 진공도</a:t>
            </a:r>
            <a:endParaRPr lang="en-US" sz="975" dirty="0"/>
          </a:p>
        </p:txBody>
      </p:sp>
      <p:sp>
        <p:nvSpPr>
          <p:cNvPr id="43" name="Text 41"/>
          <p:cNvSpPr txBox="1"/>
          <p:nvPr/>
        </p:nvSpPr>
        <p:spPr>
          <a:xfrm>
            <a:off x="3714750" y="39052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1.787</a:t>
            </a:r>
            <a:endParaRPr lang="en-US" sz="975" dirty="0"/>
          </a:p>
        </p:txBody>
      </p:sp>
      <p:sp>
        <p:nvSpPr>
          <p:cNvPr id="44" name="Text 42"/>
          <p:cNvSpPr txBox="1"/>
          <p:nvPr/>
        </p:nvSpPr>
        <p:spPr>
          <a:xfrm>
            <a:off x="4857750" y="39052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1.404</a:t>
            </a:r>
            <a:endParaRPr lang="en-US" sz="975" dirty="0"/>
          </a:p>
        </p:txBody>
      </p:sp>
      <p:sp>
        <p:nvSpPr>
          <p:cNvPr id="45" name="Text 43"/>
          <p:cNvSpPr txBox="1"/>
          <p:nvPr/>
        </p:nvSpPr>
        <p:spPr>
          <a:xfrm>
            <a:off x="6019800" y="39052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0.834</a:t>
            </a:r>
            <a:endParaRPr lang="en-US" sz="975" dirty="0"/>
          </a:p>
        </p:txBody>
      </p:sp>
      <p:sp>
        <p:nvSpPr>
          <p:cNvPr id="46" name="Text 44"/>
          <p:cNvSpPr txBox="1"/>
          <p:nvPr/>
        </p:nvSpPr>
        <p:spPr>
          <a:xfrm>
            <a:off x="7181850" y="390525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162.5</a:t>
            </a:r>
            <a:endParaRPr lang="en-US" sz="975" dirty="0"/>
          </a:p>
        </p:txBody>
      </p:sp>
      <p:sp>
        <p:nvSpPr>
          <p:cNvPr id="47" name="Text 45"/>
          <p:cNvSpPr txBox="1"/>
          <p:nvPr/>
        </p:nvSpPr>
        <p:spPr>
          <a:xfrm>
            <a:off x="8572500" y="3905250"/>
            <a:ext cx="2705100" cy="148828"/>
          </a:xfrm>
          <a:prstGeom prst="rect">
            <a:avLst/>
          </a:prstGeom>
          <a:noFill/>
          <a:ln/>
        </p:spPr>
        <p:txBody>
          <a:bodyPr wrap="square" lIns="0" tIns="0" rIns="0" bIns="0" rtlCol="0" anchor="t"/>
          <a:lstStyle/>
          <a:p>
            <a:pPr algn="r" indent="0" marL="0">
              <a:lnSpc>
                <a:spcPts val="1172"/>
              </a:lnSpc>
              <a:buNone/>
            </a:pPr>
            <a:r>
              <a:rPr lang="en-US" sz="938" dirty="0">
                <a:solidFill>
                  <a:srgbClr val="8A8880"/>
                </a:solidFill>
                <a:latin typeface="Malgun Gothic" pitchFamily="34" charset="0"/>
                <a:ea typeface="Malgun Gothic" pitchFamily="34" charset="-122"/>
                <a:cs typeface="Malgun Gothic" pitchFamily="34" charset="-120"/>
              </a:rPr>
              <a:t>개선 없음</a:t>
            </a:r>
            <a:endParaRPr lang="en-US" sz="938" dirty="0"/>
          </a:p>
        </p:txBody>
      </p:sp>
      <p:sp>
        <p:nvSpPr>
          <p:cNvPr id="48" name="Text 46"/>
          <p:cNvSpPr txBox="1"/>
          <p:nvPr/>
        </p:nvSpPr>
        <p:spPr>
          <a:xfrm>
            <a:off x="914400" y="4114800"/>
            <a:ext cx="2514600" cy="154781"/>
          </a:xfrm>
          <a:prstGeom prst="rect">
            <a:avLst/>
          </a:prstGeom>
          <a:noFill/>
          <a:ln/>
        </p:spPr>
        <p:txBody>
          <a:bodyPr wrap="square" lIns="0" tIns="0" rIns="0" bIns="0" rtlCol="0" anchor="t"/>
          <a:lstStyle/>
          <a:p>
            <a:pPr algn="l" indent="0" marL="0">
              <a:lnSpc>
                <a:spcPts val="1219"/>
              </a:lnSpc>
              <a:buNone/>
            </a:pPr>
            <a:r>
              <a:rPr lang="en-US" sz="975" dirty="0">
                <a:solidFill>
                  <a:srgbClr val="CFCBC2"/>
                </a:solidFill>
                <a:latin typeface="Malgun Gothic" pitchFamily="34" charset="0"/>
                <a:ea typeface="Malgun Gothic" pitchFamily="34" charset="-122"/>
                <a:cs typeface="Malgun Gothic" pitchFamily="34" charset="-120"/>
              </a:rPr>
              <a:t>전체 변수</a:t>
            </a:r>
            <a:endParaRPr lang="en-US" sz="975" dirty="0"/>
          </a:p>
        </p:txBody>
      </p:sp>
      <p:sp>
        <p:nvSpPr>
          <p:cNvPr id="49" name="Text 47"/>
          <p:cNvSpPr txBox="1"/>
          <p:nvPr/>
        </p:nvSpPr>
        <p:spPr>
          <a:xfrm>
            <a:off x="3714750" y="41148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1.867</a:t>
            </a:r>
            <a:endParaRPr lang="en-US" sz="975" dirty="0"/>
          </a:p>
        </p:txBody>
      </p:sp>
      <p:sp>
        <p:nvSpPr>
          <p:cNvPr id="50" name="Text 48"/>
          <p:cNvSpPr txBox="1"/>
          <p:nvPr/>
        </p:nvSpPr>
        <p:spPr>
          <a:xfrm>
            <a:off x="4857750" y="41148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1.440</a:t>
            </a:r>
            <a:endParaRPr lang="en-US" sz="975" dirty="0"/>
          </a:p>
        </p:txBody>
      </p:sp>
      <p:sp>
        <p:nvSpPr>
          <p:cNvPr id="51" name="Text 49"/>
          <p:cNvSpPr txBox="1"/>
          <p:nvPr/>
        </p:nvSpPr>
        <p:spPr>
          <a:xfrm>
            <a:off x="6019800" y="41148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0.819</a:t>
            </a:r>
            <a:endParaRPr lang="en-US" sz="975" dirty="0"/>
          </a:p>
        </p:txBody>
      </p:sp>
      <p:sp>
        <p:nvSpPr>
          <p:cNvPr id="52" name="Text 50"/>
          <p:cNvSpPr txBox="1"/>
          <p:nvPr/>
        </p:nvSpPr>
        <p:spPr>
          <a:xfrm>
            <a:off x="7181850" y="4114800"/>
            <a:ext cx="762000" cy="154781"/>
          </a:xfrm>
          <a:prstGeom prst="rect">
            <a:avLst/>
          </a:prstGeom>
          <a:noFill/>
          <a:ln/>
        </p:spPr>
        <p:txBody>
          <a:bodyPr wrap="square" lIns="0" tIns="0" rIns="0" bIns="0" rtlCol="0" anchor="t"/>
          <a:lstStyle/>
          <a:p>
            <a:pPr algn="r" indent="0" marL="0">
              <a:lnSpc>
                <a:spcPts val="1219"/>
              </a:lnSpc>
              <a:buNone/>
            </a:pPr>
            <a:r>
              <a:rPr lang="en-US" sz="975" dirty="0">
                <a:solidFill>
                  <a:srgbClr val="A9A79F"/>
                </a:solidFill>
                <a:latin typeface="Consolas" pitchFamily="34" charset="0"/>
                <a:ea typeface="Consolas" pitchFamily="34" charset="-122"/>
                <a:cs typeface="Consolas" pitchFamily="34" charset="-120"/>
              </a:rPr>
              <a:t>173.0</a:t>
            </a:r>
            <a:endParaRPr lang="en-US" sz="975" dirty="0"/>
          </a:p>
        </p:txBody>
      </p:sp>
      <p:sp>
        <p:nvSpPr>
          <p:cNvPr id="53" name="Text 51"/>
          <p:cNvSpPr txBox="1"/>
          <p:nvPr/>
        </p:nvSpPr>
        <p:spPr>
          <a:xfrm>
            <a:off x="8572500" y="4114800"/>
            <a:ext cx="2705100" cy="148828"/>
          </a:xfrm>
          <a:prstGeom prst="rect">
            <a:avLst/>
          </a:prstGeom>
          <a:noFill/>
          <a:ln/>
        </p:spPr>
        <p:txBody>
          <a:bodyPr wrap="square" lIns="0" tIns="0" rIns="0" bIns="0" rtlCol="0" anchor="t"/>
          <a:lstStyle/>
          <a:p>
            <a:pPr algn="r" indent="0" marL="0">
              <a:lnSpc>
                <a:spcPts val="1172"/>
              </a:lnSpc>
              <a:buNone/>
            </a:pPr>
            <a:r>
              <a:rPr lang="en-US" sz="938" dirty="0">
                <a:solidFill>
                  <a:srgbClr val="8A8880"/>
                </a:solidFill>
                <a:latin typeface="Malgun Gothic" pitchFamily="34" charset="0"/>
                <a:ea typeface="Malgun Gothic" pitchFamily="34" charset="-122"/>
                <a:cs typeface="Malgun Gothic" pitchFamily="34" charset="-120"/>
              </a:rPr>
              <a:t>개선 없음</a:t>
            </a:r>
            <a:endParaRPr lang="en-US" sz="938" dirty="0"/>
          </a:p>
        </p:txBody>
      </p:sp>
      <p:sp>
        <p:nvSpPr>
          <p:cNvPr id="54" name="Text 52"/>
          <p:cNvSpPr txBox="1"/>
          <p:nvPr/>
        </p:nvSpPr>
        <p:spPr>
          <a:xfrm>
            <a:off x="914400" y="4343400"/>
            <a:ext cx="10363200" cy="125730"/>
          </a:xfrm>
          <a:prstGeom prst="rect">
            <a:avLst/>
          </a:prstGeom>
          <a:noFill/>
          <a:ln/>
        </p:spPr>
        <p:txBody>
          <a:bodyPr wrap="square" lIns="0" tIns="0" rIns="0" bIns="0" rtlCol="0" anchor="t"/>
          <a:lstStyle/>
          <a:p>
            <a:pPr algn="l" indent="0" marL="0">
              <a:lnSpc>
                <a:spcPts val="990"/>
              </a:lnSpc>
              <a:buNone/>
            </a:pPr>
            <a:r>
              <a:rPr lang="en-US" sz="825" dirty="0">
                <a:solidFill>
                  <a:srgbClr val="8A8880"/>
                </a:solidFill>
                <a:latin typeface="Malgun Gothic" pitchFamily="34" charset="0"/>
                <a:ea typeface="Malgun Gothic" pitchFamily="34" charset="-122"/>
                <a:cs typeface="Malgun Gothic" pitchFamily="34" charset="-120"/>
              </a:rPr>
              <a:t>RMSE 크게 틀린 경우에 벌점을 더 준 평균 오차  ·  MAE 평균 오차  ·  R² 설명력  ·  AIC 적합도와 복잡도를 함께 보는 지표(변수를 늘리면 벌점)</a:t>
            </a:r>
            <a:endParaRPr lang="en-US" sz="825" dirty="0"/>
          </a:p>
        </p:txBody>
      </p:sp>
      <p:sp>
        <p:nvSpPr>
          <p:cNvPr id="55" name="Text 53"/>
          <p:cNvSpPr txBox="1"/>
          <p:nvPr/>
        </p:nvSpPr>
        <p:spPr>
          <a:xfrm>
            <a:off x="914400" y="4495800"/>
            <a:ext cx="10363200" cy="125730"/>
          </a:xfrm>
          <a:prstGeom prst="rect">
            <a:avLst/>
          </a:prstGeom>
          <a:noFill/>
          <a:ln/>
        </p:spPr>
        <p:txBody>
          <a:bodyPr wrap="square" lIns="0" tIns="0" rIns="0" bIns="0" rtlCol="0" anchor="t"/>
          <a:lstStyle/>
          <a:p>
            <a:pPr algn="l" indent="0" marL="0">
              <a:lnSpc>
                <a:spcPts val="990"/>
              </a:lnSpc>
              <a:buNone/>
            </a:pPr>
            <a:r>
              <a:rPr lang="en-US" sz="825" dirty="0">
                <a:solidFill>
                  <a:srgbClr val="8A8880"/>
                </a:solidFill>
                <a:latin typeface="Malgun Gothic" pitchFamily="34" charset="0"/>
                <a:ea typeface="Malgun Gothic" pitchFamily="34" charset="-122"/>
                <a:cs typeface="Malgun Gothic" pitchFamily="34" charset="-120"/>
              </a:rPr>
              <a:t>커널 점과 점 사이를 어떤 모양으로 이을지 정하는 규칙  ·  LOOCV 한 회를 가리고 나머지로 맞혀보기 — 네 지표 모두 </a:t>
            </a:r>
            <a:pPr algn="l" indent="0" marL="0">
              <a:lnSpc>
                <a:spcPts val="990"/>
              </a:lnSpc>
              <a:buNone/>
            </a:pPr>
            <a:r>
              <a:rPr lang="en-US" sz="825" b="1" dirty="0">
                <a:solidFill>
                  <a:srgbClr val="EFB13C"/>
                </a:solidFill>
                <a:latin typeface="Malgun Gothic" pitchFamily="34" charset="0"/>
                <a:ea typeface="Malgun Gothic" pitchFamily="34" charset="-122"/>
                <a:cs typeface="Malgun Gothic" pitchFamily="34" charset="-120"/>
              </a:rPr>
              <a:t>MW 단위 예측 오차</a:t>
            </a:r>
            <a:pPr algn="l" indent="0" marL="0">
              <a:lnSpc>
                <a:spcPts val="990"/>
              </a:lnSpc>
              <a:buNone/>
            </a:pPr>
            <a:r>
              <a:rPr lang="en-US" sz="825" dirty="0">
                <a:solidFill>
                  <a:srgbClr val="8A8880"/>
                </a:solidFill>
                <a:latin typeface="Malgun Gothic" pitchFamily="34" charset="0"/>
                <a:ea typeface="Malgun Gothic" pitchFamily="34" charset="-122"/>
                <a:cs typeface="Malgun Gothic" pitchFamily="34" charset="-120"/>
              </a:rPr>
              <a:t>이고, 같은 39회를 같은 방식으로 쟀습니다.</a:t>
            </a:r>
            <a:endParaRPr lang="en-US" sz="825" dirty="0"/>
          </a:p>
        </p:txBody>
      </p:sp>
      <p:sp>
        <p:nvSpPr>
          <p:cNvPr id="56" name="Shape 54"/>
          <p:cNvSpPr/>
          <p:nvPr/>
        </p:nvSpPr>
        <p:spPr>
          <a:xfrm>
            <a:off x="685800" y="4781550"/>
            <a:ext cx="10820400" cy="1162050"/>
          </a:xfrm>
          <a:prstGeom prst="rect">
            <a:avLst/>
          </a:prstGeom>
          <a:solidFill>
            <a:srgbClr val="0A1320"/>
          </a:solidFill>
          <a:ln w="12700">
            <a:solidFill>
              <a:srgbClr val="182838"/>
            </a:solidFill>
            <a:prstDash val="solid"/>
          </a:ln>
        </p:spPr>
      </p:sp>
      <p:sp>
        <p:nvSpPr>
          <p:cNvPr id="57" name="Text 55"/>
          <p:cNvSpPr txBox="1"/>
          <p:nvPr/>
        </p:nvSpPr>
        <p:spPr>
          <a:xfrm>
            <a:off x="914400" y="4876800"/>
            <a:ext cx="2857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그래서 무엇을 알았나</a:t>
            </a:r>
            <a:endParaRPr lang="en-US" sz="788" dirty="0"/>
          </a:p>
        </p:txBody>
      </p:sp>
      <p:sp>
        <p:nvSpPr>
          <p:cNvPr id="58" name="Shape 56"/>
          <p:cNvSpPr/>
          <p:nvPr/>
        </p:nvSpPr>
        <p:spPr>
          <a:xfrm>
            <a:off x="914400" y="5086350"/>
            <a:ext cx="323850" cy="19050"/>
          </a:xfrm>
          <a:prstGeom prst="rect">
            <a:avLst/>
          </a:prstGeom>
          <a:solidFill>
            <a:srgbClr val="EFB13C"/>
          </a:solidFill>
          <a:ln/>
        </p:spPr>
      </p:sp>
      <p:sp>
        <p:nvSpPr>
          <p:cNvPr id="59" name="Text 57"/>
          <p:cNvSpPr txBox="1"/>
          <p:nvPr/>
        </p:nvSpPr>
        <p:spPr>
          <a:xfrm>
            <a:off x="914400" y="5181600"/>
            <a:ext cx="3276600" cy="173355"/>
          </a:xfrm>
          <a:prstGeom prst="rect">
            <a:avLst/>
          </a:prstGeom>
          <a:noFill/>
          <a:ln/>
        </p:spPr>
        <p:txBody>
          <a:bodyPr wrap="square" lIns="0" tIns="0" rIns="0" bIns="0" rtlCol="0" anchor="t"/>
          <a:lstStyle/>
          <a:p>
            <a:pPr algn="l" indent="0" marL="0">
              <a:lnSpc>
                <a:spcPts val="1365"/>
              </a:lnSpc>
              <a:buNone/>
            </a:pPr>
            <a:r>
              <a:rPr lang="en-US" sz="1050" b="1" dirty="0">
                <a:solidFill>
                  <a:srgbClr val="EAE7E0"/>
                </a:solidFill>
                <a:latin typeface="Malgun Gothic" pitchFamily="34" charset="0"/>
                <a:ea typeface="Malgun Gothic" pitchFamily="34" charset="-122"/>
                <a:cs typeface="Malgun Gothic" pitchFamily="34" charset="-120"/>
              </a:rPr>
              <a:t>외기 온도를 최종 입력 변수로 선정했습니다</a:t>
            </a:r>
            <a:endParaRPr lang="en-US" sz="1050" dirty="0"/>
          </a:p>
        </p:txBody>
      </p:sp>
      <p:sp>
        <p:nvSpPr>
          <p:cNvPr id="60" name="Text 58"/>
          <p:cNvSpPr txBox="1"/>
          <p:nvPr/>
        </p:nvSpPr>
        <p:spPr>
          <a:xfrm>
            <a:off x="914400" y="5429250"/>
            <a:ext cx="3276600" cy="535781"/>
          </a:xfrm>
          <a:prstGeom prst="rect">
            <a:avLst/>
          </a:prstGeom>
          <a:noFill/>
          <a:ln/>
        </p:spPr>
        <p:txBody>
          <a:bodyPr wrap="square" lIns="0" tIns="0" rIns="0" bIns="0" rtlCol="0" anchor="t"/>
          <a:lstStyle/>
          <a:p>
            <a:pPr algn="l" indent="0" marL="0">
              <a:lnSpc>
                <a:spcPts val="1406"/>
              </a:lnSpc>
              <a:buNone/>
            </a:pPr>
            <a:r>
              <a:rPr lang="en-US" sz="938" dirty="0">
                <a:solidFill>
                  <a:srgbClr val="A9A79F"/>
                </a:solidFill>
                <a:latin typeface="Malgun Gothic" pitchFamily="34" charset="0"/>
                <a:ea typeface="Malgun Gothic" pitchFamily="34" charset="-122"/>
                <a:cs typeface="Malgun Gothic" pitchFamily="34" charset="-120"/>
              </a:rPr>
              <a:t>네 지표 중 </a:t>
            </a:r>
            <a:pPr algn="l" indent="0" marL="0">
              <a:lnSpc>
                <a:spcPts val="1406"/>
              </a:lnSpc>
              <a:buNone/>
            </a:pPr>
            <a:r>
              <a:rPr lang="en-US" sz="938" b="1" dirty="0">
                <a:solidFill>
                  <a:srgbClr val="EFB13C"/>
                </a:solidFill>
                <a:latin typeface="Malgun Gothic" pitchFamily="34" charset="0"/>
                <a:ea typeface="Malgun Gothic" pitchFamily="34" charset="-122"/>
                <a:cs typeface="Malgun Gothic" pitchFamily="34" charset="-120"/>
              </a:rPr>
              <a:t>셋(RMSE · R² · AIC)에서 온도 단독이 1위</a:t>
            </a:r>
            <a:pPr algn="l" indent="0" marL="0">
              <a:lnSpc>
                <a:spcPts val="1406"/>
              </a:lnSpc>
              <a:buNone/>
            </a:pPr>
            <a:r>
              <a:rPr lang="en-US" sz="938" dirty="0">
                <a:solidFill>
                  <a:srgbClr val="A9A79F"/>
                </a:solidFill>
                <a:latin typeface="Malgun Gothic" pitchFamily="34" charset="0"/>
                <a:ea typeface="Malgun Gothic" pitchFamily="34" charset="-122"/>
                <a:cs typeface="Malgun Gothic" pitchFamily="34" charset="-120"/>
              </a:rPr>
              <a:t>입니다. 온도 외의 변수를 더해도 예측이 좋아지지 않았습니다.</a:t>
            </a:r>
            <a:endParaRPr lang="en-US" sz="938" dirty="0"/>
          </a:p>
        </p:txBody>
      </p:sp>
      <p:sp>
        <p:nvSpPr>
          <p:cNvPr id="61" name="Shape 59"/>
          <p:cNvSpPr/>
          <p:nvPr/>
        </p:nvSpPr>
        <p:spPr>
          <a:xfrm>
            <a:off x="4419600" y="5086350"/>
            <a:ext cx="323850" cy="19050"/>
          </a:xfrm>
          <a:prstGeom prst="rect">
            <a:avLst/>
          </a:prstGeom>
          <a:solidFill>
            <a:srgbClr val="EFB13C"/>
          </a:solidFill>
          <a:ln/>
        </p:spPr>
      </p:sp>
      <p:sp>
        <p:nvSpPr>
          <p:cNvPr id="62" name="Text 60"/>
          <p:cNvSpPr txBox="1"/>
          <p:nvPr/>
        </p:nvSpPr>
        <p:spPr>
          <a:xfrm>
            <a:off x="4419600" y="5181600"/>
            <a:ext cx="3276600" cy="173355"/>
          </a:xfrm>
          <a:prstGeom prst="rect">
            <a:avLst/>
          </a:prstGeom>
          <a:noFill/>
          <a:ln/>
        </p:spPr>
        <p:txBody>
          <a:bodyPr wrap="square" lIns="0" tIns="0" rIns="0" bIns="0" rtlCol="0" anchor="t"/>
          <a:lstStyle/>
          <a:p>
            <a:pPr algn="l" indent="0" marL="0">
              <a:lnSpc>
                <a:spcPts val="1365"/>
              </a:lnSpc>
              <a:buNone/>
            </a:pPr>
            <a:r>
              <a:rPr lang="en-US" sz="1050" b="1" dirty="0">
                <a:solidFill>
                  <a:srgbClr val="EAE7E0"/>
                </a:solidFill>
                <a:latin typeface="Malgun Gothic" pitchFamily="34" charset="0"/>
                <a:ea typeface="Malgun Gothic" pitchFamily="34" charset="-122"/>
                <a:cs typeface="Malgun Gothic" pitchFamily="34" charset="-120"/>
              </a:rPr>
              <a:t>가장 근접한 조합도 </a:t>
            </a:r>
            <a:pPr algn="l" indent="0" marL="0">
              <a:lnSpc>
                <a:spcPts val="1365"/>
              </a:lnSpc>
              <a:buNone/>
            </a:pPr>
            <a:r>
              <a:rPr lang="en-US" sz="1050" b="1" dirty="0">
                <a:solidFill>
                  <a:srgbClr val="EFB13C"/>
                </a:solidFill>
                <a:latin typeface="Malgun Gothic" pitchFamily="34" charset="0"/>
                <a:ea typeface="Malgun Gothic" pitchFamily="34" charset="-122"/>
                <a:cs typeface="Malgun Gothic" pitchFamily="34" charset="-120"/>
              </a:rPr>
              <a:t>구분되지 않습니다</a:t>
            </a:r>
            <a:endParaRPr lang="en-US" sz="1050" dirty="0"/>
          </a:p>
        </p:txBody>
      </p:sp>
      <p:sp>
        <p:nvSpPr>
          <p:cNvPr id="63" name="Text 61"/>
          <p:cNvSpPr txBox="1"/>
          <p:nvPr/>
        </p:nvSpPr>
        <p:spPr>
          <a:xfrm>
            <a:off x="4419600" y="5429250"/>
            <a:ext cx="3276600" cy="535781"/>
          </a:xfrm>
          <a:prstGeom prst="rect">
            <a:avLst/>
          </a:prstGeom>
          <a:noFill/>
          <a:ln/>
        </p:spPr>
        <p:txBody>
          <a:bodyPr wrap="square" lIns="0" tIns="0" rIns="0" bIns="0" rtlCol="0" anchor="t"/>
          <a:lstStyle/>
          <a:p>
            <a:pPr algn="l" indent="0" marL="0">
              <a:lnSpc>
                <a:spcPts val="1406"/>
              </a:lnSpc>
              <a:buNone/>
            </a:pPr>
            <a:r>
              <a:rPr lang="en-US" sz="938" dirty="0">
                <a:solidFill>
                  <a:srgbClr val="A9A79F"/>
                </a:solidFill>
                <a:latin typeface="Malgun Gothic" pitchFamily="34" charset="0"/>
                <a:ea typeface="Malgun Gothic" pitchFamily="34" charset="-122"/>
                <a:cs typeface="Malgun Gothic" pitchFamily="34" charset="-120"/>
              </a:rPr>
              <a:t>MAE 만 「+상대습도」가 0.01 MW 낮은데, 회차별로 짝지어 재면 그 차이가 ±0.08 MW — 우연과 갈리지 않습니다.</a:t>
            </a:r>
            <a:endParaRPr lang="en-US" sz="938" dirty="0"/>
          </a:p>
        </p:txBody>
      </p:sp>
      <p:sp>
        <p:nvSpPr>
          <p:cNvPr id="64" name="Shape 62"/>
          <p:cNvSpPr/>
          <p:nvPr/>
        </p:nvSpPr>
        <p:spPr>
          <a:xfrm>
            <a:off x="7924800" y="5086350"/>
            <a:ext cx="323850" cy="19050"/>
          </a:xfrm>
          <a:prstGeom prst="rect">
            <a:avLst/>
          </a:prstGeom>
          <a:solidFill>
            <a:srgbClr val="EFB13C"/>
          </a:solidFill>
          <a:ln/>
        </p:spPr>
      </p:sp>
      <p:sp>
        <p:nvSpPr>
          <p:cNvPr id="65" name="Text 63"/>
          <p:cNvSpPr txBox="1"/>
          <p:nvPr/>
        </p:nvSpPr>
        <p:spPr>
          <a:xfrm>
            <a:off x="7924800" y="5181600"/>
            <a:ext cx="3276600" cy="173355"/>
          </a:xfrm>
          <a:prstGeom prst="rect">
            <a:avLst/>
          </a:prstGeom>
          <a:noFill/>
          <a:ln/>
        </p:spPr>
        <p:txBody>
          <a:bodyPr wrap="square" lIns="0" tIns="0" rIns="0" bIns="0" rtlCol="0" anchor="t"/>
          <a:lstStyle/>
          <a:p>
            <a:pPr algn="l" indent="0" marL="0">
              <a:lnSpc>
                <a:spcPts val="1365"/>
              </a:lnSpc>
              <a:buNone/>
            </a:pPr>
            <a:r>
              <a:rPr lang="en-US" sz="1050" b="1" dirty="0">
                <a:solidFill>
                  <a:srgbClr val="EAE7E0"/>
                </a:solidFill>
                <a:latin typeface="Malgun Gothic" pitchFamily="34" charset="0"/>
                <a:ea typeface="Malgun Gothic" pitchFamily="34" charset="-122"/>
                <a:cs typeface="Malgun Gothic" pitchFamily="34" charset="-120"/>
              </a:rPr>
              <a:t>모델이 </a:t>
            </a:r>
            <a:pPr algn="l" indent="0" marL="0">
              <a:lnSpc>
                <a:spcPts val="1365"/>
              </a:lnSpc>
              <a:buNone/>
            </a:pPr>
            <a:r>
              <a:rPr lang="en-US" sz="1050" b="1" dirty="0">
                <a:solidFill>
                  <a:srgbClr val="EFB13C"/>
                </a:solidFill>
                <a:latin typeface="Malgun Gothic" pitchFamily="34" charset="0"/>
                <a:ea typeface="Malgun Gothic" pitchFamily="34" charset="-122"/>
                <a:cs typeface="Malgun Gothic" pitchFamily="34" charset="-120"/>
              </a:rPr>
              <a:t>스스로 무시</a:t>
            </a:r>
            <a:pPr algn="l" indent="0" marL="0">
              <a:lnSpc>
                <a:spcPts val="1365"/>
              </a:lnSpc>
              <a:buNone/>
            </a:pPr>
            <a:r>
              <a:rPr lang="en-US" sz="1050" b="1" dirty="0">
                <a:solidFill>
                  <a:srgbClr val="EAE7E0"/>
                </a:solidFill>
                <a:latin typeface="Malgun Gothic" pitchFamily="34" charset="0"/>
                <a:ea typeface="Malgun Gothic" pitchFamily="34" charset="-122"/>
                <a:cs typeface="Malgun Gothic" pitchFamily="34" charset="-120"/>
              </a:rPr>
              <a:t>했습니다</a:t>
            </a:r>
            <a:endParaRPr lang="en-US" sz="1050" dirty="0"/>
          </a:p>
        </p:txBody>
      </p:sp>
      <p:sp>
        <p:nvSpPr>
          <p:cNvPr id="66" name="Text 64"/>
          <p:cNvSpPr txBox="1"/>
          <p:nvPr/>
        </p:nvSpPr>
        <p:spPr>
          <a:xfrm>
            <a:off x="7924800" y="5429250"/>
            <a:ext cx="3276600" cy="535781"/>
          </a:xfrm>
          <a:prstGeom prst="rect">
            <a:avLst/>
          </a:prstGeom>
          <a:noFill/>
          <a:ln/>
        </p:spPr>
        <p:txBody>
          <a:bodyPr wrap="square" lIns="0" tIns="0" rIns="0" bIns="0" rtlCol="0" anchor="t"/>
          <a:lstStyle/>
          <a:p>
            <a:pPr algn="l" indent="0" marL="0">
              <a:lnSpc>
                <a:spcPts val="1406"/>
              </a:lnSpc>
              <a:buNone/>
            </a:pPr>
            <a:r>
              <a:rPr lang="en-US" sz="938" dirty="0">
                <a:solidFill>
                  <a:srgbClr val="A9A79F"/>
                </a:solidFill>
                <a:latin typeface="Malgun Gothic" pitchFamily="34" charset="0"/>
                <a:ea typeface="Malgun Gothic" pitchFamily="34" charset="-122"/>
                <a:cs typeface="Malgun Gothic" pitchFamily="34" charset="-120"/>
              </a:rPr>
              <a:t>변수마다 따로 길이척도를 줘서 필요 없으면 모델이 버릴 수 있게 뒀는데, 추가 변수는 모두 「영향 없음」 쪽 값이 붙었습니다.</a:t>
            </a:r>
            <a:endParaRPr lang="en-US" sz="938" dirty="0"/>
          </a:p>
        </p:txBody>
      </p:sp>
      <p:sp>
        <p:nvSpPr>
          <p:cNvPr id="67" name="Shape 65"/>
          <p:cNvSpPr/>
          <p:nvPr/>
        </p:nvSpPr>
        <p:spPr>
          <a:xfrm>
            <a:off x="685800" y="6057900"/>
            <a:ext cx="10820400" cy="0"/>
          </a:xfrm>
          <a:prstGeom prst="line">
            <a:avLst/>
          </a:prstGeom>
          <a:noFill/>
          <a:ln w="12700">
            <a:solidFill>
              <a:srgbClr val="22354A"/>
            </a:solidFill>
            <a:prstDash val="solid"/>
          </a:ln>
        </p:spPr>
      </p:sp>
      <p:sp>
        <p:nvSpPr>
          <p:cNvPr id="68" name="Text 66"/>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69" name="Text 67"/>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보고 배울 것은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외기 온도 하나</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 — 남은 것은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어떻게 배울지</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입니다.</a:t>
            </a:r>
            <a:endParaRPr lang="en-US" sz="123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04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해결 방안 도출 및 예측/보정 모델 개발</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해결 구조</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19100"/>
            <a:ext cx="38100" cy="142875"/>
          </a:xfrm>
          <a:prstGeom prst="rect">
            <a:avLst/>
          </a:prstGeom>
          <a:solidFill>
            <a:srgbClr val="EFB13C"/>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이론식은 손대지 않고,</a:t>
            </a:r>
            <a:endParaRPr lang="en-US" sz="2775" dirty="0"/>
          </a:p>
          <a:p>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차이만</a:t>
            </a:r>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 온도별로 배웁니다</a:t>
            </a:r>
            <a:endParaRPr lang="en-US" sz="2775" dirty="0"/>
          </a:p>
        </p:txBody>
      </p:sp>
      <p:sp>
        <p:nvSpPr>
          <p:cNvPr id="12" name="Text 10"/>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검증된 이론식은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그대로 둡니다</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배우는 것은 이론값과 실제의 </a:t>
            </a:r>
            <a:pPr algn="l" indent="0" marL="0">
              <a:lnSpc>
                <a:spcPts val="2241"/>
              </a:lnSpc>
              <a:buNone/>
            </a:pPr>
            <a:r>
              <a:rPr lang="en-US" sz="1350" b="1" dirty="0">
                <a:solidFill>
                  <a:srgbClr val="EFB13C"/>
                </a:solidFill>
                <a:latin typeface="Malgun Gothic" pitchFamily="34" charset="0"/>
                <a:ea typeface="Malgun Gothic" pitchFamily="34" charset="-122"/>
                <a:cs typeface="Malgun Gothic" pitchFamily="34" charset="-120"/>
              </a:rPr>
              <a:t>차이</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하나입니다.</a:t>
            </a:r>
            <a:endParaRPr lang="en-US" sz="1350" dirty="0"/>
          </a:p>
        </p:txBody>
      </p:sp>
      <p:sp>
        <p:nvSpPr>
          <p:cNvPr id="13" name="Shape 11"/>
          <p:cNvSpPr/>
          <p:nvPr/>
        </p:nvSpPr>
        <p:spPr>
          <a:xfrm>
            <a:off x="685800" y="2705100"/>
            <a:ext cx="10820400" cy="1314450"/>
          </a:xfrm>
          <a:prstGeom prst="rect">
            <a:avLst/>
          </a:prstGeom>
          <a:solidFill>
            <a:srgbClr val="0A1320"/>
          </a:solidFill>
          <a:ln w="12700">
            <a:solidFill>
              <a:srgbClr val="182838"/>
            </a:solidFill>
            <a:prstDash val="solid"/>
          </a:ln>
        </p:spPr>
      </p:sp>
      <p:sp>
        <p:nvSpPr>
          <p:cNvPr id="14" name="Shape 12"/>
          <p:cNvSpPr/>
          <p:nvPr/>
        </p:nvSpPr>
        <p:spPr>
          <a:xfrm>
            <a:off x="685800" y="2705100"/>
            <a:ext cx="10820400" cy="19050"/>
          </a:xfrm>
          <a:prstGeom prst="rect">
            <a:avLst/>
          </a:prstGeom>
          <a:solidFill>
            <a:srgbClr val="718BA6"/>
          </a:solidFill>
          <a:ln/>
        </p:spPr>
      </p:sp>
      <p:sp>
        <p:nvSpPr>
          <p:cNvPr id="15" name="Text 13"/>
          <p:cNvSpPr txBox="1"/>
          <p:nvPr/>
        </p:nvSpPr>
        <p:spPr>
          <a:xfrm>
            <a:off x="914400" y="285750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718BA6"/>
                </a:solidFill>
                <a:latin typeface="Consolas" pitchFamily="34" charset="0"/>
                <a:ea typeface="Consolas" pitchFamily="34" charset="-122"/>
                <a:cs typeface="Consolas" pitchFamily="34" charset="-120"/>
              </a:rPr>
              <a:t>1층  ·  손대지 않는 부분</a:t>
            </a:r>
            <a:endParaRPr lang="en-US" sz="788" dirty="0"/>
          </a:p>
        </p:txBody>
      </p:sp>
      <p:sp>
        <p:nvSpPr>
          <p:cNvPr id="16" name="Text 14"/>
          <p:cNvSpPr txBox="1"/>
          <p:nvPr/>
        </p:nvSpPr>
        <p:spPr>
          <a:xfrm>
            <a:off x="914400" y="3067050"/>
            <a:ext cx="9525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온도·대기압·습도·복수기 진공도로 계산하는 </a:t>
            </a:r>
            <a:pPr algn="l" indent="0" marL="0">
              <a:lnSpc>
                <a:spcPts val="2237"/>
              </a:lnSpc>
              <a:buNone/>
            </a:pPr>
            <a:r>
              <a:rPr lang="en-US" sz="1575" b="1" dirty="0">
                <a:solidFill>
                  <a:srgbClr val="718BA6"/>
                </a:solidFill>
                <a:latin typeface="Malgun Gothic" pitchFamily="34" charset="0"/>
                <a:ea typeface="Malgun Gothic" pitchFamily="34" charset="-122"/>
                <a:cs typeface="Malgun Gothic" pitchFamily="34" charset="-120"/>
              </a:rPr>
              <a:t>이론값</a:t>
            </a:r>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 (보정 없음)</a:t>
            </a:r>
            <a:endParaRPr lang="en-US" sz="1575" dirty="0"/>
          </a:p>
        </p:txBody>
      </p:sp>
      <p:sp>
        <p:nvSpPr>
          <p:cNvPr id="17" name="Text 15"/>
          <p:cNvSpPr txBox="1"/>
          <p:nvPr/>
        </p:nvSpPr>
        <p:spPr>
          <a:xfrm>
            <a:off x="914400" y="3467100"/>
            <a:ext cx="9525000" cy="48006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제작사 성능 곡선과 사내 검증을 거친 이론식입니다. 데이터가 쌓여도 바뀌지 않습니다.  — 진공도는 여기서 이미 반영합니다. 6장에서 확인한 것은 </a:t>
            </a:r>
            <a:pPr algn="l" indent="0" marL="0">
              <a:lnSpc>
                <a:spcPts val="1890"/>
              </a:lnSpc>
              <a:buNone/>
            </a:pPr>
            <a:r>
              <a:rPr lang="en-US" sz="1125" b="1" dirty="0">
                <a:solidFill>
                  <a:srgbClr val="EAE7E0"/>
                </a:solidFill>
                <a:latin typeface="Malgun Gothic" pitchFamily="34" charset="0"/>
                <a:ea typeface="Malgun Gothic" pitchFamily="34" charset="-122"/>
                <a:cs typeface="Malgun Gothic" pitchFamily="34" charset="-120"/>
              </a:rPr>
              <a:t>그러고도 남는 차이</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 를 진공도로 더 설명할 수 있느냐였고, 답은 아니오였습니다.</a:t>
            </a:r>
            <a:endParaRPr lang="en-US" sz="1125" dirty="0"/>
          </a:p>
        </p:txBody>
      </p:sp>
      <p:sp>
        <p:nvSpPr>
          <p:cNvPr id="18" name="Text 16"/>
          <p:cNvSpPr txBox="1"/>
          <p:nvPr/>
        </p:nvSpPr>
        <p:spPr>
          <a:xfrm>
            <a:off x="914400" y="4076700"/>
            <a:ext cx="285750" cy="228600"/>
          </a:xfrm>
          <a:prstGeom prst="rect">
            <a:avLst/>
          </a:prstGeom>
          <a:noFill/>
          <a:ln/>
        </p:spPr>
        <p:txBody>
          <a:bodyPr wrap="square" lIns="0" tIns="0" rIns="0" bIns="0" rtlCol="0" anchor="t"/>
          <a:lstStyle/>
          <a:p>
            <a:pPr algn="l" indent="0" marL="0">
              <a:lnSpc>
                <a:spcPts val="1800"/>
              </a:lnSpc>
              <a:buNone/>
            </a:pPr>
            <a:r>
              <a:rPr lang="en-US" sz="1500" dirty="0">
                <a:solidFill>
                  <a:srgbClr val="EFB13C"/>
                </a:solidFill>
                <a:latin typeface="Malgun Gothic" pitchFamily="34" charset="0"/>
                <a:ea typeface="Malgun Gothic" pitchFamily="34" charset="-122"/>
                <a:cs typeface="Malgun Gothic" pitchFamily="34" charset="-120"/>
              </a:rPr>
              <a:t>↓</a:t>
            </a:r>
            <a:endParaRPr lang="en-US" sz="1500" dirty="0"/>
          </a:p>
        </p:txBody>
      </p:sp>
      <p:sp>
        <p:nvSpPr>
          <p:cNvPr id="19" name="Text 17"/>
          <p:cNvSpPr txBox="1"/>
          <p:nvPr/>
        </p:nvSpPr>
        <p:spPr>
          <a:xfrm>
            <a:off x="1276350" y="4124325"/>
            <a:ext cx="3810000" cy="167164"/>
          </a:xfrm>
          <a:prstGeom prst="rect">
            <a:avLst/>
          </a:prstGeom>
          <a:noFill/>
          <a:ln/>
        </p:spPr>
        <p:txBody>
          <a:bodyPr wrap="square" lIns="0" tIns="0" rIns="0" bIns="0" rtlCol="0" anchor="t"/>
          <a:lstStyle/>
          <a:p>
            <a:pPr algn="l" indent="0" marL="0">
              <a:lnSpc>
                <a:spcPts val="1316"/>
              </a:lnSpc>
              <a:buNone/>
            </a:pPr>
            <a:r>
              <a:rPr lang="en-US" sz="1013" dirty="0">
                <a:solidFill>
                  <a:srgbClr val="A9A79F"/>
                </a:solidFill>
                <a:latin typeface="Malgun Gothic" pitchFamily="34" charset="0"/>
                <a:ea typeface="Malgun Gothic" pitchFamily="34" charset="-122"/>
                <a:cs typeface="Malgun Gothic" pitchFamily="34" charset="-120"/>
              </a:rPr>
              <a:t>이론값과 실제의 차이만 넘깁니다</a:t>
            </a:r>
            <a:endParaRPr lang="en-US" sz="1013" dirty="0"/>
          </a:p>
        </p:txBody>
      </p:sp>
      <p:sp>
        <p:nvSpPr>
          <p:cNvPr id="20" name="Shape 18"/>
          <p:cNvSpPr/>
          <p:nvPr/>
        </p:nvSpPr>
        <p:spPr>
          <a:xfrm>
            <a:off x="685800" y="4400550"/>
            <a:ext cx="10820400" cy="1047750"/>
          </a:xfrm>
          <a:prstGeom prst="rect">
            <a:avLst/>
          </a:prstGeom>
          <a:solidFill>
            <a:srgbClr val="0A1320"/>
          </a:solidFill>
          <a:ln w="12700">
            <a:solidFill>
              <a:srgbClr val="182838"/>
            </a:solidFill>
            <a:prstDash val="solid"/>
          </a:ln>
        </p:spPr>
      </p:sp>
      <p:sp>
        <p:nvSpPr>
          <p:cNvPr id="21" name="Shape 19"/>
          <p:cNvSpPr/>
          <p:nvPr/>
        </p:nvSpPr>
        <p:spPr>
          <a:xfrm>
            <a:off x="685800" y="4400550"/>
            <a:ext cx="10820400" cy="19050"/>
          </a:xfrm>
          <a:prstGeom prst="rect">
            <a:avLst/>
          </a:prstGeom>
          <a:solidFill>
            <a:srgbClr val="EFB13C"/>
          </a:solidFill>
          <a:ln/>
        </p:spPr>
      </p:sp>
      <p:sp>
        <p:nvSpPr>
          <p:cNvPr id="22" name="Text 20"/>
          <p:cNvSpPr txBox="1"/>
          <p:nvPr/>
        </p:nvSpPr>
        <p:spPr>
          <a:xfrm>
            <a:off x="914400" y="453390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EFB13C"/>
                </a:solidFill>
                <a:latin typeface="Consolas" pitchFamily="34" charset="0"/>
                <a:ea typeface="Consolas" pitchFamily="34" charset="-122"/>
                <a:cs typeface="Consolas" pitchFamily="34" charset="-120"/>
              </a:rPr>
              <a:t>2층  ·  데이터가 배우는 부분</a:t>
            </a:r>
            <a:endParaRPr lang="en-US" sz="788" dirty="0"/>
          </a:p>
        </p:txBody>
      </p:sp>
      <p:sp>
        <p:nvSpPr>
          <p:cNvPr id="23" name="Text 21"/>
          <p:cNvSpPr txBox="1"/>
          <p:nvPr/>
        </p:nvSpPr>
        <p:spPr>
          <a:xfrm>
            <a:off x="914400" y="4724400"/>
            <a:ext cx="95250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온도별로 배우는 </a:t>
            </a:r>
            <a:pPr algn="l" indent="0" marL="0">
              <a:lnSpc>
                <a:spcPts val="2237"/>
              </a:lnSpc>
              <a:buNone/>
            </a:pPr>
            <a:r>
              <a:rPr lang="en-US" sz="1575" b="1" dirty="0">
                <a:solidFill>
                  <a:srgbClr val="EFB13C"/>
                </a:solidFill>
                <a:latin typeface="Malgun Gothic" pitchFamily="34" charset="0"/>
                <a:ea typeface="Malgun Gothic" pitchFamily="34" charset="-122"/>
                <a:cs typeface="Malgun Gothic" pitchFamily="34" charset="-120"/>
              </a:rPr>
              <a:t>보정값 = 실제 − 이론값 − W(IGV)</a:t>
            </a:r>
            <a:endParaRPr lang="en-US" sz="1575" dirty="0"/>
          </a:p>
        </p:txBody>
      </p:sp>
      <p:sp>
        <p:nvSpPr>
          <p:cNvPr id="24" name="Text 22"/>
          <p:cNvSpPr txBox="1"/>
          <p:nvPr/>
        </p:nvSpPr>
        <p:spPr>
          <a:xfrm>
            <a:off x="914400" y="5124450"/>
            <a:ext cx="9525000" cy="24003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테스트가 쌓이면 다시 배웁니다. 실측 범위 밖은 끝값을 유지합니다(외삽 금지).</a:t>
            </a:r>
            <a:endParaRPr lang="en-US" sz="1125" dirty="0"/>
          </a:p>
        </p:txBody>
      </p:sp>
      <p:sp>
        <p:nvSpPr>
          <p:cNvPr id="25" name="Shape 23"/>
          <p:cNvSpPr/>
          <p:nvPr/>
        </p:nvSpPr>
        <p:spPr>
          <a:xfrm>
            <a:off x="685800" y="5524500"/>
            <a:ext cx="10820400" cy="419100"/>
          </a:xfrm>
          <a:prstGeom prst="rect">
            <a:avLst/>
          </a:prstGeom>
          <a:solidFill>
            <a:srgbClr val="0A1320"/>
          </a:solidFill>
          <a:ln w="12700">
            <a:solidFill>
              <a:srgbClr val="182838"/>
            </a:solidFill>
            <a:prstDash val="solid"/>
          </a:ln>
        </p:spPr>
      </p:sp>
      <p:sp>
        <p:nvSpPr>
          <p:cNvPr id="26" name="Text 24"/>
          <p:cNvSpPr txBox="1"/>
          <p:nvPr/>
        </p:nvSpPr>
        <p:spPr>
          <a:xfrm>
            <a:off x="914400" y="5638800"/>
            <a:ext cx="10363200" cy="235267"/>
          </a:xfrm>
          <a:prstGeom prst="rect">
            <a:avLst/>
          </a:prstGeom>
          <a:noFill/>
          <a:ln/>
        </p:spPr>
        <p:txBody>
          <a:bodyPr wrap="square" lIns="0" tIns="0" rIns="0" bIns="0" rtlCol="0" anchor="t"/>
          <a:lstStyle/>
          <a:p>
            <a:pPr algn="ctr" indent="0" marL="0">
              <a:lnSpc>
                <a:spcPts val="1852"/>
              </a:lnSpc>
              <a:buNone/>
            </a:pPr>
            <a:r>
              <a:rPr lang="en-US" sz="1425" b="1" dirty="0">
                <a:solidFill>
                  <a:srgbClr val="EAE7E0"/>
                </a:solidFill>
                <a:latin typeface="Malgun Gothic" pitchFamily="34" charset="0"/>
                <a:ea typeface="Malgun Gothic" pitchFamily="34" charset="-122"/>
                <a:cs typeface="Malgun Gothic" pitchFamily="34" charset="-120"/>
              </a:rPr>
              <a:t>이론값</a:t>
            </a:r>
            <a:pPr algn="ctr" indent="0" marL="0">
              <a:lnSpc>
                <a:spcPts val="1852"/>
              </a:lnSpc>
              <a:buNone/>
            </a:pPr>
            <a:r>
              <a:rPr lang="en-US" sz="1425" b="1" dirty="0">
                <a:solidFill>
                  <a:srgbClr val="EAE7E0"/>
                </a:solidFill>
                <a:latin typeface="Malgun Gothic" pitchFamily="34" charset="0"/>
                <a:ea typeface="Malgun Gothic" pitchFamily="34" charset="-122"/>
                <a:cs typeface="Malgun Gothic" pitchFamily="34" charset="-120"/>
              </a:rPr>
              <a:t>     +     </a:t>
            </a:r>
            <a:pPr algn="ctr" indent="0" marL="0">
              <a:lnSpc>
                <a:spcPts val="1852"/>
              </a:lnSpc>
              <a:buNone/>
            </a:pPr>
            <a:r>
              <a:rPr lang="en-US" sz="1425" b="1" dirty="0">
                <a:solidFill>
                  <a:srgbClr val="EFB13C"/>
                </a:solidFill>
                <a:latin typeface="Malgun Gothic" pitchFamily="34" charset="0"/>
                <a:ea typeface="Malgun Gothic" pitchFamily="34" charset="-122"/>
                <a:cs typeface="Malgun Gothic" pitchFamily="34" charset="-120"/>
              </a:rPr>
              <a:t>온도별 보정값</a:t>
            </a:r>
            <a:pPr algn="ctr" indent="0" marL="0">
              <a:lnSpc>
                <a:spcPts val="1852"/>
              </a:lnSpc>
              <a:buNone/>
            </a:pPr>
            <a:r>
              <a:rPr lang="en-US" sz="1425" b="1" dirty="0">
                <a:solidFill>
                  <a:srgbClr val="EAE7E0"/>
                </a:solidFill>
                <a:latin typeface="Malgun Gothic" pitchFamily="34" charset="0"/>
                <a:ea typeface="Malgun Gothic" pitchFamily="34" charset="-122"/>
                <a:cs typeface="Malgun Gothic" pitchFamily="34" charset="-120"/>
              </a:rPr>
              <a:t>     =     </a:t>
            </a:r>
            <a:pPr algn="ctr" indent="0" marL="0">
              <a:lnSpc>
                <a:spcPts val="1852"/>
              </a:lnSpc>
              <a:buNone/>
            </a:pPr>
            <a:r>
              <a:rPr lang="en-US" sz="1425" b="1" dirty="0">
                <a:solidFill>
                  <a:srgbClr val="EAE7E0"/>
                </a:solidFill>
                <a:latin typeface="Malgun Gothic" pitchFamily="34" charset="0"/>
                <a:ea typeface="Malgun Gothic" pitchFamily="34" charset="-122"/>
                <a:cs typeface="Malgun Gothic" pitchFamily="34" charset="-120"/>
              </a:rPr>
              <a:t>신고값</a:t>
            </a:r>
            <a:endParaRPr lang="en-US" sz="1425" dirty="0"/>
          </a:p>
        </p:txBody>
      </p:sp>
      <p:sp>
        <p:nvSpPr>
          <p:cNvPr id="27" name="Shape 25"/>
          <p:cNvSpPr/>
          <p:nvPr/>
        </p:nvSpPr>
        <p:spPr>
          <a:xfrm>
            <a:off x="685800" y="6057900"/>
            <a:ext cx="10820400" cy="0"/>
          </a:xfrm>
          <a:prstGeom prst="line">
            <a:avLst/>
          </a:prstGeom>
          <a:noFill/>
          <a:ln w="12700">
            <a:solidFill>
              <a:srgbClr val="22354A"/>
            </a:solidFill>
            <a:prstDash val="solid"/>
          </a:ln>
        </p:spPr>
      </p:sp>
      <p:sp>
        <p:nvSpPr>
          <p:cNvPr id="28" name="Text 26"/>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29" name="Text 27"/>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이론은 그대로, 차이만 배웁니다 — 그래서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다른 사업소로 옮겨집니다</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a:t>
            </a:r>
            <a:endParaRPr lang="en-US" sz="123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04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해결 방안 도출 및 예측/보정 모델 개발</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모델 선정</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19100"/>
            <a:ext cx="38100" cy="142875"/>
          </a:xfrm>
          <a:prstGeom prst="rect">
            <a:avLst/>
          </a:prstGeom>
          <a:solidFill>
            <a:srgbClr val="EFB13C"/>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눈대중으로 고르지 않았습니다 —</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방식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7가지를 겨뤄</a:t>
            </a:r>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 곡선을 골랐습니다</a:t>
            </a:r>
            <a:endParaRPr lang="en-US" sz="2775" dirty="0"/>
          </a:p>
        </p:txBody>
      </p:sp>
      <p:sp>
        <p:nvSpPr>
          <p:cNvPr id="12" name="Text 10"/>
          <p:cNvSpPr txBox="1"/>
          <p:nvPr/>
        </p:nvSpPr>
        <p:spPr>
          <a:xfrm>
            <a:off x="685800" y="2000250"/>
            <a:ext cx="10287000" cy="569214"/>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한 회를 가리고 나머지로 맞혀보는 방식(LOOCV)으로 채점했습니다. 세 지표 모두 </a:t>
            </a:r>
            <a:pPr algn="l" indent="0" marL="0">
              <a:lnSpc>
                <a:spcPts val="2241"/>
              </a:lnSpc>
              <a:buNone/>
            </a:pPr>
            <a:r>
              <a:rPr lang="en-US" sz="1350" b="1" dirty="0">
                <a:solidFill>
                  <a:srgbClr val="EFB13C"/>
                </a:solidFill>
                <a:latin typeface="Malgun Gothic" pitchFamily="34" charset="0"/>
                <a:ea typeface="Malgun Gothic" pitchFamily="34" charset="-122"/>
                <a:cs typeface="Malgun Gothic" pitchFamily="34" charset="-120"/>
              </a:rPr>
              <a:t>GP · RBF (제곱지수)</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가 1위입니다.</a:t>
            </a:r>
            <a:endParaRPr lang="en-US" sz="1350" dirty="0"/>
          </a:p>
        </p:txBody>
      </p:sp>
      <p:sp>
        <p:nvSpPr>
          <p:cNvPr id="13" name="Shape 11"/>
          <p:cNvSpPr/>
          <p:nvPr/>
        </p:nvSpPr>
        <p:spPr>
          <a:xfrm>
            <a:off x="685800" y="2705100"/>
            <a:ext cx="10820400" cy="1962150"/>
          </a:xfrm>
          <a:prstGeom prst="rect">
            <a:avLst/>
          </a:prstGeom>
          <a:solidFill>
            <a:srgbClr val="0A1320"/>
          </a:solidFill>
          <a:ln w="12700">
            <a:solidFill>
              <a:srgbClr val="182838"/>
            </a:solidFill>
            <a:prstDash val="solid"/>
          </a:ln>
        </p:spPr>
      </p:sp>
      <p:sp>
        <p:nvSpPr>
          <p:cNvPr id="14" name="Text 12"/>
          <p:cNvSpPr txBox="1"/>
          <p:nvPr/>
        </p:nvSpPr>
        <p:spPr>
          <a:xfrm>
            <a:off x="914400" y="2819400"/>
            <a:ext cx="7429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LOOCV 채점 결과  ·  7가지가 모두 예측 가능한 39회 공통 집합  ·  종전(하나의 값)은 MAE 3.90 MW</a:t>
            </a:r>
            <a:endParaRPr lang="en-US" sz="788" dirty="0"/>
          </a:p>
        </p:txBody>
      </p:sp>
      <p:sp>
        <p:nvSpPr>
          <p:cNvPr id="15" name="Text 13"/>
          <p:cNvSpPr txBox="1"/>
          <p:nvPr/>
        </p:nvSpPr>
        <p:spPr>
          <a:xfrm>
            <a:off x="8477250" y="2800350"/>
            <a:ext cx="2800350" cy="131445"/>
          </a:xfrm>
          <a:prstGeom prst="rect">
            <a:avLst/>
          </a:prstGeom>
          <a:noFill/>
          <a:ln/>
        </p:spPr>
        <p:txBody>
          <a:bodyPr wrap="square" lIns="0" tIns="0" rIns="0" bIns="0" rtlCol="0" anchor="t"/>
          <a:lstStyle/>
          <a:p>
            <a:pPr algn="r"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작을수록 좋음 · R² 는 1 에 가까울수록</a:t>
            </a:r>
            <a:endParaRPr lang="en-US" sz="863" dirty="0"/>
          </a:p>
        </p:txBody>
      </p:sp>
      <p:sp>
        <p:nvSpPr>
          <p:cNvPr id="16" name="Text 14"/>
          <p:cNvSpPr txBox="1"/>
          <p:nvPr/>
        </p:nvSpPr>
        <p:spPr>
          <a:xfrm>
            <a:off x="914400" y="3067050"/>
            <a:ext cx="2857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순위</a:t>
            </a:r>
            <a:endParaRPr lang="en-US" sz="788" dirty="0"/>
          </a:p>
        </p:txBody>
      </p:sp>
      <p:sp>
        <p:nvSpPr>
          <p:cNvPr id="17" name="Text 15"/>
          <p:cNvSpPr txBox="1"/>
          <p:nvPr/>
        </p:nvSpPr>
        <p:spPr>
          <a:xfrm>
            <a:off x="1333500" y="3067050"/>
            <a:ext cx="1905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보정값 산출 방식</a:t>
            </a:r>
            <a:endParaRPr lang="en-US" sz="788" dirty="0"/>
          </a:p>
        </p:txBody>
      </p:sp>
      <p:sp>
        <p:nvSpPr>
          <p:cNvPr id="18" name="Text 16"/>
          <p:cNvSpPr txBox="1"/>
          <p:nvPr/>
        </p:nvSpPr>
        <p:spPr>
          <a:xfrm>
            <a:off x="3238500" y="3067050"/>
            <a:ext cx="3238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MAE  (MW)  ·  1.30 ~ 1.48 구간 확대</a:t>
            </a:r>
            <a:endParaRPr lang="en-US" sz="788" dirty="0"/>
          </a:p>
        </p:txBody>
      </p:sp>
      <p:sp>
        <p:nvSpPr>
          <p:cNvPr id="19" name="Text 17"/>
          <p:cNvSpPr txBox="1"/>
          <p:nvPr/>
        </p:nvSpPr>
        <p:spPr>
          <a:xfrm>
            <a:off x="8153400" y="306705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RMSE</a:t>
            </a:r>
            <a:endParaRPr lang="en-US" sz="788" dirty="0"/>
          </a:p>
        </p:txBody>
      </p:sp>
      <p:sp>
        <p:nvSpPr>
          <p:cNvPr id="20" name="Text 18"/>
          <p:cNvSpPr txBox="1"/>
          <p:nvPr/>
        </p:nvSpPr>
        <p:spPr>
          <a:xfrm>
            <a:off x="9296400" y="3067050"/>
            <a:ext cx="762000" cy="125016"/>
          </a:xfrm>
          <a:prstGeom prst="rect">
            <a:avLst/>
          </a:prstGeom>
          <a:noFill/>
          <a:ln/>
        </p:spPr>
        <p:txBody>
          <a:bodyPr wrap="square" lIns="0" tIns="0" rIns="0" bIns="0" rtlCol="0" anchor="t"/>
          <a:lstStyle/>
          <a:p>
            <a:pPr algn="r"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R²</a:t>
            </a:r>
            <a:endParaRPr lang="en-US" sz="788" dirty="0"/>
          </a:p>
        </p:txBody>
      </p:sp>
      <p:sp>
        <p:nvSpPr>
          <p:cNvPr id="21" name="Shape 19"/>
          <p:cNvSpPr/>
          <p:nvPr/>
        </p:nvSpPr>
        <p:spPr>
          <a:xfrm>
            <a:off x="914400" y="3219450"/>
            <a:ext cx="10363200" cy="0"/>
          </a:xfrm>
          <a:prstGeom prst="line">
            <a:avLst/>
          </a:prstGeom>
          <a:noFill/>
          <a:ln w="12700">
            <a:solidFill>
              <a:srgbClr val="22354A"/>
            </a:solidFill>
            <a:prstDash val="solid"/>
          </a:ln>
        </p:spPr>
      </p:sp>
      <p:sp>
        <p:nvSpPr>
          <p:cNvPr id="22" name="Text 20"/>
          <p:cNvSpPr txBox="1"/>
          <p:nvPr/>
        </p:nvSpPr>
        <p:spPr>
          <a:xfrm>
            <a:off x="914400" y="3276600"/>
            <a:ext cx="285750" cy="142875"/>
          </a:xfrm>
          <a:prstGeom prst="rect">
            <a:avLst/>
          </a:prstGeom>
          <a:noFill/>
          <a:ln/>
        </p:spPr>
        <p:txBody>
          <a:bodyPr wrap="square" lIns="0" tIns="0" rIns="0" bIns="0" rtlCol="0" anchor="t"/>
          <a:lstStyle/>
          <a:p>
            <a:pPr algn="r" indent="0" marL="0">
              <a:lnSpc>
                <a:spcPts val="1125"/>
              </a:lnSpc>
              <a:buNone/>
            </a:pPr>
            <a:r>
              <a:rPr lang="en-US" sz="938" b="1" dirty="0">
                <a:solidFill>
                  <a:srgbClr val="EFB13C"/>
                </a:solidFill>
                <a:latin typeface="Consolas" pitchFamily="34" charset="0"/>
                <a:ea typeface="Consolas" pitchFamily="34" charset="-122"/>
                <a:cs typeface="Consolas" pitchFamily="34" charset="-120"/>
              </a:rPr>
              <a:t>1</a:t>
            </a:r>
            <a:endParaRPr lang="en-US" sz="938" dirty="0"/>
          </a:p>
        </p:txBody>
      </p:sp>
      <p:sp>
        <p:nvSpPr>
          <p:cNvPr id="23" name="Text 21"/>
          <p:cNvSpPr txBox="1"/>
          <p:nvPr/>
        </p:nvSpPr>
        <p:spPr>
          <a:xfrm>
            <a:off x="1333500" y="3276600"/>
            <a:ext cx="1847850" cy="142875"/>
          </a:xfrm>
          <a:prstGeom prst="rect">
            <a:avLst/>
          </a:prstGeom>
          <a:noFill/>
          <a:ln/>
        </p:spPr>
        <p:txBody>
          <a:bodyPr wrap="square" lIns="0" tIns="0" rIns="0" bIns="0" rtlCol="0" anchor="t"/>
          <a:lstStyle/>
          <a:p>
            <a:pPr algn="l" indent="0" marL="0">
              <a:lnSpc>
                <a:spcPts val="1125"/>
              </a:lnSpc>
              <a:buNone/>
            </a:pPr>
            <a:r>
              <a:rPr lang="en-US" sz="938" b="1" dirty="0">
                <a:solidFill>
                  <a:srgbClr val="EFB13C"/>
                </a:solidFill>
                <a:latin typeface="Malgun Gothic" pitchFamily="34" charset="0"/>
                <a:ea typeface="Malgun Gothic" pitchFamily="34" charset="-122"/>
                <a:cs typeface="Malgun Gothic" pitchFamily="34" charset="-120"/>
              </a:rPr>
              <a:t>GP · RBF (제곱지수)</a:t>
            </a:r>
            <a:endParaRPr lang="en-US" sz="938" dirty="0"/>
          </a:p>
        </p:txBody>
      </p:sp>
      <p:sp>
        <p:nvSpPr>
          <p:cNvPr id="24" name="Shape 22"/>
          <p:cNvSpPr/>
          <p:nvPr/>
        </p:nvSpPr>
        <p:spPr>
          <a:xfrm>
            <a:off x="3238500" y="3295650"/>
            <a:ext cx="57150" cy="104775"/>
          </a:xfrm>
          <a:prstGeom prst="rect">
            <a:avLst/>
          </a:prstGeom>
          <a:solidFill>
            <a:srgbClr val="EFB13C"/>
          </a:solidFill>
          <a:ln/>
        </p:spPr>
      </p:sp>
      <p:sp>
        <p:nvSpPr>
          <p:cNvPr id="25" name="Text 23"/>
          <p:cNvSpPr txBox="1"/>
          <p:nvPr/>
        </p:nvSpPr>
        <p:spPr>
          <a:xfrm>
            <a:off x="3337560" y="3276600"/>
            <a:ext cx="571500" cy="142875"/>
          </a:xfrm>
          <a:prstGeom prst="rect">
            <a:avLst/>
          </a:prstGeom>
          <a:noFill/>
          <a:ln/>
        </p:spPr>
        <p:txBody>
          <a:bodyPr wrap="square" lIns="0" tIns="0" rIns="0" bIns="0" rtlCol="0" anchor="t"/>
          <a:lstStyle/>
          <a:p>
            <a:pPr algn="l" indent="0" marL="0">
              <a:lnSpc>
                <a:spcPts val="1125"/>
              </a:lnSpc>
              <a:buNone/>
            </a:pPr>
            <a:r>
              <a:rPr lang="en-US" sz="938" b="1" dirty="0">
                <a:solidFill>
                  <a:srgbClr val="EFB13C"/>
                </a:solidFill>
                <a:latin typeface="Consolas" pitchFamily="34" charset="0"/>
                <a:ea typeface="Consolas" pitchFamily="34" charset="-122"/>
                <a:cs typeface="Consolas" pitchFamily="34" charset="-120"/>
              </a:rPr>
              <a:t>1.301</a:t>
            </a:r>
            <a:endParaRPr lang="en-US" sz="938" dirty="0"/>
          </a:p>
        </p:txBody>
      </p:sp>
      <p:sp>
        <p:nvSpPr>
          <p:cNvPr id="26" name="Text 24"/>
          <p:cNvSpPr txBox="1"/>
          <p:nvPr/>
        </p:nvSpPr>
        <p:spPr>
          <a:xfrm>
            <a:off x="8153400" y="3276600"/>
            <a:ext cx="762000" cy="142875"/>
          </a:xfrm>
          <a:prstGeom prst="rect">
            <a:avLst/>
          </a:prstGeom>
          <a:noFill/>
          <a:ln/>
        </p:spPr>
        <p:txBody>
          <a:bodyPr wrap="square" lIns="0" tIns="0" rIns="0" bIns="0" rtlCol="0" anchor="t"/>
          <a:lstStyle/>
          <a:p>
            <a:pPr algn="r" indent="0" marL="0">
              <a:lnSpc>
                <a:spcPts val="1125"/>
              </a:lnSpc>
              <a:buNone/>
            </a:pPr>
            <a:r>
              <a:rPr lang="en-US" sz="938" b="1" dirty="0">
                <a:solidFill>
                  <a:srgbClr val="EFB13C"/>
                </a:solidFill>
                <a:latin typeface="Consolas" pitchFamily="34" charset="0"/>
                <a:ea typeface="Consolas" pitchFamily="34" charset="-122"/>
                <a:cs typeface="Consolas" pitchFamily="34" charset="-120"/>
              </a:rPr>
              <a:t>1.678</a:t>
            </a:r>
            <a:endParaRPr lang="en-US" sz="938" dirty="0"/>
          </a:p>
        </p:txBody>
      </p:sp>
      <p:sp>
        <p:nvSpPr>
          <p:cNvPr id="27" name="Text 25"/>
          <p:cNvSpPr txBox="1"/>
          <p:nvPr/>
        </p:nvSpPr>
        <p:spPr>
          <a:xfrm>
            <a:off x="9296400" y="3276600"/>
            <a:ext cx="762000" cy="142875"/>
          </a:xfrm>
          <a:prstGeom prst="rect">
            <a:avLst/>
          </a:prstGeom>
          <a:noFill/>
          <a:ln/>
        </p:spPr>
        <p:txBody>
          <a:bodyPr wrap="square" lIns="0" tIns="0" rIns="0" bIns="0" rtlCol="0" anchor="t"/>
          <a:lstStyle/>
          <a:p>
            <a:pPr algn="r" indent="0" marL="0">
              <a:lnSpc>
                <a:spcPts val="1125"/>
              </a:lnSpc>
              <a:buNone/>
            </a:pPr>
            <a:r>
              <a:rPr lang="en-US" sz="938" b="1" dirty="0">
                <a:solidFill>
                  <a:srgbClr val="EFB13C"/>
                </a:solidFill>
                <a:latin typeface="Consolas" pitchFamily="34" charset="0"/>
                <a:ea typeface="Consolas" pitchFamily="34" charset="-122"/>
                <a:cs typeface="Consolas" pitchFamily="34" charset="-120"/>
              </a:rPr>
              <a:t>0.854</a:t>
            </a:r>
            <a:endParaRPr lang="en-US" sz="938" dirty="0"/>
          </a:p>
        </p:txBody>
      </p:sp>
      <p:sp>
        <p:nvSpPr>
          <p:cNvPr id="28" name="Text 26"/>
          <p:cNvSpPr txBox="1"/>
          <p:nvPr/>
        </p:nvSpPr>
        <p:spPr>
          <a:xfrm>
            <a:off x="914400" y="3448050"/>
            <a:ext cx="285750" cy="142875"/>
          </a:xfrm>
          <a:prstGeom prst="rect">
            <a:avLst/>
          </a:prstGeom>
          <a:noFill/>
          <a:ln/>
        </p:spPr>
        <p:txBody>
          <a:bodyPr wrap="square" lIns="0" tIns="0" rIns="0" bIns="0" rtlCol="0" anchor="t"/>
          <a:lstStyle/>
          <a:p>
            <a:pPr algn="r" indent="0" marL="0">
              <a:lnSpc>
                <a:spcPts val="1125"/>
              </a:lnSpc>
              <a:buNone/>
            </a:pPr>
            <a:r>
              <a:rPr lang="en-US" sz="938" dirty="0">
                <a:solidFill>
                  <a:srgbClr val="8A8880"/>
                </a:solidFill>
                <a:latin typeface="Consolas" pitchFamily="34" charset="0"/>
                <a:ea typeface="Consolas" pitchFamily="34" charset="-122"/>
                <a:cs typeface="Consolas" pitchFamily="34" charset="-120"/>
              </a:rPr>
              <a:t>2</a:t>
            </a:r>
            <a:endParaRPr lang="en-US" sz="938" dirty="0"/>
          </a:p>
        </p:txBody>
      </p:sp>
      <p:sp>
        <p:nvSpPr>
          <p:cNvPr id="29" name="Text 27"/>
          <p:cNvSpPr txBox="1"/>
          <p:nvPr/>
        </p:nvSpPr>
        <p:spPr>
          <a:xfrm>
            <a:off x="1333500" y="3448050"/>
            <a:ext cx="1847850" cy="142875"/>
          </a:xfrm>
          <a:prstGeom prst="rect">
            <a:avLst/>
          </a:prstGeom>
          <a:noFill/>
          <a:ln/>
        </p:spPr>
        <p:txBody>
          <a:bodyPr wrap="square" lIns="0" tIns="0" rIns="0" bIns="0" rtlCol="0" anchor="t"/>
          <a:lstStyle/>
          <a:p>
            <a:pPr algn="l" indent="0" marL="0">
              <a:lnSpc>
                <a:spcPts val="1125"/>
              </a:lnSpc>
              <a:buNone/>
            </a:pPr>
            <a:r>
              <a:rPr lang="en-US" sz="938" dirty="0">
                <a:solidFill>
                  <a:srgbClr val="CFCBC2"/>
                </a:solidFill>
                <a:latin typeface="Malgun Gothic" pitchFamily="34" charset="0"/>
                <a:ea typeface="Malgun Gothic" pitchFamily="34" charset="-122"/>
                <a:cs typeface="Malgun Gothic" pitchFamily="34" charset="-120"/>
              </a:rPr>
              <a:t>GP · Rational Quadratic</a:t>
            </a:r>
            <a:endParaRPr lang="en-US" sz="938" dirty="0"/>
          </a:p>
        </p:txBody>
      </p:sp>
      <p:sp>
        <p:nvSpPr>
          <p:cNvPr id="30" name="Shape 28"/>
          <p:cNvSpPr/>
          <p:nvPr/>
        </p:nvSpPr>
        <p:spPr>
          <a:xfrm>
            <a:off x="3238500" y="3467100"/>
            <a:ext cx="114300" cy="104775"/>
          </a:xfrm>
          <a:prstGeom prst="rect">
            <a:avLst/>
          </a:prstGeom>
          <a:solidFill>
            <a:srgbClr val="8A6620"/>
          </a:solidFill>
          <a:ln/>
        </p:spPr>
      </p:sp>
      <p:sp>
        <p:nvSpPr>
          <p:cNvPr id="31" name="Text 29"/>
          <p:cNvSpPr txBox="1"/>
          <p:nvPr/>
        </p:nvSpPr>
        <p:spPr>
          <a:xfrm>
            <a:off x="3429000" y="3448050"/>
            <a:ext cx="571500" cy="142875"/>
          </a:xfrm>
          <a:prstGeom prst="rect">
            <a:avLst/>
          </a:prstGeom>
          <a:noFill/>
          <a:ln/>
        </p:spPr>
        <p:txBody>
          <a:bodyPr wrap="square" lIns="0" tIns="0" rIns="0" bIns="0" rtlCol="0" anchor="t"/>
          <a:lstStyle/>
          <a:p>
            <a:pPr algn="l" indent="0" marL="0">
              <a:lnSpc>
                <a:spcPts val="1125"/>
              </a:lnSpc>
              <a:buNone/>
            </a:pPr>
            <a:r>
              <a:rPr lang="en-US" sz="938" dirty="0">
                <a:solidFill>
                  <a:srgbClr val="A9A79F"/>
                </a:solidFill>
                <a:latin typeface="Consolas" pitchFamily="34" charset="0"/>
                <a:ea typeface="Consolas" pitchFamily="34" charset="-122"/>
                <a:cs typeface="Consolas" pitchFamily="34" charset="-120"/>
              </a:rPr>
              <a:t>1.305</a:t>
            </a:r>
            <a:endParaRPr lang="en-US" sz="938" dirty="0"/>
          </a:p>
        </p:txBody>
      </p:sp>
      <p:sp>
        <p:nvSpPr>
          <p:cNvPr id="32" name="Text 30"/>
          <p:cNvSpPr txBox="1"/>
          <p:nvPr/>
        </p:nvSpPr>
        <p:spPr>
          <a:xfrm>
            <a:off x="8153400" y="344805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1.685</a:t>
            </a:r>
            <a:endParaRPr lang="en-US" sz="938" dirty="0"/>
          </a:p>
        </p:txBody>
      </p:sp>
      <p:sp>
        <p:nvSpPr>
          <p:cNvPr id="33" name="Text 31"/>
          <p:cNvSpPr txBox="1"/>
          <p:nvPr/>
        </p:nvSpPr>
        <p:spPr>
          <a:xfrm>
            <a:off x="9296400" y="344805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0.852</a:t>
            </a:r>
            <a:endParaRPr lang="en-US" sz="938" dirty="0"/>
          </a:p>
        </p:txBody>
      </p:sp>
      <p:sp>
        <p:nvSpPr>
          <p:cNvPr id="34" name="Text 32"/>
          <p:cNvSpPr txBox="1"/>
          <p:nvPr/>
        </p:nvSpPr>
        <p:spPr>
          <a:xfrm>
            <a:off x="914400" y="3619500"/>
            <a:ext cx="285750" cy="142875"/>
          </a:xfrm>
          <a:prstGeom prst="rect">
            <a:avLst/>
          </a:prstGeom>
          <a:noFill/>
          <a:ln/>
        </p:spPr>
        <p:txBody>
          <a:bodyPr wrap="square" lIns="0" tIns="0" rIns="0" bIns="0" rtlCol="0" anchor="t"/>
          <a:lstStyle/>
          <a:p>
            <a:pPr algn="r" indent="0" marL="0">
              <a:lnSpc>
                <a:spcPts val="1125"/>
              </a:lnSpc>
              <a:buNone/>
            </a:pPr>
            <a:r>
              <a:rPr lang="en-US" sz="938" dirty="0">
                <a:solidFill>
                  <a:srgbClr val="8A8880"/>
                </a:solidFill>
                <a:latin typeface="Consolas" pitchFamily="34" charset="0"/>
                <a:ea typeface="Consolas" pitchFamily="34" charset="-122"/>
                <a:cs typeface="Consolas" pitchFamily="34" charset="-120"/>
              </a:rPr>
              <a:t>3</a:t>
            </a:r>
            <a:endParaRPr lang="en-US" sz="938" dirty="0"/>
          </a:p>
        </p:txBody>
      </p:sp>
      <p:sp>
        <p:nvSpPr>
          <p:cNvPr id="35" name="Text 33"/>
          <p:cNvSpPr txBox="1"/>
          <p:nvPr/>
        </p:nvSpPr>
        <p:spPr>
          <a:xfrm>
            <a:off x="1333500" y="3619500"/>
            <a:ext cx="1847850" cy="142875"/>
          </a:xfrm>
          <a:prstGeom prst="rect">
            <a:avLst/>
          </a:prstGeom>
          <a:noFill/>
          <a:ln/>
        </p:spPr>
        <p:txBody>
          <a:bodyPr wrap="square" lIns="0" tIns="0" rIns="0" bIns="0" rtlCol="0" anchor="t"/>
          <a:lstStyle/>
          <a:p>
            <a:pPr algn="l" indent="0" marL="0">
              <a:lnSpc>
                <a:spcPts val="1125"/>
              </a:lnSpc>
              <a:buNone/>
            </a:pPr>
            <a:r>
              <a:rPr lang="en-US" sz="938" dirty="0">
                <a:solidFill>
                  <a:srgbClr val="CFCBC2"/>
                </a:solidFill>
                <a:latin typeface="Malgun Gothic" pitchFamily="34" charset="0"/>
                <a:ea typeface="Malgun Gothic" pitchFamily="34" charset="-122"/>
                <a:cs typeface="Malgun Gothic" pitchFamily="34" charset="-120"/>
              </a:rPr>
              <a:t>GP · Matérn 5/2</a:t>
            </a:r>
            <a:endParaRPr lang="en-US" sz="938" dirty="0"/>
          </a:p>
        </p:txBody>
      </p:sp>
      <p:sp>
        <p:nvSpPr>
          <p:cNvPr id="36" name="Shape 34"/>
          <p:cNvSpPr/>
          <p:nvPr/>
        </p:nvSpPr>
        <p:spPr>
          <a:xfrm>
            <a:off x="3238500" y="3638550"/>
            <a:ext cx="228600" cy="104775"/>
          </a:xfrm>
          <a:prstGeom prst="rect">
            <a:avLst/>
          </a:prstGeom>
          <a:solidFill>
            <a:srgbClr val="8A6620"/>
          </a:solidFill>
          <a:ln/>
        </p:spPr>
      </p:sp>
      <p:sp>
        <p:nvSpPr>
          <p:cNvPr id="37" name="Text 35"/>
          <p:cNvSpPr txBox="1"/>
          <p:nvPr/>
        </p:nvSpPr>
        <p:spPr>
          <a:xfrm>
            <a:off x="3543300" y="3619500"/>
            <a:ext cx="571500" cy="142875"/>
          </a:xfrm>
          <a:prstGeom prst="rect">
            <a:avLst/>
          </a:prstGeom>
          <a:noFill/>
          <a:ln/>
        </p:spPr>
        <p:txBody>
          <a:bodyPr wrap="square" lIns="0" tIns="0" rIns="0" bIns="0" rtlCol="0" anchor="t"/>
          <a:lstStyle/>
          <a:p>
            <a:pPr algn="l" indent="0" marL="0">
              <a:lnSpc>
                <a:spcPts val="1125"/>
              </a:lnSpc>
              <a:buNone/>
            </a:pPr>
            <a:r>
              <a:rPr lang="en-US" sz="938" dirty="0">
                <a:solidFill>
                  <a:srgbClr val="A9A79F"/>
                </a:solidFill>
                <a:latin typeface="Consolas" pitchFamily="34" charset="0"/>
                <a:ea typeface="Consolas" pitchFamily="34" charset="-122"/>
                <a:cs typeface="Consolas" pitchFamily="34" charset="-120"/>
              </a:rPr>
              <a:t>1.310</a:t>
            </a:r>
            <a:endParaRPr lang="en-US" sz="938" dirty="0"/>
          </a:p>
        </p:txBody>
      </p:sp>
      <p:sp>
        <p:nvSpPr>
          <p:cNvPr id="38" name="Text 36"/>
          <p:cNvSpPr txBox="1"/>
          <p:nvPr/>
        </p:nvSpPr>
        <p:spPr>
          <a:xfrm>
            <a:off x="8153400" y="361950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1.689</a:t>
            </a:r>
            <a:endParaRPr lang="en-US" sz="938" dirty="0"/>
          </a:p>
        </p:txBody>
      </p:sp>
      <p:sp>
        <p:nvSpPr>
          <p:cNvPr id="39" name="Text 37"/>
          <p:cNvSpPr txBox="1"/>
          <p:nvPr/>
        </p:nvSpPr>
        <p:spPr>
          <a:xfrm>
            <a:off x="9296400" y="361950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0.852</a:t>
            </a:r>
            <a:endParaRPr lang="en-US" sz="938" dirty="0"/>
          </a:p>
        </p:txBody>
      </p:sp>
      <p:sp>
        <p:nvSpPr>
          <p:cNvPr id="40" name="Text 38"/>
          <p:cNvSpPr txBox="1"/>
          <p:nvPr/>
        </p:nvSpPr>
        <p:spPr>
          <a:xfrm>
            <a:off x="914400" y="3790950"/>
            <a:ext cx="285750" cy="142875"/>
          </a:xfrm>
          <a:prstGeom prst="rect">
            <a:avLst/>
          </a:prstGeom>
          <a:noFill/>
          <a:ln/>
        </p:spPr>
        <p:txBody>
          <a:bodyPr wrap="square" lIns="0" tIns="0" rIns="0" bIns="0" rtlCol="0" anchor="t"/>
          <a:lstStyle/>
          <a:p>
            <a:pPr algn="r" indent="0" marL="0">
              <a:lnSpc>
                <a:spcPts val="1125"/>
              </a:lnSpc>
              <a:buNone/>
            </a:pPr>
            <a:r>
              <a:rPr lang="en-US" sz="938" dirty="0">
                <a:solidFill>
                  <a:srgbClr val="8A8880"/>
                </a:solidFill>
                <a:latin typeface="Consolas" pitchFamily="34" charset="0"/>
                <a:ea typeface="Consolas" pitchFamily="34" charset="-122"/>
                <a:cs typeface="Consolas" pitchFamily="34" charset="-120"/>
              </a:rPr>
              <a:t>4</a:t>
            </a:r>
            <a:endParaRPr lang="en-US" sz="938" dirty="0"/>
          </a:p>
        </p:txBody>
      </p:sp>
      <p:sp>
        <p:nvSpPr>
          <p:cNvPr id="41" name="Text 39"/>
          <p:cNvSpPr txBox="1"/>
          <p:nvPr/>
        </p:nvSpPr>
        <p:spPr>
          <a:xfrm>
            <a:off x="1333500" y="3790950"/>
            <a:ext cx="1847850" cy="142875"/>
          </a:xfrm>
          <a:prstGeom prst="rect">
            <a:avLst/>
          </a:prstGeom>
          <a:noFill/>
          <a:ln/>
        </p:spPr>
        <p:txBody>
          <a:bodyPr wrap="square" lIns="0" tIns="0" rIns="0" bIns="0" rtlCol="0" anchor="t"/>
          <a:lstStyle/>
          <a:p>
            <a:pPr algn="l" indent="0" marL="0">
              <a:lnSpc>
                <a:spcPts val="1125"/>
              </a:lnSpc>
              <a:buNone/>
            </a:pPr>
            <a:r>
              <a:rPr lang="en-US" sz="938" dirty="0">
                <a:solidFill>
                  <a:srgbClr val="CFCBC2"/>
                </a:solidFill>
                <a:latin typeface="Malgun Gothic" pitchFamily="34" charset="0"/>
                <a:ea typeface="Malgun Gothic" pitchFamily="34" charset="-122"/>
                <a:cs typeface="Malgun Gothic" pitchFamily="34" charset="-120"/>
              </a:rPr>
              <a:t>GP · Matérn 3/2</a:t>
            </a:r>
            <a:endParaRPr lang="en-US" sz="938" dirty="0"/>
          </a:p>
        </p:txBody>
      </p:sp>
      <p:sp>
        <p:nvSpPr>
          <p:cNvPr id="42" name="Shape 40"/>
          <p:cNvSpPr/>
          <p:nvPr/>
        </p:nvSpPr>
        <p:spPr>
          <a:xfrm>
            <a:off x="3238500" y="3810000"/>
            <a:ext cx="502920" cy="104775"/>
          </a:xfrm>
          <a:prstGeom prst="rect">
            <a:avLst/>
          </a:prstGeom>
          <a:solidFill>
            <a:srgbClr val="8A6620"/>
          </a:solidFill>
          <a:ln/>
        </p:spPr>
      </p:sp>
      <p:sp>
        <p:nvSpPr>
          <p:cNvPr id="43" name="Text 41"/>
          <p:cNvSpPr txBox="1"/>
          <p:nvPr/>
        </p:nvSpPr>
        <p:spPr>
          <a:xfrm>
            <a:off x="3817620" y="3790950"/>
            <a:ext cx="571500" cy="142875"/>
          </a:xfrm>
          <a:prstGeom prst="rect">
            <a:avLst/>
          </a:prstGeom>
          <a:noFill/>
          <a:ln/>
        </p:spPr>
        <p:txBody>
          <a:bodyPr wrap="square" lIns="0" tIns="0" rIns="0" bIns="0" rtlCol="0" anchor="t"/>
          <a:lstStyle/>
          <a:p>
            <a:pPr algn="l" indent="0" marL="0">
              <a:lnSpc>
                <a:spcPts val="1125"/>
              </a:lnSpc>
              <a:buNone/>
            </a:pPr>
            <a:r>
              <a:rPr lang="en-US" sz="938" dirty="0">
                <a:solidFill>
                  <a:srgbClr val="A9A79F"/>
                </a:solidFill>
                <a:latin typeface="Consolas" pitchFamily="34" charset="0"/>
                <a:ea typeface="Consolas" pitchFamily="34" charset="-122"/>
                <a:cs typeface="Consolas" pitchFamily="34" charset="-120"/>
              </a:rPr>
              <a:t>1.322</a:t>
            </a:r>
            <a:endParaRPr lang="en-US" sz="938" dirty="0"/>
          </a:p>
        </p:txBody>
      </p:sp>
      <p:sp>
        <p:nvSpPr>
          <p:cNvPr id="44" name="Text 42"/>
          <p:cNvSpPr txBox="1"/>
          <p:nvPr/>
        </p:nvSpPr>
        <p:spPr>
          <a:xfrm>
            <a:off x="8153400" y="379095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1.700</a:t>
            </a:r>
            <a:endParaRPr lang="en-US" sz="938" dirty="0"/>
          </a:p>
        </p:txBody>
      </p:sp>
      <p:sp>
        <p:nvSpPr>
          <p:cNvPr id="45" name="Text 43"/>
          <p:cNvSpPr txBox="1"/>
          <p:nvPr/>
        </p:nvSpPr>
        <p:spPr>
          <a:xfrm>
            <a:off x="9296400" y="379095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0.850</a:t>
            </a:r>
            <a:endParaRPr lang="en-US" sz="938" dirty="0"/>
          </a:p>
        </p:txBody>
      </p:sp>
      <p:sp>
        <p:nvSpPr>
          <p:cNvPr id="46" name="Text 44"/>
          <p:cNvSpPr txBox="1"/>
          <p:nvPr/>
        </p:nvSpPr>
        <p:spPr>
          <a:xfrm>
            <a:off x="914400" y="3962400"/>
            <a:ext cx="285750" cy="142875"/>
          </a:xfrm>
          <a:prstGeom prst="rect">
            <a:avLst/>
          </a:prstGeom>
          <a:noFill/>
          <a:ln/>
        </p:spPr>
        <p:txBody>
          <a:bodyPr wrap="square" lIns="0" tIns="0" rIns="0" bIns="0" rtlCol="0" anchor="t"/>
          <a:lstStyle/>
          <a:p>
            <a:pPr algn="r" indent="0" marL="0">
              <a:lnSpc>
                <a:spcPts val="1125"/>
              </a:lnSpc>
              <a:buNone/>
            </a:pPr>
            <a:r>
              <a:rPr lang="en-US" sz="938" dirty="0">
                <a:solidFill>
                  <a:srgbClr val="8A8880"/>
                </a:solidFill>
                <a:latin typeface="Consolas" pitchFamily="34" charset="0"/>
                <a:ea typeface="Consolas" pitchFamily="34" charset="-122"/>
                <a:cs typeface="Consolas" pitchFamily="34" charset="-120"/>
              </a:rPr>
              <a:t>5</a:t>
            </a:r>
            <a:endParaRPr lang="en-US" sz="938" dirty="0"/>
          </a:p>
        </p:txBody>
      </p:sp>
      <p:sp>
        <p:nvSpPr>
          <p:cNvPr id="47" name="Text 45"/>
          <p:cNvSpPr txBox="1"/>
          <p:nvPr/>
        </p:nvSpPr>
        <p:spPr>
          <a:xfrm>
            <a:off x="1333500" y="3962400"/>
            <a:ext cx="1847850" cy="142875"/>
          </a:xfrm>
          <a:prstGeom prst="rect">
            <a:avLst/>
          </a:prstGeom>
          <a:noFill/>
          <a:ln/>
        </p:spPr>
        <p:txBody>
          <a:bodyPr wrap="square" lIns="0" tIns="0" rIns="0" bIns="0" rtlCol="0" anchor="t"/>
          <a:lstStyle/>
          <a:p>
            <a:pPr algn="l" indent="0" marL="0">
              <a:lnSpc>
                <a:spcPts val="1125"/>
              </a:lnSpc>
              <a:buNone/>
            </a:pPr>
            <a:r>
              <a:rPr lang="en-US" sz="938" dirty="0">
                <a:solidFill>
                  <a:srgbClr val="CFCBC2"/>
                </a:solidFill>
                <a:latin typeface="Malgun Gothic" pitchFamily="34" charset="0"/>
                <a:ea typeface="Malgun Gothic" pitchFamily="34" charset="-122"/>
                <a:cs typeface="Malgun Gothic" pitchFamily="34" charset="-120"/>
              </a:rPr>
              <a:t>GP · 지수 (Matérn 1/2)</a:t>
            </a:r>
            <a:endParaRPr lang="en-US" sz="938" dirty="0"/>
          </a:p>
        </p:txBody>
      </p:sp>
      <p:sp>
        <p:nvSpPr>
          <p:cNvPr id="48" name="Shape 46"/>
          <p:cNvSpPr/>
          <p:nvPr/>
        </p:nvSpPr>
        <p:spPr>
          <a:xfrm>
            <a:off x="3238500" y="3981450"/>
            <a:ext cx="1485900" cy="104775"/>
          </a:xfrm>
          <a:prstGeom prst="rect">
            <a:avLst/>
          </a:prstGeom>
          <a:solidFill>
            <a:srgbClr val="55708A"/>
          </a:solidFill>
          <a:ln/>
        </p:spPr>
      </p:sp>
      <p:sp>
        <p:nvSpPr>
          <p:cNvPr id="49" name="Text 47"/>
          <p:cNvSpPr txBox="1"/>
          <p:nvPr/>
        </p:nvSpPr>
        <p:spPr>
          <a:xfrm>
            <a:off x="4800600" y="3962400"/>
            <a:ext cx="571500" cy="142875"/>
          </a:xfrm>
          <a:prstGeom prst="rect">
            <a:avLst/>
          </a:prstGeom>
          <a:noFill/>
          <a:ln/>
        </p:spPr>
        <p:txBody>
          <a:bodyPr wrap="square" lIns="0" tIns="0" rIns="0" bIns="0" rtlCol="0" anchor="t"/>
          <a:lstStyle/>
          <a:p>
            <a:pPr algn="l" indent="0" marL="0">
              <a:lnSpc>
                <a:spcPts val="1125"/>
              </a:lnSpc>
              <a:buNone/>
            </a:pPr>
            <a:r>
              <a:rPr lang="en-US" sz="938" dirty="0">
                <a:solidFill>
                  <a:srgbClr val="A9A79F"/>
                </a:solidFill>
                <a:latin typeface="Consolas" pitchFamily="34" charset="0"/>
                <a:ea typeface="Consolas" pitchFamily="34" charset="-122"/>
                <a:cs typeface="Consolas" pitchFamily="34" charset="-120"/>
              </a:rPr>
              <a:t>1.365</a:t>
            </a:r>
            <a:endParaRPr lang="en-US" sz="938" dirty="0"/>
          </a:p>
        </p:txBody>
      </p:sp>
      <p:sp>
        <p:nvSpPr>
          <p:cNvPr id="50" name="Text 48"/>
          <p:cNvSpPr txBox="1"/>
          <p:nvPr/>
        </p:nvSpPr>
        <p:spPr>
          <a:xfrm>
            <a:off x="8153400" y="396240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1.739</a:t>
            </a:r>
            <a:endParaRPr lang="en-US" sz="938" dirty="0"/>
          </a:p>
        </p:txBody>
      </p:sp>
      <p:sp>
        <p:nvSpPr>
          <p:cNvPr id="51" name="Text 49"/>
          <p:cNvSpPr txBox="1"/>
          <p:nvPr/>
        </p:nvSpPr>
        <p:spPr>
          <a:xfrm>
            <a:off x="9296400" y="396240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0.843</a:t>
            </a:r>
            <a:endParaRPr lang="en-US" sz="938" dirty="0"/>
          </a:p>
        </p:txBody>
      </p:sp>
      <p:sp>
        <p:nvSpPr>
          <p:cNvPr id="52" name="Text 50"/>
          <p:cNvSpPr txBox="1"/>
          <p:nvPr/>
        </p:nvSpPr>
        <p:spPr>
          <a:xfrm>
            <a:off x="914400" y="4133850"/>
            <a:ext cx="285750" cy="142875"/>
          </a:xfrm>
          <a:prstGeom prst="rect">
            <a:avLst/>
          </a:prstGeom>
          <a:noFill/>
          <a:ln/>
        </p:spPr>
        <p:txBody>
          <a:bodyPr wrap="square" lIns="0" tIns="0" rIns="0" bIns="0" rtlCol="0" anchor="t"/>
          <a:lstStyle/>
          <a:p>
            <a:pPr algn="r" indent="0" marL="0">
              <a:lnSpc>
                <a:spcPts val="1125"/>
              </a:lnSpc>
              <a:buNone/>
            </a:pPr>
            <a:r>
              <a:rPr lang="en-US" sz="938" dirty="0">
                <a:solidFill>
                  <a:srgbClr val="8A8880"/>
                </a:solidFill>
                <a:latin typeface="Consolas" pitchFamily="34" charset="0"/>
                <a:ea typeface="Consolas" pitchFamily="34" charset="-122"/>
                <a:cs typeface="Consolas" pitchFamily="34" charset="-120"/>
              </a:rPr>
              <a:t>6</a:t>
            </a:r>
            <a:endParaRPr lang="en-US" sz="938" dirty="0"/>
          </a:p>
        </p:txBody>
      </p:sp>
      <p:sp>
        <p:nvSpPr>
          <p:cNvPr id="53" name="Text 51"/>
          <p:cNvSpPr txBox="1"/>
          <p:nvPr/>
        </p:nvSpPr>
        <p:spPr>
          <a:xfrm>
            <a:off x="1333500" y="4133850"/>
            <a:ext cx="1847850" cy="142875"/>
          </a:xfrm>
          <a:prstGeom prst="rect">
            <a:avLst/>
          </a:prstGeom>
          <a:noFill/>
          <a:ln/>
        </p:spPr>
        <p:txBody>
          <a:bodyPr wrap="square" lIns="0" tIns="0" rIns="0" bIns="0" rtlCol="0" anchor="t"/>
          <a:lstStyle/>
          <a:p>
            <a:pPr algn="l" indent="0" marL="0">
              <a:lnSpc>
                <a:spcPts val="1125"/>
              </a:lnSpc>
              <a:buNone/>
            </a:pPr>
            <a:r>
              <a:rPr lang="en-US" sz="938" dirty="0">
                <a:solidFill>
                  <a:srgbClr val="CFCBC2"/>
                </a:solidFill>
                <a:latin typeface="Malgun Gothic" pitchFamily="34" charset="0"/>
                <a:ea typeface="Malgun Gothic" pitchFamily="34" charset="-122"/>
                <a:cs typeface="Malgun Gothic" pitchFamily="34" charset="-120"/>
              </a:rPr>
              <a:t>커널회귀 (거리가중 평균)</a:t>
            </a:r>
            <a:endParaRPr lang="en-US" sz="938" dirty="0"/>
          </a:p>
        </p:txBody>
      </p:sp>
      <p:sp>
        <p:nvSpPr>
          <p:cNvPr id="54" name="Shape 52"/>
          <p:cNvSpPr/>
          <p:nvPr/>
        </p:nvSpPr>
        <p:spPr>
          <a:xfrm>
            <a:off x="3238500" y="4152900"/>
            <a:ext cx="2720340" cy="104775"/>
          </a:xfrm>
          <a:prstGeom prst="rect">
            <a:avLst/>
          </a:prstGeom>
          <a:solidFill>
            <a:srgbClr val="55708A"/>
          </a:solidFill>
          <a:ln/>
        </p:spPr>
      </p:sp>
      <p:sp>
        <p:nvSpPr>
          <p:cNvPr id="55" name="Text 53"/>
          <p:cNvSpPr txBox="1"/>
          <p:nvPr/>
        </p:nvSpPr>
        <p:spPr>
          <a:xfrm>
            <a:off x="6035040" y="4133850"/>
            <a:ext cx="571500" cy="142875"/>
          </a:xfrm>
          <a:prstGeom prst="rect">
            <a:avLst/>
          </a:prstGeom>
          <a:noFill/>
          <a:ln/>
        </p:spPr>
        <p:txBody>
          <a:bodyPr wrap="square" lIns="0" tIns="0" rIns="0" bIns="0" rtlCol="0" anchor="t"/>
          <a:lstStyle/>
          <a:p>
            <a:pPr algn="l" indent="0" marL="0">
              <a:lnSpc>
                <a:spcPts val="1125"/>
              </a:lnSpc>
              <a:buNone/>
            </a:pPr>
            <a:r>
              <a:rPr lang="en-US" sz="938" dirty="0">
                <a:solidFill>
                  <a:srgbClr val="A9A79F"/>
                </a:solidFill>
                <a:latin typeface="Consolas" pitchFamily="34" charset="0"/>
                <a:ea typeface="Consolas" pitchFamily="34" charset="-122"/>
                <a:cs typeface="Consolas" pitchFamily="34" charset="-120"/>
              </a:rPr>
              <a:t>1.419</a:t>
            </a:r>
            <a:endParaRPr lang="en-US" sz="938" dirty="0"/>
          </a:p>
        </p:txBody>
      </p:sp>
      <p:sp>
        <p:nvSpPr>
          <p:cNvPr id="56" name="Text 54"/>
          <p:cNvSpPr txBox="1"/>
          <p:nvPr/>
        </p:nvSpPr>
        <p:spPr>
          <a:xfrm>
            <a:off x="8153400" y="413385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1.794</a:t>
            </a:r>
            <a:endParaRPr lang="en-US" sz="938" dirty="0"/>
          </a:p>
        </p:txBody>
      </p:sp>
      <p:sp>
        <p:nvSpPr>
          <p:cNvPr id="57" name="Text 55"/>
          <p:cNvSpPr txBox="1"/>
          <p:nvPr/>
        </p:nvSpPr>
        <p:spPr>
          <a:xfrm>
            <a:off x="9296400" y="413385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0.833</a:t>
            </a:r>
            <a:endParaRPr lang="en-US" sz="938" dirty="0"/>
          </a:p>
        </p:txBody>
      </p:sp>
      <p:sp>
        <p:nvSpPr>
          <p:cNvPr id="58" name="Text 56"/>
          <p:cNvSpPr txBox="1"/>
          <p:nvPr/>
        </p:nvSpPr>
        <p:spPr>
          <a:xfrm>
            <a:off x="914400" y="4305300"/>
            <a:ext cx="285750" cy="142875"/>
          </a:xfrm>
          <a:prstGeom prst="rect">
            <a:avLst/>
          </a:prstGeom>
          <a:noFill/>
          <a:ln/>
        </p:spPr>
        <p:txBody>
          <a:bodyPr wrap="square" lIns="0" tIns="0" rIns="0" bIns="0" rtlCol="0" anchor="t"/>
          <a:lstStyle/>
          <a:p>
            <a:pPr algn="r" indent="0" marL="0">
              <a:lnSpc>
                <a:spcPts val="1125"/>
              </a:lnSpc>
              <a:buNone/>
            </a:pPr>
            <a:r>
              <a:rPr lang="en-US" sz="938" dirty="0">
                <a:solidFill>
                  <a:srgbClr val="8A8880"/>
                </a:solidFill>
                <a:latin typeface="Consolas" pitchFamily="34" charset="0"/>
                <a:ea typeface="Consolas" pitchFamily="34" charset="-122"/>
                <a:cs typeface="Consolas" pitchFamily="34" charset="-120"/>
              </a:rPr>
              <a:t>7</a:t>
            </a:r>
            <a:endParaRPr lang="en-US" sz="938" dirty="0"/>
          </a:p>
        </p:txBody>
      </p:sp>
      <p:sp>
        <p:nvSpPr>
          <p:cNvPr id="59" name="Text 57"/>
          <p:cNvSpPr txBox="1"/>
          <p:nvPr/>
        </p:nvSpPr>
        <p:spPr>
          <a:xfrm>
            <a:off x="1333500" y="4305300"/>
            <a:ext cx="1847850" cy="142875"/>
          </a:xfrm>
          <a:prstGeom prst="rect">
            <a:avLst/>
          </a:prstGeom>
          <a:noFill/>
          <a:ln/>
        </p:spPr>
        <p:txBody>
          <a:bodyPr wrap="square" lIns="0" tIns="0" rIns="0" bIns="0" rtlCol="0" anchor="t"/>
          <a:lstStyle/>
          <a:p>
            <a:pPr algn="l" indent="0" marL="0">
              <a:lnSpc>
                <a:spcPts val="1125"/>
              </a:lnSpc>
              <a:buNone/>
            </a:pPr>
            <a:r>
              <a:rPr lang="en-US" sz="938" dirty="0">
                <a:solidFill>
                  <a:srgbClr val="CFCBC2"/>
                </a:solidFill>
                <a:latin typeface="Malgun Gothic" pitchFamily="34" charset="0"/>
                <a:ea typeface="Malgun Gothic" pitchFamily="34" charset="-122"/>
                <a:cs typeface="Malgun Gothic" pitchFamily="34" charset="-120"/>
              </a:rPr>
              <a:t>구간평균 (온도 구간별 평균)</a:t>
            </a:r>
            <a:endParaRPr lang="en-US" sz="938" dirty="0"/>
          </a:p>
        </p:txBody>
      </p:sp>
      <p:sp>
        <p:nvSpPr>
          <p:cNvPr id="60" name="Shape 58"/>
          <p:cNvSpPr/>
          <p:nvPr/>
        </p:nvSpPr>
        <p:spPr>
          <a:xfrm>
            <a:off x="3238500" y="4324350"/>
            <a:ext cx="4000500" cy="104775"/>
          </a:xfrm>
          <a:prstGeom prst="rect">
            <a:avLst/>
          </a:prstGeom>
          <a:solidFill>
            <a:srgbClr val="718BA6"/>
          </a:solidFill>
          <a:ln/>
        </p:spPr>
      </p:sp>
      <p:sp>
        <p:nvSpPr>
          <p:cNvPr id="61" name="Text 59"/>
          <p:cNvSpPr txBox="1"/>
          <p:nvPr/>
        </p:nvSpPr>
        <p:spPr>
          <a:xfrm>
            <a:off x="7315200" y="4305300"/>
            <a:ext cx="571500" cy="142875"/>
          </a:xfrm>
          <a:prstGeom prst="rect">
            <a:avLst/>
          </a:prstGeom>
          <a:noFill/>
          <a:ln/>
        </p:spPr>
        <p:txBody>
          <a:bodyPr wrap="square" lIns="0" tIns="0" rIns="0" bIns="0" rtlCol="0" anchor="t"/>
          <a:lstStyle/>
          <a:p>
            <a:pPr algn="l" indent="0" marL="0">
              <a:lnSpc>
                <a:spcPts val="1125"/>
              </a:lnSpc>
              <a:buNone/>
            </a:pPr>
            <a:r>
              <a:rPr lang="en-US" sz="938" dirty="0">
                <a:solidFill>
                  <a:srgbClr val="A9A79F"/>
                </a:solidFill>
                <a:latin typeface="Consolas" pitchFamily="34" charset="0"/>
                <a:ea typeface="Consolas" pitchFamily="34" charset="-122"/>
                <a:cs typeface="Consolas" pitchFamily="34" charset="-120"/>
              </a:rPr>
              <a:t>1.475</a:t>
            </a:r>
            <a:endParaRPr lang="en-US" sz="938" dirty="0"/>
          </a:p>
        </p:txBody>
      </p:sp>
      <p:sp>
        <p:nvSpPr>
          <p:cNvPr id="62" name="Text 60"/>
          <p:cNvSpPr txBox="1"/>
          <p:nvPr/>
        </p:nvSpPr>
        <p:spPr>
          <a:xfrm>
            <a:off x="8153400" y="430530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1.874</a:t>
            </a:r>
            <a:endParaRPr lang="en-US" sz="938" dirty="0"/>
          </a:p>
        </p:txBody>
      </p:sp>
      <p:sp>
        <p:nvSpPr>
          <p:cNvPr id="63" name="Text 61"/>
          <p:cNvSpPr txBox="1"/>
          <p:nvPr/>
        </p:nvSpPr>
        <p:spPr>
          <a:xfrm>
            <a:off x="9296400" y="4305300"/>
            <a:ext cx="762000" cy="142875"/>
          </a:xfrm>
          <a:prstGeom prst="rect">
            <a:avLst/>
          </a:prstGeom>
          <a:noFill/>
          <a:ln/>
        </p:spPr>
        <p:txBody>
          <a:bodyPr wrap="square" lIns="0" tIns="0" rIns="0" bIns="0" rtlCol="0" anchor="t"/>
          <a:lstStyle/>
          <a:p>
            <a:pPr algn="r" indent="0" marL="0">
              <a:lnSpc>
                <a:spcPts val="1125"/>
              </a:lnSpc>
              <a:buNone/>
            </a:pPr>
            <a:r>
              <a:rPr lang="en-US" sz="938" dirty="0">
                <a:solidFill>
                  <a:srgbClr val="A9A79F"/>
                </a:solidFill>
                <a:latin typeface="Consolas" pitchFamily="34" charset="0"/>
                <a:ea typeface="Consolas" pitchFamily="34" charset="-122"/>
                <a:cs typeface="Consolas" pitchFamily="34" charset="-120"/>
              </a:rPr>
              <a:t>0.818</a:t>
            </a:r>
            <a:endParaRPr lang="en-US" sz="938" dirty="0"/>
          </a:p>
        </p:txBody>
      </p:sp>
      <p:sp>
        <p:nvSpPr>
          <p:cNvPr id="64" name="Text 62"/>
          <p:cNvSpPr txBox="1"/>
          <p:nvPr/>
        </p:nvSpPr>
        <p:spPr>
          <a:xfrm>
            <a:off x="914400" y="4495800"/>
            <a:ext cx="10363200" cy="131445"/>
          </a:xfrm>
          <a:prstGeom prst="rect">
            <a:avLst/>
          </a:prstGeom>
          <a:noFill/>
          <a:ln/>
        </p:spPr>
        <p:txBody>
          <a:bodyPr wrap="square" lIns="0" tIns="0" rIns="0" bIns="0" rtlCol="0" anchor="t"/>
          <a:lstStyle/>
          <a:p>
            <a:pPr algn="l" indent="0" marL="0">
              <a:lnSpc>
                <a:spcPts val="1035"/>
              </a:lnSpc>
              <a:buNone/>
            </a:pPr>
            <a:r>
              <a:rPr lang="en-US" sz="863" dirty="0">
                <a:solidFill>
                  <a:srgbClr val="8A8880"/>
                </a:solidFill>
                <a:latin typeface="Malgun Gothic" pitchFamily="34" charset="0"/>
                <a:ea typeface="Malgun Gothic" pitchFamily="34" charset="-122"/>
                <a:cs typeface="Malgun Gothic" pitchFamily="34" charset="-120"/>
              </a:rPr>
              <a:t>MAE 평균 오차  ·  RMSE 크게 틀린 경우에 벌점을 더 준 오차  ·  R² 설명력  ·  커널 점과 점 사이를 어떤 모양으로 이을지 정하는 규칙</a:t>
            </a:r>
            <a:endParaRPr lang="en-US" sz="863" dirty="0"/>
          </a:p>
        </p:txBody>
      </p:sp>
      <p:sp>
        <p:nvSpPr>
          <p:cNvPr id="65" name="Shape 63"/>
          <p:cNvSpPr/>
          <p:nvPr/>
        </p:nvSpPr>
        <p:spPr>
          <a:xfrm>
            <a:off x="685800" y="4762500"/>
            <a:ext cx="10820400" cy="1181100"/>
          </a:xfrm>
          <a:prstGeom prst="rect">
            <a:avLst/>
          </a:prstGeom>
          <a:solidFill>
            <a:srgbClr val="0A1320"/>
          </a:solidFill>
          <a:ln w="12700">
            <a:solidFill>
              <a:srgbClr val="182838"/>
            </a:solidFill>
            <a:prstDash val="solid"/>
          </a:ln>
        </p:spPr>
      </p:sp>
      <p:sp>
        <p:nvSpPr>
          <p:cNvPr id="66" name="Text 64"/>
          <p:cNvSpPr txBox="1"/>
          <p:nvPr/>
        </p:nvSpPr>
        <p:spPr>
          <a:xfrm>
            <a:off x="914400" y="4857750"/>
            <a:ext cx="3810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커널별 보정 곡선  ·  0 ~ 30℃  ·  MW</a:t>
            </a:r>
            <a:endParaRPr lang="en-US" sz="788" dirty="0"/>
          </a:p>
        </p:txBody>
      </p:sp>
      <p:sp>
        <p:nvSpPr>
          <p:cNvPr id="67" name="Shape 65"/>
          <p:cNvSpPr/>
          <p:nvPr/>
        </p:nvSpPr>
        <p:spPr>
          <a:xfrm>
            <a:off x="1905000" y="5048250"/>
            <a:ext cx="4762500" cy="0"/>
          </a:xfrm>
          <a:prstGeom prst="line">
            <a:avLst/>
          </a:prstGeom>
          <a:noFill/>
          <a:ln w="12700">
            <a:solidFill>
              <a:srgbClr val="182838"/>
            </a:solidFill>
            <a:prstDash val="solid"/>
          </a:ln>
        </p:spPr>
      </p:sp>
      <p:sp>
        <p:nvSpPr>
          <p:cNvPr id="68" name="Text 66"/>
          <p:cNvSpPr txBox="1"/>
          <p:nvPr/>
        </p:nvSpPr>
        <p:spPr>
          <a:xfrm>
            <a:off x="1428750" y="4991100"/>
            <a:ext cx="400050" cy="108585"/>
          </a:xfrm>
          <a:prstGeom prst="rect">
            <a:avLst/>
          </a:prstGeom>
          <a:noFill/>
          <a:ln/>
        </p:spPr>
        <p:txBody>
          <a:bodyPr wrap="square" lIns="0" tIns="0" rIns="0" bIns="0" rtlCol="0" anchor="t"/>
          <a:lstStyle/>
          <a:p>
            <a:pPr algn="r" indent="0" marL="0">
              <a:lnSpc>
                <a:spcPts val="855"/>
              </a:lnSpc>
              <a:buNone/>
            </a:pPr>
            <a:r>
              <a:rPr lang="en-US" sz="713" dirty="0">
                <a:solidFill>
                  <a:srgbClr val="8A8880"/>
                </a:solidFill>
                <a:latin typeface="Consolas" pitchFamily="34" charset="0"/>
                <a:ea typeface="Consolas" pitchFamily="34" charset="-122"/>
                <a:cs typeface="Consolas" pitchFamily="34" charset="-120"/>
              </a:rPr>
              <a:t>+8</a:t>
            </a:r>
            <a:endParaRPr lang="en-US" sz="713" dirty="0"/>
          </a:p>
        </p:txBody>
      </p:sp>
      <p:sp>
        <p:nvSpPr>
          <p:cNvPr id="69" name="Shape 67"/>
          <p:cNvSpPr/>
          <p:nvPr/>
        </p:nvSpPr>
        <p:spPr>
          <a:xfrm>
            <a:off x="1905000" y="5518150"/>
            <a:ext cx="4762500" cy="0"/>
          </a:xfrm>
          <a:prstGeom prst="line">
            <a:avLst/>
          </a:prstGeom>
          <a:noFill/>
          <a:ln w="12700">
            <a:solidFill>
              <a:srgbClr val="22354A"/>
            </a:solidFill>
            <a:prstDash val="solid"/>
          </a:ln>
        </p:spPr>
      </p:sp>
      <p:sp>
        <p:nvSpPr>
          <p:cNvPr id="70" name="Text 68"/>
          <p:cNvSpPr txBox="1"/>
          <p:nvPr/>
        </p:nvSpPr>
        <p:spPr>
          <a:xfrm>
            <a:off x="1428750" y="5461000"/>
            <a:ext cx="400050" cy="108585"/>
          </a:xfrm>
          <a:prstGeom prst="rect">
            <a:avLst/>
          </a:prstGeom>
          <a:noFill/>
          <a:ln/>
        </p:spPr>
        <p:txBody>
          <a:bodyPr wrap="square" lIns="0" tIns="0" rIns="0" bIns="0" rtlCol="0" anchor="t"/>
          <a:lstStyle/>
          <a:p>
            <a:pPr algn="r" indent="0" marL="0">
              <a:lnSpc>
                <a:spcPts val="855"/>
              </a:lnSpc>
              <a:buNone/>
            </a:pPr>
            <a:r>
              <a:rPr lang="en-US" sz="713" dirty="0">
                <a:solidFill>
                  <a:srgbClr val="8A8880"/>
                </a:solidFill>
                <a:latin typeface="Consolas" pitchFamily="34" charset="0"/>
                <a:ea typeface="Consolas" pitchFamily="34" charset="-122"/>
                <a:cs typeface="Consolas" pitchFamily="34" charset="-120"/>
              </a:rPr>
              <a:t>0</a:t>
            </a:r>
            <a:endParaRPr lang="en-US" sz="713" dirty="0"/>
          </a:p>
        </p:txBody>
      </p:sp>
      <p:sp>
        <p:nvSpPr>
          <p:cNvPr id="71" name="Shape 69"/>
          <p:cNvSpPr/>
          <p:nvPr/>
        </p:nvSpPr>
        <p:spPr>
          <a:xfrm>
            <a:off x="1905000" y="5753100"/>
            <a:ext cx="4762500" cy="0"/>
          </a:xfrm>
          <a:prstGeom prst="line">
            <a:avLst/>
          </a:prstGeom>
          <a:noFill/>
          <a:ln w="12700">
            <a:solidFill>
              <a:srgbClr val="182838"/>
            </a:solidFill>
            <a:prstDash val="solid"/>
          </a:ln>
        </p:spPr>
      </p:sp>
      <p:sp>
        <p:nvSpPr>
          <p:cNvPr id="72" name="Text 70"/>
          <p:cNvSpPr txBox="1"/>
          <p:nvPr/>
        </p:nvSpPr>
        <p:spPr>
          <a:xfrm>
            <a:off x="1428750" y="5695950"/>
            <a:ext cx="400050" cy="108585"/>
          </a:xfrm>
          <a:prstGeom prst="rect">
            <a:avLst/>
          </a:prstGeom>
          <a:noFill/>
          <a:ln/>
        </p:spPr>
        <p:txBody>
          <a:bodyPr wrap="square" lIns="0" tIns="0" rIns="0" bIns="0" rtlCol="0" anchor="t"/>
          <a:lstStyle/>
          <a:p>
            <a:pPr algn="r" indent="0" marL="0">
              <a:lnSpc>
                <a:spcPts val="855"/>
              </a:lnSpc>
              <a:buNone/>
            </a:pPr>
            <a:r>
              <a:rPr lang="en-US" sz="713" dirty="0">
                <a:solidFill>
                  <a:srgbClr val="8A8880"/>
                </a:solidFill>
                <a:latin typeface="Consolas" pitchFamily="34" charset="0"/>
                <a:ea typeface="Consolas" pitchFamily="34" charset="-122"/>
                <a:cs typeface="Consolas" pitchFamily="34" charset="-120"/>
              </a:rPr>
              <a:t>-4</a:t>
            </a:r>
            <a:endParaRPr lang="en-US" sz="713" dirty="0"/>
          </a:p>
        </p:txBody>
      </p:sp>
      <p:sp>
        <p:nvSpPr>
          <p:cNvPr id="73" name="Text 71"/>
          <p:cNvSpPr txBox="1"/>
          <p:nvPr/>
        </p:nvSpPr>
        <p:spPr>
          <a:xfrm>
            <a:off x="1676400" y="5791200"/>
            <a:ext cx="457200" cy="108585"/>
          </a:xfrm>
          <a:prstGeom prst="rect">
            <a:avLst/>
          </a:prstGeom>
          <a:noFill/>
          <a:ln/>
        </p:spPr>
        <p:txBody>
          <a:bodyPr wrap="square" lIns="0" tIns="0" rIns="0" bIns="0" rtlCol="0" anchor="t"/>
          <a:lstStyle/>
          <a:p>
            <a:pPr algn="ctr" indent="0" marL="0">
              <a:lnSpc>
                <a:spcPts val="855"/>
              </a:lnSpc>
              <a:buNone/>
            </a:pPr>
            <a:r>
              <a:rPr lang="en-US" sz="713" dirty="0">
                <a:solidFill>
                  <a:srgbClr val="8A8880"/>
                </a:solidFill>
                <a:latin typeface="Consolas" pitchFamily="34" charset="0"/>
                <a:ea typeface="Consolas" pitchFamily="34" charset="-122"/>
                <a:cs typeface="Consolas" pitchFamily="34" charset="-120"/>
              </a:rPr>
              <a:t>0℃</a:t>
            </a:r>
            <a:endParaRPr lang="en-US" sz="713" dirty="0"/>
          </a:p>
        </p:txBody>
      </p:sp>
      <p:sp>
        <p:nvSpPr>
          <p:cNvPr id="74" name="Text 72"/>
          <p:cNvSpPr txBox="1"/>
          <p:nvPr/>
        </p:nvSpPr>
        <p:spPr>
          <a:xfrm>
            <a:off x="3263900" y="5791200"/>
            <a:ext cx="457200" cy="108585"/>
          </a:xfrm>
          <a:prstGeom prst="rect">
            <a:avLst/>
          </a:prstGeom>
          <a:noFill/>
          <a:ln/>
        </p:spPr>
        <p:txBody>
          <a:bodyPr wrap="square" lIns="0" tIns="0" rIns="0" bIns="0" rtlCol="0" anchor="t"/>
          <a:lstStyle/>
          <a:p>
            <a:pPr algn="ctr" indent="0" marL="0">
              <a:lnSpc>
                <a:spcPts val="855"/>
              </a:lnSpc>
              <a:buNone/>
            </a:pPr>
            <a:r>
              <a:rPr lang="en-US" sz="713" dirty="0">
                <a:solidFill>
                  <a:srgbClr val="8A8880"/>
                </a:solidFill>
                <a:latin typeface="Consolas" pitchFamily="34" charset="0"/>
                <a:ea typeface="Consolas" pitchFamily="34" charset="-122"/>
                <a:cs typeface="Consolas" pitchFamily="34" charset="-120"/>
              </a:rPr>
              <a:t>10</a:t>
            </a:r>
            <a:endParaRPr lang="en-US" sz="713" dirty="0"/>
          </a:p>
        </p:txBody>
      </p:sp>
      <p:sp>
        <p:nvSpPr>
          <p:cNvPr id="75" name="Text 73"/>
          <p:cNvSpPr txBox="1"/>
          <p:nvPr/>
        </p:nvSpPr>
        <p:spPr>
          <a:xfrm>
            <a:off x="4851400" y="5791200"/>
            <a:ext cx="457200" cy="108585"/>
          </a:xfrm>
          <a:prstGeom prst="rect">
            <a:avLst/>
          </a:prstGeom>
          <a:noFill/>
          <a:ln/>
        </p:spPr>
        <p:txBody>
          <a:bodyPr wrap="square" lIns="0" tIns="0" rIns="0" bIns="0" rtlCol="0" anchor="t"/>
          <a:lstStyle/>
          <a:p>
            <a:pPr algn="ctr" indent="0" marL="0">
              <a:lnSpc>
                <a:spcPts val="855"/>
              </a:lnSpc>
              <a:buNone/>
            </a:pPr>
            <a:r>
              <a:rPr lang="en-US" sz="713" dirty="0">
                <a:solidFill>
                  <a:srgbClr val="8A8880"/>
                </a:solidFill>
                <a:latin typeface="Consolas" pitchFamily="34" charset="0"/>
                <a:ea typeface="Consolas" pitchFamily="34" charset="-122"/>
                <a:cs typeface="Consolas" pitchFamily="34" charset="-120"/>
              </a:rPr>
              <a:t>20</a:t>
            </a:r>
            <a:endParaRPr lang="en-US" sz="713" dirty="0"/>
          </a:p>
        </p:txBody>
      </p:sp>
      <p:sp>
        <p:nvSpPr>
          <p:cNvPr id="76" name="Text 74"/>
          <p:cNvSpPr txBox="1"/>
          <p:nvPr/>
        </p:nvSpPr>
        <p:spPr>
          <a:xfrm>
            <a:off x="6438900" y="5791200"/>
            <a:ext cx="457200" cy="108585"/>
          </a:xfrm>
          <a:prstGeom prst="rect">
            <a:avLst/>
          </a:prstGeom>
          <a:noFill/>
          <a:ln/>
        </p:spPr>
        <p:txBody>
          <a:bodyPr wrap="square" lIns="0" tIns="0" rIns="0" bIns="0" rtlCol="0" anchor="t"/>
          <a:lstStyle/>
          <a:p>
            <a:pPr algn="ctr" indent="0" marL="0">
              <a:lnSpc>
                <a:spcPts val="855"/>
              </a:lnSpc>
              <a:buNone/>
            </a:pPr>
            <a:r>
              <a:rPr lang="en-US" sz="713" dirty="0">
                <a:solidFill>
                  <a:srgbClr val="8A8880"/>
                </a:solidFill>
                <a:latin typeface="Consolas" pitchFamily="34" charset="0"/>
                <a:ea typeface="Consolas" pitchFamily="34" charset="-122"/>
                <a:cs typeface="Consolas" pitchFamily="34" charset="-120"/>
              </a:rPr>
              <a:t>30</a:t>
            </a:r>
            <a:endParaRPr lang="en-US" sz="713" dirty="0"/>
          </a:p>
        </p:txBody>
      </p:sp>
      <p:sp>
        <p:nvSpPr>
          <p:cNvPr id="77" name="Shape 75"/>
          <p:cNvSpPr/>
          <p:nvPr/>
        </p:nvSpPr>
        <p:spPr>
          <a:xfrm>
            <a:off x="1905000" y="5073507"/>
            <a:ext cx="1587500" cy="145669"/>
          </a:xfrm>
          <a:prstGeom prst="line">
            <a:avLst/>
          </a:prstGeom>
          <a:noFill/>
          <a:ln w="12700">
            <a:solidFill>
              <a:srgbClr val="55708A"/>
            </a:solidFill>
            <a:prstDash val="solid"/>
          </a:ln>
        </p:spPr>
      </p:sp>
      <p:sp>
        <p:nvSpPr>
          <p:cNvPr id="78" name="Shape 76"/>
          <p:cNvSpPr/>
          <p:nvPr/>
        </p:nvSpPr>
        <p:spPr>
          <a:xfrm>
            <a:off x="3492500" y="5219176"/>
            <a:ext cx="1587500" cy="98092"/>
          </a:xfrm>
          <a:prstGeom prst="line">
            <a:avLst/>
          </a:prstGeom>
          <a:noFill/>
          <a:ln w="12700">
            <a:solidFill>
              <a:srgbClr val="55708A"/>
            </a:solidFill>
            <a:prstDash val="solid"/>
          </a:ln>
        </p:spPr>
      </p:sp>
      <p:sp>
        <p:nvSpPr>
          <p:cNvPr id="79" name="Shape 77"/>
          <p:cNvSpPr/>
          <p:nvPr/>
        </p:nvSpPr>
        <p:spPr>
          <a:xfrm>
            <a:off x="5080000" y="5317268"/>
            <a:ext cx="1587500" cy="342440"/>
          </a:xfrm>
          <a:prstGeom prst="line">
            <a:avLst/>
          </a:prstGeom>
          <a:noFill/>
          <a:ln w="12700">
            <a:solidFill>
              <a:srgbClr val="55708A"/>
            </a:solidFill>
            <a:prstDash val="solid"/>
          </a:ln>
        </p:spPr>
      </p:sp>
      <p:sp>
        <p:nvSpPr>
          <p:cNvPr id="80" name="Shape 78"/>
          <p:cNvSpPr/>
          <p:nvPr/>
        </p:nvSpPr>
        <p:spPr>
          <a:xfrm>
            <a:off x="1905000" y="5077619"/>
            <a:ext cx="1587500" cy="140383"/>
          </a:xfrm>
          <a:prstGeom prst="line">
            <a:avLst/>
          </a:prstGeom>
          <a:noFill/>
          <a:ln w="12700">
            <a:solidFill>
              <a:srgbClr val="55708A"/>
            </a:solidFill>
            <a:prstDash val="solid"/>
          </a:ln>
        </p:spPr>
      </p:sp>
      <p:sp>
        <p:nvSpPr>
          <p:cNvPr id="81" name="Shape 79"/>
          <p:cNvSpPr/>
          <p:nvPr/>
        </p:nvSpPr>
        <p:spPr>
          <a:xfrm>
            <a:off x="3492500" y="5218001"/>
            <a:ext cx="1587500" cy="106315"/>
          </a:xfrm>
          <a:prstGeom prst="line">
            <a:avLst/>
          </a:prstGeom>
          <a:noFill/>
          <a:ln w="12700">
            <a:solidFill>
              <a:srgbClr val="55708A"/>
            </a:solidFill>
            <a:prstDash val="solid"/>
          </a:ln>
        </p:spPr>
      </p:sp>
      <p:sp>
        <p:nvSpPr>
          <p:cNvPr id="82" name="Shape 80"/>
          <p:cNvSpPr/>
          <p:nvPr/>
        </p:nvSpPr>
        <p:spPr>
          <a:xfrm>
            <a:off x="5080000" y="5324316"/>
            <a:ext cx="1587500" cy="334216"/>
          </a:xfrm>
          <a:prstGeom prst="line">
            <a:avLst/>
          </a:prstGeom>
          <a:noFill/>
          <a:ln w="12700">
            <a:solidFill>
              <a:srgbClr val="55708A"/>
            </a:solidFill>
            <a:prstDash val="solid"/>
          </a:ln>
        </p:spPr>
      </p:sp>
      <p:sp>
        <p:nvSpPr>
          <p:cNvPr id="83" name="Shape 81"/>
          <p:cNvSpPr/>
          <p:nvPr/>
        </p:nvSpPr>
        <p:spPr>
          <a:xfrm>
            <a:off x="1905000" y="5077031"/>
            <a:ext cx="1587500" cy="155067"/>
          </a:xfrm>
          <a:prstGeom prst="line">
            <a:avLst/>
          </a:prstGeom>
          <a:noFill/>
          <a:ln w="12700">
            <a:solidFill>
              <a:srgbClr val="55708A"/>
            </a:solidFill>
            <a:prstDash val="solid"/>
          </a:ln>
        </p:spPr>
      </p:sp>
      <p:sp>
        <p:nvSpPr>
          <p:cNvPr id="84" name="Shape 82"/>
          <p:cNvSpPr/>
          <p:nvPr/>
        </p:nvSpPr>
        <p:spPr>
          <a:xfrm>
            <a:off x="3492500" y="5232098"/>
            <a:ext cx="1587500" cy="104553"/>
          </a:xfrm>
          <a:prstGeom prst="line">
            <a:avLst/>
          </a:prstGeom>
          <a:noFill/>
          <a:ln w="12700">
            <a:solidFill>
              <a:srgbClr val="55708A"/>
            </a:solidFill>
            <a:prstDash val="solid"/>
          </a:ln>
        </p:spPr>
      </p:sp>
      <p:sp>
        <p:nvSpPr>
          <p:cNvPr id="85" name="Shape 83"/>
          <p:cNvSpPr/>
          <p:nvPr/>
        </p:nvSpPr>
        <p:spPr>
          <a:xfrm>
            <a:off x="5080000" y="5336651"/>
            <a:ext cx="1587500" cy="305435"/>
          </a:xfrm>
          <a:prstGeom prst="line">
            <a:avLst/>
          </a:prstGeom>
          <a:noFill/>
          <a:ln w="12700">
            <a:solidFill>
              <a:srgbClr val="55708A"/>
            </a:solidFill>
            <a:prstDash val="solid"/>
          </a:ln>
        </p:spPr>
      </p:sp>
      <p:sp>
        <p:nvSpPr>
          <p:cNvPr id="86" name="Shape 84"/>
          <p:cNvSpPr/>
          <p:nvPr/>
        </p:nvSpPr>
        <p:spPr>
          <a:xfrm>
            <a:off x="1905000" y="5071745"/>
            <a:ext cx="1587500" cy="147431"/>
          </a:xfrm>
          <a:prstGeom prst="line">
            <a:avLst/>
          </a:prstGeom>
          <a:noFill/>
          <a:ln w="12700">
            <a:solidFill>
              <a:srgbClr val="55708A"/>
            </a:solidFill>
            <a:prstDash val="solid"/>
          </a:ln>
        </p:spPr>
      </p:sp>
      <p:sp>
        <p:nvSpPr>
          <p:cNvPr id="87" name="Shape 85"/>
          <p:cNvSpPr/>
          <p:nvPr/>
        </p:nvSpPr>
        <p:spPr>
          <a:xfrm>
            <a:off x="3492500" y="5219176"/>
            <a:ext cx="1587500" cy="96329"/>
          </a:xfrm>
          <a:prstGeom prst="line">
            <a:avLst/>
          </a:prstGeom>
          <a:noFill/>
          <a:ln w="12700">
            <a:solidFill>
              <a:srgbClr val="55708A"/>
            </a:solidFill>
            <a:prstDash val="solid"/>
          </a:ln>
        </p:spPr>
      </p:sp>
      <p:sp>
        <p:nvSpPr>
          <p:cNvPr id="88" name="Shape 86"/>
          <p:cNvSpPr/>
          <p:nvPr/>
        </p:nvSpPr>
        <p:spPr>
          <a:xfrm>
            <a:off x="5080000" y="5315506"/>
            <a:ext cx="1587500" cy="343614"/>
          </a:xfrm>
          <a:prstGeom prst="line">
            <a:avLst/>
          </a:prstGeom>
          <a:noFill/>
          <a:ln w="12700">
            <a:solidFill>
              <a:srgbClr val="55708A"/>
            </a:solidFill>
            <a:prstDash val="solid"/>
          </a:ln>
        </p:spPr>
      </p:sp>
      <p:sp>
        <p:nvSpPr>
          <p:cNvPr id="89" name="Shape 87"/>
          <p:cNvSpPr/>
          <p:nvPr/>
        </p:nvSpPr>
        <p:spPr>
          <a:xfrm>
            <a:off x="1905000" y="5078794"/>
            <a:ext cx="1587500" cy="135684"/>
          </a:xfrm>
          <a:prstGeom prst="line">
            <a:avLst/>
          </a:prstGeom>
          <a:noFill/>
          <a:ln w="22860">
            <a:solidFill>
              <a:srgbClr val="EFB13C"/>
            </a:solidFill>
            <a:prstDash val="solid"/>
          </a:ln>
        </p:spPr>
      </p:sp>
      <p:sp>
        <p:nvSpPr>
          <p:cNvPr id="90" name="Shape 88"/>
          <p:cNvSpPr/>
          <p:nvPr/>
        </p:nvSpPr>
        <p:spPr>
          <a:xfrm>
            <a:off x="3492500" y="5214477"/>
            <a:ext cx="1587500" cy="102203"/>
          </a:xfrm>
          <a:prstGeom prst="line">
            <a:avLst/>
          </a:prstGeom>
          <a:noFill/>
          <a:ln w="22860">
            <a:solidFill>
              <a:srgbClr val="EFB13C"/>
            </a:solidFill>
            <a:prstDash val="solid"/>
          </a:ln>
        </p:spPr>
      </p:sp>
      <p:sp>
        <p:nvSpPr>
          <p:cNvPr id="91" name="Shape 89"/>
          <p:cNvSpPr/>
          <p:nvPr/>
        </p:nvSpPr>
        <p:spPr>
          <a:xfrm>
            <a:off x="5080000" y="5316680"/>
            <a:ext cx="1587500" cy="335979"/>
          </a:xfrm>
          <a:prstGeom prst="line">
            <a:avLst/>
          </a:prstGeom>
          <a:noFill/>
          <a:ln w="22860">
            <a:solidFill>
              <a:srgbClr val="EFB13C"/>
            </a:solidFill>
            <a:prstDash val="solid"/>
          </a:ln>
        </p:spPr>
      </p:sp>
      <p:sp>
        <p:nvSpPr>
          <p:cNvPr id="92" name="Shape 90"/>
          <p:cNvSpPr/>
          <p:nvPr/>
        </p:nvSpPr>
        <p:spPr>
          <a:xfrm>
            <a:off x="5080000" y="5277406"/>
            <a:ext cx="0" cy="97346"/>
          </a:xfrm>
          <a:prstGeom prst="line">
            <a:avLst/>
          </a:prstGeom>
          <a:noFill/>
          <a:ln w="15240">
            <a:solidFill>
              <a:srgbClr val="FF4D63"/>
            </a:solidFill>
            <a:prstDash val="solid"/>
          </a:ln>
        </p:spPr>
      </p:sp>
      <p:sp>
        <p:nvSpPr>
          <p:cNvPr id="93" name="Text 91"/>
          <p:cNvSpPr txBox="1"/>
          <p:nvPr/>
        </p:nvSpPr>
        <p:spPr>
          <a:xfrm>
            <a:off x="7048500" y="5143500"/>
            <a:ext cx="4229100" cy="557213"/>
          </a:xfrm>
          <a:prstGeom prst="rect">
            <a:avLst/>
          </a:prstGeom>
          <a:noFill/>
          <a:ln/>
        </p:spPr>
        <p:txBody>
          <a:bodyPr wrap="square" lIns="0" tIns="0" rIns="0" bIns="0" rtlCol="0" anchor="t"/>
          <a:lstStyle/>
          <a:p>
            <a:pPr algn="l" indent="0" marL="0">
              <a:lnSpc>
                <a:spcPts val="1463"/>
              </a:lnSpc>
              <a:buNone/>
            </a:pPr>
            <a:r>
              <a:rPr lang="en-US" sz="975" dirty="0">
                <a:solidFill>
                  <a:srgbClr val="CFCBC2"/>
                </a:solidFill>
                <a:latin typeface="Malgun Gothic" pitchFamily="34" charset="0"/>
                <a:ea typeface="Malgun Gothic" pitchFamily="34" charset="-122"/>
                <a:cs typeface="Malgun Gothic" pitchFamily="34" charset="-120"/>
              </a:rPr>
              <a:t>커널을 바꾸면 곡선이 갈립니다 — 가장 벌어지는 곳은 </a:t>
            </a:r>
            <a:pPr algn="l" indent="0" marL="0">
              <a:lnSpc>
                <a:spcPts val="1463"/>
              </a:lnSpc>
              <a:buNone/>
            </a:pPr>
            <a:r>
              <a:rPr lang="en-US" sz="975" b="1" dirty="0">
                <a:solidFill>
                  <a:srgbClr val="EFB13C"/>
                </a:solidFill>
                <a:latin typeface="Malgun Gothic" pitchFamily="34" charset="0"/>
                <a:ea typeface="Malgun Gothic" pitchFamily="34" charset="-122"/>
                <a:cs typeface="Malgun Gothic" pitchFamily="34" charset="-120"/>
              </a:rPr>
              <a:t>20℃, 0.36 MW</a:t>
            </a:r>
            <a:pPr algn="l" indent="0" marL="0">
              <a:lnSpc>
                <a:spcPts val="1463"/>
              </a:lnSpc>
              <a:buNone/>
            </a:pPr>
            <a:r>
              <a:rPr lang="en-US" sz="975" dirty="0">
                <a:solidFill>
                  <a:srgbClr val="CFCBC2"/>
                </a:solidFill>
                <a:latin typeface="Malgun Gothic" pitchFamily="34" charset="0"/>
                <a:ea typeface="Malgun Gothic" pitchFamily="34" charset="-122"/>
                <a:cs typeface="Malgun Gothic" pitchFamily="34" charset="-120"/>
              </a:rPr>
              <a:t>.  눈으로는 고를 수 없어서 </a:t>
            </a:r>
            <a:pPr algn="l" indent="0" marL="0">
              <a:lnSpc>
                <a:spcPts val="1463"/>
              </a:lnSpc>
              <a:buNone/>
            </a:pPr>
            <a:r>
              <a:rPr lang="en-US" sz="975" b="1" dirty="0">
                <a:solidFill>
                  <a:srgbClr val="EFB13C"/>
                </a:solidFill>
                <a:latin typeface="Malgun Gothic" pitchFamily="34" charset="0"/>
                <a:ea typeface="Malgun Gothic" pitchFamily="34" charset="-122"/>
                <a:cs typeface="Malgun Gothic" pitchFamily="34" charset="-120"/>
              </a:rPr>
              <a:t>위 표로 채점</a:t>
            </a:r>
            <a:pPr algn="l" indent="0" marL="0">
              <a:lnSpc>
                <a:spcPts val="1463"/>
              </a:lnSpc>
              <a:buNone/>
            </a:pPr>
            <a:r>
              <a:rPr lang="en-US" sz="975" dirty="0">
                <a:solidFill>
                  <a:srgbClr val="CFCBC2"/>
                </a:solidFill>
                <a:latin typeface="Malgun Gothic" pitchFamily="34" charset="0"/>
                <a:ea typeface="Malgun Gothic" pitchFamily="34" charset="-122"/>
                <a:cs typeface="Malgun Gothic" pitchFamily="34" charset="-120"/>
              </a:rPr>
              <a:t>했습니다.</a:t>
            </a:r>
            <a:endParaRPr lang="en-US" sz="975" dirty="0"/>
          </a:p>
        </p:txBody>
      </p:sp>
      <p:sp>
        <p:nvSpPr>
          <p:cNvPr id="94" name="Shape 92"/>
          <p:cNvSpPr/>
          <p:nvPr/>
        </p:nvSpPr>
        <p:spPr>
          <a:xfrm>
            <a:off x="685800" y="6057900"/>
            <a:ext cx="10820400" cy="0"/>
          </a:xfrm>
          <a:prstGeom prst="line">
            <a:avLst/>
          </a:prstGeom>
          <a:noFill/>
          <a:ln w="12700">
            <a:solidFill>
              <a:srgbClr val="22354A"/>
            </a:solidFill>
            <a:prstDash val="solid"/>
          </a:ln>
        </p:spPr>
      </p:sp>
      <p:sp>
        <p:nvSpPr>
          <p:cNvPr id="95" name="Text 93"/>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96" name="Text 94"/>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곡선의 성격(길이척도·잡음)은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데이터가 학습</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하고, 커널은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채점으로</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 골랐습니다.</a:t>
            </a:r>
            <a:endParaRPr lang="en-US" sz="123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04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해결 방안 도출 및 예측/보정 모델 개발</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곡선 비교</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19100"/>
            <a:ext cx="38100" cy="142875"/>
          </a:xfrm>
          <a:prstGeom prst="rect">
            <a:avLst/>
          </a:prstGeom>
          <a:solidFill>
            <a:srgbClr val="EFB13C"/>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겉보기엔 같은 곡선인데,</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확대하면 온도마다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달랐습니다</a:t>
            </a:r>
            <a:endParaRPr lang="en-US" sz="2775" dirty="0"/>
          </a:p>
        </p:txBody>
      </p:sp>
      <p:sp>
        <p:nvSpPr>
          <p:cNvPr id="12" name="Text 10"/>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앞에서 본 그 점들입니다. 이제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채점으로 고른 곡선</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이 그 점들을 따라 지나갑니다.</a:t>
            </a:r>
            <a:endParaRPr lang="en-US" sz="1350" dirty="0"/>
          </a:p>
        </p:txBody>
      </p:sp>
      <p:sp>
        <p:nvSpPr>
          <p:cNvPr id="13" name="Shape 11"/>
          <p:cNvSpPr/>
          <p:nvPr/>
        </p:nvSpPr>
        <p:spPr>
          <a:xfrm>
            <a:off x="685800" y="2705100"/>
            <a:ext cx="10820400" cy="2552700"/>
          </a:xfrm>
          <a:prstGeom prst="rect">
            <a:avLst/>
          </a:prstGeom>
          <a:solidFill>
            <a:srgbClr val="0A1320"/>
          </a:solidFill>
          <a:ln w="12700">
            <a:solidFill>
              <a:srgbClr val="182838"/>
            </a:solidFill>
            <a:prstDash val="solid"/>
          </a:ln>
        </p:spPr>
      </p:sp>
      <p:sp>
        <p:nvSpPr>
          <p:cNvPr id="14" name="Text 12"/>
          <p:cNvSpPr txBox="1"/>
          <p:nvPr/>
        </p:nvSpPr>
        <p:spPr>
          <a:xfrm>
            <a:off x="914400" y="2819400"/>
            <a:ext cx="6667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Tool [출력곡선 비교] 화면과 같은 곡선  ·  가로 외기온도 ℃</a:t>
            </a:r>
            <a:endParaRPr lang="en-US" sz="788" dirty="0"/>
          </a:p>
        </p:txBody>
      </p:sp>
      <p:sp>
        <p:nvSpPr>
          <p:cNvPr id="15" name="Text 13"/>
          <p:cNvSpPr txBox="1"/>
          <p:nvPr/>
        </p:nvSpPr>
        <p:spPr>
          <a:xfrm>
            <a:off x="1428750" y="2952750"/>
            <a:ext cx="952500" cy="114300"/>
          </a:xfrm>
          <a:prstGeom prst="rect">
            <a:avLst/>
          </a:prstGeom>
          <a:noFill/>
          <a:ln/>
        </p:spPr>
        <p:txBody>
          <a:bodyPr wrap="square" lIns="0" tIns="0" rIns="0" bIns="0" rtlCol="0" anchor="t"/>
          <a:lstStyle/>
          <a:p>
            <a:pPr algn="l" indent="0" marL="0">
              <a:lnSpc>
                <a:spcPts val="900"/>
              </a:lnSpc>
              <a:buNone/>
            </a:pPr>
            <a:r>
              <a:rPr lang="en-US" sz="750" dirty="0">
                <a:solidFill>
                  <a:srgbClr val="8A8880"/>
                </a:solidFill>
                <a:latin typeface="Consolas" pitchFamily="34" charset="0"/>
                <a:ea typeface="Consolas" pitchFamily="34" charset="-122"/>
                <a:cs typeface="Consolas" pitchFamily="34" charset="-120"/>
              </a:rPr>
              <a:t>출력  MW</a:t>
            </a:r>
            <a:endParaRPr lang="en-US" sz="750" dirty="0"/>
          </a:p>
        </p:txBody>
      </p:sp>
      <p:sp>
        <p:nvSpPr>
          <p:cNvPr id="16" name="Shape 14"/>
          <p:cNvSpPr/>
          <p:nvPr/>
        </p:nvSpPr>
        <p:spPr>
          <a:xfrm>
            <a:off x="1428750" y="4038600"/>
            <a:ext cx="9525000" cy="0"/>
          </a:xfrm>
          <a:prstGeom prst="line">
            <a:avLst/>
          </a:prstGeom>
          <a:noFill/>
          <a:ln w="12700">
            <a:solidFill>
              <a:srgbClr val="182838"/>
            </a:solidFill>
            <a:prstDash val="solid"/>
          </a:ln>
        </p:spPr>
      </p:sp>
      <p:sp>
        <p:nvSpPr>
          <p:cNvPr id="17" name="Text 15"/>
          <p:cNvSpPr txBox="1"/>
          <p:nvPr/>
        </p:nvSpPr>
        <p:spPr>
          <a:xfrm>
            <a:off x="914400" y="3981450"/>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340</a:t>
            </a:r>
            <a:endParaRPr lang="en-US" sz="750" dirty="0"/>
          </a:p>
        </p:txBody>
      </p:sp>
      <p:sp>
        <p:nvSpPr>
          <p:cNvPr id="18" name="Shape 16"/>
          <p:cNvSpPr/>
          <p:nvPr/>
        </p:nvSpPr>
        <p:spPr>
          <a:xfrm>
            <a:off x="1428750" y="3750129"/>
            <a:ext cx="9525000" cy="0"/>
          </a:xfrm>
          <a:prstGeom prst="line">
            <a:avLst/>
          </a:prstGeom>
          <a:noFill/>
          <a:ln w="12700">
            <a:solidFill>
              <a:srgbClr val="182838"/>
            </a:solidFill>
            <a:prstDash val="solid"/>
          </a:ln>
        </p:spPr>
      </p:sp>
      <p:sp>
        <p:nvSpPr>
          <p:cNvPr id="19" name="Text 17"/>
          <p:cNvSpPr txBox="1"/>
          <p:nvPr/>
        </p:nvSpPr>
        <p:spPr>
          <a:xfrm>
            <a:off x="914400" y="3692979"/>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380</a:t>
            </a:r>
            <a:endParaRPr lang="en-US" sz="750" dirty="0"/>
          </a:p>
        </p:txBody>
      </p:sp>
      <p:sp>
        <p:nvSpPr>
          <p:cNvPr id="20" name="Shape 18"/>
          <p:cNvSpPr/>
          <p:nvPr/>
        </p:nvSpPr>
        <p:spPr>
          <a:xfrm>
            <a:off x="1428750" y="3461657"/>
            <a:ext cx="9525000" cy="0"/>
          </a:xfrm>
          <a:prstGeom prst="line">
            <a:avLst/>
          </a:prstGeom>
          <a:noFill/>
          <a:ln w="12700">
            <a:solidFill>
              <a:srgbClr val="182838"/>
            </a:solidFill>
            <a:prstDash val="solid"/>
          </a:ln>
        </p:spPr>
      </p:sp>
      <p:sp>
        <p:nvSpPr>
          <p:cNvPr id="21" name="Text 19"/>
          <p:cNvSpPr txBox="1"/>
          <p:nvPr/>
        </p:nvSpPr>
        <p:spPr>
          <a:xfrm>
            <a:off x="914400" y="3404507"/>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420</a:t>
            </a:r>
            <a:endParaRPr lang="en-US" sz="750" dirty="0"/>
          </a:p>
        </p:txBody>
      </p:sp>
      <p:sp>
        <p:nvSpPr>
          <p:cNvPr id="22" name="Shape 20"/>
          <p:cNvSpPr/>
          <p:nvPr/>
        </p:nvSpPr>
        <p:spPr>
          <a:xfrm>
            <a:off x="1428750" y="3173186"/>
            <a:ext cx="9525000" cy="0"/>
          </a:xfrm>
          <a:prstGeom prst="line">
            <a:avLst/>
          </a:prstGeom>
          <a:noFill/>
          <a:ln w="12700">
            <a:solidFill>
              <a:srgbClr val="182838"/>
            </a:solidFill>
            <a:prstDash val="solid"/>
          </a:ln>
        </p:spPr>
      </p:sp>
      <p:sp>
        <p:nvSpPr>
          <p:cNvPr id="23" name="Text 21"/>
          <p:cNvSpPr txBox="1"/>
          <p:nvPr/>
        </p:nvSpPr>
        <p:spPr>
          <a:xfrm>
            <a:off x="914400" y="3116036"/>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460</a:t>
            </a:r>
            <a:endParaRPr lang="en-US" sz="750" dirty="0"/>
          </a:p>
        </p:txBody>
      </p:sp>
      <p:sp>
        <p:nvSpPr>
          <p:cNvPr id="24" name="Shape 22"/>
          <p:cNvSpPr/>
          <p:nvPr/>
        </p:nvSpPr>
        <p:spPr>
          <a:xfrm flipV="1">
            <a:off x="1428750" y="3214221"/>
            <a:ext cx="381000" cy="8943"/>
          </a:xfrm>
          <a:prstGeom prst="line">
            <a:avLst/>
          </a:prstGeom>
          <a:noFill/>
          <a:ln w="17780">
            <a:solidFill>
              <a:srgbClr val="A8BCD1"/>
            </a:solidFill>
            <a:prstDash val="dash"/>
          </a:ln>
        </p:spPr>
      </p:sp>
      <p:sp>
        <p:nvSpPr>
          <p:cNvPr id="25" name="Shape 23"/>
          <p:cNvSpPr/>
          <p:nvPr/>
        </p:nvSpPr>
        <p:spPr>
          <a:xfrm flipV="1">
            <a:off x="1809750" y="3207225"/>
            <a:ext cx="381000" cy="6995"/>
          </a:xfrm>
          <a:prstGeom prst="line">
            <a:avLst/>
          </a:prstGeom>
          <a:noFill/>
          <a:ln w="17780">
            <a:solidFill>
              <a:srgbClr val="A8BCD1"/>
            </a:solidFill>
            <a:prstDash val="dash"/>
          </a:ln>
        </p:spPr>
      </p:sp>
      <p:sp>
        <p:nvSpPr>
          <p:cNvPr id="26" name="Shape 24"/>
          <p:cNvSpPr/>
          <p:nvPr/>
        </p:nvSpPr>
        <p:spPr>
          <a:xfrm flipV="1">
            <a:off x="2190750" y="3202466"/>
            <a:ext cx="381000" cy="4760"/>
          </a:xfrm>
          <a:prstGeom prst="line">
            <a:avLst/>
          </a:prstGeom>
          <a:noFill/>
          <a:ln w="17780">
            <a:solidFill>
              <a:srgbClr val="A8BCD1"/>
            </a:solidFill>
            <a:prstDash val="dash"/>
          </a:ln>
        </p:spPr>
      </p:sp>
      <p:sp>
        <p:nvSpPr>
          <p:cNvPr id="27" name="Shape 25"/>
          <p:cNvSpPr/>
          <p:nvPr/>
        </p:nvSpPr>
        <p:spPr>
          <a:xfrm flipV="1">
            <a:off x="2571750" y="3187898"/>
            <a:ext cx="381000" cy="14568"/>
          </a:xfrm>
          <a:prstGeom prst="line">
            <a:avLst/>
          </a:prstGeom>
          <a:noFill/>
          <a:ln w="17780">
            <a:solidFill>
              <a:srgbClr val="A8BCD1"/>
            </a:solidFill>
            <a:prstDash val="dash"/>
          </a:ln>
        </p:spPr>
      </p:sp>
      <p:sp>
        <p:nvSpPr>
          <p:cNvPr id="28" name="Shape 26"/>
          <p:cNvSpPr/>
          <p:nvPr/>
        </p:nvSpPr>
        <p:spPr>
          <a:xfrm flipV="1">
            <a:off x="2952750" y="3170373"/>
            <a:ext cx="381000" cy="17525"/>
          </a:xfrm>
          <a:prstGeom prst="line">
            <a:avLst/>
          </a:prstGeom>
          <a:noFill/>
          <a:ln w="17780">
            <a:solidFill>
              <a:srgbClr val="A8BCD1"/>
            </a:solidFill>
            <a:prstDash val="dash"/>
          </a:ln>
        </p:spPr>
      </p:sp>
      <p:sp>
        <p:nvSpPr>
          <p:cNvPr id="29" name="Shape 27"/>
          <p:cNvSpPr/>
          <p:nvPr/>
        </p:nvSpPr>
        <p:spPr>
          <a:xfrm>
            <a:off x="3333750" y="3170373"/>
            <a:ext cx="381000" cy="12116"/>
          </a:xfrm>
          <a:prstGeom prst="line">
            <a:avLst/>
          </a:prstGeom>
          <a:noFill/>
          <a:ln w="17780">
            <a:solidFill>
              <a:srgbClr val="A8BCD1"/>
            </a:solidFill>
            <a:prstDash val="dash"/>
          </a:ln>
        </p:spPr>
      </p:sp>
      <p:sp>
        <p:nvSpPr>
          <p:cNvPr id="30" name="Shape 28"/>
          <p:cNvSpPr/>
          <p:nvPr/>
        </p:nvSpPr>
        <p:spPr>
          <a:xfrm>
            <a:off x="3714750" y="3182489"/>
            <a:ext cx="381000" cy="13198"/>
          </a:xfrm>
          <a:prstGeom prst="line">
            <a:avLst/>
          </a:prstGeom>
          <a:noFill/>
          <a:ln w="17780">
            <a:solidFill>
              <a:srgbClr val="A8BCD1"/>
            </a:solidFill>
            <a:prstDash val="dash"/>
          </a:ln>
        </p:spPr>
      </p:sp>
      <p:sp>
        <p:nvSpPr>
          <p:cNvPr id="31" name="Shape 29"/>
          <p:cNvSpPr/>
          <p:nvPr/>
        </p:nvSpPr>
        <p:spPr>
          <a:xfrm>
            <a:off x="4095750" y="3195686"/>
            <a:ext cx="381000" cy="14784"/>
          </a:xfrm>
          <a:prstGeom prst="line">
            <a:avLst/>
          </a:prstGeom>
          <a:noFill/>
          <a:ln w="17780">
            <a:solidFill>
              <a:srgbClr val="A8BCD1"/>
            </a:solidFill>
            <a:prstDash val="dash"/>
          </a:ln>
        </p:spPr>
      </p:sp>
      <p:sp>
        <p:nvSpPr>
          <p:cNvPr id="32" name="Shape 30"/>
          <p:cNvSpPr/>
          <p:nvPr/>
        </p:nvSpPr>
        <p:spPr>
          <a:xfrm>
            <a:off x="4476750" y="3210471"/>
            <a:ext cx="381000" cy="16803"/>
          </a:xfrm>
          <a:prstGeom prst="line">
            <a:avLst/>
          </a:prstGeom>
          <a:noFill/>
          <a:ln w="17780">
            <a:solidFill>
              <a:srgbClr val="A8BCD1"/>
            </a:solidFill>
            <a:prstDash val="dash"/>
          </a:ln>
        </p:spPr>
      </p:sp>
      <p:sp>
        <p:nvSpPr>
          <p:cNvPr id="33" name="Shape 31"/>
          <p:cNvSpPr/>
          <p:nvPr/>
        </p:nvSpPr>
        <p:spPr>
          <a:xfrm>
            <a:off x="4857750" y="3227274"/>
            <a:ext cx="381000" cy="18462"/>
          </a:xfrm>
          <a:prstGeom prst="line">
            <a:avLst/>
          </a:prstGeom>
          <a:noFill/>
          <a:ln w="17780">
            <a:solidFill>
              <a:srgbClr val="A8BCD1"/>
            </a:solidFill>
            <a:prstDash val="dash"/>
          </a:ln>
        </p:spPr>
      </p:sp>
      <p:sp>
        <p:nvSpPr>
          <p:cNvPr id="34" name="Shape 32"/>
          <p:cNvSpPr/>
          <p:nvPr/>
        </p:nvSpPr>
        <p:spPr>
          <a:xfrm>
            <a:off x="5238750" y="3245736"/>
            <a:ext cx="381000" cy="20409"/>
          </a:xfrm>
          <a:prstGeom prst="line">
            <a:avLst/>
          </a:prstGeom>
          <a:noFill/>
          <a:ln w="17780">
            <a:solidFill>
              <a:srgbClr val="A8BCD1"/>
            </a:solidFill>
            <a:prstDash val="dash"/>
          </a:ln>
        </p:spPr>
      </p:sp>
      <p:sp>
        <p:nvSpPr>
          <p:cNvPr id="35" name="Shape 33"/>
          <p:cNvSpPr/>
          <p:nvPr/>
        </p:nvSpPr>
        <p:spPr>
          <a:xfrm>
            <a:off x="5619750" y="3266146"/>
            <a:ext cx="381000" cy="27405"/>
          </a:xfrm>
          <a:prstGeom prst="line">
            <a:avLst/>
          </a:prstGeom>
          <a:noFill/>
          <a:ln w="17780">
            <a:solidFill>
              <a:srgbClr val="A8BCD1"/>
            </a:solidFill>
            <a:prstDash val="dash"/>
          </a:ln>
        </p:spPr>
      </p:sp>
      <p:sp>
        <p:nvSpPr>
          <p:cNvPr id="36" name="Shape 34"/>
          <p:cNvSpPr/>
          <p:nvPr/>
        </p:nvSpPr>
        <p:spPr>
          <a:xfrm>
            <a:off x="6000750" y="3293550"/>
            <a:ext cx="381000" cy="29929"/>
          </a:xfrm>
          <a:prstGeom prst="line">
            <a:avLst/>
          </a:prstGeom>
          <a:noFill/>
          <a:ln w="17780">
            <a:solidFill>
              <a:srgbClr val="A8BCD1"/>
            </a:solidFill>
            <a:prstDash val="dash"/>
          </a:ln>
        </p:spPr>
      </p:sp>
      <p:sp>
        <p:nvSpPr>
          <p:cNvPr id="37" name="Shape 35"/>
          <p:cNvSpPr/>
          <p:nvPr/>
        </p:nvSpPr>
        <p:spPr>
          <a:xfrm>
            <a:off x="6381750" y="3323479"/>
            <a:ext cx="381000" cy="31516"/>
          </a:xfrm>
          <a:prstGeom prst="line">
            <a:avLst/>
          </a:prstGeom>
          <a:noFill/>
          <a:ln w="17780">
            <a:solidFill>
              <a:srgbClr val="A8BCD1"/>
            </a:solidFill>
            <a:prstDash val="dash"/>
          </a:ln>
        </p:spPr>
      </p:sp>
      <p:sp>
        <p:nvSpPr>
          <p:cNvPr id="38" name="Shape 36"/>
          <p:cNvSpPr/>
          <p:nvPr/>
        </p:nvSpPr>
        <p:spPr>
          <a:xfrm>
            <a:off x="6762750" y="3354995"/>
            <a:ext cx="381000" cy="34328"/>
          </a:xfrm>
          <a:prstGeom prst="line">
            <a:avLst/>
          </a:prstGeom>
          <a:noFill/>
          <a:ln w="17780">
            <a:solidFill>
              <a:srgbClr val="A8BCD1"/>
            </a:solidFill>
            <a:prstDash val="dash"/>
          </a:ln>
        </p:spPr>
      </p:sp>
      <p:sp>
        <p:nvSpPr>
          <p:cNvPr id="39" name="Shape 37"/>
          <p:cNvSpPr/>
          <p:nvPr/>
        </p:nvSpPr>
        <p:spPr>
          <a:xfrm>
            <a:off x="7143750" y="3389323"/>
            <a:ext cx="381000" cy="37357"/>
          </a:xfrm>
          <a:prstGeom prst="line">
            <a:avLst/>
          </a:prstGeom>
          <a:noFill/>
          <a:ln w="17780">
            <a:solidFill>
              <a:srgbClr val="A8BCD1"/>
            </a:solidFill>
            <a:prstDash val="dash"/>
          </a:ln>
        </p:spPr>
      </p:sp>
      <p:sp>
        <p:nvSpPr>
          <p:cNvPr id="40" name="Shape 38"/>
          <p:cNvSpPr/>
          <p:nvPr/>
        </p:nvSpPr>
        <p:spPr>
          <a:xfrm>
            <a:off x="7524750" y="3426680"/>
            <a:ext cx="381000" cy="40314"/>
          </a:xfrm>
          <a:prstGeom prst="line">
            <a:avLst/>
          </a:prstGeom>
          <a:noFill/>
          <a:ln w="17780">
            <a:solidFill>
              <a:srgbClr val="A8BCD1"/>
            </a:solidFill>
            <a:prstDash val="dash"/>
          </a:ln>
        </p:spPr>
      </p:sp>
      <p:sp>
        <p:nvSpPr>
          <p:cNvPr id="41" name="Shape 39"/>
          <p:cNvSpPr/>
          <p:nvPr/>
        </p:nvSpPr>
        <p:spPr>
          <a:xfrm>
            <a:off x="7905750" y="3466994"/>
            <a:ext cx="381000" cy="32525"/>
          </a:xfrm>
          <a:prstGeom prst="line">
            <a:avLst/>
          </a:prstGeom>
          <a:noFill/>
          <a:ln w="17780">
            <a:solidFill>
              <a:srgbClr val="A8BCD1"/>
            </a:solidFill>
            <a:prstDash val="dash"/>
          </a:ln>
        </p:spPr>
      </p:sp>
      <p:sp>
        <p:nvSpPr>
          <p:cNvPr id="42" name="Shape 40"/>
          <p:cNvSpPr/>
          <p:nvPr/>
        </p:nvSpPr>
        <p:spPr>
          <a:xfrm>
            <a:off x="8286750" y="3499519"/>
            <a:ext cx="381000" cy="45362"/>
          </a:xfrm>
          <a:prstGeom prst="line">
            <a:avLst/>
          </a:prstGeom>
          <a:noFill/>
          <a:ln w="17780">
            <a:solidFill>
              <a:srgbClr val="A8BCD1"/>
            </a:solidFill>
            <a:prstDash val="dash"/>
          </a:ln>
        </p:spPr>
      </p:sp>
      <p:sp>
        <p:nvSpPr>
          <p:cNvPr id="43" name="Shape 41"/>
          <p:cNvSpPr/>
          <p:nvPr/>
        </p:nvSpPr>
        <p:spPr>
          <a:xfrm>
            <a:off x="8667750" y="3544881"/>
            <a:ext cx="381000" cy="49040"/>
          </a:xfrm>
          <a:prstGeom prst="line">
            <a:avLst/>
          </a:prstGeom>
          <a:noFill/>
          <a:ln w="17780">
            <a:solidFill>
              <a:srgbClr val="A8BCD1"/>
            </a:solidFill>
            <a:prstDash val="dash"/>
          </a:ln>
        </p:spPr>
      </p:sp>
      <p:sp>
        <p:nvSpPr>
          <p:cNvPr id="44" name="Shape 42"/>
          <p:cNvSpPr/>
          <p:nvPr/>
        </p:nvSpPr>
        <p:spPr>
          <a:xfrm>
            <a:off x="9048750" y="3593921"/>
            <a:ext cx="381000" cy="54161"/>
          </a:xfrm>
          <a:prstGeom prst="line">
            <a:avLst/>
          </a:prstGeom>
          <a:noFill/>
          <a:ln w="17780">
            <a:solidFill>
              <a:srgbClr val="A8BCD1"/>
            </a:solidFill>
            <a:prstDash val="dash"/>
          </a:ln>
        </p:spPr>
      </p:sp>
      <p:sp>
        <p:nvSpPr>
          <p:cNvPr id="45" name="Shape 43"/>
          <p:cNvSpPr/>
          <p:nvPr/>
        </p:nvSpPr>
        <p:spPr>
          <a:xfrm>
            <a:off x="9429750" y="3648082"/>
            <a:ext cx="381000" cy="58488"/>
          </a:xfrm>
          <a:prstGeom prst="line">
            <a:avLst/>
          </a:prstGeom>
          <a:noFill/>
          <a:ln w="17780">
            <a:solidFill>
              <a:srgbClr val="A8BCD1"/>
            </a:solidFill>
            <a:prstDash val="dash"/>
          </a:ln>
        </p:spPr>
      </p:sp>
      <p:sp>
        <p:nvSpPr>
          <p:cNvPr id="46" name="Shape 44"/>
          <p:cNvSpPr/>
          <p:nvPr/>
        </p:nvSpPr>
        <p:spPr>
          <a:xfrm>
            <a:off x="9810750" y="3706569"/>
            <a:ext cx="381000" cy="61228"/>
          </a:xfrm>
          <a:prstGeom prst="line">
            <a:avLst/>
          </a:prstGeom>
          <a:noFill/>
          <a:ln w="17780">
            <a:solidFill>
              <a:srgbClr val="A8BCD1"/>
            </a:solidFill>
            <a:prstDash val="dash"/>
          </a:ln>
        </p:spPr>
      </p:sp>
      <p:sp>
        <p:nvSpPr>
          <p:cNvPr id="47" name="Shape 45"/>
          <p:cNvSpPr/>
          <p:nvPr/>
        </p:nvSpPr>
        <p:spPr>
          <a:xfrm>
            <a:off x="10191750" y="3767797"/>
            <a:ext cx="381000" cy="62310"/>
          </a:xfrm>
          <a:prstGeom prst="line">
            <a:avLst/>
          </a:prstGeom>
          <a:noFill/>
          <a:ln w="17780">
            <a:solidFill>
              <a:srgbClr val="A8BCD1"/>
            </a:solidFill>
            <a:prstDash val="dash"/>
          </a:ln>
        </p:spPr>
      </p:sp>
      <p:sp>
        <p:nvSpPr>
          <p:cNvPr id="48" name="Shape 46"/>
          <p:cNvSpPr/>
          <p:nvPr/>
        </p:nvSpPr>
        <p:spPr>
          <a:xfrm>
            <a:off x="10572750" y="3830107"/>
            <a:ext cx="381000" cy="68440"/>
          </a:xfrm>
          <a:prstGeom prst="line">
            <a:avLst/>
          </a:prstGeom>
          <a:noFill/>
          <a:ln w="17780">
            <a:solidFill>
              <a:srgbClr val="A8BCD1"/>
            </a:solidFill>
            <a:prstDash val="dash"/>
          </a:ln>
        </p:spPr>
      </p:sp>
      <p:sp>
        <p:nvSpPr>
          <p:cNvPr id="49" name="Shape 47"/>
          <p:cNvSpPr/>
          <p:nvPr/>
        </p:nvSpPr>
        <p:spPr>
          <a:xfrm flipV="1">
            <a:off x="1428750" y="3150901"/>
            <a:ext cx="381000" cy="8943"/>
          </a:xfrm>
          <a:prstGeom prst="line">
            <a:avLst/>
          </a:prstGeom>
          <a:noFill/>
          <a:ln w="22860">
            <a:solidFill>
              <a:srgbClr val="EFB13C"/>
            </a:solidFill>
            <a:prstDash val="solid"/>
          </a:ln>
        </p:spPr>
      </p:sp>
      <p:sp>
        <p:nvSpPr>
          <p:cNvPr id="50" name="Shape 48"/>
          <p:cNvSpPr/>
          <p:nvPr/>
        </p:nvSpPr>
        <p:spPr>
          <a:xfrm flipV="1">
            <a:off x="1809750" y="3143906"/>
            <a:ext cx="381000" cy="6995"/>
          </a:xfrm>
          <a:prstGeom prst="line">
            <a:avLst/>
          </a:prstGeom>
          <a:noFill/>
          <a:ln w="22860">
            <a:solidFill>
              <a:srgbClr val="EFB13C"/>
            </a:solidFill>
            <a:prstDash val="solid"/>
          </a:ln>
        </p:spPr>
      </p:sp>
      <p:sp>
        <p:nvSpPr>
          <p:cNvPr id="51" name="Shape 49"/>
          <p:cNvSpPr/>
          <p:nvPr/>
        </p:nvSpPr>
        <p:spPr>
          <a:xfrm flipV="1">
            <a:off x="2190750" y="3139146"/>
            <a:ext cx="381000" cy="4760"/>
          </a:xfrm>
          <a:prstGeom prst="line">
            <a:avLst/>
          </a:prstGeom>
          <a:noFill/>
          <a:ln w="22860">
            <a:solidFill>
              <a:srgbClr val="EFB13C"/>
            </a:solidFill>
            <a:prstDash val="solid"/>
          </a:ln>
        </p:spPr>
      </p:sp>
      <p:sp>
        <p:nvSpPr>
          <p:cNvPr id="52" name="Shape 50"/>
          <p:cNvSpPr/>
          <p:nvPr/>
        </p:nvSpPr>
        <p:spPr>
          <a:xfrm flipV="1">
            <a:off x="2571750" y="3124578"/>
            <a:ext cx="381000" cy="14568"/>
          </a:xfrm>
          <a:prstGeom prst="line">
            <a:avLst/>
          </a:prstGeom>
          <a:noFill/>
          <a:ln w="22860">
            <a:solidFill>
              <a:srgbClr val="EFB13C"/>
            </a:solidFill>
            <a:prstDash val="solid"/>
          </a:ln>
        </p:spPr>
      </p:sp>
      <p:sp>
        <p:nvSpPr>
          <p:cNvPr id="53" name="Shape 51"/>
          <p:cNvSpPr/>
          <p:nvPr/>
        </p:nvSpPr>
        <p:spPr>
          <a:xfrm flipV="1">
            <a:off x="2952750" y="3116429"/>
            <a:ext cx="381000" cy="8149"/>
          </a:xfrm>
          <a:prstGeom prst="line">
            <a:avLst/>
          </a:prstGeom>
          <a:noFill/>
          <a:ln w="22860">
            <a:solidFill>
              <a:srgbClr val="EFB13C"/>
            </a:solidFill>
            <a:prstDash val="solid"/>
          </a:ln>
        </p:spPr>
      </p:sp>
      <p:sp>
        <p:nvSpPr>
          <p:cNvPr id="54" name="Shape 52"/>
          <p:cNvSpPr/>
          <p:nvPr/>
        </p:nvSpPr>
        <p:spPr>
          <a:xfrm>
            <a:off x="3333750" y="3116429"/>
            <a:ext cx="381000" cy="12549"/>
          </a:xfrm>
          <a:prstGeom prst="line">
            <a:avLst/>
          </a:prstGeom>
          <a:noFill/>
          <a:ln w="22860">
            <a:solidFill>
              <a:srgbClr val="EFB13C"/>
            </a:solidFill>
            <a:prstDash val="solid"/>
          </a:ln>
        </p:spPr>
      </p:sp>
      <p:sp>
        <p:nvSpPr>
          <p:cNvPr id="55" name="Shape 53"/>
          <p:cNvSpPr/>
          <p:nvPr/>
        </p:nvSpPr>
        <p:spPr>
          <a:xfrm>
            <a:off x="3714750" y="3128977"/>
            <a:ext cx="381000" cy="21131"/>
          </a:xfrm>
          <a:prstGeom prst="line">
            <a:avLst/>
          </a:prstGeom>
          <a:noFill/>
          <a:ln w="22860">
            <a:solidFill>
              <a:srgbClr val="EFB13C"/>
            </a:solidFill>
            <a:prstDash val="solid"/>
          </a:ln>
        </p:spPr>
      </p:sp>
      <p:sp>
        <p:nvSpPr>
          <p:cNvPr id="56" name="Shape 54"/>
          <p:cNvSpPr/>
          <p:nvPr/>
        </p:nvSpPr>
        <p:spPr>
          <a:xfrm>
            <a:off x="4095750" y="3150108"/>
            <a:ext cx="381000" cy="21203"/>
          </a:xfrm>
          <a:prstGeom prst="line">
            <a:avLst/>
          </a:prstGeom>
          <a:noFill/>
          <a:ln w="22860">
            <a:solidFill>
              <a:srgbClr val="EFB13C"/>
            </a:solidFill>
            <a:prstDash val="solid"/>
          </a:ln>
        </p:spPr>
      </p:sp>
      <p:sp>
        <p:nvSpPr>
          <p:cNvPr id="57" name="Shape 55"/>
          <p:cNvSpPr/>
          <p:nvPr/>
        </p:nvSpPr>
        <p:spPr>
          <a:xfrm>
            <a:off x="4476750" y="3171311"/>
            <a:ext cx="381000" cy="19688"/>
          </a:xfrm>
          <a:prstGeom prst="line">
            <a:avLst/>
          </a:prstGeom>
          <a:noFill/>
          <a:ln w="22860">
            <a:solidFill>
              <a:srgbClr val="EFB13C"/>
            </a:solidFill>
            <a:prstDash val="solid"/>
          </a:ln>
        </p:spPr>
      </p:sp>
      <p:sp>
        <p:nvSpPr>
          <p:cNvPr id="58" name="Shape 56"/>
          <p:cNvSpPr/>
          <p:nvPr/>
        </p:nvSpPr>
        <p:spPr>
          <a:xfrm>
            <a:off x="4857750" y="3190999"/>
            <a:ext cx="381000" cy="17453"/>
          </a:xfrm>
          <a:prstGeom prst="line">
            <a:avLst/>
          </a:prstGeom>
          <a:noFill/>
          <a:ln w="22860">
            <a:solidFill>
              <a:srgbClr val="EFB13C"/>
            </a:solidFill>
            <a:prstDash val="solid"/>
          </a:ln>
        </p:spPr>
      </p:sp>
      <p:sp>
        <p:nvSpPr>
          <p:cNvPr id="59" name="Shape 57"/>
          <p:cNvSpPr/>
          <p:nvPr/>
        </p:nvSpPr>
        <p:spPr>
          <a:xfrm>
            <a:off x="5238750" y="3208451"/>
            <a:ext cx="381000" cy="17020"/>
          </a:xfrm>
          <a:prstGeom prst="line">
            <a:avLst/>
          </a:prstGeom>
          <a:noFill/>
          <a:ln w="22860">
            <a:solidFill>
              <a:srgbClr val="EFB13C"/>
            </a:solidFill>
            <a:prstDash val="solid"/>
          </a:ln>
        </p:spPr>
      </p:sp>
      <p:sp>
        <p:nvSpPr>
          <p:cNvPr id="60" name="Shape 58"/>
          <p:cNvSpPr/>
          <p:nvPr/>
        </p:nvSpPr>
        <p:spPr>
          <a:xfrm>
            <a:off x="5619750" y="3225471"/>
            <a:ext cx="381000" cy="24592"/>
          </a:xfrm>
          <a:prstGeom prst="line">
            <a:avLst/>
          </a:prstGeom>
          <a:noFill/>
          <a:ln w="22860">
            <a:solidFill>
              <a:srgbClr val="EFB13C"/>
            </a:solidFill>
            <a:prstDash val="solid"/>
          </a:ln>
        </p:spPr>
      </p:sp>
      <p:sp>
        <p:nvSpPr>
          <p:cNvPr id="61" name="Shape 59"/>
          <p:cNvSpPr/>
          <p:nvPr/>
        </p:nvSpPr>
        <p:spPr>
          <a:xfrm>
            <a:off x="6000750" y="3250063"/>
            <a:ext cx="381000" cy="30650"/>
          </a:xfrm>
          <a:prstGeom prst="line">
            <a:avLst/>
          </a:prstGeom>
          <a:noFill/>
          <a:ln w="22860">
            <a:solidFill>
              <a:srgbClr val="EFB13C"/>
            </a:solidFill>
            <a:prstDash val="solid"/>
          </a:ln>
        </p:spPr>
      </p:sp>
      <p:sp>
        <p:nvSpPr>
          <p:cNvPr id="62" name="Shape 60"/>
          <p:cNvSpPr/>
          <p:nvPr/>
        </p:nvSpPr>
        <p:spPr>
          <a:xfrm>
            <a:off x="6381750" y="3280713"/>
            <a:ext cx="381000" cy="37790"/>
          </a:xfrm>
          <a:prstGeom prst="line">
            <a:avLst/>
          </a:prstGeom>
          <a:noFill/>
          <a:ln w="22860">
            <a:solidFill>
              <a:srgbClr val="EFB13C"/>
            </a:solidFill>
            <a:prstDash val="solid"/>
          </a:ln>
        </p:spPr>
      </p:sp>
      <p:sp>
        <p:nvSpPr>
          <p:cNvPr id="63" name="Shape 61"/>
          <p:cNvSpPr/>
          <p:nvPr/>
        </p:nvSpPr>
        <p:spPr>
          <a:xfrm>
            <a:off x="6762750" y="3318503"/>
            <a:ext cx="381000" cy="46083"/>
          </a:xfrm>
          <a:prstGeom prst="line">
            <a:avLst/>
          </a:prstGeom>
          <a:noFill/>
          <a:ln w="22860">
            <a:solidFill>
              <a:srgbClr val="EFB13C"/>
            </a:solidFill>
            <a:prstDash val="solid"/>
          </a:ln>
        </p:spPr>
      </p:sp>
      <p:sp>
        <p:nvSpPr>
          <p:cNvPr id="64" name="Shape 62"/>
          <p:cNvSpPr/>
          <p:nvPr/>
        </p:nvSpPr>
        <p:spPr>
          <a:xfrm>
            <a:off x="7143750" y="3364587"/>
            <a:ext cx="381000" cy="52213"/>
          </a:xfrm>
          <a:prstGeom prst="line">
            <a:avLst/>
          </a:prstGeom>
          <a:noFill/>
          <a:ln w="22860">
            <a:solidFill>
              <a:srgbClr val="EFB13C"/>
            </a:solidFill>
            <a:prstDash val="solid"/>
          </a:ln>
        </p:spPr>
      </p:sp>
      <p:sp>
        <p:nvSpPr>
          <p:cNvPr id="65" name="Shape 63"/>
          <p:cNvSpPr/>
          <p:nvPr/>
        </p:nvSpPr>
        <p:spPr>
          <a:xfrm>
            <a:off x="7524750" y="3416800"/>
            <a:ext cx="381000" cy="54882"/>
          </a:xfrm>
          <a:prstGeom prst="line">
            <a:avLst/>
          </a:prstGeom>
          <a:noFill/>
          <a:ln w="22860">
            <a:solidFill>
              <a:srgbClr val="EFB13C"/>
            </a:solidFill>
            <a:prstDash val="solid"/>
          </a:ln>
        </p:spPr>
      </p:sp>
      <p:sp>
        <p:nvSpPr>
          <p:cNvPr id="66" name="Shape 64"/>
          <p:cNvSpPr/>
          <p:nvPr/>
        </p:nvSpPr>
        <p:spPr>
          <a:xfrm>
            <a:off x="7905750" y="3471682"/>
            <a:ext cx="381000" cy="42982"/>
          </a:xfrm>
          <a:prstGeom prst="line">
            <a:avLst/>
          </a:prstGeom>
          <a:noFill/>
          <a:ln w="22860">
            <a:solidFill>
              <a:srgbClr val="EFB13C"/>
            </a:solidFill>
            <a:prstDash val="solid"/>
          </a:ln>
        </p:spPr>
      </p:sp>
      <p:sp>
        <p:nvSpPr>
          <p:cNvPr id="67" name="Shape 65"/>
          <p:cNvSpPr/>
          <p:nvPr/>
        </p:nvSpPr>
        <p:spPr>
          <a:xfrm>
            <a:off x="8286750" y="3514664"/>
            <a:ext cx="381000" cy="49401"/>
          </a:xfrm>
          <a:prstGeom prst="line">
            <a:avLst/>
          </a:prstGeom>
          <a:noFill/>
          <a:ln w="22860">
            <a:solidFill>
              <a:srgbClr val="EFB13C"/>
            </a:solidFill>
            <a:prstDash val="solid"/>
          </a:ln>
        </p:spPr>
      </p:sp>
      <p:sp>
        <p:nvSpPr>
          <p:cNvPr id="68" name="Shape 66"/>
          <p:cNvSpPr/>
          <p:nvPr/>
        </p:nvSpPr>
        <p:spPr>
          <a:xfrm>
            <a:off x="8667750" y="3564065"/>
            <a:ext cx="381000" cy="46372"/>
          </a:xfrm>
          <a:prstGeom prst="line">
            <a:avLst/>
          </a:prstGeom>
          <a:noFill/>
          <a:ln w="22860">
            <a:solidFill>
              <a:srgbClr val="EFB13C"/>
            </a:solidFill>
            <a:prstDash val="solid"/>
          </a:ln>
        </p:spPr>
      </p:sp>
      <p:sp>
        <p:nvSpPr>
          <p:cNvPr id="69" name="Shape 67"/>
          <p:cNvSpPr/>
          <p:nvPr/>
        </p:nvSpPr>
        <p:spPr>
          <a:xfrm>
            <a:off x="9048750" y="3610436"/>
            <a:ext cx="381000" cy="46588"/>
          </a:xfrm>
          <a:prstGeom prst="line">
            <a:avLst/>
          </a:prstGeom>
          <a:noFill/>
          <a:ln w="22860">
            <a:solidFill>
              <a:srgbClr val="EFB13C"/>
            </a:solidFill>
            <a:prstDash val="solid"/>
          </a:ln>
        </p:spPr>
      </p:sp>
      <p:sp>
        <p:nvSpPr>
          <p:cNvPr id="70" name="Shape 68"/>
          <p:cNvSpPr/>
          <p:nvPr/>
        </p:nvSpPr>
        <p:spPr>
          <a:xfrm>
            <a:off x="9429750" y="3657024"/>
            <a:ext cx="381000" cy="48824"/>
          </a:xfrm>
          <a:prstGeom prst="line">
            <a:avLst/>
          </a:prstGeom>
          <a:noFill/>
          <a:ln w="22860">
            <a:solidFill>
              <a:srgbClr val="EFB13C"/>
            </a:solidFill>
            <a:prstDash val="solid"/>
          </a:ln>
        </p:spPr>
      </p:sp>
      <p:sp>
        <p:nvSpPr>
          <p:cNvPr id="71" name="Shape 69"/>
          <p:cNvSpPr/>
          <p:nvPr/>
        </p:nvSpPr>
        <p:spPr>
          <a:xfrm>
            <a:off x="9810750" y="3705848"/>
            <a:ext cx="381000" cy="52358"/>
          </a:xfrm>
          <a:prstGeom prst="line">
            <a:avLst/>
          </a:prstGeom>
          <a:noFill/>
          <a:ln w="22860">
            <a:solidFill>
              <a:srgbClr val="EFB13C"/>
            </a:solidFill>
            <a:prstDash val="solid"/>
          </a:ln>
        </p:spPr>
      </p:sp>
      <p:sp>
        <p:nvSpPr>
          <p:cNvPr id="72" name="Shape 70"/>
          <p:cNvSpPr/>
          <p:nvPr/>
        </p:nvSpPr>
        <p:spPr>
          <a:xfrm>
            <a:off x="10191750" y="3758206"/>
            <a:ext cx="381000" cy="56757"/>
          </a:xfrm>
          <a:prstGeom prst="line">
            <a:avLst/>
          </a:prstGeom>
          <a:noFill/>
          <a:ln w="22860">
            <a:solidFill>
              <a:srgbClr val="EFB13C"/>
            </a:solidFill>
            <a:prstDash val="solid"/>
          </a:ln>
        </p:spPr>
      </p:sp>
      <p:sp>
        <p:nvSpPr>
          <p:cNvPr id="73" name="Shape 71"/>
          <p:cNvSpPr/>
          <p:nvPr/>
        </p:nvSpPr>
        <p:spPr>
          <a:xfrm>
            <a:off x="10572750" y="3814963"/>
            <a:ext cx="381000" cy="68368"/>
          </a:xfrm>
          <a:prstGeom prst="line">
            <a:avLst/>
          </a:prstGeom>
          <a:noFill/>
          <a:ln w="22860">
            <a:solidFill>
              <a:srgbClr val="EFB13C"/>
            </a:solidFill>
            <a:prstDash val="solid"/>
          </a:ln>
        </p:spPr>
      </p:sp>
      <p:sp>
        <p:nvSpPr>
          <p:cNvPr id="74" name="Shape 72"/>
          <p:cNvSpPr/>
          <p:nvPr/>
        </p:nvSpPr>
        <p:spPr>
          <a:xfrm>
            <a:off x="8743950" y="3114675"/>
            <a:ext cx="247650" cy="0"/>
          </a:xfrm>
          <a:prstGeom prst="line">
            <a:avLst/>
          </a:prstGeom>
          <a:noFill/>
          <a:ln w="17780">
            <a:solidFill>
              <a:srgbClr val="A8BCD1"/>
            </a:solidFill>
            <a:prstDash val="dash"/>
          </a:ln>
        </p:spPr>
      </p:sp>
      <p:sp>
        <p:nvSpPr>
          <p:cNvPr id="75" name="Text 73"/>
          <p:cNvSpPr txBox="1"/>
          <p:nvPr/>
        </p:nvSpPr>
        <p:spPr>
          <a:xfrm>
            <a:off x="9067800" y="3048000"/>
            <a:ext cx="2190750" cy="148590"/>
          </a:xfrm>
          <a:prstGeom prst="rect">
            <a:avLst/>
          </a:prstGeom>
          <a:noFill/>
          <a:ln/>
        </p:spPr>
        <p:txBody>
          <a:bodyPr wrap="square" lIns="0" tIns="0" rIns="0" bIns="0" rtlCol="0" anchor="t"/>
          <a:lstStyle/>
          <a:p>
            <a:pPr algn="l" indent="0" marL="0">
              <a:lnSpc>
                <a:spcPts val="1170"/>
              </a:lnSpc>
              <a:buNone/>
            </a:pPr>
            <a:r>
              <a:rPr lang="en-US" sz="900" dirty="0">
                <a:solidFill>
                  <a:srgbClr val="A8BCD1"/>
                </a:solidFill>
                <a:latin typeface="Malgun Gothic" pitchFamily="34" charset="0"/>
                <a:ea typeface="Malgun Gothic" pitchFamily="34" charset="-122"/>
                <a:cs typeface="Malgun Gothic" pitchFamily="34" charset="-120"/>
              </a:rPr>
              <a:t>이론 출력 (IGV 포함 · 보정 없음)</a:t>
            </a:r>
            <a:endParaRPr lang="en-US" sz="900" dirty="0"/>
          </a:p>
        </p:txBody>
      </p:sp>
      <p:sp>
        <p:nvSpPr>
          <p:cNvPr id="76" name="Shape 74"/>
          <p:cNvSpPr/>
          <p:nvPr/>
        </p:nvSpPr>
        <p:spPr>
          <a:xfrm>
            <a:off x="8743950" y="3295650"/>
            <a:ext cx="247650" cy="0"/>
          </a:xfrm>
          <a:prstGeom prst="line">
            <a:avLst/>
          </a:prstGeom>
          <a:noFill/>
          <a:ln w="22860">
            <a:solidFill>
              <a:srgbClr val="EFB13C"/>
            </a:solidFill>
            <a:prstDash val="solid"/>
          </a:ln>
        </p:spPr>
      </p:sp>
      <p:sp>
        <p:nvSpPr>
          <p:cNvPr id="77" name="Text 75"/>
          <p:cNvSpPr txBox="1"/>
          <p:nvPr/>
        </p:nvSpPr>
        <p:spPr>
          <a:xfrm>
            <a:off x="9067800" y="3228975"/>
            <a:ext cx="2190750" cy="148590"/>
          </a:xfrm>
          <a:prstGeom prst="rect">
            <a:avLst/>
          </a:prstGeom>
          <a:noFill/>
          <a:ln/>
        </p:spPr>
        <p:txBody>
          <a:bodyPr wrap="square" lIns="0" tIns="0" rIns="0" bIns="0" rtlCol="0" anchor="t"/>
          <a:lstStyle/>
          <a:p>
            <a:pPr algn="l" indent="0" marL="0">
              <a:lnSpc>
                <a:spcPts val="1170"/>
              </a:lnSpc>
              <a:buNone/>
            </a:pPr>
            <a:r>
              <a:rPr lang="en-US" sz="900" dirty="0">
                <a:solidFill>
                  <a:srgbClr val="EFB13C"/>
                </a:solidFill>
                <a:latin typeface="Malgun Gothic" pitchFamily="34" charset="0"/>
                <a:ea typeface="Malgun Gothic" pitchFamily="34" charset="-122"/>
                <a:cs typeface="Malgun Gothic" pitchFamily="34" charset="-120"/>
              </a:rPr>
              <a:t>모델이 만든 곡선</a:t>
            </a:r>
            <a:endParaRPr lang="en-US" sz="900" dirty="0"/>
          </a:p>
        </p:txBody>
      </p:sp>
      <p:sp>
        <p:nvSpPr>
          <p:cNvPr id="78" name="Text 76"/>
          <p:cNvSpPr txBox="1"/>
          <p:nvPr/>
        </p:nvSpPr>
        <p:spPr>
          <a:xfrm>
            <a:off x="5334000" y="3810000"/>
            <a:ext cx="4572000" cy="148590"/>
          </a:xfrm>
          <a:prstGeom prst="rect">
            <a:avLst/>
          </a:prstGeom>
          <a:noFill/>
          <a:ln/>
        </p:spPr>
        <p:txBody>
          <a:bodyPr wrap="square" lIns="0" tIns="0" rIns="0" bIns="0" rtlCol="0" anchor="t"/>
          <a:lstStyle/>
          <a:p>
            <a:pPr algn="r" indent="0" marL="0">
              <a:lnSpc>
                <a:spcPts val="1170"/>
              </a:lnSpc>
              <a:buNone/>
            </a:pPr>
            <a:r>
              <a:rPr lang="en-US" sz="900" dirty="0">
                <a:solidFill>
                  <a:srgbClr val="A9A79F"/>
                </a:solidFill>
                <a:latin typeface="Malgun Gothic" pitchFamily="34" charset="0"/>
                <a:ea typeface="Malgun Gothic" pitchFamily="34" charset="-122"/>
                <a:cs typeface="Malgun Gothic" pitchFamily="34" charset="-120"/>
              </a:rPr>
              <a:t>두 곡선이 거의 붙어 보입니다 — 아래는 그 차이만 확대한 것입니다</a:t>
            </a:r>
            <a:endParaRPr lang="en-US" sz="900" dirty="0"/>
          </a:p>
        </p:txBody>
      </p:sp>
      <p:sp>
        <p:nvSpPr>
          <p:cNvPr id="79" name="Shape 77"/>
          <p:cNvSpPr/>
          <p:nvPr/>
        </p:nvSpPr>
        <p:spPr>
          <a:xfrm>
            <a:off x="685800" y="4152900"/>
            <a:ext cx="10820400" cy="0"/>
          </a:xfrm>
          <a:prstGeom prst="line">
            <a:avLst/>
          </a:prstGeom>
          <a:noFill/>
          <a:ln w="12700">
            <a:solidFill>
              <a:srgbClr val="22354A"/>
            </a:solidFill>
            <a:prstDash val="solid"/>
          </a:ln>
        </p:spPr>
      </p:sp>
      <p:sp>
        <p:nvSpPr>
          <p:cNvPr id="80" name="Shape 78"/>
          <p:cNvSpPr/>
          <p:nvPr/>
        </p:nvSpPr>
        <p:spPr>
          <a:xfrm>
            <a:off x="1428750" y="5029200"/>
            <a:ext cx="9525000" cy="0"/>
          </a:xfrm>
          <a:prstGeom prst="line">
            <a:avLst/>
          </a:prstGeom>
          <a:noFill/>
          <a:ln w="12700">
            <a:solidFill>
              <a:srgbClr val="182838"/>
            </a:solidFill>
            <a:prstDash val="solid"/>
          </a:ln>
        </p:spPr>
      </p:sp>
      <p:sp>
        <p:nvSpPr>
          <p:cNvPr id="81" name="Text 79"/>
          <p:cNvSpPr txBox="1"/>
          <p:nvPr/>
        </p:nvSpPr>
        <p:spPr>
          <a:xfrm>
            <a:off x="914400" y="4972050"/>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-5</a:t>
            </a:r>
            <a:endParaRPr lang="en-US" sz="750" dirty="0"/>
          </a:p>
        </p:txBody>
      </p:sp>
      <p:sp>
        <p:nvSpPr>
          <p:cNvPr id="82" name="Shape 80"/>
          <p:cNvSpPr/>
          <p:nvPr/>
        </p:nvSpPr>
        <p:spPr>
          <a:xfrm>
            <a:off x="1428750" y="4843463"/>
            <a:ext cx="9525000" cy="0"/>
          </a:xfrm>
          <a:prstGeom prst="line">
            <a:avLst/>
          </a:prstGeom>
          <a:noFill/>
          <a:ln w="12700">
            <a:solidFill>
              <a:srgbClr val="22354A"/>
            </a:solidFill>
            <a:prstDash val="solid"/>
          </a:ln>
        </p:spPr>
      </p:sp>
      <p:sp>
        <p:nvSpPr>
          <p:cNvPr id="83" name="Text 81"/>
          <p:cNvSpPr txBox="1"/>
          <p:nvPr/>
        </p:nvSpPr>
        <p:spPr>
          <a:xfrm>
            <a:off x="914400" y="4786313"/>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84" name="Shape 82"/>
          <p:cNvSpPr/>
          <p:nvPr/>
        </p:nvSpPr>
        <p:spPr>
          <a:xfrm>
            <a:off x="1428750" y="4657725"/>
            <a:ext cx="9525000" cy="0"/>
          </a:xfrm>
          <a:prstGeom prst="line">
            <a:avLst/>
          </a:prstGeom>
          <a:noFill/>
          <a:ln w="12700">
            <a:solidFill>
              <a:srgbClr val="182838"/>
            </a:solidFill>
            <a:prstDash val="solid"/>
          </a:ln>
        </p:spPr>
      </p:sp>
      <p:sp>
        <p:nvSpPr>
          <p:cNvPr id="85" name="Text 83"/>
          <p:cNvSpPr txBox="1"/>
          <p:nvPr/>
        </p:nvSpPr>
        <p:spPr>
          <a:xfrm>
            <a:off x="914400" y="4600575"/>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+5</a:t>
            </a:r>
            <a:endParaRPr lang="en-US" sz="750" dirty="0"/>
          </a:p>
        </p:txBody>
      </p:sp>
      <p:sp>
        <p:nvSpPr>
          <p:cNvPr id="86" name="Shape 84"/>
          <p:cNvSpPr/>
          <p:nvPr/>
        </p:nvSpPr>
        <p:spPr>
          <a:xfrm>
            <a:off x="1428750" y="4471988"/>
            <a:ext cx="9525000" cy="0"/>
          </a:xfrm>
          <a:prstGeom prst="line">
            <a:avLst/>
          </a:prstGeom>
          <a:noFill/>
          <a:ln w="12700">
            <a:solidFill>
              <a:srgbClr val="182838"/>
            </a:solidFill>
            <a:prstDash val="solid"/>
          </a:ln>
        </p:spPr>
      </p:sp>
      <p:sp>
        <p:nvSpPr>
          <p:cNvPr id="87" name="Text 85"/>
          <p:cNvSpPr txBox="1"/>
          <p:nvPr/>
        </p:nvSpPr>
        <p:spPr>
          <a:xfrm>
            <a:off x="914400" y="4414838"/>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88" name="Shape 86"/>
          <p:cNvSpPr/>
          <p:nvPr/>
        </p:nvSpPr>
        <p:spPr>
          <a:xfrm>
            <a:off x="1428750" y="4286250"/>
            <a:ext cx="9525000" cy="0"/>
          </a:xfrm>
          <a:prstGeom prst="line">
            <a:avLst/>
          </a:prstGeom>
          <a:noFill/>
          <a:ln w="12700">
            <a:solidFill>
              <a:srgbClr val="182838"/>
            </a:solidFill>
            <a:prstDash val="solid"/>
          </a:ln>
        </p:spPr>
      </p:sp>
      <p:sp>
        <p:nvSpPr>
          <p:cNvPr id="89" name="Text 87"/>
          <p:cNvSpPr txBox="1"/>
          <p:nvPr/>
        </p:nvSpPr>
        <p:spPr>
          <a:xfrm>
            <a:off x="914400" y="4229100"/>
            <a:ext cx="438150" cy="114300"/>
          </a:xfrm>
          <a:prstGeom prst="rect">
            <a:avLst/>
          </a:prstGeom>
          <a:noFill/>
          <a:ln/>
        </p:spPr>
        <p:txBody>
          <a:bodyPr wrap="square" lIns="0" tIns="0" rIns="0" bIns="0" rtlCol="0" anchor="t"/>
          <a:lstStyle/>
          <a:p>
            <a:pPr algn="r" indent="0" marL="0">
              <a:lnSpc>
                <a:spcPts val="900"/>
              </a:lnSpc>
              <a:buNone/>
            </a:pPr>
            <a:r>
              <a:rPr lang="en-US" sz="750" dirty="0">
                <a:solidFill>
                  <a:srgbClr val="8A8880"/>
                </a:solidFill>
                <a:latin typeface="Consolas" pitchFamily="34" charset="0"/>
                <a:ea typeface="Consolas" pitchFamily="34" charset="-122"/>
                <a:cs typeface="Consolas" pitchFamily="34" charset="-120"/>
              </a:rPr>
              <a:t>+15</a:t>
            </a:r>
            <a:endParaRPr lang="en-US" sz="750" dirty="0"/>
          </a:p>
        </p:txBody>
      </p:sp>
      <p:sp>
        <p:nvSpPr>
          <p:cNvPr id="90" name="Shape 88"/>
          <p:cNvSpPr/>
          <p:nvPr/>
        </p:nvSpPr>
        <p:spPr>
          <a:xfrm>
            <a:off x="1428750" y="5029200"/>
            <a:ext cx="0" cy="47625"/>
          </a:xfrm>
          <a:prstGeom prst="line">
            <a:avLst/>
          </a:prstGeom>
          <a:noFill/>
          <a:ln w="12700">
            <a:solidFill>
              <a:srgbClr val="8A8880"/>
            </a:solidFill>
            <a:prstDash val="solid"/>
          </a:ln>
        </p:spPr>
      </p:sp>
      <p:sp>
        <p:nvSpPr>
          <p:cNvPr id="91" name="Text 89"/>
          <p:cNvSpPr txBox="1"/>
          <p:nvPr/>
        </p:nvSpPr>
        <p:spPr>
          <a:xfrm>
            <a:off x="1200150" y="50863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92" name="Shape 90"/>
          <p:cNvSpPr/>
          <p:nvPr/>
        </p:nvSpPr>
        <p:spPr>
          <a:xfrm>
            <a:off x="3333750" y="5029200"/>
            <a:ext cx="0" cy="47625"/>
          </a:xfrm>
          <a:prstGeom prst="line">
            <a:avLst/>
          </a:prstGeom>
          <a:noFill/>
          <a:ln w="12700">
            <a:solidFill>
              <a:srgbClr val="8A8880"/>
            </a:solidFill>
            <a:prstDash val="solid"/>
          </a:ln>
        </p:spPr>
      </p:sp>
      <p:sp>
        <p:nvSpPr>
          <p:cNvPr id="93" name="Text 91"/>
          <p:cNvSpPr txBox="1"/>
          <p:nvPr/>
        </p:nvSpPr>
        <p:spPr>
          <a:xfrm>
            <a:off x="3105150" y="50863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94" name="Shape 92"/>
          <p:cNvSpPr/>
          <p:nvPr/>
        </p:nvSpPr>
        <p:spPr>
          <a:xfrm>
            <a:off x="5238750" y="5029200"/>
            <a:ext cx="0" cy="47625"/>
          </a:xfrm>
          <a:prstGeom prst="line">
            <a:avLst/>
          </a:prstGeom>
          <a:noFill/>
          <a:ln w="12700">
            <a:solidFill>
              <a:srgbClr val="8A8880"/>
            </a:solidFill>
            <a:prstDash val="solid"/>
          </a:ln>
        </p:spPr>
      </p:sp>
      <p:sp>
        <p:nvSpPr>
          <p:cNvPr id="95" name="Text 93"/>
          <p:cNvSpPr txBox="1"/>
          <p:nvPr/>
        </p:nvSpPr>
        <p:spPr>
          <a:xfrm>
            <a:off x="5010150" y="50863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96" name="Shape 94"/>
          <p:cNvSpPr/>
          <p:nvPr/>
        </p:nvSpPr>
        <p:spPr>
          <a:xfrm>
            <a:off x="7143750" y="5029200"/>
            <a:ext cx="0" cy="47625"/>
          </a:xfrm>
          <a:prstGeom prst="line">
            <a:avLst/>
          </a:prstGeom>
          <a:noFill/>
          <a:ln w="12700">
            <a:solidFill>
              <a:srgbClr val="8A8880"/>
            </a:solidFill>
            <a:prstDash val="solid"/>
          </a:ln>
        </p:spPr>
      </p:sp>
      <p:sp>
        <p:nvSpPr>
          <p:cNvPr id="97" name="Text 95"/>
          <p:cNvSpPr txBox="1"/>
          <p:nvPr/>
        </p:nvSpPr>
        <p:spPr>
          <a:xfrm>
            <a:off x="6915150" y="50863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20</a:t>
            </a:r>
            <a:endParaRPr lang="en-US" sz="750" dirty="0"/>
          </a:p>
        </p:txBody>
      </p:sp>
      <p:sp>
        <p:nvSpPr>
          <p:cNvPr id="98" name="Shape 96"/>
          <p:cNvSpPr/>
          <p:nvPr/>
        </p:nvSpPr>
        <p:spPr>
          <a:xfrm>
            <a:off x="9048750" y="5029200"/>
            <a:ext cx="0" cy="47625"/>
          </a:xfrm>
          <a:prstGeom prst="line">
            <a:avLst/>
          </a:prstGeom>
          <a:noFill/>
          <a:ln w="12700">
            <a:solidFill>
              <a:srgbClr val="8A8880"/>
            </a:solidFill>
            <a:prstDash val="solid"/>
          </a:ln>
        </p:spPr>
      </p:sp>
      <p:sp>
        <p:nvSpPr>
          <p:cNvPr id="99" name="Text 97"/>
          <p:cNvSpPr txBox="1"/>
          <p:nvPr/>
        </p:nvSpPr>
        <p:spPr>
          <a:xfrm>
            <a:off x="8820150" y="50863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30</a:t>
            </a:r>
            <a:endParaRPr lang="en-US" sz="750" dirty="0"/>
          </a:p>
        </p:txBody>
      </p:sp>
      <p:sp>
        <p:nvSpPr>
          <p:cNvPr id="100" name="Shape 98"/>
          <p:cNvSpPr/>
          <p:nvPr/>
        </p:nvSpPr>
        <p:spPr>
          <a:xfrm>
            <a:off x="10953750" y="5029200"/>
            <a:ext cx="0" cy="47625"/>
          </a:xfrm>
          <a:prstGeom prst="line">
            <a:avLst/>
          </a:prstGeom>
          <a:noFill/>
          <a:ln w="12700">
            <a:solidFill>
              <a:srgbClr val="8A8880"/>
            </a:solidFill>
            <a:prstDash val="solid"/>
          </a:ln>
        </p:spPr>
      </p:sp>
      <p:sp>
        <p:nvSpPr>
          <p:cNvPr id="101" name="Text 99"/>
          <p:cNvSpPr txBox="1"/>
          <p:nvPr/>
        </p:nvSpPr>
        <p:spPr>
          <a:xfrm>
            <a:off x="10725150" y="508635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40</a:t>
            </a:r>
            <a:endParaRPr lang="en-US" sz="750" dirty="0"/>
          </a:p>
        </p:txBody>
      </p:sp>
      <p:sp>
        <p:nvSpPr>
          <p:cNvPr id="102" name="Text 100"/>
          <p:cNvSpPr txBox="1"/>
          <p:nvPr/>
        </p:nvSpPr>
        <p:spPr>
          <a:xfrm>
            <a:off x="1428750" y="4200525"/>
            <a:ext cx="2476500" cy="131445"/>
          </a:xfrm>
          <a:prstGeom prst="rect">
            <a:avLst/>
          </a:prstGeom>
          <a:noFill/>
          <a:ln/>
        </p:spPr>
        <p:txBody>
          <a:bodyPr wrap="square" lIns="0" tIns="0" rIns="0" bIns="0" rtlCol="0" anchor="t"/>
          <a:lstStyle/>
          <a:p>
            <a:pPr algn="l" indent="0" marL="0">
              <a:lnSpc>
                <a:spcPts val="1035"/>
              </a:lnSpc>
              <a:buNone/>
            </a:pPr>
            <a:r>
              <a:rPr lang="en-US" sz="863" dirty="0">
                <a:solidFill>
                  <a:srgbClr val="8A8880"/>
                </a:solidFill>
                <a:latin typeface="Malgun Gothic" pitchFamily="34" charset="0"/>
                <a:ea typeface="Malgun Gothic" pitchFamily="34" charset="-122"/>
                <a:cs typeface="Malgun Gothic" pitchFamily="34" charset="-120"/>
              </a:rPr>
              <a:t>차이 = 보정값 (실제 − 이론값 − W)</a:t>
            </a:r>
            <a:endParaRPr lang="en-US" sz="863" dirty="0"/>
          </a:p>
        </p:txBody>
      </p:sp>
      <p:sp>
        <p:nvSpPr>
          <p:cNvPr id="103" name="Shape 101"/>
          <p:cNvSpPr/>
          <p:nvPr/>
        </p:nvSpPr>
        <p:spPr>
          <a:xfrm>
            <a:off x="3798570" y="4227195"/>
            <a:ext cx="60960" cy="60960"/>
          </a:xfrm>
          <a:prstGeom prst="ellipse">
            <a:avLst/>
          </a:prstGeom>
          <a:solidFill>
            <a:srgbClr val="EAE7E0"/>
          </a:solidFill>
          <a:ln/>
        </p:spPr>
      </p:sp>
      <p:sp>
        <p:nvSpPr>
          <p:cNvPr id="104" name="Text 102"/>
          <p:cNvSpPr txBox="1"/>
          <p:nvPr/>
        </p:nvSpPr>
        <p:spPr>
          <a:xfrm>
            <a:off x="3943350" y="4200525"/>
            <a:ext cx="1619250" cy="131445"/>
          </a:xfrm>
          <a:prstGeom prst="rect">
            <a:avLst/>
          </a:prstGeom>
          <a:noFill/>
          <a:ln/>
        </p:spPr>
        <p:txBody>
          <a:bodyPr wrap="square" lIns="0" tIns="0" rIns="0" bIns="0" rtlCol="0" anchor="t"/>
          <a:lstStyle/>
          <a:p>
            <a:pPr algn="l" indent="0" marL="0">
              <a:lnSpc>
                <a:spcPts val="1035"/>
              </a:lnSpc>
              <a:buNone/>
            </a:pPr>
            <a:r>
              <a:rPr lang="en-US" sz="863" dirty="0">
                <a:solidFill>
                  <a:srgbClr val="EAE7E0"/>
                </a:solidFill>
                <a:latin typeface="Malgun Gothic" pitchFamily="34" charset="0"/>
                <a:ea typeface="Malgun Gothic" pitchFamily="34" charset="-122"/>
                <a:cs typeface="Malgun Gothic" pitchFamily="34" charset="-120"/>
              </a:rPr>
              <a:t>점 = 테스트 40회</a:t>
            </a:r>
            <a:endParaRPr lang="en-US" sz="863" dirty="0"/>
          </a:p>
        </p:txBody>
      </p:sp>
      <p:sp>
        <p:nvSpPr>
          <p:cNvPr id="105" name="Text 103"/>
          <p:cNvSpPr txBox="1"/>
          <p:nvPr/>
        </p:nvSpPr>
        <p:spPr>
          <a:xfrm>
            <a:off x="5715000" y="4200525"/>
            <a:ext cx="2571750" cy="131445"/>
          </a:xfrm>
          <a:prstGeom prst="rect">
            <a:avLst/>
          </a:prstGeom>
          <a:noFill/>
          <a:ln/>
        </p:spPr>
        <p:txBody>
          <a:bodyPr wrap="square" lIns="0" tIns="0" rIns="0" bIns="0" rtlCol="0" anchor="t"/>
          <a:lstStyle/>
          <a:p>
            <a:pPr algn="l" indent="0" marL="0">
              <a:lnSpc>
                <a:spcPts val="1035"/>
              </a:lnSpc>
              <a:buNone/>
            </a:pPr>
            <a:r>
              <a:rPr lang="en-US" sz="863" dirty="0">
                <a:solidFill>
                  <a:srgbClr val="EFB13C"/>
                </a:solidFill>
                <a:latin typeface="Malgun Gothic" pitchFamily="34" charset="0"/>
                <a:ea typeface="Malgun Gothic" pitchFamily="34" charset="-122"/>
                <a:cs typeface="Malgun Gothic" pitchFamily="34" charset="-120"/>
              </a:rPr>
              <a:t>위쪽일수록 더 나온 것</a:t>
            </a:r>
            <a:endParaRPr lang="en-US" sz="863" dirty="0"/>
          </a:p>
        </p:txBody>
      </p:sp>
      <p:sp>
        <p:nvSpPr>
          <p:cNvPr id="106" name="Shape 104"/>
          <p:cNvSpPr/>
          <p:nvPr/>
        </p:nvSpPr>
        <p:spPr>
          <a:xfrm>
            <a:off x="8439150" y="4257675"/>
            <a:ext cx="228600" cy="0"/>
          </a:xfrm>
          <a:prstGeom prst="line">
            <a:avLst/>
          </a:prstGeom>
          <a:noFill/>
          <a:ln w="17780">
            <a:solidFill>
              <a:srgbClr val="A8BCD1"/>
            </a:solidFill>
            <a:prstDash val="dash"/>
          </a:ln>
        </p:spPr>
      </p:sp>
      <p:sp>
        <p:nvSpPr>
          <p:cNvPr id="107" name="Text 105"/>
          <p:cNvSpPr txBox="1"/>
          <p:nvPr/>
        </p:nvSpPr>
        <p:spPr>
          <a:xfrm>
            <a:off x="8705850" y="4200525"/>
            <a:ext cx="2247900" cy="131445"/>
          </a:xfrm>
          <a:prstGeom prst="rect">
            <a:avLst/>
          </a:prstGeom>
          <a:noFill/>
          <a:ln/>
        </p:spPr>
        <p:txBody>
          <a:bodyPr wrap="square" lIns="0" tIns="0" rIns="0" bIns="0" rtlCol="0" anchor="t"/>
          <a:lstStyle/>
          <a:p>
            <a:pPr algn="l" indent="0" marL="0">
              <a:lnSpc>
                <a:spcPts val="1035"/>
              </a:lnSpc>
              <a:buNone/>
            </a:pPr>
            <a:r>
              <a:rPr lang="en-US" sz="863" dirty="0">
                <a:solidFill>
                  <a:srgbClr val="A8BCD1"/>
                </a:solidFill>
                <a:latin typeface="Malgun Gothic" pitchFamily="34" charset="0"/>
                <a:ea typeface="Malgun Gothic" pitchFamily="34" charset="-122"/>
                <a:cs typeface="Malgun Gothic" pitchFamily="34" charset="-120"/>
              </a:rPr>
              <a:t>종전 · 온도 구분 없이 +2.5</a:t>
            </a:r>
            <a:endParaRPr lang="en-US" sz="863" dirty="0"/>
          </a:p>
        </p:txBody>
      </p:sp>
      <p:sp>
        <p:nvSpPr>
          <p:cNvPr id="108" name="Shape 106"/>
          <p:cNvSpPr/>
          <p:nvPr/>
        </p:nvSpPr>
        <p:spPr>
          <a:xfrm>
            <a:off x="1428750" y="4752265"/>
            <a:ext cx="9525000" cy="0"/>
          </a:xfrm>
          <a:prstGeom prst="line">
            <a:avLst/>
          </a:prstGeom>
          <a:noFill/>
          <a:ln w="17780">
            <a:solidFill>
              <a:srgbClr val="A8BCD1"/>
            </a:solidFill>
            <a:prstDash val="dash"/>
          </a:ln>
        </p:spPr>
      </p:sp>
      <p:sp>
        <p:nvSpPr>
          <p:cNvPr id="109" name="Shape 107"/>
          <p:cNvSpPr/>
          <p:nvPr/>
        </p:nvSpPr>
        <p:spPr>
          <a:xfrm>
            <a:off x="2941320" y="4332108"/>
            <a:ext cx="60960" cy="60960"/>
          </a:xfrm>
          <a:prstGeom prst="ellipse">
            <a:avLst/>
          </a:prstGeom>
          <a:solidFill>
            <a:srgbClr val="EAE7E0"/>
          </a:solidFill>
          <a:ln/>
        </p:spPr>
      </p:sp>
      <p:sp>
        <p:nvSpPr>
          <p:cNvPr id="110" name="Shape 108"/>
          <p:cNvSpPr/>
          <p:nvPr/>
        </p:nvSpPr>
        <p:spPr>
          <a:xfrm>
            <a:off x="3027045" y="4349679"/>
            <a:ext cx="60960" cy="60960"/>
          </a:xfrm>
          <a:prstGeom prst="ellipse">
            <a:avLst/>
          </a:prstGeom>
          <a:solidFill>
            <a:srgbClr val="EAE7E0"/>
          </a:solidFill>
          <a:ln/>
        </p:spPr>
      </p:sp>
      <p:sp>
        <p:nvSpPr>
          <p:cNvPr id="111" name="Shape 109"/>
          <p:cNvSpPr/>
          <p:nvPr/>
        </p:nvSpPr>
        <p:spPr>
          <a:xfrm>
            <a:off x="3665220" y="4486716"/>
            <a:ext cx="60960" cy="60960"/>
          </a:xfrm>
          <a:prstGeom prst="ellipse">
            <a:avLst/>
          </a:prstGeom>
          <a:solidFill>
            <a:srgbClr val="EAE7E0"/>
          </a:solidFill>
          <a:ln/>
        </p:spPr>
      </p:sp>
      <p:sp>
        <p:nvSpPr>
          <p:cNvPr id="112" name="Shape 110"/>
          <p:cNvSpPr/>
          <p:nvPr/>
        </p:nvSpPr>
        <p:spPr>
          <a:xfrm>
            <a:off x="4046220" y="4600759"/>
            <a:ext cx="60960" cy="60960"/>
          </a:xfrm>
          <a:prstGeom prst="ellipse">
            <a:avLst/>
          </a:prstGeom>
          <a:solidFill>
            <a:srgbClr val="EAE7E0"/>
          </a:solidFill>
          <a:ln/>
        </p:spPr>
      </p:sp>
      <p:sp>
        <p:nvSpPr>
          <p:cNvPr id="113" name="Shape 111"/>
          <p:cNvSpPr/>
          <p:nvPr/>
        </p:nvSpPr>
        <p:spPr>
          <a:xfrm>
            <a:off x="4446270" y="4611123"/>
            <a:ext cx="60960" cy="60960"/>
          </a:xfrm>
          <a:prstGeom prst="ellipse">
            <a:avLst/>
          </a:prstGeom>
          <a:solidFill>
            <a:srgbClr val="EAE7E0"/>
          </a:solidFill>
          <a:ln/>
        </p:spPr>
      </p:sp>
      <p:sp>
        <p:nvSpPr>
          <p:cNvPr id="114" name="Shape 112"/>
          <p:cNvSpPr/>
          <p:nvPr/>
        </p:nvSpPr>
        <p:spPr>
          <a:xfrm>
            <a:off x="4636770" y="4628099"/>
            <a:ext cx="60960" cy="60960"/>
          </a:xfrm>
          <a:prstGeom prst="ellipse">
            <a:avLst/>
          </a:prstGeom>
          <a:solidFill>
            <a:srgbClr val="EAE7E0"/>
          </a:solidFill>
          <a:ln/>
        </p:spPr>
      </p:sp>
      <p:sp>
        <p:nvSpPr>
          <p:cNvPr id="115" name="Shape 113"/>
          <p:cNvSpPr/>
          <p:nvPr/>
        </p:nvSpPr>
        <p:spPr>
          <a:xfrm>
            <a:off x="4827270" y="4643850"/>
            <a:ext cx="60960" cy="60960"/>
          </a:xfrm>
          <a:prstGeom prst="ellipse">
            <a:avLst/>
          </a:prstGeom>
          <a:solidFill>
            <a:srgbClr val="EAE7E0"/>
          </a:solidFill>
          <a:ln/>
        </p:spPr>
      </p:sp>
      <p:sp>
        <p:nvSpPr>
          <p:cNvPr id="116" name="Shape 114"/>
          <p:cNvSpPr/>
          <p:nvPr/>
        </p:nvSpPr>
        <p:spPr>
          <a:xfrm>
            <a:off x="4998720" y="4581219"/>
            <a:ext cx="60960" cy="60960"/>
          </a:xfrm>
          <a:prstGeom prst="ellipse">
            <a:avLst/>
          </a:prstGeom>
          <a:solidFill>
            <a:srgbClr val="EAE7E0"/>
          </a:solidFill>
          <a:ln/>
        </p:spPr>
      </p:sp>
      <p:sp>
        <p:nvSpPr>
          <p:cNvPr id="117" name="Shape 115"/>
          <p:cNvSpPr/>
          <p:nvPr/>
        </p:nvSpPr>
        <p:spPr>
          <a:xfrm>
            <a:off x="5113020" y="4677134"/>
            <a:ext cx="60960" cy="60960"/>
          </a:xfrm>
          <a:prstGeom prst="ellipse">
            <a:avLst/>
          </a:prstGeom>
          <a:solidFill>
            <a:srgbClr val="EAE7E0"/>
          </a:solidFill>
          <a:ln/>
        </p:spPr>
      </p:sp>
      <p:sp>
        <p:nvSpPr>
          <p:cNvPr id="118" name="Shape 116"/>
          <p:cNvSpPr/>
          <p:nvPr/>
        </p:nvSpPr>
        <p:spPr>
          <a:xfrm>
            <a:off x="5436870" y="4621896"/>
            <a:ext cx="60960" cy="60960"/>
          </a:xfrm>
          <a:prstGeom prst="ellipse">
            <a:avLst/>
          </a:prstGeom>
          <a:solidFill>
            <a:srgbClr val="EAE7E0"/>
          </a:solidFill>
          <a:ln/>
        </p:spPr>
      </p:sp>
      <p:sp>
        <p:nvSpPr>
          <p:cNvPr id="119" name="Shape 117"/>
          <p:cNvSpPr/>
          <p:nvPr/>
        </p:nvSpPr>
        <p:spPr>
          <a:xfrm>
            <a:off x="5722620" y="4633411"/>
            <a:ext cx="60960" cy="60960"/>
          </a:xfrm>
          <a:prstGeom prst="ellipse">
            <a:avLst/>
          </a:prstGeom>
          <a:solidFill>
            <a:srgbClr val="EAE7E0"/>
          </a:solidFill>
          <a:ln/>
        </p:spPr>
      </p:sp>
      <p:sp>
        <p:nvSpPr>
          <p:cNvPr id="120" name="Shape 118"/>
          <p:cNvSpPr/>
          <p:nvPr/>
        </p:nvSpPr>
        <p:spPr>
          <a:xfrm>
            <a:off x="5779770" y="4555773"/>
            <a:ext cx="60960" cy="60960"/>
          </a:xfrm>
          <a:prstGeom prst="ellipse">
            <a:avLst/>
          </a:prstGeom>
          <a:solidFill>
            <a:srgbClr val="EAE7E0"/>
          </a:solidFill>
          <a:ln/>
        </p:spPr>
      </p:sp>
      <p:sp>
        <p:nvSpPr>
          <p:cNvPr id="121" name="Shape 119"/>
          <p:cNvSpPr/>
          <p:nvPr/>
        </p:nvSpPr>
        <p:spPr>
          <a:xfrm>
            <a:off x="5836920" y="4572304"/>
            <a:ext cx="60960" cy="60960"/>
          </a:xfrm>
          <a:prstGeom prst="ellipse">
            <a:avLst/>
          </a:prstGeom>
          <a:solidFill>
            <a:srgbClr val="EAE7E0"/>
          </a:solidFill>
          <a:ln/>
        </p:spPr>
      </p:sp>
      <p:sp>
        <p:nvSpPr>
          <p:cNvPr id="122" name="Shape 120"/>
          <p:cNvSpPr/>
          <p:nvPr/>
        </p:nvSpPr>
        <p:spPr>
          <a:xfrm>
            <a:off x="6046470" y="4539911"/>
            <a:ext cx="60960" cy="60960"/>
          </a:xfrm>
          <a:prstGeom prst="ellipse">
            <a:avLst/>
          </a:prstGeom>
          <a:solidFill>
            <a:srgbClr val="EAE7E0"/>
          </a:solidFill>
          <a:ln/>
        </p:spPr>
      </p:sp>
      <p:sp>
        <p:nvSpPr>
          <p:cNvPr id="123" name="Shape 121"/>
          <p:cNvSpPr/>
          <p:nvPr/>
        </p:nvSpPr>
        <p:spPr>
          <a:xfrm>
            <a:off x="6065520" y="4589689"/>
            <a:ext cx="60960" cy="60960"/>
          </a:xfrm>
          <a:prstGeom prst="ellipse">
            <a:avLst/>
          </a:prstGeom>
          <a:solidFill>
            <a:srgbClr val="EAE7E0"/>
          </a:solidFill>
          <a:ln/>
        </p:spPr>
      </p:sp>
      <p:sp>
        <p:nvSpPr>
          <p:cNvPr id="124" name="Shape 122"/>
          <p:cNvSpPr/>
          <p:nvPr/>
        </p:nvSpPr>
        <p:spPr>
          <a:xfrm>
            <a:off x="6179820" y="4605402"/>
            <a:ext cx="60960" cy="60960"/>
          </a:xfrm>
          <a:prstGeom prst="ellipse">
            <a:avLst/>
          </a:prstGeom>
          <a:solidFill>
            <a:srgbClr val="EAE7E0"/>
          </a:solidFill>
          <a:ln/>
        </p:spPr>
      </p:sp>
      <p:sp>
        <p:nvSpPr>
          <p:cNvPr id="125" name="Shape 123"/>
          <p:cNvSpPr/>
          <p:nvPr/>
        </p:nvSpPr>
        <p:spPr>
          <a:xfrm>
            <a:off x="6465570" y="4613649"/>
            <a:ext cx="60960" cy="60960"/>
          </a:xfrm>
          <a:prstGeom prst="ellipse">
            <a:avLst/>
          </a:prstGeom>
          <a:solidFill>
            <a:srgbClr val="EAE7E0"/>
          </a:solidFill>
          <a:ln/>
        </p:spPr>
      </p:sp>
      <p:sp>
        <p:nvSpPr>
          <p:cNvPr id="126" name="Shape 124"/>
          <p:cNvSpPr/>
          <p:nvPr/>
        </p:nvSpPr>
        <p:spPr>
          <a:xfrm>
            <a:off x="6484620" y="4601130"/>
            <a:ext cx="60960" cy="60960"/>
          </a:xfrm>
          <a:prstGeom prst="ellipse">
            <a:avLst/>
          </a:prstGeom>
          <a:solidFill>
            <a:srgbClr val="EAE7E0"/>
          </a:solidFill>
          <a:ln/>
        </p:spPr>
      </p:sp>
      <p:sp>
        <p:nvSpPr>
          <p:cNvPr id="127" name="Shape 125"/>
          <p:cNvSpPr/>
          <p:nvPr/>
        </p:nvSpPr>
        <p:spPr>
          <a:xfrm>
            <a:off x="7360920" y="4715693"/>
            <a:ext cx="60960" cy="60960"/>
          </a:xfrm>
          <a:prstGeom prst="ellipse">
            <a:avLst/>
          </a:prstGeom>
          <a:solidFill>
            <a:srgbClr val="EAE7E0"/>
          </a:solidFill>
          <a:ln/>
        </p:spPr>
      </p:sp>
      <p:sp>
        <p:nvSpPr>
          <p:cNvPr id="128" name="Shape 126"/>
          <p:cNvSpPr/>
          <p:nvPr/>
        </p:nvSpPr>
        <p:spPr>
          <a:xfrm>
            <a:off x="8084820" y="4891327"/>
            <a:ext cx="60960" cy="60960"/>
          </a:xfrm>
          <a:prstGeom prst="ellipse">
            <a:avLst/>
          </a:prstGeom>
          <a:solidFill>
            <a:srgbClr val="EAE7E0"/>
          </a:solidFill>
          <a:ln/>
        </p:spPr>
      </p:sp>
      <p:sp>
        <p:nvSpPr>
          <p:cNvPr id="129" name="Shape 127"/>
          <p:cNvSpPr/>
          <p:nvPr/>
        </p:nvSpPr>
        <p:spPr>
          <a:xfrm>
            <a:off x="8122920" y="4934975"/>
            <a:ext cx="60960" cy="60960"/>
          </a:xfrm>
          <a:prstGeom prst="ellipse">
            <a:avLst/>
          </a:prstGeom>
          <a:solidFill>
            <a:srgbClr val="EAE7E0"/>
          </a:solidFill>
          <a:ln/>
        </p:spPr>
      </p:sp>
      <p:sp>
        <p:nvSpPr>
          <p:cNvPr id="130" name="Shape 128"/>
          <p:cNvSpPr/>
          <p:nvPr/>
        </p:nvSpPr>
        <p:spPr>
          <a:xfrm>
            <a:off x="8141970" y="4834491"/>
            <a:ext cx="60960" cy="60960"/>
          </a:xfrm>
          <a:prstGeom prst="ellipse">
            <a:avLst/>
          </a:prstGeom>
          <a:solidFill>
            <a:srgbClr val="EAE7E0"/>
          </a:solidFill>
          <a:ln/>
        </p:spPr>
      </p:sp>
      <p:sp>
        <p:nvSpPr>
          <p:cNvPr id="131" name="Shape 129"/>
          <p:cNvSpPr/>
          <p:nvPr/>
        </p:nvSpPr>
        <p:spPr>
          <a:xfrm>
            <a:off x="8199120" y="4838986"/>
            <a:ext cx="60960" cy="60960"/>
          </a:xfrm>
          <a:prstGeom prst="ellipse">
            <a:avLst/>
          </a:prstGeom>
          <a:solidFill>
            <a:srgbClr val="EAE7E0"/>
          </a:solidFill>
          <a:ln/>
        </p:spPr>
      </p:sp>
      <p:sp>
        <p:nvSpPr>
          <p:cNvPr id="132" name="Shape 130"/>
          <p:cNvSpPr/>
          <p:nvPr/>
        </p:nvSpPr>
        <p:spPr>
          <a:xfrm>
            <a:off x="8522970" y="4912241"/>
            <a:ext cx="60960" cy="60960"/>
          </a:xfrm>
          <a:prstGeom prst="ellipse">
            <a:avLst/>
          </a:prstGeom>
          <a:solidFill>
            <a:srgbClr val="EAE7E0"/>
          </a:solidFill>
          <a:ln/>
        </p:spPr>
      </p:sp>
      <p:sp>
        <p:nvSpPr>
          <p:cNvPr id="133" name="Shape 131"/>
          <p:cNvSpPr/>
          <p:nvPr/>
        </p:nvSpPr>
        <p:spPr>
          <a:xfrm>
            <a:off x="8770620" y="4993334"/>
            <a:ext cx="60960" cy="60960"/>
          </a:xfrm>
          <a:prstGeom prst="ellipse">
            <a:avLst/>
          </a:prstGeom>
          <a:solidFill>
            <a:srgbClr val="EAE7E0"/>
          </a:solidFill>
          <a:ln/>
        </p:spPr>
      </p:sp>
      <p:sp>
        <p:nvSpPr>
          <p:cNvPr id="134" name="Shape 132"/>
          <p:cNvSpPr/>
          <p:nvPr/>
        </p:nvSpPr>
        <p:spPr>
          <a:xfrm>
            <a:off x="9056370" y="4872604"/>
            <a:ext cx="60960" cy="60960"/>
          </a:xfrm>
          <a:prstGeom prst="ellipse">
            <a:avLst/>
          </a:prstGeom>
          <a:solidFill>
            <a:srgbClr val="EAE7E0"/>
          </a:solidFill>
          <a:ln/>
        </p:spPr>
      </p:sp>
      <p:sp>
        <p:nvSpPr>
          <p:cNvPr id="135" name="Shape 133"/>
          <p:cNvSpPr/>
          <p:nvPr/>
        </p:nvSpPr>
        <p:spPr>
          <a:xfrm>
            <a:off x="9056370" y="4830776"/>
            <a:ext cx="60960" cy="60960"/>
          </a:xfrm>
          <a:prstGeom prst="ellipse">
            <a:avLst/>
          </a:prstGeom>
          <a:solidFill>
            <a:srgbClr val="EAE7E0"/>
          </a:solidFill>
          <a:ln/>
        </p:spPr>
      </p:sp>
      <p:sp>
        <p:nvSpPr>
          <p:cNvPr id="136" name="Shape 134"/>
          <p:cNvSpPr/>
          <p:nvPr/>
        </p:nvSpPr>
        <p:spPr>
          <a:xfrm>
            <a:off x="9151620" y="4941104"/>
            <a:ext cx="60960" cy="60960"/>
          </a:xfrm>
          <a:prstGeom prst="ellipse">
            <a:avLst/>
          </a:prstGeom>
          <a:solidFill>
            <a:srgbClr val="EAE7E0"/>
          </a:solidFill>
          <a:ln/>
        </p:spPr>
      </p:sp>
      <p:sp>
        <p:nvSpPr>
          <p:cNvPr id="137" name="Shape 135"/>
          <p:cNvSpPr/>
          <p:nvPr/>
        </p:nvSpPr>
        <p:spPr>
          <a:xfrm>
            <a:off x="9189720" y="4939135"/>
            <a:ext cx="60960" cy="60960"/>
          </a:xfrm>
          <a:prstGeom prst="ellipse">
            <a:avLst/>
          </a:prstGeom>
          <a:solidFill>
            <a:srgbClr val="EAE7E0"/>
          </a:solidFill>
          <a:ln/>
        </p:spPr>
      </p:sp>
      <p:sp>
        <p:nvSpPr>
          <p:cNvPr id="138" name="Shape 136"/>
          <p:cNvSpPr/>
          <p:nvPr/>
        </p:nvSpPr>
        <p:spPr>
          <a:xfrm>
            <a:off x="9342120" y="4845412"/>
            <a:ext cx="60960" cy="60960"/>
          </a:xfrm>
          <a:prstGeom prst="ellipse">
            <a:avLst/>
          </a:prstGeom>
          <a:solidFill>
            <a:srgbClr val="EAE7E0"/>
          </a:solidFill>
          <a:ln/>
        </p:spPr>
      </p:sp>
      <p:sp>
        <p:nvSpPr>
          <p:cNvPr id="139" name="Shape 137"/>
          <p:cNvSpPr/>
          <p:nvPr/>
        </p:nvSpPr>
        <p:spPr>
          <a:xfrm>
            <a:off x="9475470" y="4836014"/>
            <a:ext cx="60960" cy="60960"/>
          </a:xfrm>
          <a:prstGeom prst="ellipse">
            <a:avLst/>
          </a:prstGeom>
          <a:solidFill>
            <a:srgbClr val="EAE7E0"/>
          </a:solidFill>
          <a:ln/>
        </p:spPr>
      </p:sp>
      <p:sp>
        <p:nvSpPr>
          <p:cNvPr id="140" name="Shape 138"/>
          <p:cNvSpPr/>
          <p:nvPr/>
        </p:nvSpPr>
        <p:spPr>
          <a:xfrm>
            <a:off x="9532620" y="4907374"/>
            <a:ext cx="60960" cy="60960"/>
          </a:xfrm>
          <a:prstGeom prst="ellipse">
            <a:avLst/>
          </a:prstGeom>
          <a:solidFill>
            <a:srgbClr val="EAE7E0"/>
          </a:solidFill>
          <a:ln/>
        </p:spPr>
      </p:sp>
      <p:sp>
        <p:nvSpPr>
          <p:cNvPr id="141" name="Shape 139"/>
          <p:cNvSpPr/>
          <p:nvPr/>
        </p:nvSpPr>
        <p:spPr>
          <a:xfrm>
            <a:off x="9551670" y="4734564"/>
            <a:ext cx="60960" cy="60960"/>
          </a:xfrm>
          <a:prstGeom prst="ellipse">
            <a:avLst/>
          </a:prstGeom>
          <a:solidFill>
            <a:srgbClr val="EAE7E0"/>
          </a:solidFill>
          <a:ln/>
        </p:spPr>
      </p:sp>
      <p:sp>
        <p:nvSpPr>
          <p:cNvPr id="142" name="Shape 140"/>
          <p:cNvSpPr/>
          <p:nvPr/>
        </p:nvSpPr>
        <p:spPr>
          <a:xfrm>
            <a:off x="9551670" y="4761310"/>
            <a:ext cx="60960" cy="60960"/>
          </a:xfrm>
          <a:prstGeom prst="ellipse">
            <a:avLst/>
          </a:prstGeom>
          <a:solidFill>
            <a:srgbClr val="EAE7E0"/>
          </a:solidFill>
          <a:ln/>
        </p:spPr>
      </p:sp>
      <p:sp>
        <p:nvSpPr>
          <p:cNvPr id="143" name="Shape 141"/>
          <p:cNvSpPr/>
          <p:nvPr/>
        </p:nvSpPr>
        <p:spPr>
          <a:xfrm>
            <a:off x="9551670" y="4869930"/>
            <a:ext cx="60960" cy="60960"/>
          </a:xfrm>
          <a:prstGeom prst="ellipse">
            <a:avLst/>
          </a:prstGeom>
          <a:solidFill>
            <a:srgbClr val="EAE7E0"/>
          </a:solidFill>
          <a:ln/>
        </p:spPr>
      </p:sp>
      <p:sp>
        <p:nvSpPr>
          <p:cNvPr id="144" name="Shape 142"/>
          <p:cNvSpPr/>
          <p:nvPr/>
        </p:nvSpPr>
        <p:spPr>
          <a:xfrm>
            <a:off x="9704070" y="4787796"/>
            <a:ext cx="60960" cy="60960"/>
          </a:xfrm>
          <a:prstGeom prst="ellipse">
            <a:avLst/>
          </a:prstGeom>
          <a:solidFill>
            <a:srgbClr val="EAE7E0"/>
          </a:solidFill>
          <a:ln/>
        </p:spPr>
      </p:sp>
      <p:sp>
        <p:nvSpPr>
          <p:cNvPr id="145" name="Shape 143"/>
          <p:cNvSpPr/>
          <p:nvPr/>
        </p:nvSpPr>
        <p:spPr>
          <a:xfrm>
            <a:off x="9742170" y="4899425"/>
            <a:ext cx="60960" cy="60960"/>
          </a:xfrm>
          <a:prstGeom prst="ellipse">
            <a:avLst/>
          </a:prstGeom>
          <a:solidFill>
            <a:srgbClr val="EAE7E0"/>
          </a:solidFill>
          <a:ln/>
        </p:spPr>
      </p:sp>
      <p:sp>
        <p:nvSpPr>
          <p:cNvPr id="146" name="Shape 144"/>
          <p:cNvSpPr/>
          <p:nvPr/>
        </p:nvSpPr>
        <p:spPr>
          <a:xfrm>
            <a:off x="9894570" y="4785530"/>
            <a:ext cx="60960" cy="60960"/>
          </a:xfrm>
          <a:prstGeom prst="ellipse">
            <a:avLst/>
          </a:prstGeom>
          <a:solidFill>
            <a:srgbClr val="EAE7E0"/>
          </a:solidFill>
          <a:ln/>
        </p:spPr>
      </p:sp>
      <p:sp>
        <p:nvSpPr>
          <p:cNvPr id="147" name="Shape 145"/>
          <p:cNvSpPr/>
          <p:nvPr/>
        </p:nvSpPr>
        <p:spPr>
          <a:xfrm>
            <a:off x="10180320" y="4734973"/>
            <a:ext cx="60960" cy="60960"/>
          </a:xfrm>
          <a:prstGeom prst="ellipse">
            <a:avLst/>
          </a:prstGeom>
          <a:solidFill>
            <a:srgbClr val="EAE7E0"/>
          </a:solidFill>
          <a:ln/>
        </p:spPr>
      </p:sp>
      <p:sp>
        <p:nvSpPr>
          <p:cNvPr id="148" name="Shape 146"/>
          <p:cNvSpPr/>
          <p:nvPr/>
        </p:nvSpPr>
        <p:spPr>
          <a:xfrm>
            <a:off x="10523220" y="4760084"/>
            <a:ext cx="60960" cy="60960"/>
          </a:xfrm>
          <a:prstGeom prst="ellipse">
            <a:avLst/>
          </a:prstGeom>
          <a:solidFill>
            <a:srgbClr val="EAE7E0"/>
          </a:solidFill>
          <a:ln/>
        </p:spPr>
      </p:sp>
      <p:sp>
        <p:nvSpPr>
          <p:cNvPr id="149" name="Shape 147"/>
          <p:cNvSpPr/>
          <p:nvPr/>
        </p:nvSpPr>
        <p:spPr>
          <a:xfrm>
            <a:off x="1428750" y="4517307"/>
            <a:ext cx="381000" cy="0"/>
          </a:xfrm>
          <a:prstGeom prst="line">
            <a:avLst/>
          </a:prstGeom>
          <a:noFill/>
          <a:ln w="22860">
            <a:solidFill>
              <a:srgbClr val="EFB13C"/>
            </a:solidFill>
            <a:prstDash val="solid"/>
          </a:ln>
        </p:spPr>
      </p:sp>
      <p:sp>
        <p:nvSpPr>
          <p:cNvPr id="150" name="Shape 148"/>
          <p:cNvSpPr/>
          <p:nvPr/>
        </p:nvSpPr>
        <p:spPr>
          <a:xfrm>
            <a:off x="1809750" y="4517307"/>
            <a:ext cx="381000" cy="0"/>
          </a:xfrm>
          <a:prstGeom prst="line">
            <a:avLst/>
          </a:prstGeom>
          <a:noFill/>
          <a:ln w="22860">
            <a:solidFill>
              <a:srgbClr val="EFB13C"/>
            </a:solidFill>
            <a:prstDash val="solid"/>
          </a:ln>
        </p:spPr>
      </p:sp>
      <p:sp>
        <p:nvSpPr>
          <p:cNvPr id="151" name="Shape 149"/>
          <p:cNvSpPr/>
          <p:nvPr/>
        </p:nvSpPr>
        <p:spPr>
          <a:xfrm>
            <a:off x="2190750" y="4517307"/>
            <a:ext cx="381000" cy="0"/>
          </a:xfrm>
          <a:prstGeom prst="line">
            <a:avLst/>
          </a:prstGeom>
          <a:noFill/>
          <a:ln w="22860">
            <a:solidFill>
              <a:srgbClr val="EFB13C"/>
            </a:solidFill>
            <a:prstDash val="solid"/>
          </a:ln>
        </p:spPr>
      </p:sp>
      <p:sp>
        <p:nvSpPr>
          <p:cNvPr id="152" name="Shape 150"/>
          <p:cNvSpPr/>
          <p:nvPr/>
        </p:nvSpPr>
        <p:spPr>
          <a:xfrm>
            <a:off x="2571750" y="4517307"/>
            <a:ext cx="381000" cy="0"/>
          </a:xfrm>
          <a:prstGeom prst="line">
            <a:avLst/>
          </a:prstGeom>
          <a:noFill/>
          <a:ln w="22860">
            <a:solidFill>
              <a:srgbClr val="EFB13C"/>
            </a:solidFill>
            <a:prstDash val="solid"/>
          </a:ln>
        </p:spPr>
      </p:sp>
      <p:sp>
        <p:nvSpPr>
          <p:cNvPr id="153" name="Shape 151"/>
          <p:cNvSpPr/>
          <p:nvPr/>
        </p:nvSpPr>
        <p:spPr>
          <a:xfrm>
            <a:off x="2952750" y="4517307"/>
            <a:ext cx="381000" cy="48292"/>
          </a:xfrm>
          <a:prstGeom prst="line">
            <a:avLst/>
          </a:prstGeom>
          <a:noFill/>
          <a:ln w="22860">
            <a:solidFill>
              <a:srgbClr val="EFB13C"/>
            </a:solidFill>
            <a:prstDash val="solid"/>
          </a:ln>
        </p:spPr>
      </p:sp>
      <p:sp>
        <p:nvSpPr>
          <p:cNvPr id="154" name="Shape 152"/>
          <p:cNvSpPr/>
          <p:nvPr/>
        </p:nvSpPr>
        <p:spPr>
          <a:xfrm>
            <a:off x="3333750" y="4565599"/>
            <a:ext cx="381000" cy="1857"/>
          </a:xfrm>
          <a:prstGeom prst="line">
            <a:avLst/>
          </a:prstGeom>
          <a:noFill/>
          <a:ln w="22860">
            <a:solidFill>
              <a:srgbClr val="EFB13C"/>
            </a:solidFill>
            <a:prstDash val="solid"/>
          </a:ln>
        </p:spPr>
      </p:sp>
      <p:sp>
        <p:nvSpPr>
          <p:cNvPr id="155" name="Shape 153"/>
          <p:cNvSpPr/>
          <p:nvPr/>
        </p:nvSpPr>
        <p:spPr>
          <a:xfrm>
            <a:off x="3714750" y="4567457"/>
            <a:ext cx="381000" cy="41234"/>
          </a:xfrm>
          <a:prstGeom prst="line">
            <a:avLst/>
          </a:prstGeom>
          <a:noFill/>
          <a:ln w="22860">
            <a:solidFill>
              <a:srgbClr val="EFB13C"/>
            </a:solidFill>
            <a:prstDash val="solid"/>
          </a:ln>
        </p:spPr>
      </p:sp>
      <p:sp>
        <p:nvSpPr>
          <p:cNvPr id="156" name="Shape 154"/>
          <p:cNvSpPr/>
          <p:nvPr/>
        </p:nvSpPr>
        <p:spPr>
          <a:xfrm>
            <a:off x="4095750" y="4608690"/>
            <a:ext cx="381000" cy="33061"/>
          </a:xfrm>
          <a:prstGeom prst="line">
            <a:avLst/>
          </a:prstGeom>
          <a:noFill/>
          <a:ln w="22860">
            <a:solidFill>
              <a:srgbClr val="EFB13C"/>
            </a:solidFill>
            <a:prstDash val="solid"/>
          </a:ln>
        </p:spPr>
      </p:sp>
      <p:sp>
        <p:nvSpPr>
          <p:cNvPr id="157" name="Shape 155"/>
          <p:cNvSpPr/>
          <p:nvPr/>
        </p:nvSpPr>
        <p:spPr>
          <a:xfrm>
            <a:off x="4476750" y="4641752"/>
            <a:ext cx="381000" cy="14859"/>
          </a:xfrm>
          <a:prstGeom prst="line">
            <a:avLst/>
          </a:prstGeom>
          <a:noFill/>
          <a:ln w="22860">
            <a:solidFill>
              <a:srgbClr val="EFB13C"/>
            </a:solidFill>
            <a:prstDash val="solid"/>
          </a:ln>
        </p:spPr>
      </p:sp>
      <p:sp>
        <p:nvSpPr>
          <p:cNvPr id="158" name="Shape 156"/>
          <p:cNvSpPr/>
          <p:nvPr/>
        </p:nvSpPr>
        <p:spPr>
          <a:xfrm flipV="1">
            <a:off x="4857750" y="4651410"/>
            <a:ext cx="381000" cy="5201"/>
          </a:xfrm>
          <a:prstGeom prst="line">
            <a:avLst/>
          </a:prstGeom>
          <a:noFill/>
          <a:ln w="22860">
            <a:solidFill>
              <a:srgbClr val="EFB13C"/>
            </a:solidFill>
            <a:prstDash val="solid"/>
          </a:ln>
        </p:spPr>
      </p:sp>
      <p:sp>
        <p:nvSpPr>
          <p:cNvPr id="159" name="Shape 157"/>
          <p:cNvSpPr/>
          <p:nvPr/>
        </p:nvSpPr>
        <p:spPr>
          <a:xfrm flipV="1">
            <a:off x="5238750" y="4633951"/>
            <a:ext cx="381000" cy="17459"/>
          </a:xfrm>
          <a:prstGeom prst="line">
            <a:avLst/>
          </a:prstGeom>
          <a:noFill/>
          <a:ln w="22860">
            <a:solidFill>
              <a:srgbClr val="EFB13C"/>
            </a:solidFill>
            <a:prstDash val="solid"/>
          </a:ln>
        </p:spPr>
      </p:sp>
      <p:sp>
        <p:nvSpPr>
          <p:cNvPr id="160" name="Shape 158"/>
          <p:cNvSpPr/>
          <p:nvPr/>
        </p:nvSpPr>
        <p:spPr>
          <a:xfrm flipV="1">
            <a:off x="5619750" y="4619463"/>
            <a:ext cx="381000" cy="14488"/>
          </a:xfrm>
          <a:prstGeom prst="line">
            <a:avLst/>
          </a:prstGeom>
          <a:noFill/>
          <a:ln w="22860">
            <a:solidFill>
              <a:srgbClr val="EFB13C"/>
            </a:solidFill>
            <a:prstDash val="solid"/>
          </a:ln>
        </p:spPr>
      </p:sp>
      <p:sp>
        <p:nvSpPr>
          <p:cNvPr id="161" name="Shape 159"/>
          <p:cNvSpPr/>
          <p:nvPr/>
        </p:nvSpPr>
        <p:spPr>
          <a:xfrm>
            <a:off x="6000750" y="4619463"/>
            <a:ext cx="381000" cy="4086"/>
          </a:xfrm>
          <a:prstGeom prst="line">
            <a:avLst/>
          </a:prstGeom>
          <a:noFill/>
          <a:ln w="22860">
            <a:solidFill>
              <a:srgbClr val="EFB13C"/>
            </a:solidFill>
            <a:prstDash val="solid"/>
          </a:ln>
        </p:spPr>
      </p:sp>
      <p:sp>
        <p:nvSpPr>
          <p:cNvPr id="162" name="Shape 160"/>
          <p:cNvSpPr/>
          <p:nvPr/>
        </p:nvSpPr>
        <p:spPr>
          <a:xfrm>
            <a:off x="6381750" y="4623549"/>
            <a:ext cx="381000" cy="32318"/>
          </a:xfrm>
          <a:prstGeom prst="line">
            <a:avLst/>
          </a:prstGeom>
          <a:noFill/>
          <a:ln w="22860">
            <a:solidFill>
              <a:srgbClr val="EFB13C"/>
            </a:solidFill>
            <a:prstDash val="solid"/>
          </a:ln>
        </p:spPr>
      </p:sp>
      <p:sp>
        <p:nvSpPr>
          <p:cNvPr id="163" name="Shape 161"/>
          <p:cNvSpPr/>
          <p:nvPr/>
        </p:nvSpPr>
        <p:spPr>
          <a:xfrm>
            <a:off x="6762750" y="4655868"/>
            <a:ext cx="381000" cy="60179"/>
          </a:xfrm>
          <a:prstGeom prst="line">
            <a:avLst/>
          </a:prstGeom>
          <a:noFill/>
          <a:ln w="22860">
            <a:solidFill>
              <a:srgbClr val="EFB13C"/>
            </a:solidFill>
            <a:prstDash val="solid"/>
          </a:ln>
        </p:spPr>
      </p:sp>
      <p:sp>
        <p:nvSpPr>
          <p:cNvPr id="164" name="Shape 162"/>
          <p:cNvSpPr/>
          <p:nvPr/>
        </p:nvSpPr>
        <p:spPr>
          <a:xfrm>
            <a:off x="7143750" y="4716047"/>
            <a:ext cx="381000" cy="76895"/>
          </a:xfrm>
          <a:prstGeom prst="line">
            <a:avLst/>
          </a:prstGeom>
          <a:noFill/>
          <a:ln w="22860">
            <a:solidFill>
              <a:srgbClr val="EFB13C"/>
            </a:solidFill>
            <a:prstDash val="solid"/>
          </a:ln>
        </p:spPr>
      </p:sp>
      <p:sp>
        <p:nvSpPr>
          <p:cNvPr id="165" name="Shape 163"/>
          <p:cNvSpPr/>
          <p:nvPr/>
        </p:nvSpPr>
        <p:spPr>
          <a:xfrm>
            <a:off x="7524750" y="4792942"/>
            <a:ext cx="381000" cy="74666"/>
          </a:xfrm>
          <a:prstGeom prst="line">
            <a:avLst/>
          </a:prstGeom>
          <a:noFill/>
          <a:ln w="22860">
            <a:solidFill>
              <a:srgbClr val="EFB13C"/>
            </a:solidFill>
            <a:prstDash val="solid"/>
          </a:ln>
        </p:spPr>
      </p:sp>
      <p:sp>
        <p:nvSpPr>
          <p:cNvPr id="166" name="Shape 164"/>
          <p:cNvSpPr/>
          <p:nvPr/>
        </p:nvSpPr>
        <p:spPr>
          <a:xfrm>
            <a:off x="7905750" y="4867608"/>
            <a:ext cx="381000" cy="53864"/>
          </a:xfrm>
          <a:prstGeom prst="line">
            <a:avLst/>
          </a:prstGeom>
          <a:noFill/>
          <a:ln w="22860">
            <a:solidFill>
              <a:srgbClr val="EFB13C"/>
            </a:solidFill>
            <a:prstDash val="solid"/>
          </a:ln>
        </p:spPr>
      </p:sp>
      <p:sp>
        <p:nvSpPr>
          <p:cNvPr id="167" name="Shape 165"/>
          <p:cNvSpPr/>
          <p:nvPr/>
        </p:nvSpPr>
        <p:spPr>
          <a:xfrm>
            <a:off x="8286750" y="4921472"/>
            <a:ext cx="381000" cy="20803"/>
          </a:xfrm>
          <a:prstGeom prst="line">
            <a:avLst/>
          </a:prstGeom>
          <a:noFill/>
          <a:ln w="22860">
            <a:solidFill>
              <a:srgbClr val="EFB13C"/>
            </a:solidFill>
            <a:prstDash val="solid"/>
          </a:ln>
        </p:spPr>
      </p:sp>
      <p:sp>
        <p:nvSpPr>
          <p:cNvPr id="168" name="Shape 166"/>
          <p:cNvSpPr/>
          <p:nvPr/>
        </p:nvSpPr>
        <p:spPr>
          <a:xfrm flipV="1">
            <a:off x="8667750" y="4928530"/>
            <a:ext cx="381000" cy="13745"/>
          </a:xfrm>
          <a:prstGeom prst="line">
            <a:avLst/>
          </a:prstGeom>
          <a:noFill/>
          <a:ln w="22860">
            <a:solidFill>
              <a:srgbClr val="EFB13C"/>
            </a:solidFill>
            <a:prstDash val="solid"/>
          </a:ln>
        </p:spPr>
      </p:sp>
      <p:sp>
        <p:nvSpPr>
          <p:cNvPr id="169" name="Shape 167"/>
          <p:cNvSpPr/>
          <p:nvPr/>
        </p:nvSpPr>
        <p:spPr>
          <a:xfrm flipV="1">
            <a:off x="9048750" y="4889525"/>
            <a:ext cx="381000" cy="39005"/>
          </a:xfrm>
          <a:prstGeom prst="line">
            <a:avLst/>
          </a:prstGeom>
          <a:noFill/>
          <a:ln w="22860">
            <a:solidFill>
              <a:srgbClr val="EFB13C"/>
            </a:solidFill>
            <a:prstDash val="solid"/>
          </a:ln>
        </p:spPr>
      </p:sp>
      <p:sp>
        <p:nvSpPr>
          <p:cNvPr id="170" name="Shape 168"/>
          <p:cNvSpPr/>
          <p:nvPr/>
        </p:nvSpPr>
        <p:spPr>
          <a:xfrm flipV="1">
            <a:off x="9429750" y="4839376"/>
            <a:ext cx="381000" cy="50149"/>
          </a:xfrm>
          <a:prstGeom prst="line">
            <a:avLst/>
          </a:prstGeom>
          <a:noFill/>
          <a:ln w="22860">
            <a:solidFill>
              <a:srgbClr val="EFB13C"/>
            </a:solidFill>
            <a:prstDash val="solid"/>
          </a:ln>
        </p:spPr>
      </p:sp>
      <p:sp>
        <p:nvSpPr>
          <p:cNvPr id="171" name="Shape 169"/>
          <p:cNvSpPr/>
          <p:nvPr/>
        </p:nvSpPr>
        <p:spPr>
          <a:xfrm flipV="1">
            <a:off x="9810750" y="4794428"/>
            <a:ext cx="381000" cy="44948"/>
          </a:xfrm>
          <a:prstGeom prst="line">
            <a:avLst/>
          </a:prstGeom>
          <a:noFill/>
          <a:ln w="22860">
            <a:solidFill>
              <a:srgbClr val="EFB13C"/>
            </a:solidFill>
            <a:prstDash val="solid"/>
          </a:ln>
        </p:spPr>
      </p:sp>
      <p:sp>
        <p:nvSpPr>
          <p:cNvPr id="172" name="Shape 170"/>
          <p:cNvSpPr/>
          <p:nvPr/>
        </p:nvSpPr>
        <p:spPr>
          <a:xfrm flipV="1">
            <a:off x="10191750" y="4765081"/>
            <a:ext cx="381000" cy="29347"/>
          </a:xfrm>
          <a:prstGeom prst="line">
            <a:avLst/>
          </a:prstGeom>
          <a:noFill/>
          <a:ln w="22860">
            <a:solidFill>
              <a:srgbClr val="EFB13C"/>
            </a:solidFill>
            <a:prstDash val="solid"/>
          </a:ln>
        </p:spPr>
      </p:sp>
      <p:sp>
        <p:nvSpPr>
          <p:cNvPr id="173" name="Shape 171"/>
          <p:cNvSpPr/>
          <p:nvPr/>
        </p:nvSpPr>
        <p:spPr>
          <a:xfrm>
            <a:off x="10572750" y="4765081"/>
            <a:ext cx="381000" cy="0"/>
          </a:xfrm>
          <a:prstGeom prst="line">
            <a:avLst/>
          </a:prstGeom>
          <a:noFill/>
          <a:ln w="22860">
            <a:solidFill>
              <a:srgbClr val="EFB13C"/>
            </a:solidFill>
            <a:prstDash val="solid"/>
          </a:ln>
        </p:spPr>
      </p:sp>
      <p:sp>
        <p:nvSpPr>
          <p:cNvPr id="174" name="Shape 172"/>
          <p:cNvSpPr/>
          <p:nvPr/>
        </p:nvSpPr>
        <p:spPr>
          <a:xfrm>
            <a:off x="685800" y="5372100"/>
            <a:ext cx="10820400" cy="571500"/>
          </a:xfrm>
          <a:prstGeom prst="rect">
            <a:avLst/>
          </a:prstGeom>
          <a:solidFill>
            <a:srgbClr val="0A1320"/>
          </a:solidFill>
          <a:ln w="12700">
            <a:solidFill>
              <a:srgbClr val="182838"/>
            </a:solidFill>
            <a:prstDash val="solid"/>
          </a:ln>
        </p:spPr>
      </p:sp>
      <p:sp>
        <p:nvSpPr>
          <p:cNvPr id="175" name="Text 173"/>
          <p:cNvSpPr txBox="1"/>
          <p:nvPr/>
        </p:nvSpPr>
        <p:spPr>
          <a:xfrm>
            <a:off x="914400" y="5486400"/>
            <a:ext cx="10363200" cy="428625"/>
          </a:xfrm>
          <a:prstGeom prst="rect">
            <a:avLst/>
          </a:prstGeom>
          <a:noFill/>
          <a:ln/>
        </p:spPr>
        <p:txBody>
          <a:bodyPr wrap="square" lIns="0" tIns="0" rIns="0" bIns="0" rtlCol="0" anchor="t"/>
          <a:lstStyle/>
          <a:p>
            <a:pPr algn="ctr" indent="0" marL="0">
              <a:lnSpc>
                <a:spcPts val="1688"/>
              </a:lnSpc>
              <a:buNone/>
            </a:pPr>
            <a:r>
              <a:rPr lang="en-US" sz="1125" dirty="0">
                <a:solidFill>
                  <a:srgbClr val="CFCBC2"/>
                </a:solidFill>
                <a:latin typeface="Malgun Gothic" pitchFamily="34" charset="0"/>
                <a:ea typeface="Malgun Gothic" pitchFamily="34" charset="-122"/>
                <a:cs typeface="Malgun Gothic" pitchFamily="34" charset="-120"/>
              </a:rPr>
              <a:t>이론 출력보다 </a:t>
            </a:r>
            <a:pPr algn="ctr" indent="0" marL="0">
              <a:lnSpc>
                <a:spcPts val="1688"/>
              </a:lnSpc>
              <a:buNone/>
            </a:pPr>
            <a:r>
              <a:rPr lang="en-US" sz="1125" b="1" dirty="0">
                <a:solidFill>
                  <a:srgbClr val="EFB13C"/>
                </a:solidFill>
                <a:latin typeface="Malgun Gothic" pitchFamily="34" charset="0"/>
                <a:ea typeface="Malgun Gothic" pitchFamily="34" charset="-122"/>
                <a:cs typeface="Malgun Gothic" pitchFamily="34" charset="-120"/>
              </a:rPr>
              <a:t>0℃ 는 7.5 MW 더</a:t>
            </a:r>
            <a:pPr algn="ctr" indent="0" marL="0">
              <a:lnSpc>
                <a:spcPts val="1688"/>
              </a:lnSpc>
              <a:buNone/>
            </a:pPr>
            <a:r>
              <a:rPr lang="en-US" sz="1125" dirty="0">
                <a:solidFill>
                  <a:srgbClr val="CFCBC2"/>
                </a:solidFill>
                <a:latin typeface="Malgun Gothic" pitchFamily="34" charset="0"/>
                <a:ea typeface="Malgun Gothic" pitchFamily="34" charset="-122"/>
                <a:cs typeface="Malgun Gothic" pitchFamily="34" charset="-120"/>
              </a:rPr>
              <a:t>, </a:t>
            </a:r>
            <a:pPr algn="ctr" indent="0" marL="0">
              <a:lnSpc>
                <a:spcPts val="1688"/>
              </a:lnSpc>
              <a:buNone/>
            </a:pPr>
            <a:r>
              <a:rPr lang="en-US" sz="1125" b="1" dirty="0">
                <a:solidFill>
                  <a:srgbClr val="EFB13C"/>
                </a:solidFill>
                <a:latin typeface="Malgun Gothic" pitchFamily="34" charset="0"/>
                <a:ea typeface="Malgun Gothic" pitchFamily="34" charset="-122"/>
                <a:cs typeface="Malgun Gothic" pitchFamily="34" charset="-120"/>
              </a:rPr>
              <a:t>28℃ 는 2.7 MW 덜</a:t>
            </a:r>
            <a:pPr algn="ctr" indent="0" marL="0">
              <a:lnSpc>
                <a:spcPts val="1688"/>
              </a:lnSpc>
              <a:buNone/>
            </a:pPr>
            <a:r>
              <a:rPr lang="en-US" sz="1125" dirty="0">
                <a:solidFill>
                  <a:srgbClr val="CFCBC2"/>
                </a:solidFill>
                <a:latin typeface="Malgun Gothic" pitchFamily="34" charset="0"/>
                <a:ea typeface="Malgun Gothic" pitchFamily="34" charset="-122"/>
                <a:cs typeface="Malgun Gothic" pitchFamily="34" charset="-120"/>
              </a:rPr>
              <a:t> 나왔습니다.   종전에는 이 차이를 온도 구분 없이 </a:t>
            </a:r>
            <a:pPr algn="ctr" indent="0" marL="0">
              <a:lnSpc>
                <a:spcPts val="1688"/>
              </a:lnSpc>
              <a:buNone/>
            </a:pPr>
            <a:r>
              <a:rPr lang="en-US" sz="1125" dirty="0">
                <a:solidFill>
                  <a:srgbClr val="718BA6"/>
                </a:solidFill>
                <a:latin typeface="Malgun Gothic" pitchFamily="34" charset="0"/>
                <a:ea typeface="Malgun Gothic" pitchFamily="34" charset="-122"/>
                <a:cs typeface="Malgun Gothic" pitchFamily="34" charset="-120"/>
              </a:rPr>
              <a:t>하나의 값 +2.5</a:t>
            </a:r>
            <a:pPr algn="ctr" indent="0" marL="0">
              <a:lnSpc>
                <a:spcPts val="1688"/>
              </a:lnSpc>
              <a:buNone/>
            </a:pPr>
            <a:r>
              <a:rPr lang="en-US" sz="1125" dirty="0">
                <a:solidFill>
                  <a:srgbClr val="CFCBC2"/>
                </a:solidFill>
                <a:latin typeface="Malgun Gothic" pitchFamily="34" charset="0"/>
                <a:ea typeface="Malgun Gothic" pitchFamily="34" charset="-122"/>
                <a:cs typeface="Malgun Gothic" pitchFamily="34" charset="-120"/>
              </a:rPr>
              <a:t> 로 덮었습니다.</a:t>
            </a:r>
            <a:endParaRPr lang="en-US" sz="1125" dirty="0"/>
          </a:p>
        </p:txBody>
      </p:sp>
      <p:sp>
        <p:nvSpPr>
          <p:cNvPr id="176" name="Shape 174"/>
          <p:cNvSpPr/>
          <p:nvPr/>
        </p:nvSpPr>
        <p:spPr>
          <a:xfrm>
            <a:off x="685800" y="6057900"/>
            <a:ext cx="10820400" cy="0"/>
          </a:xfrm>
          <a:prstGeom prst="line">
            <a:avLst/>
          </a:prstGeom>
          <a:noFill/>
          <a:ln w="12700">
            <a:solidFill>
              <a:srgbClr val="22354A"/>
            </a:solidFill>
            <a:prstDash val="solid"/>
          </a:ln>
        </p:spPr>
      </p:sp>
      <p:sp>
        <p:nvSpPr>
          <p:cNvPr id="177" name="Text 175"/>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178" name="Text 176"/>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이 차이를 온도마다 배웁니다 — 방식 7가지를 겨뤄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가장 잘 맞는 곡선</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을 골랐습니다.</a:t>
            </a:r>
            <a:endParaRPr lang="en-US" sz="123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05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향후 추이 분석(모니터링 체계 구축)</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모니터링</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85775"/>
            <a:ext cx="38100" cy="76200"/>
          </a:xfrm>
          <a:prstGeom prst="rect">
            <a:avLst/>
          </a:prstGeom>
          <a:solidFill>
            <a:srgbClr val="8A8880"/>
          </a:solidFill>
          <a:ln/>
        </p:spPr>
      </p:sp>
      <p:sp>
        <p:nvSpPr>
          <p:cNvPr id="7" name="Shape 5"/>
          <p:cNvSpPr/>
          <p:nvPr/>
        </p:nvSpPr>
        <p:spPr>
          <a:xfrm>
            <a:off x="11201400" y="419100"/>
            <a:ext cx="38100" cy="142875"/>
          </a:xfrm>
          <a:prstGeom prst="rect">
            <a:avLst/>
          </a:prstGeom>
          <a:solidFill>
            <a:srgbClr val="EFB13C"/>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테스트가 쌓이면 스스로 다시 고르고,</a:t>
            </a:r>
            <a:endParaRPr lang="en-US" sz="2775" dirty="0"/>
          </a:p>
          <a:p>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의심도 도구가 합니다</a:t>
            </a:r>
            <a:endParaRPr lang="en-US" sz="2775" dirty="0"/>
          </a:p>
        </p:txBody>
      </p:sp>
      <p:sp>
        <p:nvSpPr>
          <p:cNvPr id="12" name="Text 10"/>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사람이 다시 정해야 하는 숫자가 없습니다.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넣기 → 채점 → 고르기</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가 한 바퀴입니다.</a:t>
            </a:r>
            <a:endParaRPr lang="en-US" sz="1350" dirty="0"/>
          </a:p>
        </p:txBody>
      </p:sp>
      <p:sp>
        <p:nvSpPr>
          <p:cNvPr id="13" name="Shape 11"/>
          <p:cNvSpPr/>
          <p:nvPr/>
        </p:nvSpPr>
        <p:spPr>
          <a:xfrm>
            <a:off x="685800" y="2705100"/>
            <a:ext cx="10820400" cy="1428750"/>
          </a:xfrm>
          <a:prstGeom prst="rect">
            <a:avLst/>
          </a:prstGeom>
          <a:solidFill>
            <a:srgbClr val="0A1320"/>
          </a:solidFill>
          <a:ln w="12700">
            <a:solidFill>
              <a:srgbClr val="182838"/>
            </a:solidFill>
            <a:prstDash val="solid"/>
          </a:ln>
        </p:spPr>
      </p:sp>
      <p:sp>
        <p:nvSpPr>
          <p:cNvPr id="14" name="Shape 12"/>
          <p:cNvSpPr/>
          <p:nvPr/>
        </p:nvSpPr>
        <p:spPr>
          <a:xfrm>
            <a:off x="990600" y="2971800"/>
            <a:ext cx="2019300" cy="647700"/>
          </a:xfrm>
          <a:prstGeom prst="rect">
            <a:avLst/>
          </a:prstGeom>
          <a:solidFill>
            <a:srgbClr val="0F1A28"/>
          </a:solidFill>
          <a:ln w="12700">
            <a:solidFill>
              <a:srgbClr val="22354A"/>
            </a:solidFill>
            <a:prstDash val="solid"/>
          </a:ln>
        </p:spPr>
      </p:sp>
      <p:sp>
        <p:nvSpPr>
          <p:cNvPr id="15" name="Shape 13"/>
          <p:cNvSpPr/>
          <p:nvPr/>
        </p:nvSpPr>
        <p:spPr>
          <a:xfrm>
            <a:off x="990600" y="2971800"/>
            <a:ext cx="2019300" cy="19050"/>
          </a:xfrm>
          <a:prstGeom prst="rect">
            <a:avLst/>
          </a:prstGeom>
          <a:solidFill>
            <a:srgbClr val="EFB13C"/>
          </a:solidFill>
          <a:ln/>
        </p:spPr>
      </p:sp>
      <p:sp>
        <p:nvSpPr>
          <p:cNvPr id="16" name="Text 14"/>
          <p:cNvSpPr txBox="1"/>
          <p:nvPr/>
        </p:nvSpPr>
        <p:spPr>
          <a:xfrm>
            <a:off x="1123950" y="3067050"/>
            <a:ext cx="1143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STEP 1</a:t>
            </a:r>
            <a:endParaRPr lang="en-US" sz="788" dirty="0"/>
          </a:p>
        </p:txBody>
      </p:sp>
      <p:sp>
        <p:nvSpPr>
          <p:cNvPr id="17" name="Text 15"/>
          <p:cNvSpPr txBox="1"/>
          <p:nvPr/>
        </p:nvSpPr>
        <p:spPr>
          <a:xfrm>
            <a:off x="1123950" y="3238500"/>
            <a:ext cx="1752600" cy="204311"/>
          </a:xfrm>
          <a:prstGeom prst="rect">
            <a:avLst/>
          </a:prstGeom>
          <a:noFill/>
          <a:ln/>
        </p:spPr>
        <p:txBody>
          <a:bodyPr wrap="square" lIns="0" tIns="0" rIns="0" bIns="0" rtlCol="0" anchor="t"/>
          <a:lstStyle/>
          <a:p>
            <a:pPr algn="l" indent="0" marL="0">
              <a:lnSpc>
                <a:spcPts val="1609"/>
              </a:lnSpc>
              <a:buNone/>
            </a:pPr>
            <a:r>
              <a:rPr lang="en-US" sz="1238" b="1" dirty="0">
                <a:solidFill>
                  <a:srgbClr val="EAE7E0"/>
                </a:solidFill>
                <a:latin typeface="Malgun Gothic" pitchFamily="34" charset="0"/>
                <a:ea typeface="Malgun Gothic" pitchFamily="34" charset="-122"/>
                <a:cs typeface="Malgun Gothic" pitchFamily="34" charset="-120"/>
              </a:rPr>
              <a:t>새 결과 넣기</a:t>
            </a:r>
            <a:endParaRPr lang="en-US" sz="1238" dirty="0"/>
          </a:p>
        </p:txBody>
      </p:sp>
      <p:sp>
        <p:nvSpPr>
          <p:cNvPr id="18" name="Text 16"/>
          <p:cNvSpPr txBox="1"/>
          <p:nvPr/>
        </p:nvSpPr>
        <p:spPr>
          <a:xfrm>
            <a:off x="1123950" y="3448050"/>
            <a:ext cx="1752600" cy="131445"/>
          </a:xfrm>
          <a:prstGeom prst="rect">
            <a:avLst/>
          </a:prstGeom>
          <a:noFill/>
          <a:ln/>
        </p:spPr>
        <p:txBody>
          <a:bodyPr wrap="square" lIns="0" tIns="0" rIns="0" bIns="0" rtlCol="0" anchor="t"/>
          <a:lstStyle/>
          <a:p>
            <a:pPr algn="l"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테스트 1회 = 한 줄</a:t>
            </a:r>
            <a:endParaRPr lang="en-US" sz="863" dirty="0"/>
          </a:p>
        </p:txBody>
      </p:sp>
      <p:sp>
        <p:nvSpPr>
          <p:cNvPr id="19" name="Text 17"/>
          <p:cNvSpPr txBox="1"/>
          <p:nvPr/>
        </p:nvSpPr>
        <p:spPr>
          <a:xfrm>
            <a:off x="3086100" y="3200400"/>
            <a:ext cx="419100" cy="228600"/>
          </a:xfrm>
          <a:prstGeom prst="rect">
            <a:avLst/>
          </a:prstGeom>
          <a:noFill/>
          <a:ln/>
        </p:spPr>
        <p:txBody>
          <a:bodyPr wrap="square" lIns="0" tIns="0" rIns="0" bIns="0" rtlCol="0" anchor="t"/>
          <a:lstStyle/>
          <a:p>
            <a:pPr algn="ctr" indent="0" marL="0">
              <a:lnSpc>
                <a:spcPts val="1800"/>
              </a:lnSpc>
              <a:buNone/>
            </a:pPr>
            <a:r>
              <a:rPr lang="en-US" sz="1500" dirty="0">
                <a:solidFill>
                  <a:srgbClr val="EFB13C"/>
                </a:solidFill>
                <a:latin typeface="Malgun Gothic" pitchFamily="34" charset="0"/>
                <a:ea typeface="Malgun Gothic" pitchFamily="34" charset="-122"/>
                <a:cs typeface="Malgun Gothic" pitchFamily="34" charset="-120"/>
              </a:rPr>
              <a:t>→</a:t>
            </a:r>
            <a:endParaRPr lang="en-US" sz="1500" dirty="0"/>
          </a:p>
        </p:txBody>
      </p:sp>
      <p:sp>
        <p:nvSpPr>
          <p:cNvPr id="20" name="Shape 18"/>
          <p:cNvSpPr/>
          <p:nvPr/>
        </p:nvSpPr>
        <p:spPr>
          <a:xfrm>
            <a:off x="3543300" y="2971800"/>
            <a:ext cx="2019300" cy="647700"/>
          </a:xfrm>
          <a:prstGeom prst="rect">
            <a:avLst/>
          </a:prstGeom>
          <a:solidFill>
            <a:srgbClr val="0F1A28"/>
          </a:solidFill>
          <a:ln w="12700">
            <a:solidFill>
              <a:srgbClr val="22354A"/>
            </a:solidFill>
            <a:prstDash val="solid"/>
          </a:ln>
        </p:spPr>
      </p:sp>
      <p:sp>
        <p:nvSpPr>
          <p:cNvPr id="21" name="Shape 19"/>
          <p:cNvSpPr/>
          <p:nvPr/>
        </p:nvSpPr>
        <p:spPr>
          <a:xfrm>
            <a:off x="3543300" y="2971800"/>
            <a:ext cx="2019300" cy="19050"/>
          </a:xfrm>
          <a:prstGeom prst="rect">
            <a:avLst/>
          </a:prstGeom>
          <a:solidFill>
            <a:srgbClr val="22354A"/>
          </a:solidFill>
          <a:ln/>
        </p:spPr>
      </p:sp>
      <p:sp>
        <p:nvSpPr>
          <p:cNvPr id="22" name="Text 20"/>
          <p:cNvSpPr txBox="1"/>
          <p:nvPr/>
        </p:nvSpPr>
        <p:spPr>
          <a:xfrm>
            <a:off x="3676650" y="3067050"/>
            <a:ext cx="1143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STEP 2</a:t>
            </a:r>
            <a:endParaRPr lang="en-US" sz="788" dirty="0"/>
          </a:p>
        </p:txBody>
      </p:sp>
      <p:sp>
        <p:nvSpPr>
          <p:cNvPr id="23" name="Text 21"/>
          <p:cNvSpPr txBox="1"/>
          <p:nvPr/>
        </p:nvSpPr>
        <p:spPr>
          <a:xfrm>
            <a:off x="3676650" y="3238500"/>
            <a:ext cx="1752600" cy="204311"/>
          </a:xfrm>
          <a:prstGeom prst="rect">
            <a:avLst/>
          </a:prstGeom>
          <a:noFill/>
          <a:ln/>
        </p:spPr>
        <p:txBody>
          <a:bodyPr wrap="square" lIns="0" tIns="0" rIns="0" bIns="0" rtlCol="0" anchor="t"/>
          <a:lstStyle/>
          <a:p>
            <a:pPr algn="l" indent="0" marL="0">
              <a:lnSpc>
                <a:spcPts val="1609"/>
              </a:lnSpc>
              <a:buNone/>
            </a:pPr>
            <a:r>
              <a:rPr lang="en-US" sz="1238" b="1" dirty="0">
                <a:solidFill>
                  <a:srgbClr val="EAE7E0"/>
                </a:solidFill>
                <a:latin typeface="Malgun Gothic" pitchFamily="34" charset="0"/>
                <a:ea typeface="Malgun Gothic" pitchFamily="34" charset="-122"/>
                <a:cs typeface="Malgun Gothic" pitchFamily="34" charset="-120"/>
              </a:rPr>
              <a:t>다시 채점</a:t>
            </a:r>
            <a:endParaRPr lang="en-US" sz="1238" dirty="0"/>
          </a:p>
        </p:txBody>
      </p:sp>
      <p:sp>
        <p:nvSpPr>
          <p:cNvPr id="24" name="Text 22"/>
          <p:cNvSpPr txBox="1"/>
          <p:nvPr/>
        </p:nvSpPr>
        <p:spPr>
          <a:xfrm>
            <a:off x="3676650" y="3448050"/>
            <a:ext cx="1752600" cy="131445"/>
          </a:xfrm>
          <a:prstGeom prst="rect">
            <a:avLst/>
          </a:prstGeom>
          <a:noFill/>
          <a:ln/>
        </p:spPr>
        <p:txBody>
          <a:bodyPr wrap="square" lIns="0" tIns="0" rIns="0" bIns="0" rtlCol="0" anchor="t"/>
          <a:lstStyle/>
          <a:p>
            <a:pPr algn="l"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방식 7가지 전부</a:t>
            </a:r>
            <a:endParaRPr lang="en-US" sz="863" dirty="0"/>
          </a:p>
        </p:txBody>
      </p:sp>
      <p:sp>
        <p:nvSpPr>
          <p:cNvPr id="25" name="Text 23"/>
          <p:cNvSpPr txBox="1"/>
          <p:nvPr/>
        </p:nvSpPr>
        <p:spPr>
          <a:xfrm>
            <a:off x="5638800" y="3200400"/>
            <a:ext cx="419100" cy="228600"/>
          </a:xfrm>
          <a:prstGeom prst="rect">
            <a:avLst/>
          </a:prstGeom>
          <a:noFill/>
          <a:ln/>
        </p:spPr>
        <p:txBody>
          <a:bodyPr wrap="square" lIns="0" tIns="0" rIns="0" bIns="0" rtlCol="0" anchor="t"/>
          <a:lstStyle/>
          <a:p>
            <a:pPr algn="ctr" indent="0" marL="0">
              <a:lnSpc>
                <a:spcPts val="1800"/>
              </a:lnSpc>
              <a:buNone/>
            </a:pPr>
            <a:r>
              <a:rPr lang="en-US" sz="1500" dirty="0">
                <a:solidFill>
                  <a:srgbClr val="EFB13C"/>
                </a:solidFill>
                <a:latin typeface="Malgun Gothic" pitchFamily="34" charset="0"/>
                <a:ea typeface="Malgun Gothic" pitchFamily="34" charset="-122"/>
                <a:cs typeface="Malgun Gothic" pitchFamily="34" charset="-120"/>
              </a:rPr>
              <a:t>→</a:t>
            </a:r>
            <a:endParaRPr lang="en-US" sz="1500" dirty="0"/>
          </a:p>
        </p:txBody>
      </p:sp>
      <p:sp>
        <p:nvSpPr>
          <p:cNvPr id="26" name="Shape 24"/>
          <p:cNvSpPr/>
          <p:nvPr/>
        </p:nvSpPr>
        <p:spPr>
          <a:xfrm>
            <a:off x="6096000" y="2971800"/>
            <a:ext cx="2019300" cy="647700"/>
          </a:xfrm>
          <a:prstGeom prst="rect">
            <a:avLst/>
          </a:prstGeom>
          <a:solidFill>
            <a:srgbClr val="0F1A28"/>
          </a:solidFill>
          <a:ln w="12700">
            <a:solidFill>
              <a:srgbClr val="22354A"/>
            </a:solidFill>
            <a:prstDash val="solid"/>
          </a:ln>
        </p:spPr>
      </p:sp>
      <p:sp>
        <p:nvSpPr>
          <p:cNvPr id="27" name="Shape 25"/>
          <p:cNvSpPr/>
          <p:nvPr/>
        </p:nvSpPr>
        <p:spPr>
          <a:xfrm>
            <a:off x="6096000" y="2971800"/>
            <a:ext cx="2019300" cy="19050"/>
          </a:xfrm>
          <a:prstGeom prst="rect">
            <a:avLst/>
          </a:prstGeom>
          <a:solidFill>
            <a:srgbClr val="22354A"/>
          </a:solidFill>
          <a:ln/>
        </p:spPr>
      </p:sp>
      <p:sp>
        <p:nvSpPr>
          <p:cNvPr id="28" name="Text 26"/>
          <p:cNvSpPr txBox="1"/>
          <p:nvPr/>
        </p:nvSpPr>
        <p:spPr>
          <a:xfrm>
            <a:off x="6229350" y="3067050"/>
            <a:ext cx="1143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STEP 3</a:t>
            </a:r>
            <a:endParaRPr lang="en-US" sz="788" dirty="0"/>
          </a:p>
        </p:txBody>
      </p:sp>
      <p:sp>
        <p:nvSpPr>
          <p:cNvPr id="29" name="Text 27"/>
          <p:cNvSpPr txBox="1"/>
          <p:nvPr/>
        </p:nvSpPr>
        <p:spPr>
          <a:xfrm>
            <a:off x="6229350" y="3238500"/>
            <a:ext cx="1752600" cy="204311"/>
          </a:xfrm>
          <a:prstGeom prst="rect">
            <a:avLst/>
          </a:prstGeom>
          <a:noFill/>
          <a:ln/>
        </p:spPr>
        <p:txBody>
          <a:bodyPr wrap="square" lIns="0" tIns="0" rIns="0" bIns="0" rtlCol="0" anchor="t"/>
          <a:lstStyle/>
          <a:p>
            <a:pPr algn="l" indent="0" marL="0">
              <a:lnSpc>
                <a:spcPts val="1609"/>
              </a:lnSpc>
              <a:buNone/>
            </a:pPr>
            <a:r>
              <a:rPr lang="en-US" sz="1238" b="1" dirty="0">
                <a:solidFill>
                  <a:srgbClr val="EAE7E0"/>
                </a:solidFill>
                <a:latin typeface="Malgun Gothic" pitchFamily="34" charset="0"/>
                <a:ea typeface="Malgun Gothic" pitchFamily="34" charset="-122"/>
                <a:cs typeface="Malgun Gothic" pitchFamily="34" charset="-120"/>
              </a:rPr>
              <a:t>더 잘 맞는 쪽으로</a:t>
            </a:r>
            <a:endParaRPr lang="en-US" sz="1238" dirty="0"/>
          </a:p>
        </p:txBody>
      </p:sp>
      <p:sp>
        <p:nvSpPr>
          <p:cNvPr id="30" name="Text 28"/>
          <p:cNvSpPr txBox="1"/>
          <p:nvPr/>
        </p:nvSpPr>
        <p:spPr>
          <a:xfrm>
            <a:off x="6229350" y="3448050"/>
            <a:ext cx="1752600" cy="131445"/>
          </a:xfrm>
          <a:prstGeom prst="rect">
            <a:avLst/>
          </a:prstGeom>
          <a:noFill/>
          <a:ln/>
        </p:spPr>
        <p:txBody>
          <a:bodyPr wrap="square" lIns="0" tIns="0" rIns="0" bIns="0" rtlCol="0" anchor="t"/>
          <a:lstStyle/>
          <a:p>
            <a:pPr algn="l"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1위가 바뀌면 교체</a:t>
            </a:r>
            <a:endParaRPr lang="en-US" sz="863" dirty="0"/>
          </a:p>
        </p:txBody>
      </p:sp>
      <p:sp>
        <p:nvSpPr>
          <p:cNvPr id="31" name="Text 29"/>
          <p:cNvSpPr txBox="1"/>
          <p:nvPr/>
        </p:nvSpPr>
        <p:spPr>
          <a:xfrm>
            <a:off x="8191500" y="3200400"/>
            <a:ext cx="419100" cy="228600"/>
          </a:xfrm>
          <a:prstGeom prst="rect">
            <a:avLst/>
          </a:prstGeom>
          <a:noFill/>
          <a:ln/>
        </p:spPr>
        <p:txBody>
          <a:bodyPr wrap="square" lIns="0" tIns="0" rIns="0" bIns="0" rtlCol="0" anchor="t"/>
          <a:lstStyle/>
          <a:p>
            <a:pPr algn="ctr" indent="0" marL="0">
              <a:lnSpc>
                <a:spcPts val="1800"/>
              </a:lnSpc>
              <a:buNone/>
            </a:pPr>
            <a:r>
              <a:rPr lang="en-US" sz="1500" dirty="0">
                <a:solidFill>
                  <a:srgbClr val="EFB13C"/>
                </a:solidFill>
                <a:latin typeface="Malgun Gothic" pitchFamily="34" charset="0"/>
                <a:ea typeface="Malgun Gothic" pitchFamily="34" charset="-122"/>
                <a:cs typeface="Malgun Gothic" pitchFamily="34" charset="-120"/>
              </a:rPr>
              <a:t>→</a:t>
            </a:r>
            <a:endParaRPr lang="en-US" sz="1500" dirty="0"/>
          </a:p>
        </p:txBody>
      </p:sp>
      <p:sp>
        <p:nvSpPr>
          <p:cNvPr id="32" name="Shape 30"/>
          <p:cNvSpPr/>
          <p:nvPr/>
        </p:nvSpPr>
        <p:spPr>
          <a:xfrm>
            <a:off x="8648700" y="2971800"/>
            <a:ext cx="2019300" cy="647700"/>
          </a:xfrm>
          <a:prstGeom prst="rect">
            <a:avLst/>
          </a:prstGeom>
          <a:solidFill>
            <a:srgbClr val="0F1A28"/>
          </a:solidFill>
          <a:ln w="12700">
            <a:solidFill>
              <a:srgbClr val="22354A"/>
            </a:solidFill>
            <a:prstDash val="solid"/>
          </a:ln>
        </p:spPr>
      </p:sp>
      <p:sp>
        <p:nvSpPr>
          <p:cNvPr id="33" name="Shape 31"/>
          <p:cNvSpPr/>
          <p:nvPr/>
        </p:nvSpPr>
        <p:spPr>
          <a:xfrm>
            <a:off x="8648700" y="2971800"/>
            <a:ext cx="2019300" cy="19050"/>
          </a:xfrm>
          <a:prstGeom prst="rect">
            <a:avLst/>
          </a:prstGeom>
          <a:solidFill>
            <a:srgbClr val="22354A"/>
          </a:solidFill>
          <a:ln/>
        </p:spPr>
      </p:sp>
      <p:sp>
        <p:nvSpPr>
          <p:cNvPr id="34" name="Text 32"/>
          <p:cNvSpPr txBox="1"/>
          <p:nvPr/>
        </p:nvSpPr>
        <p:spPr>
          <a:xfrm>
            <a:off x="8782050" y="3067050"/>
            <a:ext cx="11430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STEP 4</a:t>
            </a:r>
            <a:endParaRPr lang="en-US" sz="788" dirty="0"/>
          </a:p>
        </p:txBody>
      </p:sp>
      <p:sp>
        <p:nvSpPr>
          <p:cNvPr id="35" name="Text 33"/>
          <p:cNvSpPr txBox="1"/>
          <p:nvPr/>
        </p:nvSpPr>
        <p:spPr>
          <a:xfrm>
            <a:off x="8782050" y="3238500"/>
            <a:ext cx="1752600" cy="204311"/>
          </a:xfrm>
          <a:prstGeom prst="rect">
            <a:avLst/>
          </a:prstGeom>
          <a:noFill/>
          <a:ln/>
        </p:spPr>
        <p:txBody>
          <a:bodyPr wrap="square" lIns="0" tIns="0" rIns="0" bIns="0" rtlCol="0" anchor="t"/>
          <a:lstStyle/>
          <a:p>
            <a:pPr algn="l" indent="0" marL="0">
              <a:lnSpc>
                <a:spcPts val="1609"/>
              </a:lnSpc>
              <a:buNone/>
            </a:pPr>
            <a:r>
              <a:rPr lang="en-US" sz="1238" b="1" dirty="0">
                <a:solidFill>
                  <a:srgbClr val="EAE7E0"/>
                </a:solidFill>
                <a:latin typeface="Malgun Gothic" pitchFamily="34" charset="0"/>
                <a:ea typeface="Malgun Gothic" pitchFamily="34" charset="-122"/>
                <a:cs typeface="Malgun Gothic" pitchFamily="34" charset="-120"/>
              </a:rPr>
              <a:t>신고값 갱신</a:t>
            </a:r>
            <a:endParaRPr lang="en-US" sz="1238" dirty="0"/>
          </a:p>
        </p:txBody>
      </p:sp>
      <p:sp>
        <p:nvSpPr>
          <p:cNvPr id="36" name="Text 34"/>
          <p:cNvSpPr txBox="1"/>
          <p:nvPr/>
        </p:nvSpPr>
        <p:spPr>
          <a:xfrm>
            <a:off x="8782050" y="3448050"/>
            <a:ext cx="1752600" cy="131445"/>
          </a:xfrm>
          <a:prstGeom prst="rect">
            <a:avLst/>
          </a:prstGeom>
          <a:noFill/>
          <a:ln/>
        </p:spPr>
        <p:txBody>
          <a:bodyPr wrap="square" lIns="0" tIns="0" rIns="0" bIns="0" rtlCol="0" anchor="t"/>
          <a:lstStyle/>
          <a:p>
            <a:pPr algn="l" indent="0" marL="0">
              <a:lnSpc>
                <a:spcPts val="1035"/>
              </a:lnSpc>
              <a:buNone/>
            </a:pPr>
            <a:r>
              <a:rPr lang="en-US" sz="863" dirty="0">
                <a:solidFill>
                  <a:srgbClr val="A9A79F"/>
                </a:solidFill>
                <a:latin typeface="Malgun Gothic" pitchFamily="34" charset="0"/>
                <a:ea typeface="Malgun Gothic" pitchFamily="34" charset="-122"/>
                <a:cs typeface="Malgun Gothic" pitchFamily="34" charset="-120"/>
              </a:rPr>
              <a:t>근거와 함께 출력</a:t>
            </a:r>
            <a:endParaRPr lang="en-US" sz="863" dirty="0"/>
          </a:p>
        </p:txBody>
      </p:sp>
      <p:sp>
        <p:nvSpPr>
          <p:cNvPr id="37" name="Shape 35"/>
          <p:cNvSpPr/>
          <p:nvPr/>
        </p:nvSpPr>
        <p:spPr>
          <a:xfrm>
            <a:off x="2000250" y="3810000"/>
            <a:ext cx="7620000" cy="0"/>
          </a:xfrm>
          <a:prstGeom prst="line">
            <a:avLst/>
          </a:prstGeom>
          <a:noFill/>
          <a:ln w="17780">
            <a:solidFill>
              <a:srgbClr val="8A6620"/>
            </a:solidFill>
            <a:prstDash val="dash"/>
          </a:ln>
        </p:spPr>
      </p:sp>
      <p:sp>
        <p:nvSpPr>
          <p:cNvPr id="38" name="Text 36"/>
          <p:cNvSpPr txBox="1"/>
          <p:nvPr/>
        </p:nvSpPr>
        <p:spPr>
          <a:xfrm>
            <a:off x="2000250" y="3867150"/>
            <a:ext cx="7620000" cy="160973"/>
          </a:xfrm>
          <a:prstGeom prst="rect">
            <a:avLst/>
          </a:prstGeom>
          <a:noFill/>
          <a:ln/>
        </p:spPr>
        <p:txBody>
          <a:bodyPr wrap="square" lIns="0" tIns="0" rIns="0" bIns="0" rtlCol="0" anchor="t"/>
          <a:lstStyle/>
          <a:p>
            <a:pPr algn="ctr" indent="0" marL="0">
              <a:lnSpc>
                <a:spcPts val="1268"/>
              </a:lnSpc>
              <a:buNone/>
            </a:pPr>
            <a:r>
              <a:rPr lang="en-US" sz="975" dirty="0">
                <a:solidFill>
                  <a:srgbClr val="A9A79F"/>
                </a:solidFill>
                <a:latin typeface="Malgun Gothic" pitchFamily="34" charset="0"/>
                <a:ea typeface="Malgun Gothic" pitchFamily="34" charset="-122"/>
                <a:cs typeface="Malgun Gothic" pitchFamily="34" charset="-120"/>
              </a:rPr>
              <a:t>↺   테스트가 늘면 다시 처음으로 — 사람이 손으로 정하는 값은 없습니다</a:t>
            </a:r>
            <a:endParaRPr lang="en-US" sz="975" dirty="0"/>
          </a:p>
        </p:txBody>
      </p:sp>
      <p:sp>
        <p:nvSpPr>
          <p:cNvPr id="39" name="Shape 37"/>
          <p:cNvSpPr/>
          <p:nvPr/>
        </p:nvSpPr>
        <p:spPr>
          <a:xfrm>
            <a:off x="685800" y="4476750"/>
            <a:ext cx="3295650" cy="19050"/>
          </a:xfrm>
          <a:prstGeom prst="rect">
            <a:avLst/>
          </a:prstGeom>
          <a:solidFill>
            <a:srgbClr val="EFB13C"/>
          </a:solidFill>
          <a:ln/>
        </p:spPr>
      </p:sp>
      <p:sp>
        <p:nvSpPr>
          <p:cNvPr id="40" name="Text 38"/>
          <p:cNvSpPr txBox="1"/>
          <p:nvPr/>
        </p:nvSpPr>
        <p:spPr>
          <a:xfrm>
            <a:off x="685800" y="4610100"/>
            <a:ext cx="32956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한 회만 빼도 뒤집히면 버린다</a:t>
            </a:r>
            <a:endParaRPr lang="en-US" sz="788" dirty="0"/>
          </a:p>
        </p:txBody>
      </p:sp>
      <p:sp>
        <p:nvSpPr>
          <p:cNvPr id="41" name="Text 39"/>
          <p:cNvSpPr txBox="1"/>
          <p:nvPr/>
        </p:nvSpPr>
        <p:spPr>
          <a:xfrm>
            <a:off x="685800" y="4819650"/>
            <a:ext cx="526161" cy="440055"/>
          </a:xfrm>
          <a:prstGeom prst="rect">
            <a:avLst/>
          </a:prstGeom>
          <a:noFill/>
          <a:ln/>
        </p:spPr>
        <p:txBody>
          <a:bodyPr wrap="square" lIns="0" tIns="0" rIns="0" bIns="0" rtlCol="0" anchor="t"/>
          <a:lstStyle/>
          <a:p>
            <a:pPr algn="l" indent="0" marL="0">
              <a:lnSpc>
                <a:spcPts val="3465"/>
              </a:lnSpc>
              <a:buNone/>
            </a:pPr>
            <a:r>
              <a:rPr lang="en-US" sz="3300" b="1" dirty="0">
                <a:solidFill>
                  <a:srgbClr val="EFB13C"/>
                </a:solidFill>
                <a:latin typeface="Consolas" pitchFamily="34" charset="0"/>
                <a:ea typeface="Consolas" pitchFamily="34" charset="-122"/>
                <a:cs typeface="Consolas" pitchFamily="34" charset="-120"/>
              </a:rPr>
              <a:t>80</a:t>
            </a:r>
            <a:endParaRPr lang="en-US" sz="3300" dirty="0"/>
          </a:p>
        </p:txBody>
      </p:sp>
      <p:sp>
        <p:nvSpPr>
          <p:cNvPr id="42" name="Text 40"/>
          <p:cNvSpPr txBox="1"/>
          <p:nvPr/>
        </p:nvSpPr>
        <p:spPr>
          <a:xfrm>
            <a:off x="1269111" y="5029200"/>
            <a:ext cx="400050" cy="182880"/>
          </a:xfrm>
          <a:prstGeom prst="rect">
            <a:avLst/>
          </a:prstGeom>
          <a:noFill/>
          <a:ln/>
        </p:spPr>
        <p:txBody>
          <a:bodyPr wrap="square" lIns="0" tIns="0" rIns="0" bIns="0" rtlCol="0" anchor="t"/>
          <a:lstStyle/>
          <a:p>
            <a:pPr algn="l" indent="0" marL="0">
              <a:lnSpc>
                <a:spcPts val="1440"/>
              </a:lnSpc>
              <a:buNone/>
            </a:pPr>
            <a:r>
              <a:rPr lang="en-US" sz="1200" dirty="0">
                <a:solidFill>
                  <a:srgbClr val="A9A79F"/>
                </a:solidFill>
                <a:latin typeface="Malgun Gothic" pitchFamily="34" charset="0"/>
                <a:ea typeface="Malgun Gothic" pitchFamily="34" charset="-122"/>
                <a:cs typeface="Malgun Gothic" pitchFamily="34" charset="-120"/>
              </a:rPr>
              <a:t>%</a:t>
            </a:r>
            <a:endParaRPr lang="en-US" sz="1200" dirty="0"/>
          </a:p>
        </p:txBody>
      </p:sp>
      <p:sp>
        <p:nvSpPr>
          <p:cNvPr id="43" name="Text 41"/>
          <p:cNvSpPr txBox="1"/>
          <p:nvPr/>
        </p:nvSpPr>
        <p:spPr>
          <a:xfrm>
            <a:off x="685800" y="5391150"/>
            <a:ext cx="3295650" cy="48006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한 회씩 빼 보며 다시 계산합니다.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열 번 중 여덟 번</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 이상 같은 결론이 나와야 믿습니다.</a:t>
            </a:r>
            <a:endParaRPr lang="en-US" sz="1125" dirty="0"/>
          </a:p>
        </p:txBody>
      </p:sp>
      <p:sp>
        <p:nvSpPr>
          <p:cNvPr id="44" name="Shape 42"/>
          <p:cNvSpPr/>
          <p:nvPr/>
        </p:nvSpPr>
        <p:spPr>
          <a:xfrm>
            <a:off x="4448175" y="4476750"/>
            <a:ext cx="3295650" cy="19050"/>
          </a:xfrm>
          <a:prstGeom prst="rect">
            <a:avLst/>
          </a:prstGeom>
          <a:solidFill>
            <a:srgbClr val="EFB13C"/>
          </a:solidFill>
          <a:ln/>
        </p:spPr>
      </p:sp>
      <p:sp>
        <p:nvSpPr>
          <p:cNvPr id="45" name="Text 43"/>
          <p:cNvSpPr txBox="1"/>
          <p:nvPr/>
        </p:nvSpPr>
        <p:spPr>
          <a:xfrm>
            <a:off x="4448175" y="4610100"/>
            <a:ext cx="32956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우연일 수 있으면 안 믿는다</a:t>
            </a:r>
            <a:endParaRPr lang="en-US" sz="788" dirty="0"/>
          </a:p>
        </p:txBody>
      </p:sp>
      <p:sp>
        <p:nvSpPr>
          <p:cNvPr id="46" name="Text 44"/>
          <p:cNvSpPr txBox="1"/>
          <p:nvPr/>
        </p:nvSpPr>
        <p:spPr>
          <a:xfrm>
            <a:off x="4448175" y="4819650"/>
            <a:ext cx="526161" cy="440055"/>
          </a:xfrm>
          <a:prstGeom prst="rect">
            <a:avLst/>
          </a:prstGeom>
          <a:noFill/>
          <a:ln/>
        </p:spPr>
        <p:txBody>
          <a:bodyPr wrap="square" lIns="0" tIns="0" rIns="0" bIns="0" rtlCol="0" anchor="t"/>
          <a:lstStyle/>
          <a:p>
            <a:pPr algn="l" indent="0" marL="0">
              <a:lnSpc>
                <a:spcPts val="3465"/>
              </a:lnSpc>
              <a:buNone/>
            </a:pPr>
            <a:r>
              <a:rPr lang="en-US" sz="3300" b="1" dirty="0">
                <a:solidFill>
                  <a:srgbClr val="EFB13C"/>
                </a:solidFill>
                <a:latin typeface="Consolas" pitchFamily="34" charset="0"/>
                <a:ea typeface="Consolas" pitchFamily="34" charset="-122"/>
                <a:cs typeface="Consolas" pitchFamily="34" charset="-120"/>
              </a:rPr>
              <a:t>20</a:t>
            </a:r>
            <a:endParaRPr lang="en-US" sz="3300" dirty="0"/>
          </a:p>
        </p:txBody>
      </p:sp>
      <p:sp>
        <p:nvSpPr>
          <p:cNvPr id="47" name="Text 45"/>
          <p:cNvSpPr txBox="1"/>
          <p:nvPr/>
        </p:nvSpPr>
        <p:spPr>
          <a:xfrm>
            <a:off x="5031486" y="5029200"/>
            <a:ext cx="725424" cy="182880"/>
          </a:xfrm>
          <a:prstGeom prst="rect">
            <a:avLst/>
          </a:prstGeom>
          <a:noFill/>
          <a:ln/>
        </p:spPr>
        <p:txBody>
          <a:bodyPr wrap="square" lIns="0" tIns="0" rIns="0" bIns="0" rtlCol="0" anchor="t"/>
          <a:lstStyle/>
          <a:p>
            <a:pPr algn="l" indent="0" marL="0">
              <a:lnSpc>
                <a:spcPts val="1440"/>
              </a:lnSpc>
              <a:buNone/>
            </a:pPr>
            <a:r>
              <a:rPr lang="en-US" sz="1200" dirty="0">
                <a:solidFill>
                  <a:srgbClr val="A9A79F"/>
                </a:solidFill>
                <a:latin typeface="Malgun Gothic" pitchFamily="34" charset="0"/>
                <a:ea typeface="Malgun Gothic" pitchFamily="34" charset="-122"/>
                <a:cs typeface="Malgun Gothic" pitchFamily="34" charset="-120"/>
              </a:rPr>
              <a:t>번에 1번</a:t>
            </a:r>
            <a:endParaRPr lang="en-US" sz="1200" dirty="0"/>
          </a:p>
        </p:txBody>
      </p:sp>
      <p:sp>
        <p:nvSpPr>
          <p:cNvPr id="48" name="Text 46"/>
          <p:cNvSpPr txBox="1"/>
          <p:nvPr/>
        </p:nvSpPr>
        <p:spPr>
          <a:xfrm>
            <a:off x="4448175" y="5391150"/>
            <a:ext cx="3295650" cy="48006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우연히 그렇게 보일 확률이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이보다 크면</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 관계가 없다고 봅니다.</a:t>
            </a:r>
            <a:endParaRPr lang="en-US" sz="1125" dirty="0"/>
          </a:p>
        </p:txBody>
      </p:sp>
      <p:sp>
        <p:nvSpPr>
          <p:cNvPr id="49" name="Shape 47"/>
          <p:cNvSpPr/>
          <p:nvPr/>
        </p:nvSpPr>
        <p:spPr>
          <a:xfrm>
            <a:off x="8210550" y="4476750"/>
            <a:ext cx="3295650" cy="19050"/>
          </a:xfrm>
          <a:prstGeom prst="rect">
            <a:avLst/>
          </a:prstGeom>
          <a:solidFill>
            <a:srgbClr val="EFB13C"/>
          </a:solidFill>
          <a:ln/>
        </p:spPr>
      </p:sp>
      <p:sp>
        <p:nvSpPr>
          <p:cNvPr id="50" name="Text 48"/>
          <p:cNvSpPr txBox="1"/>
          <p:nvPr/>
        </p:nvSpPr>
        <p:spPr>
          <a:xfrm>
            <a:off x="8210550" y="4610100"/>
            <a:ext cx="32956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뒤를 보지 않고 예측한다</a:t>
            </a:r>
            <a:endParaRPr lang="en-US" sz="788" dirty="0"/>
          </a:p>
        </p:txBody>
      </p:sp>
      <p:sp>
        <p:nvSpPr>
          <p:cNvPr id="51" name="Text 49"/>
          <p:cNvSpPr txBox="1"/>
          <p:nvPr/>
        </p:nvSpPr>
        <p:spPr>
          <a:xfrm>
            <a:off x="8210550" y="4819650"/>
            <a:ext cx="272606" cy="440055"/>
          </a:xfrm>
          <a:prstGeom prst="rect">
            <a:avLst/>
          </a:prstGeom>
          <a:noFill/>
          <a:ln/>
        </p:spPr>
        <p:txBody>
          <a:bodyPr wrap="square" lIns="0" tIns="0" rIns="0" bIns="0" rtlCol="0" anchor="t"/>
          <a:lstStyle/>
          <a:p>
            <a:pPr algn="l" indent="0" marL="0">
              <a:lnSpc>
                <a:spcPts val="3465"/>
              </a:lnSpc>
              <a:buNone/>
            </a:pPr>
            <a:r>
              <a:rPr lang="en-US" sz="3300" b="1" dirty="0">
                <a:solidFill>
                  <a:srgbClr val="EFB13C"/>
                </a:solidFill>
                <a:latin typeface="Consolas" pitchFamily="34" charset="0"/>
                <a:ea typeface="Consolas" pitchFamily="34" charset="-122"/>
                <a:cs typeface="Consolas" pitchFamily="34" charset="-120"/>
              </a:rPr>
              <a:t>9</a:t>
            </a:r>
            <a:endParaRPr lang="en-US" sz="3300" dirty="0"/>
          </a:p>
        </p:txBody>
      </p:sp>
      <p:sp>
        <p:nvSpPr>
          <p:cNvPr id="52" name="Text 50"/>
          <p:cNvSpPr txBox="1"/>
          <p:nvPr/>
        </p:nvSpPr>
        <p:spPr>
          <a:xfrm>
            <a:off x="8540306" y="5029200"/>
            <a:ext cx="400050" cy="182880"/>
          </a:xfrm>
          <a:prstGeom prst="rect">
            <a:avLst/>
          </a:prstGeom>
          <a:noFill/>
          <a:ln/>
        </p:spPr>
        <p:txBody>
          <a:bodyPr wrap="square" lIns="0" tIns="0" rIns="0" bIns="0" rtlCol="0" anchor="t"/>
          <a:lstStyle/>
          <a:p>
            <a:pPr algn="l" indent="0" marL="0">
              <a:lnSpc>
                <a:spcPts val="1440"/>
              </a:lnSpc>
              <a:buNone/>
            </a:pPr>
            <a:r>
              <a:rPr lang="en-US" sz="1200" dirty="0">
                <a:solidFill>
                  <a:srgbClr val="A9A79F"/>
                </a:solidFill>
                <a:latin typeface="Malgun Gothic" pitchFamily="34" charset="0"/>
                <a:ea typeface="Malgun Gothic" pitchFamily="34" charset="-122"/>
                <a:cs typeface="Malgun Gothic" pitchFamily="34" charset="-120"/>
              </a:rPr>
              <a:t>회</a:t>
            </a:r>
            <a:endParaRPr lang="en-US" sz="1200" dirty="0"/>
          </a:p>
        </p:txBody>
      </p:sp>
      <p:sp>
        <p:nvSpPr>
          <p:cNvPr id="53" name="Text 51"/>
          <p:cNvSpPr txBox="1"/>
          <p:nvPr/>
        </p:nvSpPr>
        <p:spPr>
          <a:xfrm>
            <a:off x="8210550" y="5391150"/>
            <a:ext cx="3295650" cy="48006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각 회차를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그 앞의 데이터만으로</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 예측했습니다. 뒤 회차를 미리 보지 않습니다.</a:t>
            </a:r>
            <a:endParaRPr lang="en-US" sz="1125" dirty="0"/>
          </a:p>
        </p:txBody>
      </p:sp>
      <p:sp>
        <p:nvSpPr>
          <p:cNvPr id="54" name="Shape 52"/>
          <p:cNvSpPr/>
          <p:nvPr/>
        </p:nvSpPr>
        <p:spPr>
          <a:xfrm>
            <a:off x="685800" y="6057900"/>
            <a:ext cx="10820400" cy="0"/>
          </a:xfrm>
          <a:prstGeom prst="line">
            <a:avLst/>
          </a:prstGeom>
          <a:noFill/>
          <a:ln w="12700">
            <a:solidFill>
              <a:srgbClr val="22354A"/>
            </a:solidFill>
            <a:prstDash val="solid"/>
          </a:ln>
        </p:spPr>
      </p:sp>
      <p:sp>
        <p:nvSpPr>
          <p:cNvPr id="55" name="Text 53"/>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56" name="Text 54"/>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사람이 다시 정할 숫자가 없습니다 —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틀린 설명은 도구가 걸러냅니다</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 앞으로는 실측 전에 예측을 남기는 기능도 씁니다.</a:t>
            </a:r>
            <a:endParaRPr lang="en-US" sz="123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06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개선 효과(정량적/정성적)</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효과</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85775"/>
            <a:ext cx="38100" cy="76200"/>
          </a:xfrm>
          <a:prstGeom prst="rect">
            <a:avLst/>
          </a:prstGeom>
          <a:solidFill>
            <a:srgbClr val="8A8880"/>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19100"/>
            <a:ext cx="38100" cy="142875"/>
          </a:xfrm>
          <a:prstGeom prst="rect">
            <a:avLst/>
          </a:prstGeom>
          <a:solidFill>
            <a:srgbClr val="EFB13C"/>
          </a:solidFill>
          <a:ln/>
        </p:spPr>
      </p:sp>
      <p:sp>
        <p:nvSpPr>
          <p:cNvPr id="9" name="Shape 7"/>
          <p:cNvSpPr/>
          <p:nvPr/>
        </p:nvSpPr>
        <p:spPr>
          <a:xfrm>
            <a:off x="11468100" y="485775"/>
            <a:ext cx="38100" cy="76200"/>
          </a:xfrm>
          <a:prstGeom prst="rect">
            <a:avLst/>
          </a:prstGeom>
          <a:solidFill>
            <a:srgbClr val="8A8880"/>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일은 간단해지고,</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숫자는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정확해졌습니다</a:t>
            </a:r>
            <a:endParaRPr lang="en-US" sz="2775" dirty="0"/>
          </a:p>
        </p:txBody>
      </p:sp>
      <p:sp>
        <p:nvSpPr>
          <p:cNvPr id="12" name="Text 10"/>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같은 40회를 종전 방식과 나란히 채점한 결과입니다.</a:t>
            </a:r>
            <a:endParaRPr lang="en-US" sz="1350" dirty="0"/>
          </a:p>
        </p:txBody>
      </p:sp>
      <p:sp>
        <p:nvSpPr>
          <p:cNvPr id="13" name="Shape 11"/>
          <p:cNvSpPr/>
          <p:nvPr/>
        </p:nvSpPr>
        <p:spPr>
          <a:xfrm>
            <a:off x="685800" y="2705100"/>
            <a:ext cx="10820400" cy="1524000"/>
          </a:xfrm>
          <a:prstGeom prst="rect">
            <a:avLst/>
          </a:prstGeom>
          <a:solidFill>
            <a:srgbClr val="0A1320"/>
          </a:solidFill>
          <a:ln w="12700">
            <a:solidFill>
              <a:srgbClr val="182838"/>
            </a:solidFill>
            <a:prstDash val="solid"/>
          </a:ln>
        </p:spPr>
      </p:sp>
      <p:sp>
        <p:nvSpPr>
          <p:cNvPr id="14" name="Shape 12"/>
          <p:cNvSpPr/>
          <p:nvPr/>
        </p:nvSpPr>
        <p:spPr>
          <a:xfrm>
            <a:off x="6096000" y="2914650"/>
            <a:ext cx="0" cy="1162050"/>
          </a:xfrm>
          <a:prstGeom prst="line">
            <a:avLst/>
          </a:prstGeom>
          <a:noFill/>
          <a:ln w="12700">
            <a:solidFill>
              <a:srgbClr val="22354A"/>
            </a:solidFill>
            <a:prstDash val="solid"/>
          </a:ln>
        </p:spPr>
      </p:sp>
      <p:sp>
        <p:nvSpPr>
          <p:cNvPr id="15" name="Shape 13"/>
          <p:cNvSpPr/>
          <p:nvPr/>
        </p:nvSpPr>
        <p:spPr>
          <a:xfrm>
            <a:off x="685800" y="2705100"/>
            <a:ext cx="5410200" cy="19050"/>
          </a:xfrm>
          <a:prstGeom prst="rect">
            <a:avLst/>
          </a:prstGeom>
          <a:solidFill>
            <a:srgbClr val="EFB13C"/>
          </a:solidFill>
          <a:ln/>
        </p:spPr>
      </p:sp>
      <p:sp>
        <p:nvSpPr>
          <p:cNvPr id="16" name="Shape 14"/>
          <p:cNvSpPr/>
          <p:nvPr/>
        </p:nvSpPr>
        <p:spPr>
          <a:xfrm>
            <a:off x="6096000" y="2705100"/>
            <a:ext cx="5410200" cy="19050"/>
          </a:xfrm>
          <a:prstGeom prst="rect">
            <a:avLst/>
          </a:prstGeom>
          <a:solidFill>
            <a:srgbClr val="EFB13C"/>
          </a:solidFill>
          <a:ln/>
        </p:spPr>
      </p:sp>
      <p:sp>
        <p:nvSpPr>
          <p:cNvPr id="17" name="Text 15"/>
          <p:cNvSpPr txBox="1"/>
          <p:nvPr/>
        </p:nvSpPr>
        <p:spPr>
          <a:xfrm>
            <a:off x="914400" y="285750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① 일 처리  ·  담당자 업무</a:t>
            </a:r>
            <a:endParaRPr lang="en-US" sz="788" dirty="0"/>
          </a:p>
        </p:txBody>
      </p:sp>
      <p:sp>
        <p:nvSpPr>
          <p:cNvPr id="18" name="Text 16"/>
          <p:cNvSpPr txBox="1"/>
          <p:nvPr/>
        </p:nvSpPr>
        <p:spPr>
          <a:xfrm>
            <a:off x="914400" y="3028950"/>
            <a:ext cx="1427226" cy="420053"/>
          </a:xfrm>
          <a:prstGeom prst="rect">
            <a:avLst/>
          </a:prstGeom>
          <a:noFill/>
          <a:ln/>
        </p:spPr>
        <p:txBody>
          <a:bodyPr wrap="square" lIns="0" tIns="0" rIns="0" bIns="0" rtlCol="0" anchor="t"/>
          <a:lstStyle/>
          <a:p>
            <a:pPr algn="l" indent="0" marL="0">
              <a:lnSpc>
                <a:spcPts val="3308"/>
              </a:lnSpc>
              <a:buNone/>
            </a:pPr>
            <a:r>
              <a:rPr lang="en-US" sz="3150" b="1" dirty="0">
                <a:solidFill>
                  <a:srgbClr val="EFB13C"/>
                </a:solidFill>
                <a:latin typeface="Consolas" pitchFamily="34" charset="0"/>
                <a:ea typeface="Consolas" pitchFamily="34" charset="-122"/>
                <a:cs typeface="Consolas" pitchFamily="34" charset="-120"/>
              </a:rPr>
              <a:t>4 → 1</a:t>
            </a:r>
            <a:endParaRPr lang="en-US" sz="3150" dirty="0"/>
          </a:p>
        </p:txBody>
      </p:sp>
      <p:sp>
        <p:nvSpPr>
          <p:cNvPr id="19" name="Text 17"/>
          <p:cNvSpPr txBox="1"/>
          <p:nvPr/>
        </p:nvSpPr>
        <p:spPr>
          <a:xfrm>
            <a:off x="2398776" y="3228975"/>
            <a:ext cx="1656874" cy="171450"/>
          </a:xfrm>
          <a:prstGeom prst="rect">
            <a:avLst/>
          </a:prstGeom>
          <a:noFill/>
          <a:ln/>
        </p:spPr>
        <p:txBody>
          <a:bodyPr wrap="square" lIns="0" tIns="0" rIns="0" bIns="0" rtlCol="0" anchor="t"/>
          <a:lstStyle/>
          <a:p>
            <a:pPr algn="l" indent="0" marL="0">
              <a:lnSpc>
                <a:spcPts val="1350"/>
              </a:lnSpc>
              <a:buNone/>
            </a:pPr>
            <a:r>
              <a:rPr lang="en-US" sz="1125" dirty="0">
                <a:solidFill>
                  <a:srgbClr val="A9A79F"/>
                </a:solidFill>
                <a:latin typeface="Malgun Gothic" pitchFamily="34" charset="0"/>
                <a:ea typeface="Malgun Gothic" pitchFamily="34" charset="-122"/>
                <a:cs typeface="Malgun Gothic" pitchFamily="34" charset="-120"/>
              </a:rPr>
              <a:t>엑셀 4개 → 도구 1개</a:t>
            </a:r>
            <a:endParaRPr lang="en-US" sz="1125" dirty="0"/>
          </a:p>
        </p:txBody>
      </p:sp>
      <p:sp>
        <p:nvSpPr>
          <p:cNvPr id="20" name="Text 18"/>
          <p:cNvSpPr txBox="1"/>
          <p:nvPr/>
        </p:nvSpPr>
        <p:spPr>
          <a:xfrm>
            <a:off x="914400" y="3619500"/>
            <a:ext cx="4953000" cy="48006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순서를 지켜 파일 4개를 돌리던 일이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날짜·시각 한 번</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으로 끝납니다. 손으로 옮겨 적던 값 61개는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0개</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a:t>
            </a:r>
            <a:endParaRPr lang="en-US" sz="1125" dirty="0"/>
          </a:p>
        </p:txBody>
      </p:sp>
      <p:sp>
        <p:nvSpPr>
          <p:cNvPr id="21" name="Text 19"/>
          <p:cNvSpPr txBox="1"/>
          <p:nvPr/>
        </p:nvSpPr>
        <p:spPr>
          <a:xfrm>
            <a:off x="6324600" y="2857500"/>
            <a:ext cx="476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② 신고 정확도  ·  실제와 어긋난 정도</a:t>
            </a:r>
            <a:endParaRPr lang="en-US" sz="788" dirty="0"/>
          </a:p>
        </p:txBody>
      </p:sp>
      <p:sp>
        <p:nvSpPr>
          <p:cNvPr id="22" name="Text 20"/>
          <p:cNvSpPr txBox="1"/>
          <p:nvPr/>
        </p:nvSpPr>
        <p:spPr>
          <a:xfrm>
            <a:off x="6324600" y="3028950"/>
            <a:ext cx="745141" cy="420053"/>
          </a:xfrm>
          <a:prstGeom prst="rect">
            <a:avLst/>
          </a:prstGeom>
          <a:noFill/>
          <a:ln/>
        </p:spPr>
        <p:txBody>
          <a:bodyPr wrap="square" lIns="0" tIns="0" rIns="0" bIns="0" rtlCol="0" anchor="t"/>
          <a:lstStyle/>
          <a:p>
            <a:pPr algn="l" indent="0" marL="0">
              <a:lnSpc>
                <a:spcPts val="3308"/>
              </a:lnSpc>
              <a:buNone/>
            </a:pPr>
            <a:r>
              <a:rPr lang="en-US" sz="3150" b="1" dirty="0">
                <a:solidFill>
                  <a:srgbClr val="EFB13C"/>
                </a:solidFill>
                <a:latin typeface="Consolas" pitchFamily="34" charset="0"/>
                <a:ea typeface="Consolas" pitchFamily="34" charset="-122"/>
                <a:cs typeface="Consolas" pitchFamily="34" charset="-120"/>
              </a:rPr>
              <a:t>67%</a:t>
            </a:r>
            <a:endParaRPr lang="en-US" sz="3150" dirty="0"/>
          </a:p>
        </p:txBody>
      </p:sp>
      <p:sp>
        <p:nvSpPr>
          <p:cNvPr id="23" name="Text 21"/>
          <p:cNvSpPr txBox="1"/>
          <p:nvPr/>
        </p:nvSpPr>
        <p:spPr>
          <a:xfrm>
            <a:off x="7126891" y="3228975"/>
            <a:ext cx="400050" cy="171450"/>
          </a:xfrm>
          <a:prstGeom prst="rect">
            <a:avLst/>
          </a:prstGeom>
          <a:noFill/>
          <a:ln/>
        </p:spPr>
        <p:txBody>
          <a:bodyPr wrap="square" lIns="0" tIns="0" rIns="0" bIns="0" rtlCol="0" anchor="t"/>
          <a:lstStyle/>
          <a:p>
            <a:pPr algn="l" indent="0" marL="0">
              <a:lnSpc>
                <a:spcPts val="1350"/>
              </a:lnSpc>
              <a:buNone/>
            </a:pPr>
            <a:r>
              <a:rPr lang="en-US" sz="1125" dirty="0">
                <a:solidFill>
                  <a:srgbClr val="A9A79F"/>
                </a:solidFill>
                <a:latin typeface="Malgun Gothic" pitchFamily="34" charset="0"/>
                <a:ea typeface="Malgun Gothic" pitchFamily="34" charset="-122"/>
                <a:cs typeface="Malgun Gothic" pitchFamily="34" charset="-120"/>
              </a:rPr>
              <a:t>감소</a:t>
            </a:r>
            <a:endParaRPr lang="en-US" sz="1125" dirty="0"/>
          </a:p>
        </p:txBody>
      </p:sp>
      <p:sp>
        <p:nvSpPr>
          <p:cNvPr id="24" name="Text 22"/>
          <p:cNvSpPr txBox="1"/>
          <p:nvPr/>
        </p:nvSpPr>
        <p:spPr>
          <a:xfrm>
            <a:off x="8572500" y="3143250"/>
            <a:ext cx="2705100" cy="185738"/>
          </a:xfrm>
          <a:prstGeom prst="rect">
            <a:avLst/>
          </a:prstGeom>
          <a:noFill/>
          <a:ln/>
        </p:spPr>
        <p:txBody>
          <a:bodyPr wrap="square" lIns="0" tIns="0" rIns="0" bIns="0" rtlCol="0" anchor="t"/>
          <a:lstStyle/>
          <a:p>
            <a:pPr algn="l" indent="0" marL="0">
              <a:lnSpc>
                <a:spcPts val="1463"/>
              </a:lnSpc>
              <a:buNone/>
            </a:pPr>
            <a:r>
              <a:rPr lang="en-US" sz="1125" b="1" dirty="0">
                <a:solidFill>
                  <a:srgbClr val="EAE7E0"/>
                </a:solidFill>
                <a:latin typeface="Consolas" pitchFamily="34" charset="0"/>
                <a:ea typeface="Consolas" pitchFamily="34" charset="-122"/>
                <a:cs typeface="Consolas" pitchFamily="34" charset="-120"/>
              </a:rPr>
              <a:t>평균 3.90 → 1.30 MW</a:t>
            </a:r>
            <a:endParaRPr lang="en-US" sz="1125" dirty="0"/>
          </a:p>
        </p:txBody>
      </p:sp>
      <p:sp>
        <p:nvSpPr>
          <p:cNvPr id="25" name="Text 23"/>
          <p:cNvSpPr txBox="1"/>
          <p:nvPr/>
        </p:nvSpPr>
        <p:spPr>
          <a:xfrm>
            <a:off x="6324600" y="3448050"/>
            <a:ext cx="4953000" cy="198120"/>
          </a:xfrm>
          <a:prstGeom prst="rect">
            <a:avLst/>
          </a:prstGeom>
          <a:noFill/>
          <a:ln/>
        </p:spPr>
        <p:txBody>
          <a:bodyPr wrap="square" lIns="0" tIns="0" rIns="0" bIns="0" rtlCol="0" anchor="t"/>
          <a:lstStyle/>
          <a:p>
            <a:pPr algn="l" indent="0" marL="0">
              <a:lnSpc>
                <a:spcPts val="1560"/>
              </a:lnSpc>
              <a:buNone/>
            </a:pPr>
            <a:r>
              <a:rPr lang="en-US" sz="1200" b="1" dirty="0">
                <a:solidFill>
                  <a:srgbClr val="EFB13C"/>
                </a:solidFill>
                <a:latin typeface="Malgun Gothic" pitchFamily="34" charset="0"/>
                <a:ea typeface="Malgun Gothic" pitchFamily="34" charset="-122"/>
                <a:cs typeface="Malgun Gothic" pitchFamily="34" charset="-120"/>
              </a:rPr>
              <a:t>낮게 신고해 못 받던 </a:t>
            </a:r>
            <a:pPr algn="l" indent="0" marL="0">
              <a:lnSpc>
                <a:spcPts val="1560"/>
              </a:lnSpc>
              <a:buNone/>
            </a:pPr>
            <a:r>
              <a:rPr lang="en-US" sz="1200" b="1" dirty="0">
                <a:solidFill>
                  <a:srgbClr val="EFB13C"/>
                </a:solidFill>
                <a:latin typeface="Malgun Gothic" pitchFamily="34" charset="0"/>
                <a:ea typeface="Malgun Gothic" pitchFamily="34" charset="-122"/>
                <a:cs typeface="Malgun Gothic" pitchFamily="34" charset="-120"/>
              </a:rPr>
              <a:t>용량요금 연 5,759만원 회수</a:t>
            </a:r>
            <a:endParaRPr lang="en-US" sz="1200" dirty="0"/>
          </a:p>
        </p:txBody>
      </p:sp>
      <p:sp>
        <p:nvSpPr>
          <p:cNvPr id="26" name="Text 24"/>
          <p:cNvSpPr txBox="1"/>
          <p:nvPr/>
        </p:nvSpPr>
        <p:spPr>
          <a:xfrm>
            <a:off x="6324600" y="3676650"/>
            <a:ext cx="4953000" cy="120015"/>
          </a:xfrm>
          <a:prstGeom prst="rect">
            <a:avLst/>
          </a:prstGeom>
          <a:noFill/>
          <a:ln/>
        </p:spPr>
        <p:txBody>
          <a:bodyPr wrap="square" lIns="0" tIns="0" rIns="0" bIns="0" rtlCol="0" anchor="t"/>
          <a:lstStyle/>
          <a:p>
            <a:pPr algn="l" indent="0" marL="0">
              <a:lnSpc>
                <a:spcPts val="945"/>
              </a:lnSpc>
              <a:buNone/>
            </a:pPr>
            <a:r>
              <a:rPr lang="en-US" sz="788" dirty="0">
                <a:solidFill>
                  <a:srgbClr val="8A8880"/>
                </a:solidFill>
                <a:latin typeface="Malgun Gothic" pitchFamily="34" charset="0"/>
                <a:ea typeface="Malgun Gothic" pitchFamily="34" charset="-122"/>
                <a:cs typeface="Malgun Gothic" pitchFamily="34" charset="-120"/>
              </a:rPr>
              <a:t>용량요금 기준 · 150원/kW·일 × 입찰일 335일(정비 30일 제외)</a:t>
            </a:r>
            <a:endParaRPr lang="en-US" sz="788" dirty="0"/>
          </a:p>
        </p:txBody>
      </p:sp>
      <p:sp>
        <p:nvSpPr>
          <p:cNvPr id="27" name="Text 25"/>
          <p:cNvSpPr txBox="1"/>
          <p:nvPr/>
        </p:nvSpPr>
        <p:spPr>
          <a:xfrm>
            <a:off x="6324600" y="3848100"/>
            <a:ext cx="4953000" cy="480060"/>
          </a:xfrm>
          <a:prstGeom prst="rect">
            <a:avLst/>
          </a:prstGeom>
          <a:noFill/>
          <a:ln/>
        </p:spPr>
        <p:txBody>
          <a:bodyPr wrap="square" lIns="0" tIns="0" rIns="0" bIns="0" rtlCol="0" anchor="t"/>
          <a:lstStyle/>
          <a:p>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신고값을 못 채운 횟수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15 → 4회</a:t>
            </a:r>
            <a:pPr algn="l" indent="0" marL="0">
              <a:lnSpc>
                <a:spcPts val="1890"/>
              </a:lnSpc>
              <a:buNone/>
            </a:pPr>
            <a:r>
              <a:rPr lang="en-US" sz="1125" dirty="0">
                <a:solidFill>
                  <a:srgbClr val="CFCBC2"/>
                </a:solidFill>
                <a:latin typeface="Malgun Gothic" pitchFamily="34" charset="0"/>
                <a:ea typeface="Malgun Gothic" pitchFamily="34" charset="-122"/>
                <a:cs typeface="Malgun Gothic" pitchFamily="34" charset="-120"/>
              </a:rPr>
              <a:t>   ·   높게 신고한 양 </a:t>
            </a:r>
            <a:pPr algn="l" indent="0" marL="0">
              <a:lnSpc>
                <a:spcPts val="1890"/>
              </a:lnSpc>
              <a:buNone/>
            </a:pPr>
            <a:r>
              <a:rPr lang="en-US" sz="1125" b="1" dirty="0">
                <a:solidFill>
                  <a:srgbClr val="EFB13C"/>
                </a:solidFill>
                <a:latin typeface="Malgun Gothic" pitchFamily="34" charset="0"/>
                <a:ea typeface="Malgun Gothic" pitchFamily="34" charset="-122"/>
                <a:cs typeface="Malgun Gothic" pitchFamily="34" charset="-120"/>
              </a:rPr>
              <a:t>69.5 → 9.3 MW</a:t>
            </a:r>
            <a:endParaRPr lang="en-US" sz="1125" dirty="0"/>
          </a:p>
        </p:txBody>
      </p:sp>
      <p:sp>
        <p:nvSpPr>
          <p:cNvPr id="28" name="Shape 26"/>
          <p:cNvSpPr/>
          <p:nvPr/>
        </p:nvSpPr>
        <p:spPr>
          <a:xfrm>
            <a:off x="685800" y="4343400"/>
            <a:ext cx="10820400" cy="1600200"/>
          </a:xfrm>
          <a:prstGeom prst="rect">
            <a:avLst/>
          </a:prstGeom>
          <a:solidFill>
            <a:srgbClr val="0A1320"/>
          </a:solidFill>
          <a:ln w="12700">
            <a:solidFill>
              <a:srgbClr val="182838"/>
            </a:solidFill>
            <a:prstDash val="solid"/>
          </a:ln>
        </p:spPr>
      </p:sp>
      <p:sp>
        <p:nvSpPr>
          <p:cNvPr id="29" name="Text 27"/>
          <p:cNvSpPr txBox="1"/>
          <p:nvPr/>
        </p:nvSpPr>
        <p:spPr>
          <a:xfrm>
            <a:off x="914400" y="4476750"/>
            <a:ext cx="6667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시운전 9회  ·  그 회차 앞의 데이터만으로 예측(walk-forward)  ·  세로 = 실제 − 예측 MW</a:t>
            </a:r>
            <a:endParaRPr lang="en-US" sz="788" dirty="0"/>
          </a:p>
        </p:txBody>
      </p:sp>
      <p:sp>
        <p:nvSpPr>
          <p:cNvPr id="30" name="Text 28"/>
          <p:cNvSpPr txBox="1"/>
          <p:nvPr/>
        </p:nvSpPr>
        <p:spPr>
          <a:xfrm>
            <a:off x="7810500" y="4457700"/>
            <a:ext cx="3467100" cy="154781"/>
          </a:xfrm>
          <a:prstGeom prst="rect">
            <a:avLst/>
          </a:prstGeom>
          <a:noFill/>
          <a:ln/>
        </p:spPr>
        <p:txBody>
          <a:bodyPr wrap="square" lIns="0" tIns="0" rIns="0" bIns="0" rtlCol="0" anchor="t"/>
          <a:lstStyle/>
          <a:p>
            <a:pPr algn="r" indent="0" marL="0">
              <a:lnSpc>
                <a:spcPts val="1219"/>
              </a:lnSpc>
              <a:buNone/>
            </a:pPr>
            <a:r>
              <a:rPr lang="en-US" sz="938" b="1" dirty="0">
                <a:solidFill>
                  <a:srgbClr val="EFB13C"/>
                </a:solidFill>
                <a:latin typeface="Consolas" pitchFamily="34" charset="0"/>
                <a:ea typeface="Consolas" pitchFamily="34" charset="-122"/>
                <a:cs typeface="Consolas" pitchFamily="34" charset="-120"/>
              </a:rPr>
              <a:t>편차 −0.044  ·  오차 1.234  ·  종전 대비 +91%</a:t>
            </a:r>
            <a:endParaRPr lang="en-US" sz="938" dirty="0"/>
          </a:p>
        </p:txBody>
      </p:sp>
      <p:sp>
        <p:nvSpPr>
          <p:cNvPr id="31" name="Shape 29"/>
          <p:cNvSpPr/>
          <p:nvPr/>
        </p:nvSpPr>
        <p:spPr>
          <a:xfrm>
            <a:off x="1333500" y="5105400"/>
            <a:ext cx="9525000" cy="0"/>
          </a:xfrm>
          <a:prstGeom prst="line">
            <a:avLst/>
          </a:prstGeom>
          <a:noFill/>
          <a:ln w="12700">
            <a:solidFill>
              <a:srgbClr val="22354A"/>
            </a:solidFill>
            <a:prstDash val="solid"/>
          </a:ln>
        </p:spPr>
      </p:sp>
      <p:sp>
        <p:nvSpPr>
          <p:cNvPr id="32" name="Shape 30"/>
          <p:cNvSpPr/>
          <p:nvPr/>
        </p:nvSpPr>
        <p:spPr>
          <a:xfrm>
            <a:off x="1333500" y="4724400"/>
            <a:ext cx="9525000" cy="0"/>
          </a:xfrm>
          <a:prstGeom prst="line">
            <a:avLst/>
          </a:prstGeom>
          <a:noFill/>
          <a:ln w="12700">
            <a:solidFill>
              <a:srgbClr val="182838"/>
            </a:solidFill>
            <a:prstDash val="solid"/>
          </a:ln>
        </p:spPr>
      </p:sp>
      <p:sp>
        <p:nvSpPr>
          <p:cNvPr id="33" name="Shape 31"/>
          <p:cNvSpPr/>
          <p:nvPr/>
        </p:nvSpPr>
        <p:spPr>
          <a:xfrm>
            <a:off x="1333500" y="5486400"/>
            <a:ext cx="9525000" cy="0"/>
          </a:xfrm>
          <a:prstGeom prst="line">
            <a:avLst/>
          </a:prstGeom>
          <a:noFill/>
          <a:ln w="12700">
            <a:solidFill>
              <a:srgbClr val="182838"/>
            </a:solidFill>
            <a:prstDash val="solid"/>
          </a:ln>
        </p:spPr>
      </p:sp>
      <p:sp>
        <p:nvSpPr>
          <p:cNvPr id="34" name="Text 32"/>
          <p:cNvSpPr txBox="1"/>
          <p:nvPr/>
        </p:nvSpPr>
        <p:spPr>
          <a:xfrm>
            <a:off x="914400" y="4657725"/>
            <a:ext cx="3429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+2</a:t>
            </a:r>
            <a:endParaRPr lang="en-US" sz="750" dirty="0"/>
          </a:p>
        </p:txBody>
      </p:sp>
      <p:sp>
        <p:nvSpPr>
          <p:cNvPr id="35" name="Text 33"/>
          <p:cNvSpPr txBox="1"/>
          <p:nvPr/>
        </p:nvSpPr>
        <p:spPr>
          <a:xfrm>
            <a:off x="914400" y="5038725"/>
            <a:ext cx="3429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36" name="Text 34"/>
          <p:cNvSpPr txBox="1"/>
          <p:nvPr/>
        </p:nvSpPr>
        <p:spPr>
          <a:xfrm>
            <a:off x="914400" y="5419725"/>
            <a:ext cx="34290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−2</a:t>
            </a:r>
            <a:endParaRPr lang="en-US" sz="750" dirty="0"/>
          </a:p>
        </p:txBody>
      </p:sp>
      <p:sp>
        <p:nvSpPr>
          <p:cNvPr id="37" name="Shape 35"/>
          <p:cNvSpPr/>
          <p:nvPr/>
        </p:nvSpPr>
        <p:spPr>
          <a:xfrm>
            <a:off x="1504950" y="4804410"/>
            <a:ext cx="438150" cy="300990"/>
          </a:xfrm>
          <a:prstGeom prst="rect">
            <a:avLst/>
          </a:prstGeom>
          <a:solidFill>
            <a:srgbClr val="EFB13C"/>
          </a:solidFill>
          <a:ln/>
        </p:spPr>
      </p:sp>
      <p:sp>
        <p:nvSpPr>
          <p:cNvPr id="38" name="Text 36"/>
          <p:cNvSpPr txBox="1"/>
          <p:nvPr/>
        </p:nvSpPr>
        <p:spPr>
          <a:xfrm>
            <a:off x="1371600" y="4642485"/>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EFB13C"/>
                </a:solidFill>
                <a:latin typeface="Consolas" pitchFamily="34" charset="0"/>
                <a:ea typeface="Consolas" pitchFamily="34" charset="-122"/>
                <a:cs typeface="Consolas" pitchFamily="34" charset="-120"/>
              </a:rPr>
              <a:t>+1.58</a:t>
            </a:r>
            <a:endParaRPr lang="en-US" sz="788" dirty="0"/>
          </a:p>
        </p:txBody>
      </p:sp>
      <p:sp>
        <p:nvSpPr>
          <p:cNvPr id="39" name="Text 37"/>
          <p:cNvSpPr txBox="1"/>
          <p:nvPr/>
        </p:nvSpPr>
        <p:spPr>
          <a:xfrm>
            <a:off x="137160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04-15</a:t>
            </a:r>
            <a:endParaRPr lang="en-US" sz="750" dirty="0"/>
          </a:p>
        </p:txBody>
      </p:sp>
      <p:sp>
        <p:nvSpPr>
          <p:cNvPr id="40" name="Shape 38"/>
          <p:cNvSpPr/>
          <p:nvPr/>
        </p:nvSpPr>
        <p:spPr>
          <a:xfrm>
            <a:off x="2552700" y="4877562"/>
            <a:ext cx="438150" cy="227838"/>
          </a:xfrm>
          <a:prstGeom prst="rect">
            <a:avLst/>
          </a:prstGeom>
          <a:solidFill>
            <a:srgbClr val="EFB13C"/>
          </a:solidFill>
          <a:ln/>
        </p:spPr>
      </p:sp>
      <p:sp>
        <p:nvSpPr>
          <p:cNvPr id="41" name="Text 39"/>
          <p:cNvSpPr txBox="1"/>
          <p:nvPr/>
        </p:nvSpPr>
        <p:spPr>
          <a:xfrm>
            <a:off x="2419350" y="4715637"/>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EFB13C"/>
                </a:solidFill>
                <a:latin typeface="Consolas" pitchFamily="34" charset="0"/>
                <a:ea typeface="Consolas" pitchFamily="34" charset="-122"/>
                <a:cs typeface="Consolas" pitchFamily="34" charset="-120"/>
              </a:rPr>
              <a:t>+1.20</a:t>
            </a:r>
            <a:endParaRPr lang="en-US" sz="788" dirty="0"/>
          </a:p>
        </p:txBody>
      </p:sp>
      <p:sp>
        <p:nvSpPr>
          <p:cNvPr id="42" name="Text 40"/>
          <p:cNvSpPr txBox="1"/>
          <p:nvPr/>
        </p:nvSpPr>
        <p:spPr>
          <a:xfrm>
            <a:off x="241935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05-27</a:t>
            </a:r>
            <a:endParaRPr lang="en-US" sz="750" dirty="0"/>
          </a:p>
        </p:txBody>
      </p:sp>
      <p:sp>
        <p:nvSpPr>
          <p:cNvPr id="43" name="Shape 41"/>
          <p:cNvSpPr/>
          <p:nvPr/>
        </p:nvSpPr>
        <p:spPr>
          <a:xfrm>
            <a:off x="3600450" y="5062538"/>
            <a:ext cx="438150" cy="42863"/>
          </a:xfrm>
          <a:prstGeom prst="rect">
            <a:avLst/>
          </a:prstGeom>
          <a:solidFill>
            <a:srgbClr val="EFB13C"/>
          </a:solidFill>
          <a:ln/>
        </p:spPr>
      </p:sp>
      <p:sp>
        <p:nvSpPr>
          <p:cNvPr id="44" name="Text 42"/>
          <p:cNvSpPr txBox="1"/>
          <p:nvPr/>
        </p:nvSpPr>
        <p:spPr>
          <a:xfrm>
            <a:off x="3467100" y="4900613"/>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EFB13C"/>
                </a:solidFill>
                <a:latin typeface="Consolas" pitchFamily="34" charset="0"/>
                <a:ea typeface="Consolas" pitchFamily="34" charset="-122"/>
                <a:cs typeface="Consolas" pitchFamily="34" charset="-120"/>
              </a:rPr>
              <a:t>+0.23</a:t>
            </a:r>
            <a:endParaRPr lang="en-US" sz="788" dirty="0"/>
          </a:p>
        </p:txBody>
      </p:sp>
      <p:sp>
        <p:nvSpPr>
          <p:cNvPr id="45" name="Text 43"/>
          <p:cNvSpPr txBox="1"/>
          <p:nvPr/>
        </p:nvSpPr>
        <p:spPr>
          <a:xfrm>
            <a:off x="346710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07-07</a:t>
            </a:r>
            <a:endParaRPr lang="en-US" sz="750" dirty="0"/>
          </a:p>
        </p:txBody>
      </p:sp>
      <p:sp>
        <p:nvSpPr>
          <p:cNvPr id="46" name="Shape 44"/>
          <p:cNvSpPr/>
          <p:nvPr/>
        </p:nvSpPr>
        <p:spPr>
          <a:xfrm>
            <a:off x="4648200" y="5105400"/>
            <a:ext cx="438150" cy="462534"/>
          </a:xfrm>
          <a:prstGeom prst="rect">
            <a:avLst/>
          </a:prstGeom>
          <a:solidFill>
            <a:srgbClr val="FF4D63"/>
          </a:solidFill>
          <a:ln/>
        </p:spPr>
      </p:sp>
      <p:sp>
        <p:nvSpPr>
          <p:cNvPr id="47" name="Text 45"/>
          <p:cNvSpPr txBox="1"/>
          <p:nvPr/>
        </p:nvSpPr>
        <p:spPr>
          <a:xfrm>
            <a:off x="4514850" y="5596509"/>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FF4D63"/>
                </a:solidFill>
                <a:latin typeface="Consolas" pitchFamily="34" charset="0"/>
                <a:ea typeface="Consolas" pitchFamily="34" charset="-122"/>
                <a:cs typeface="Consolas" pitchFamily="34" charset="-120"/>
              </a:rPr>
              <a:t>−2.43</a:t>
            </a:r>
            <a:endParaRPr lang="en-US" sz="788" dirty="0"/>
          </a:p>
        </p:txBody>
      </p:sp>
      <p:sp>
        <p:nvSpPr>
          <p:cNvPr id="48" name="Text 46"/>
          <p:cNvSpPr txBox="1"/>
          <p:nvPr/>
        </p:nvSpPr>
        <p:spPr>
          <a:xfrm>
            <a:off x="451485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07-22</a:t>
            </a:r>
            <a:endParaRPr lang="en-US" sz="750" dirty="0"/>
          </a:p>
        </p:txBody>
      </p:sp>
      <p:sp>
        <p:nvSpPr>
          <p:cNvPr id="49" name="Shape 47"/>
          <p:cNvSpPr/>
          <p:nvPr/>
        </p:nvSpPr>
        <p:spPr>
          <a:xfrm>
            <a:off x="5695950" y="4986719"/>
            <a:ext cx="438150" cy="118682"/>
          </a:xfrm>
          <a:prstGeom prst="rect">
            <a:avLst/>
          </a:prstGeom>
          <a:solidFill>
            <a:srgbClr val="EFB13C"/>
          </a:solidFill>
          <a:ln/>
        </p:spPr>
      </p:sp>
      <p:sp>
        <p:nvSpPr>
          <p:cNvPr id="50" name="Text 48"/>
          <p:cNvSpPr txBox="1"/>
          <p:nvPr/>
        </p:nvSpPr>
        <p:spPr>
          <a:xfrm>
            <a:off x="5562600" y="4824794"/>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EFB13C"/>
                </a:solidFill>
                <a:latin typeface="Consolas" pitchFamily="34" charset="0"/>
                <a:ea typeface="Consolas" pitchFamily="34" charset="-122"/>
                <a:cs typeface="Consolas" pitchFamily="34" charset="-120"/>
              </a:rPr>
              <a:t>+0.62</a:t>
            </a:r>
            <a:endParaRPr lang="en-US" sz="788" dirty="0"/>
          </a:p>
        </p:txBody>
      </p:sp>
      <p:sp>
        <p:nvSpPr>
          <p:cNvPr id="51" name="Text 49"/>
          <p:cNvSpPr txBox="1"/>
          <p:nvPr/>
        </p:nvSpPr>
        <p:spPr>
          <a:xfrm>
            <a:off x="556260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07-29</a:t>
            </a:r>
            <a:endParaRPr lang="en-US" sz="750" dirty="0"/>
          </a:p>
        </p:txBody>
      </p:sp>
      <p:sp>
        <p:nvSpPr>
          <p:cNvPr id="52" name="Shape 50"/>
          <p:cNvSpPr/>
          <p:nvPr/>
        </p:nvSpPr>
        <p:spPr>
          <a:xfrm>
            <a:off x="6743700" y="5105400"/>
            <a:ext cx="438150" cy="101918"/>
          </a:xfrm>
          <a:prstGeom prst="rect">
            <a:avLst/>
          </a:prstGeom>
          <a:solidFill>
            <a:srgbClr val="FF4D63"/>
          </a:solidFill>
          <a:ln/>
        </p:spPr>
      </p:sp>
      <p:sp>
        <p:nvSpPr>
          <p:cNvPr id="53" name="Text 51"/>
          <p:cNvSpPr txBox="1"/>
          <p:nvPr/>
        </p:nvSpPr>
        <p:spPr>
          <a:xfrm>
            <a:off x="6610350" y="5235893"/>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FF4D63"/>
                </a:solidFill>
                <a:latin typeface="Consolas" pitchFamily="34" charset="0"/>
                <a:ea typeface="Consolas" pitchFamily="34" charset="-122"/>
                <a:cs typeface="Consolas" pitchFamily="34" charset="-120"/>
              </a:rPr>
              <a:t>−0.54</a:t>
            </a:r>
            <a:endParaRPr lang="en-US" sz="788" dirty="0"/>
          </a:p>
        </p:txBody>
      </p:sp>
      <p:sp>
        <p:nvSpPr>
          <p:cNvPr id="54" name="Text 52"/>
          <p:cNvSpPr txBox="1"/>
          <p:nvPr/>
        </p:nvSpPr>
        <p:spPr>
          <a:xfrm>
            <a:off x="661035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08-04</a:t>
            </a:r>
            <a:endParaRPr lang="en-US" sz="750" dirty="0"/>
          </a:p>
        </p:txBody>
      </p:sp>
      <p:sp>
        <p:nvSpPr>
          <p:cNvPr id="55" name="Shape 53"/>
          <p:cNvSpPr/>
          <p:nvPr/>
        </p:nvSpPr>
        <p:spPr>
          <a:xfrm>
            <a:off x="7791450" y="4776026"/>
            <a:ext cx="438150" cy="329374"/>
          </a:xfrm>
          <a:prstGeom prst="rect">
            <a:avLst/>
          </a:prstGeom>
          <a:solidFill>
            <a:srgbClr val="EFB13C"/>
          </a:solidFill>
          <a:ln/>
        </p:spPr>
      </p:sp>
      <p:sp>
        <p:nvSpPr>
          <p:cNvPr id="56" name="Text 54"/>
          <p:cNvSpPr txBox="1"/>
          <p:nvPr/>
        </p:nvSpPr>
        <p:spPr>
          <a:xfrm>
            <a:off x="7658100" y="4614101"/>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EFB13C"/>
                </a:solidFill>
                <a:latin typeface="Consolas" pitchFamily="34" charset="0"/>
                <a:ea typeface="Consolas" pitchFamily="34" charset="-122"/>
                <a:cs typeface="Consolas" pitchFamily="34" charset="-120"/>
              </a:rPr>
              <a:t>+1.73</a:t>
            </a:r>
            <a:endParaRPr lang="en-US" sz="788" dirty="0"/>
          </a:p>
        </p:txBody>
      </p:sp>
      <p:sp>
        <p:nvSpPr>
          <p:cNvPr id="57" name="Text 55"/>
          <p:cNvSpPr txBox="1"/>
          <p:nvPr/>
        </p:nvSpPr>
        <p:spPr>
          <a:xfrm>
            <a:off x="765810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08-12</a:t>
            </a:r>
            <a:endParaRPr lang="en-US" sz="750" dirty="0"/>
          </a:p>
        </p:txBody>
      </p:sp>
      <p:sp>
        <p:nvSpPr>
          <p:cNvPr id="58" name="Shape 56"/>
          <p:cNvSpPr/>
          <p:nvPr/>
        </p:nvSpPr>
        <p:spPr>
          <a:xfrm>
            <a:off x="8839200" y="5105400"/>
            <a:ext cx="438150" cy="209169"/>
          </a:xfrm>
          <a:prstGeom prst="rect">
            <a:avLst/>
          </a:prstGeom>
          <a:solidFill>
            <a:srgbClr val="FF4D63"/>
          </a:solidFill>
          <a:ln/>
        </p:spPr>
      </p:sp>
      <p:sp>
        <p:nvSpPr>
          <p:cNvPr id="59" name="Text 57"/>
          <p:cNvSpPr txBox="1"/>
          <p:nvPr/>
        </p:nvSpPr>
        <p:spPr>
          <a:xfrm>
            <a:off x="8705850" y="5343144"/>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FF4D63"/>
                </a:solidFill>
                <a:latin typeface="Consolas" pitchFamily="34" charset="0"/>
                <a:ea typeface="Consolas" pitchFamily="34" charset="-122"/>
                <a:cs typeface="Consolas" pitchFamily="34" charset="-120"/>
              </a:rPr>
              <a:t>−1.10</a:t>
            </a:r>
            <a:endParaRPr lang="en-US" sz="788" dirty="0"/>
          </a:p>
        </p:txBody>
      </p:sp>
      <p:sp>
        <p:nvSpPr>
          <p:cNvPr id="60" name="Text 58"/>
          <p:cNvSpPr txBox="1"/>
          <p:nvPr/>
        </p:nvSpPr>
        <p:spPr>
          <a:xfrm>
            <a:off x="870585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08-18</a:t>
            </a:r>
            <a:endParaRPr lang="en-US" sz="750" dirty="0"/>
          </a:p>
        </p:txBody>
      </p:sp>
      <p:sp>
        <p:nvSpPr>
          <p:cNvPr id="61" name="Shape 59"/>
          <p:cNvSpPr/>
          <p:nvPr/>
        </p:nvSpPr>
        <p:spPr>
          <a:xfrm>
            <a:off x="9886950" y="5105400"/>
            <a:ext cx="438150" cy="321374"/>
          </a:xfrm>
          <a:prstGeom prst="rect">
            <a:avLst/>
          </a:prstGeom>
          <a:solidFill>
            <a:srgbClr val="FF4D63"/>
          </a:solidFill>
          <a:ln/>
        </p:spPr>
      </p:sp>
      <p:sp>
        <p:nvSpPr>
          <p:cNvPr id="62" name="Text 60"/>
          <p:cNvSpPr txBox="1"/>
          <p:nvPr/>
        </p:nvSpPr>
        <p:spPr>
          <a:xfrm>
            <a:off x="9753600" y="5455349"/>
            <a:ext cx="704850" cy="120015"/>
          </a:xfrm>
          <a:prstGeom prst="rect">
            <a:avLst/>
          </a:prstGeom>
          <a:noFill/>
          <a:ln/>
        </p:spPr>
        <p:txBody>
          <a:bodyPr wrap="square" lIns="0" tIns="0" rIns="0" bIns="0" rtlCol="0" anchor="t"/>
          <a:lstStyle/>
          <a:p>
            <a:pPr algn="ctr" indent="0" marL="0">
              <a:lnSpc>
                <a:spcPts val="945"/>
              </a:lnSpc>
              <a:buNone/>
            </a:pPr>
            <a:r>
              <a:rPr lang="en-US" sz="788" b="1" dirty="0">
                <a:solidFill>
                  <a:srgbClr val="FF4D63"/>
                </a:solidFill>
                <a:latin typeface="Consolas" pitchFamily="34" charset="0"/>
                <a:ea typeface="Consolas" pitchFamily="34" charset="-122"/>
                <a:cs typeface="Consolas" pitchFamily="34" charset="-120"/>
              </a:rPr>
              <a:t>−1.69</a:t>
            </a:r>
            <a:endParaRPr lang="en-US" sz="788" dirty="0"/>
          </a:p>
        </p:txBody>
      </p:sp>
      <p:sp>
        <p:nvSpPr>
          <p:cNvPr id="63" name="Text 61"/>
          <p:cNvSpPr txBox="1"/>
          <p:nvPr/>
        </p:nvSpPr>
        <p:spPr>
          <a:xfrm>
            <a:off x="9753600" y="5753100"/>
            <a:ext cx="704850" cy="114300"/>
          </a:xfrm>
          <a:prstGeom prst="rect">
            <a:avLst/>
          </a:prstGeom>
          <a:noFill/>
          <a:ln/>
        </p:spPr>
        <p:txBody>
          <a:bodyPr wrap="square" lIns="0" tIns="0" rIns="0" bIns="0" rtlCol="0" anchor="t"/>
          <a:lstStyle/>
          <a:p>
            <a:pPr algn="ctr" indent="0" marL="0">
              <a:lnSpc>
                <a:spcPts val="900"/>
              </a:lnSpc>
              <a:buNone/>
            </a:pPr>
            <a:r>
              <a:rPr lang="en-US" sz="750" dirty="0">
                <a:solidFill>
                  <a:srgbClr val="8A8880"/>
                </a:solidFill>
                <a:latin typeface="Consolas" pitchFamily="34" charset="0"/>
                <a:ea typeface="Consolas" pitchFamily="34" charset="-122"/>
                <a:cs typeface="Consolas" pitchFamily="34" charset="-120"/>
              </a:rPr>
              <a:t>08-26</a:t>
            </a:r>
            <a:endParaRPr lang="en-US" sz="750" dirty="0"/>
          </a:p>
        </p:txBody>
      </p:sp>
      <p:sp>
        <p:nvSpPr>
          <p:cNvPr id="64" name="Shape 62"/>
          <p:cNvSpPr/>
          <p:nvPr/>
        </p:nvSpPr>
        <p:spPr>
          <a:xfrm>
            <a:off x="685800" y="6057900"/>
            <a:ext cx="10820400" cy="0"/>
          </a:xfrm>
          <a:prstGeom prst="line">
            <a:avLst/>
          </a:prstGeom>
          <a:noFill/>
          <a:ln w="12700">
            <a:solidFill>
              <a:srgbClr val="22354A"/>
            </a:solidFill>
            <a:prstDash val="solid"/>
          </a:ln>
        </p:spPr>
      </p:sp>
      <p:sp>
        <p:nvSpPr>
          <p:cNvPr id="65" name="Text 63"/>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66" name="Text 64"/>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시간도 줄고 숫자도 맞았습니다 — 회수한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용량요금은 연 5,759만원</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 입니다.</a:t>
            </a:r>
            <a:endParaRPr lang="en-US" sz="123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FB13C"/>
                </a:solidFill>
                <a:latin typeface="Consolas" pitchFamily="34" charset="0"/>
                <a:ea typeface="Consolas" pitchFamily="34" charset="-122"/>
                <a:cs typeface="Consolas" pitchFamily="34" charset="-120"/>
              </a:rPr>
              <a:t>07   </a:t>
            </a:r>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향후 계획 및 수평 전개 방안</a:t>
            </a:r>
            <a:pPr algn="l" indent="0" marL="0">
              <a:lnSpc>
                <a:spcPts val="1440"/>
              </a:lnSpc>
              <a:buNone/>
            </a:pPr>
            <a:r>
              <a:rPr lang="en-US" sz="975" spc="60" kern="0" dirty="0">
                <a:solidFill>
                  <a:srgbClr val="A9A79F"/>
                </a:solidFill>
                <a:latin typeface="Malgun Gothic" pitchFamily="34" charset="0"/>
                <a:ea typeface="Malgun Gothic" pitchFamily="34" charset="-122"/>
                <a:cs typeface="Malgun Gothic" pitchFamily="34" charset="-120"/>
              </a:rPr>
              <a:t>   ·   수평 전개</a:t>
            </a:r>
            <a:endParaRPr lang="en-US" sz="1125" dirty="0"/>
          </a:p>
        </p:txBody>
      </p:sp>
      <p:sp>
        <p:nvSpPr>
          <p:cNvPr id="3" name="Shape 1"/>
          <p:cNvSpPr/>
          <p:nvPr/>
        </p:nvSpPr>
        <p:spPr>
          <a:xfrm>
            <a:off x="10668000" y="485775"/>
            <a:ext cx="38100" cy="76200"/>
          </a:xfrm>
          <a:prstGeom prst="rect">
            <a:avLst/>
          </a:prstGeom>
          <a:solidFill>
            <a:srgbClr val="8A8880"/>
          </a:solidFill>
          <a:ln/>
        </p:spPr>
      </p:sp>
      <p:sp>
        <p:nvSpPr>
          <p:cNvPr id="4" name="Shape 2"/>
          <p:cNvSpPr/>
          <p:nvPr/>
        </p:nvSpPr>
        <p:spPr>
          <a:xfrm>
            <a:off x="10801350" y="485775"/>
            <a:ext cx="38100" cy="76200"/>
          </a:xfrm>
          <a:prstGeom prst="rect">
            <a:avLst/>
          </a:prstGeom>
          <a:solidFill>
            <a:srgbClr val="8A8880"/>
          </a:solidFill>
          <a:ln/>
        </p:spPr>
      </p:sp>
      <p:sp>
        <p:nvSpPr>
          <p:cNvPr id="5" name="Shape 3"/>
          <p:cNvSpPr/>
          <p:nvPr/>
        </p:nvSpPr>
        <p:spPr>
          <a:xfrm>
            <a:off x="10934700" y="485775"/>
            <a:ext cx="38100" cy="76200"/>
          </a:xfrm>
          <a:prstGeom prst="rect">
            <a:avLst/>
          </a:prstGeom>
          <a:solidFill>
            <a:srgbClr val="8A8880"/>
          </a:solidFill>
          <a:ln/>
        </p:spPr>
      </p:sp>
      <p:sp>
        <p:nvSpPr>
          <p:cNvPr id="6" name="Shape 4"/>
          <p:cNvSpPr/>
          <p:nvPr/>
        </p:nvSpPr>
        <p:spPr>
          <a:xfrm>
            <a:off x="11068050" y="485775"/>
            <a:ext cx="38100" cy="76200"/>
          </a:xfrm>
          <a:prstGeom prst="rect">
            <a:avLst/>
          </a:prstGeom>
          <a:solidFill>
            <a:srgbClr val="8A8880"/>
          </a:solidFill>
          <a:ln/>
        </p:spPr>
      </p:sp>
      <p:sp>
        <p:nvSpPr>
          <p:cNvPr id="7" name="Shape 5"/>
          <p:cNvSpPr/>
          <p:nvPr/>
        </p:nvSpPr>
        <p:spPr>
          <a:xfrm>
            <a:off x="11201400" y="485775"/>
            <a:ext cx="38100" cy="76200"/>
          </a:xfrm>
          <a:prstGeom prst="rect">
            <a:avLst/>
          </a:prstGeom>
          <a:solidFill>
            <a:srgbClr val="8A8880"/>
          </a:solidFill>
          <a:ln/>
        </p:spPr>
      </p:sp>
      <p:sp>
        <p:nvSpPr>
          <p:cNvPr id="8" name="Shape 6"/>
          <p:cNvSpPr/>
          <p:nvPr/>
        </p:nvSpPr>
        <p:spPr>
          <a:xfrm>
            <a:off x="11334750" y="485775"/>
            <a:ext cx="38100" cy="76200"/>
          </a:xfrm>
          <a:prstGeom prst="rect">
            <a:avLst/>
          </a:prstGeom>
          <a:solidFill>
            <a:srgbClr val="8A8880"/>
          </a:solidFill>
          <a:ln/>
        </p:spPr>
      </p:sp>
      <p:sp>
        <p:nvSpPr>
          <p:cNvPr id="9" name="Shape 7"/>
          <p:cNvSpPr/>
          <p:nvPr/>
        </p:nvSpPr>
        <p:spPr>
          <a:xfrm>
            <a:off x="11468100" y="419100"/>
            <a:ext cx="38100" cy="142875"/>
          </a:xfrm>
          <a:prstGeom prst="rect">
            <a:avLst/>
          </a:prstGeom>
          <a:solidFill>
            <a:srgbClr val="EFB13C"/>
          </a:solidFill>
          <a:ln/>
        </p:spPr>
      </p:sp>
      <p:sp>
        <p:nvSpPr>
          <p:cNvPr id="10" name="Shape 8"/>
          <p:cNvSpPr/>
          <p:nvPr/>
        </p:nvSpPr>
        <p:spPr>
          <a:xfrm>
            <a:off x="685800" y="685800"/>
            <a:ext cx="10820400" cy="0"/>
          </a:xfrm>
          <a:prstGeom prst="line">
            <a:avLst/>
          </a:prstGeom>
          <a:noFill/>
          <a:ln w="12700">
            <a:solidFill>
              <a:srgbClr val="22354A"/>
            </a:solidFill>
            <a:prstDash val="solid"/>
          </a:ln>
        </p:spPr>
      </p:sp>
      <p:sp>
        <p:nvSpPr>
          <p:cNvPr id="11" name="Text 9"/>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테스트는 계속 쌓입니다,</a:t>
            </a:r>
            <a:endParaRPr lang="en-US" sz="2775" dirty="0"/>
          </a:p>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쌓일수록 </a:t>
            </a:r>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예측이 정확해집니다</a:t>
            </a:r>
            <a:endParaRPr lang="en-US" sz="2775" dirty="0"/>
          </a:p>
        </p:txBody>
      </p:sp>
      <p:sp>
        <p:nvSpPr>
          <p:cNvPr id="12" name="Text 10"/>
          <p:cNvSpPr txBox="1"/>
          <p:nvPr/>
        </p:nvSpPr>
        <p:spPr>
          <a:xfrm>
            <a:off x="685800" y="2000250"/>
            <a:ext cx="10287000" cy="569214"/>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공급가능용량 테스트는 앞으로도 주기적으로 합니다. 회차가 들어올 때마다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다시 학습</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하므로, 데이터가 쌓이는 것 자체가 개선입니다.</a:t>
            </a:r>
            <a:endParaRPr lang="en-US" sz="1350" dirty="0"/>
          </a:p>
        </p:txBody>
      </p:sp>
      <p:sp>
        <p:nvSpPr>
          <p:cNvPr id="13" name="Shape 11"/>
          <p:cNvSpPr/>
          <p:nvPr/>
        </p:nvSpPr>
        <p:spPr>
          <a:xfrm>
            <a:off x="685800" y="2705100"/>
            <a:ext cx="10820400" cy="1771650"/>
          </a:xfrm>
          <a:prstGeom prst="rect">
            <a:avLst/>
          </a:prstGeom>
          <a:solidFill>
            <a:srgbClr val="0A1320"/>
          </a:solidFill>
          <a:ln w="12700">
            <a:solidFill>
              <a:srgbClr val="182838"/>
            </a:solidFill>
            <a:prstDash val="solid"/>
          </a:ln>
        </p:spPr>
      </p:sp>
      <p:sp>
        <p:nvSpPr>
          <p:cNvPr id="14" name="Text 12"/>
          <p:cNvSpPr txBox="1"/>
          <p:nvPr/>
        </p:nvSpPr>
        <p:spPr>
          <a:xfrm>
            <a:off x="914400" y="2781300"/>
            <a:ext cx="8572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회차 구간별 예측 오차  ·  단위 MW  ·  각 회차를 그 앞의 회차만으로 예측(walk-forward)  ·  낮을수록 좋음</a:t>
            </a:r>
            <a:endParaRPr lang="en-US" sz="788" dirty="0"/>
          </a:p>
        </p:txBody>
      </p:sp>
      <p:sp>
        <p:nvSpPr>
          <p:cNvPr id="15" name="Text 13"/>
          <p:cNvSpPr txBox="1"/>
          <p:nvPr/>
        </p:nvSpPr>
        <p:spPr>
          <a:xfrm>
            <a:off x="914400" y="2952750"/>
            <a:ext cx="10363200" cy="160973"/>
          </a:xfrm>
          <a:prstGeom prst="rect">
            <a:avLst/>
          </a:prstGeom>
          <a:noFill/>
          <a:ln/>
        </p:spPr>
        <p:txBody>
          <a:bodyPr wrap="square" lIns="0" tIns="0" rIns="0" bIns="0" rtlCol="0" anchor="t"/>
          <a:lstStyle/>
          <a:p>
            <a:pPr algn="l" indent="0" marL="0">
              <a:lnSpc>
                <a:spcPts val="1268"/>
              </a:lnSpc>
              <a:buNone/>
            </a:pPr>
            <a:r>
              <a:rPr lang="en-US" sz="975" b="1" dirty="0">
                <a:solidFill>
                  <a:srgbClr val="EFB13C"/>
                </a:solidFill>
                <a:latin typeface="Malgun Gothic" pitchFamily="34" charset="0"/>
                <a:ea typeface="Malgun Gothic" pitchFamily="34" charset="-122"/>
                <a:cs typeface="Malgun Gothic" pitchFamily="34" charset="-120"/>
              </a:rPr>
              <a:t>2.26 → 1.19 MW</a:t>
            </a:r>
            <a:pPr algn="l" indent="0" marL="0">
              <a:lnSpc>
                <a:spcPts val="1268"/>
              </a:lnSpc>
              <a:buNone/>
            </a:pPr>
            <a:r>
              <a:rPr lang="en-US" sz="975" dirty="0">
                <a:solidFill>
                  <a:srgbClr val="CFCBC2"/>
                </a:solidFill>
                <a:latin typeface="Malgun Gothic" pitchFamily="34" charset="0"/>
                <a:ea typeface="Malgun Gothic" pitchFamily="34" charset="-122"/>
                <a:cs typeface="Malgun Gothic" pitchFamily="34" charset="-120"/>
              </a:rPr>
              <a:t>  ·  47% 줄었습니다. 구간마다 오르내림은 있습니다 — 어려운 회차가 몰리면 올라갑니다.</a:t>
            </a:r>
            <a:endParaRPr lang="en-US" sz="975" dirty="0"/>
          </a:p>
        </p:txBody>
      </p:sp>
      <p:sp>
        <p:nvSpPr>
          <p:cNvPr id="16" name="Shape 14"/>
          <p:cNvSpPr/>
          <p:nvPr/>
        </p:nvSpPr>
        <p:spPr>
          <a:xfrm>
            <a:off x="1428750" y="4210050"/>
            <a:ext cx="9525000" cy="0"/>
          </a:xfrm>
          <a:prstGeom prst="line">
            <a:avLst/>
          </a:prstGeom>
          <a:noFill/>
          <a:ln w="12700">
            <a:solidFill>
              <a:srgbClr val="22354A"/>
            </a:solidFill>
            <a:prstDash val="solid"/>
          </a:ln>
        </p:spPr>
      </p:sp>
      <p:sp>
        <p:nvSpPr>
          <p:cNvPr id="17" name="Shape 15"/>
          <p:cNvSpPr/>
          <p:nvPr/>
        </p:nvSpPr>
        <p:spPr>
          <a:xfrm>
            <a:off x="2000250" y="3333750"/>
            <a:ext cx="914400" cy="876300"/>
          </a:xfrm>
          <a:prstGeom prst="rect">
            <a:avLst/>
          </a:prstGeom>
          <a:solidFill>
            <a:srgbClr val="8A6620"/>
          </a:solidFill>
          <a:ln/>
        </p:spPr>
      </p:sp>
      <p:sp>
        <p:nvSpPr>
          <p:cNvPr id="18" name="Text 16"/>
          <p:cNvSpPr txBox="1"/>
          <p:nvPr/>
        </p:nvSpPr>
        <p:spPr>
          <a:xfrm>
            <a:off x="1714500" y="3143250"/>
            <a:ext cx="1485900" cy="182880"/>
          </a:xfrm>
          <a:prstGeom prst="rect">
            <a:avLst/>
          </a:prstGeom>
          <a:noFill/>
          <a:ln/>
        </p:spPr>
        <p:txBody>
          <a:bodyPr wrap="square" lIns="0" tIns="0" rIns="0" bIns="0" rtlCol="0" anchor="t"/>
          <a:lstStyle/>
          <a:p>
            <a:pPr algn="ctr" indent="0" marL="0">
              <a:lnSpc>
                <a:spcPts val="1440"/>
              </a:lnSpc>
              <a:buNone/>
            </a:pPr>
            <a:r>
              <a:rPr lang="en-US" sz="1200" b="1" dirty="0">
                <a:solidFill>
                  <a:srgbClr val="A9A79F"/>
                </a:solidFill>
                <a:latin typeface="Consolas" pitchFamily="34" charset="0"/>
                <a:ea typeface="Consolas" pitchFamily="34" charset="-122"/>
                <a:cs typeface="Consolas" pitchFamily="34" charset="-120"/>
              </a:rPr>
              <a:t>2.26</a:t>
            </a:r>
            <a:endParaRPr lang="en-US" sz="1200" dirty="0"/>
          </a:p>
        </p:txBody>
      </p:sp>
      <p:sp>
        <p:nvSpPr>
          <p:cNvPr id="19" name="Text 17"/>
          <p:cNvSpPr txBox="1"/>
          <p:nvPr/>
        </p:nvSpPr>
        <p:spPr>
          <a:xfrm>
            <a:off x="1714500" y="4295775"/>
            <a:ext cx="1485900" cy="131445"/>
          </a:xfrm>
          <a:prstGeom prst="rect">
            <a:avLst/>
          </a:prstGeom>
          <a:noFill/>
          <a:ln/>
        </p:spPr>
        <p:txBody>
          <a:bodyPr wrap="square" lIns="0" tIns="0" rIns="0" bIns="0" rtlCol="0" anchor="t"/>
          <a:lstStyle/>
          <a:p>
            <a:pPr algn="ctr" indent="0" marL="0">
              <a:lnSpc>
                <a:spcPts val="1035"/>
              </a:lnSpc>
              <a:buNone/>
            </a:pPr>
            <a:r>
              <a:rPr lang="en-US" sz="863" dirty="0">
                <a:solidFill>
                  <a:srgbClr val="8A8880"/>
                </a:solidFill>
                <a:latin typeface="Malgun Gothic" pitchFamily="34" charset="0"/>
                <a:ea typeface="Malgun Gothic" pitchFamily="34" charset="-122"/>
                <a:cs typeface="Malgun Gothic" pitchFamily="34" charset="-120"/>
              </a:rPr>
              <a:t>13 ~ 19회차</a:t>
            </a:r>
            <a:endParaRPr lang="en-US" sz="863" dirty="0"/>
          </a:p>
        </p:txBody>
      </p:sp>
      <p:sp>
        <p:nvSpPr>
          <p:cNvPr id="20" name="Text 18"/>
          <p:cNvSpPr txBox="1"/>
          <p:nvPr/>
        </p:nvSpPr>
        <p:spPr>
          <a:xfrm>
            <a:off x="3219450" y="4000500"/>
            <a:ext cx="571500" cy="171450"/>
          </a:xfrm>
          <a:prstGeom prst="rect">
            <a:avLst/>
          </a:prstGeom>
          <a:noFill/>
          <a:ln/>
        </p:spPr>
        <p:txBody>
          <a:bodyPr wrap="square" lIns="0" tIns="0" rIns="0" bIns="0" rtlCol="0" anchor="t"/>
          <a:lstStyle/>
          <a:p>
            <a:pPr algn="ctr" indent="0" marL="0">
              <a:lnSpc>
                <a:spcPts val="1350"/>
              </a:lnSpc>
              <a:buNone/>
            </a:pPr>
            <a:r>
              <a:rPr lang="en-US" sz="1125" dirty="0">
                <a:solidFill>
                  <a:srgbClr val="8A8880"/>
                </a:solidFill>
                <a:latin typeface="Malgun Gothic" pitchFamily="34" charset="0"/>
                <a:ea typeface="Malgun Gothic" pitchFamily="34" charset="-122"/>
                <a:cs typeface="Malgun Gothic" pitchFamily="34" charset="-120"/>
              </a:rPr>
              <a:t>→</a:t>
            </a:r>
            <a:endParaRPr lang="en-US" sz="1125" dirty="0"/>
          </a:p>
        </p:txBody>
      </p:sp>
      <p:sp>
        <p:nvSpPr>
          <p:cNvPr id="21" name="Shape 19"/>
          <p:cNvSpPr/>
          <p:nvPr/>
        </p:nvSpPr>
        <p:spPr>
          <a:xfrm>
            <a:off x="4095750" y="3335685"/>
            <a:ext cx="914400" cy="874365"/>
          </a:xfrm>
          <a:prstGeom prst="rect">
            <a:avLst/>
          </a:prstGeom>
          <a:solidFill>
            <a:srgbClr val="8A6620"/>
          </a:solidFill>
          <a:ln/>
        </p:spPr>
      </p:sp>
      <p:sp>
        <p:nvSpPr>
          <p:cNvPr id="22" name="Text 20"/>
          <p:cNvSpPr txBox="1"/>
          <p:nvPr/>
        </p:nvSpPr>
        <p:spPr>
          <a:xfrm>
            <a:off x="3810000" y="3145185"/>
            <a:ext cx="1485900" cy="182880"/>
          </a:xfrm>
          <a:prstGeom prst="rect">
            <a:avLst/>
          </a:prstGeom>
          <a:noFill/>
          <a:ln/>
        </p:spPr>
        <p:txBody>
          <a:bodyPr wrap="square" lIns="0" tIns="0" rIns="0" bIns="0" rtlCol="0" anchor="t"/>
          <a:lstStyle/>
          <a:p>
            <a:pPr algn="ctr" indent="0" marL="0">
              <a:lnSpc>
                <a:spcPts val="1440"/>
              </a:lnSpc>
              <a:buNone/>
            </a:pPr>
            <a:r>
              <a:rPr lang="en-US" sz="1200" b="1" dirty="0">
                <a:solidFill>
                  <a:srgbClr val="A9A79F"/>
                </a:solidFill>
                <a:latin typeface="Consolas" pitchFamily="34" charset="0"/>
                <a:ea typeface="Consolas" pitchFamily="34" charset="-122"/>
                <a:cs typeface="Consolas" pitchFamily="34" charset="-120"/>
              </a:rPr>
              <a:t>2.26</a:t>
            </a:r>
            <a:endParaRPr lang="en-US" sz="1200" dirty="0"/>
          </a:p>
        </p:txBody>
      </p:sp>
      <p:sp>
        <p:nvSpPr>
          <p:cNvPr id="23" name="Text 21"/>
          <p:cNvSpPr txBox="1"/>
          <p:nvPr/>
        </p:nvSpPr>
        <p:spPr>
          <a:xfrm>
            <a:off x="3810000" y="4295775"/>
            <a:ext cx="1485900" cy="131445"/>
          </a:xfrm>
          <a:prstGeom prst="rect">
            <a:avLst/>
          </a:prstGeom>
          <a:noFill/>
          <a:ln/>
        </p:spPr>
        <p:txBody>
          <a:bodyPr wrap="square" lIns="0" tIns="0" rIns="0" bIns="0" rtlCol="0" anchor="t"/>
          <a:lstStyle/>
          <a:p>
            <a:pPr algn="ctr" indent="0" marL="0">
              <a:lnSpc>
                <a:spcPts val="1035"/>
              </a:lnSpc>
              <a:buNone/>
            </a:pPr>
            <a:r>
              <a:rPr lang="en-US" sz="863" dirty="0">
                <a:solidFill>
                  <a:srgbClr val="8A8880"/>
                </a:solidFill>
                <a:latin typeface="Malgun Gothic" pitchFamily="34" charset="0"/>
                <a:ea typeface="Malgun Gothic" pitchFamily="34" charset="-122"/>
                <a:cs typeface="Malgun Gothic" pitchFamily="34" charset="-120"/>
              </a:rPr>
              <a:t>20 ~ 26회차</a:t>
            </a:r>
            <a:endParaRPr lang="en-US" sz="863" dirty="0"/>
          </a:p>
        </p:txBody>
      </p:sp>
      <p:sp>
        <p:nvSpPr>
          <p:cNvPr id="24" name="Text 22"/>
          <p:cNvSpPr txBox="1"/>
          <p:nvPr/>
        </p:nvSpPr>
        <p:spPr>
          <a:xfrm>
            <a:off x="5314950" y="4000500"/>
            <a:ext cx="571500" cy="171450"/>
          </a:xfrm>
          <a:prstGeom prst="rect">
            <a:avLst/>
          </a:prstGeom>
          <a:noFill/>
          <a:ln/>
        </p:spPr>
        <p:txBody>
          <a:bodyPr wrap="square" lIns="0" tIns="0" rIns="0" bIns="0" rtlCol="0" anchor="t"/>
          <a:lstStyle/>
          <a:p>
            <a:pPr algn="ctr" indent="0" marL="0">
              <a:lnSpc>
                <a:spcPts val="1350"/>
              </a:lnSpc>
              <a:buNone/>
            </a:pPr>
            <a:r>
              <a:rPr lang="en-US" sz="1125" dirty="0">
                <a:solidFill>
                  <a:srgbClr val="8A8880"/>
                </a:solidFill>
                <a:latin typeface="Malgun Gothic" pitchFamily="34" charset="0"/>
                <a:ea typeface="Malgun Gothic" pitchFamily="34" charset="-122"/>
                <a:cs typeface="Malgun Gothic" pitchFamily="34" charset="-120"/>
              </a:rPr>
              <a:t>→</a:t>
            </a:r>
            <a:endParaRPr lang="en-US" sz="1125" dirty="0"/>
          </a:p>
        </p:txBody>
      </p:sp>
      <p:sp>
        <p:nvSpPr>
          <p:cNvPr id="25" name="Shape 23"/>
          <p:cNvSpPr/>
          <p:nvPr/>
        </p:nvSpPr>
        <p:spPr>
          <a:xfrm>
            <a:off x="6191250" y="3859762"/>
            <a:ext cx="914400" cy="350288"/>
          </a:xfrm>
          <a:prstGeom prst="rect">
            <a:avLst/>
          </a:prstGeom>
          <a:solidFill>
            <a:srgbClr val="8A6620"/>
          </a:solidFill>
          <a:ln/>
        </p:spPr>
      </p:sp>
      <p:sp>
        <p:nvSpPr>
          <p:cNvPr id="26" name="Text 24"/>
          <p:cNvSpPr txBox="1"/>
          <p:nvPr/>
        </p:nvSpPr>
        <p:spPr>
          <a:xfrm>
            <a:off x="5905500" y="3669262"/>
            <a:ext cx="1485900" cy="182880"/>
          </a:xfrm>
          <a:prstGeom prst="rect">
            <a:avLst/>
          </a:prstGeom>
          <a:noFill/>
          <a:ln/>
        </p:spPr>
        <p:txBody>
          <a:bodyPr wrap="square" lIns="0" tIns="0" rIns="0" bIns="0" rtlCol="0" anchor="t"/>
          <a:lstStyle/>
          <a:p>
            <a:pPr algn="ctr" indent="0" marL="0">
              <a:lnSpc>
                <a:spcPts val="1440"/>
              </a:lnSpc>
              <a:buNone/>
            </a:pPr>
            <a:r>
              <a:rPr lang="en-US" sz="1200" b="1" dirty="0">
                <a:solidFill>
                  <a:srgbClr val="A9A79F"/>
                </a:solidFill>
                <a:latin typeface="Consolas" pitchFamily="34" charset="0"/>
                <a:ea typeface="Consolas" pitchFamily="34" charset="-122"/>
                <a:cs typeface="Consolas" pitchFamily="34" charset="-120"/>
              </a:rPr>
              <a:t>0.91</a:t>
            </a:r>
            <a:endParaRPr lang="en-US" sz="1200" dirty="0"/>
          </a:p>
        </p:txBody>
      </p:sp>
      <p:sp>
        <p:nvSpPr>
          <p:cNvPr id="27" name="Text 25"/>
          <p:cNvSpPr txBox="1"/>
          <p:nvPr/>
        </p:nvSpPr>
        <p:spPr>
          <a:xfrm>
            <a:off x="5905500" y="4295775"/>
            <a:ext cx="1485900" cy="131445"/>
          </a:xfrm>
          <a:prstGeom prst="rect">
            <a:avLst/>
          </a:prstGeom>
          <a:noFill/>
          <a:ln/>
        </p:spPr>
        <p:txBody>
          <a:bodyPr wrap="square" lIns="0" tIns="0" rIns="0" bIns="0" rtlCol="0" anchor="t"/>
          <a:lstStyle/>
          <a:p>
            <a:pPr algn="ctr" indent="0" marL="0">
              <a:lnSpc>
                <a:spcPts val="1035"/>
              </a:lnSpc>
              <a:buNone/>
            </a:pPr>
            <a:r>
              <a:rPr lang="en-US" sz="863" dirty="0">
                <a:solidFill>
                  <a:srgbClr val="8A8880"/>
                </a:solidFill>
                <a:latin typeface="Malgun Gothic" pitchFamily="34" charset="0"/>
                <a:ea typeface="Malgun Gothic" pitchFamily="34" charset="-122"/>
                <a:cs typeface="Malgun Gothic" pitchFamily="34" charset="-120"/>
              </a:rPr>
              <a:t>27 ~ 33회차</a:t>
            </a:r>
            <a:endParaRPr lang="en-US" sz="863" dirty="0"/>
          </a:p>
        </p:txBody>
      </p:sp>
      <p:sp>
        <p:nvSpPr>
          <p:cNvPr id="28" name="Text 26"/>
          <p:cNvSpPr txBox="1"/>
          <p:nvPr/>
        </p:nvSpPr>
        <p:spPr>
          <a:xfrm>
            <a:off x="7410450" y="4000500"/>
            <a:ext cx="571500" cy="171450"/>
          </a:xfrm>
          <a:prstGeom prst="rect">
            <a:avLst/>
          </a:prstGeom>
          <a:noFill/>
          <a:ln/>
        </p:spPr>
        <p:txBody>
          <a:bodyPr wrap="square" lIns="0" tIns="0" rIns="0" bIns="0" rtlCol="0" anchor="t"/>
          <a:lstStyle/>
          <a:p>
            <a:pPr algn="ctr" indent="0" marL="0">
              <a:lnSpc>
                <a:spcPts val="1350"/>
              </a:lnSpc>
              <a:buNone/>
            </a:pPr>
            <a:r>
              <a:rPr lang="en-US" sz="1125" dirty="0">
                <a:solidFill>
                  <a:srgbClr val="8A8880"/>
                </a:solidFill>
                <a:latin typeface="Malgun Gothic" pitchFamily="34" charset="0"/>
                <a:ea typeface="Malgun Gothic" pitchFamily="34" charset="-122"/>
                <a:cs typeface="Malgun Gothic" pitchFamily="34" charset="-120"/>
              </a:rPr>
              <a:t>→</a:t>
            </a:r>
            <a:endParaRPr lang="en-US" sz="1125" dirty="0"/>
          </a:p>
        </p:txBody>
      </p:sp>
      <p:sp>
        <p:nvSpPr>
          <p:cNvPr id="29" name="Shape 27"/>
          <p:cNvSpPr/>
          <p:nvPr/>
        </p:nvSpPr>
        <p:spPr>
          <a:xfrm>
            <a:off x="8286750" y="3749838"/>
            <a:ext cx="914400" cy="460212"/>
          </a:xfrm>
          <a:prstGeom prst="rect">
            <a:avLst/>
          </a:prstGeom>
          <a:solidFill>
            <a:srgbClr val="EFB13C"/>
          </a:solidFill>
          <a:ln/>
        </p:spPr>
      </p:sp>
      <p:sp>
        <p:nvSpPr>
          <p:cNvPr id="30" name="Text 28"/>
          <p:cNvSpPr txBox="1"/>
          <p:nvPr/>
        </p:nvSpPr>
        <p:spPr>
          <a:xfrm>
            <a:off x="8001000" y="3559338"/>
            <a:ext cx="1485900" cy="182880"/>
          </a:xfrm>
          <a:prstGeom prst="rect">
            <a:avLst/>
          </a:prstGeom>
          <a:noFill/>
          <a:ln/>
        </p:spPr>
        <p:txBody>
          <a:bodyPr wrap="square" lIns="0" tIns="0" rIns="0" bIns="0" rtlCol="0" anchor="t"/>
          <a:lstStyle/>
          <a:p>
            <a:pPr algn="ctr" indent="0" marL="0">
              <a:lnSpc>
                <a:spcPts val="1440"/>
              </a:lnSpc>
              <a:buNone/>
            </a:pPr>
            <a:r>
              <a:rPr lang="en-US" sz="1200" b="1" dirty="0">
                <a:solidFill>
                  <a:srgbClr val="EFB13C"/>
                </a:solidFill>
                <a:latin typeface="Consolas" pitchFamily="34" charset="0"/>
                <a:ea typeface="Consolas" pitchFamily="34" charset="-122"/>
                <a:cs typeface="Consolas" pitchFamily="34" charset="-120"/>
              </a:rPr>
              <a:t>1.19</a:t>
            </a:r>
            <a:endParaRPr lang="en-US" sz="1200" dirty="0"/>
          </a:p>
        </p:txBody>
      </p:sp>
      <p:sp>
        <p:nvSpPr>
          <p:cNvPr id="31" name="Text 29"/>
          <p:cNvSpPr txBox="1"/>
          <p:nvPr/>
        </p:nvSpPr>
        <p:spPr>
          <a:xfrm>
            <a:off x="8001000" y="4295775"/>
            <a:ext cx="1485900" cy="131445"/>
          </a:xfrm>
          <a:prstGeom prst="rect">
            <a:avLst/>
          </a:prstGeom>
          <a:noFill/>
          <a:ln/>
        </p:spPr>
        <p:txBody>
          <a:bodyPr wrap="square" lIns="0" tIns="0" rIns="0" bIns="0" rtlCol="0" anchor="t"/>
          <a:lstStyle/>
          <a:p>
            <a:pPr algn="ctr" indent="0" marL="0">
              <a:lnSpc>
                <a:spcPts val="1035"/>
              </a:lnSpc>
              <a:buNone/>
            </a:pPr>
            <a:r>
              <a:rPr lang="en-US" sz="863" dirty="0">
                <a:solidFill>
                  <a:srgbClr val="8A8880"/>
                </a:solidFill>
                <a:latin typeface="Malgun Gothic" pitchFamily="34" charset="0"/>
                <a:ea typeface="Malgun Gothic" pitchFamily="34" charset="-122"/>
                <a:cs typeface="Malgun Gothic" pitchFamily="34" charset="-120"/>
              </a:rPr>
              <a:t>34 ~ 40회차</a:t>
            </a:r>
            <a:endParaRPr lang="en-US" sz="863" dirty="0"/>
          </a:p>
        </p:txBody>
      </p:sp>
      <p:sp>
        <p:nvSpPr>
          <p:cNvPr id="32" name="Shape 30"/>
          <p:cNvSpPr/>
          <p:nvPr/>
        </p:nvSpPr>
        <p:spPr>
          <a:xfrm>
            <a:off x="685800" y="4591050"/>
            <a:ext cx="10820400" cy="1352550"/>
          </a:xfrm>
          <a:prstGeom prst="rect">
            <a:avLst/>
          </a:prstGeom>
          <a:solidFill>
            <a:srgbClr val="0A1320"/>
          </a:solidFill>
          <a:ln w="12700">
            <a:solidFill>
              <a:srgbClr val="182838"/>
            </a:solidFill>
            <a:prstDash val="solid"/>
          </a:ln>
        </p:spPr>
      </p:sp>
      <p:sp>
        <p:nvSpPr>
          <p:cNvPr id="33" name="Text 31"/>
          <p:cNvSpPr txBox="1"/>
          <p:nvPr/>
        </p:nvSpPr>
        <p:spPr>
          <a:xfrm>
            <a:off x="914400" y="4686300"/>
            <a:ext cx="2857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전개 순서</a:t>
            </a:r>
            <a:endParaRPr lang="en-US" sz="788" dirty="0"/>
          </a:p>
        </p:txBody>
      </p:sp>
      <p:sp>
        <p:nvSpPr>
          <p:cNvPr id="34" name="Shape 32"/>
          <p:cNvSpPr/>
          <p:nvPr/>
        </p:nvSpPr>
        <p:spPr>
          <a:xfrm>
            <a:off x="1428750" y="5295900"/>
            <a:ext cx="9239250" cy="0"/>
          </a:xfrm>
          <a:prstGeom prst="line">
            <a:avLst/>
          </a:prstGeom>
          <a:noFill/>
          <a:ln w="17780">
            <a:solidFill>
              <a:srgbClr val="22354A"/>
            </a:solidFill>
            <a:prstDash val="solid"/>
          </a:ln>
        </p:spPr>
      </p:sp>
      <p:sp>
        <p:nvSpPr>
          <p:cNvPr id="35" name="Text 33"/>
          <p:cNvSpPr txBox="1"/>
          <p:nvPr/>
        </p:nvSpPr>
        <p:spPr>
          <a:xfrm>
            <a:off x="723900" y="4914900"/>
            <a:ext cx="2362200" cy="131445"/>
          </a:xfrm>
          <a:prstGeom prst="rect">
            <a:avLst/>
          </a:prstGeom>
          <a:noFill/>
          <a:ln/>
        </p:spPr>
        <p:txBody>
          <a:bodyPr wrap="square" lIns="0" tIns="0" rIns="0" bIns="0" rtlCol="0" anchor="t"/>
          <a:lstStyle/>
          <a:p>
            <a:pPr algn="ctr" indent="0" marL="0">
              <a:lnSpc>
                <a:spcPts val="1035"/>
              </a:lnSpc>
              <a:buNone/>
            </a:pPr>
            <a:r>
              <a:rPr lang="en-US" sz="863" b="1" dirty="0">
                <a:solidFill>
                  <a:srgbClr val="EFB13C"/>
                </a:solidFill>
                <a:latin typeface="Consolas" pitchFamily="34" charset="0"/>
                <a:ea typeface="Consolas" pitchFamily="34" charset="-122"/>
                <a:cs typeface="Consolas" pitchFamily="34" charset="-120"/>
              </a:rPr>
              <a:t>~ 2026.09</a:t>
            </a:r>
            <a:endParaRPr lang="en-US" sz="863" dirty="0"/>
          </a:p>
        </p:txBody>
      </p:sp>
      <p:sp>
        <p:nvSpPr>
          <p:cNvPr id="36" name="Shape 34"/>
          <p:cNvSpPr/>
          <p:nvPr/>
        </p:nvSpPr>
        <p:spPr>
          <a:xfrm>
            <a:off x="1843088" y="5233988"/>
            <a:ext cx="123825" cy="123825"/>
          </a:xfrm>
          <a:prstGeom prst="ellipse">
            <a:avLst/>
          </a:prstGeom>
          <a:solidFill>
            <a:srgbClr val="EFB13C"/>
          </a:solidFill>
          <a:ln/>
        </p:spPr>
      </p:sp>
      <p:sp>
        <p:nvSpPr>
          <p:cNvPr id="37" name="Text 35"/>
          <p:cNvSpPr txBox="1"/>
          <p:nvPr/>
        </p:nvSpPr>
        <p:spPr>
          <a:xfrm>
            <a:off x="723900" y="5429250"/>
            <a:ext cx="2362200" cy="191929"/>
          </a:xfrm>
          <a:prstGeom prst="rect">
            <a:avLst/>
          </a:prstGeom>
          <a:noFill/>
          <a:ln/>
        </p:spPr>
        <p:txBody>
          <a:bodyPr wrap="square" lIns="0" tIns="0" rIns="0" bIns="0" rtlCol="0" anchor="t"/>
          <a:lstStyle/>
          <a:p>
            <a:pPr algn="ctr" indent="0" marL="0">
              <a:lnSpc>
                <a:spcPts val="1511"/>
              </a:lnSpc>
              <a:buNone/>
            </a:pPr>
            <a:r>
              <a:rPr lang="en-US" sz="1163" b="1" dirty="0">
                <a:solidFill>
                  <a:srgbClr val="EFB13C"/>
                </a:solidFill>
                <a:latin typeface="Malgun Gothic" pitchFamily="34" charset="0"/>
                <a:ea typeface="Malgun Gothic" pitchFamily="34" charset="-122"/>
                <a:cs typeface="Malgun Gothic" pitchFamily="34" charset="-120"/>
              </a:rPr>
              <a:t>위례 정착</a:t>
            </a:r>
            <a:endParaRPr lang="en-US" sz="1163" dirty="0"/>
          </a:p>
        </p:txBody>
      </p:sp>
      <p:sp>
        <p:nvSpPr>
          <p:cNvPr id="38" name="Text 36"/>
          <p:cNvSpPr txBox="1"/>
          <p:nvPr/>
        </p:nvSpPr>
        <p:spPr>
          <a:xfrm>
            <a:off x="723900" y="5638800"/>
            <a:ext cx="2362200" cy="284798"/>
          </a:xfrm>
          <a:prstGeom prst="rect">
            <a:avLst/>
          </a:prstGeom>
          <a:noFill/>
          <a:ln/>
        </p:spPr>
        <p:txBody>
          <a:bodyPr wrap="square" lIns="0" tIns="0" rIns="0" bIns="0" rtlCol="0" anchor="t"/>
          <a:lstStyle/>
          <a:p>
            <a:pPr algn="ctr" indent="0" marL="0">
              <a:lnSpc>
                <a:spcPts val="1121"/>
              </a:lnSpc>
              <a:buNone/>
            </a:pPr>
            <a:r>
              <a:rPr lang="en-US" sz="863" dirty="0">
                <a:solidFill>
                  <a:srgbClr val="A9A79F"/>
                </a:solidFill>
                <a:latin typeface="Malgun Gothic" pitchFamily="34" charset="0"/>
                <a:ea typeface="Malgun Gothic" pitchFamily="34" charset="-122"/>
                <a:cs typeface="Malgun Gothic" pitchFamily="34" charset="-120"/>
              </a:rPr>
              <a:t>누적 회차로 운영 중</a:t>
            </a:r>
            <a:endParaRPr lang="en-US" sz="863" dirty="0"/>
          </a:p>
        </p:txBody>
      </p:sp>
      <p:sp>
        <p:nvSpPr>
          <p:cNvPr id="39" name="Text 37"/>
          <p:cNvSpPr txBox="1"/>
          <p:nvPr/>
        </p:nvSpPr>
        <p:spPr>
          <a:xfrm>
            <a:off x="3324225" y="4914900"/>
            <a:ext cx="2362200" cy="131445"/>
          </a:xfrm>
          <a:prstGeom prst="rect">
            <a:avLst/>
          </a:prstGeom>
          <a:noFill/>
          <a:ln/>
        </p:spPr>
        <p:txBody>
          <a:bodyPr wrap="square" lIns="0" tIns="0" rIns="0" bIns="0" rtlCol="0" anchor="t"/>
          <a:lstStyle/>
          <a:p>
            <a:pPr algn="ctr" indent="0" marL="0">
              <a:lnSpc>
                <a:spcPts val="1035"/>
              </a:lnSpc>
              <a:buNone/>
            </a:pPr>
            <a:r>
              <a:rPr lang="en-US" sz="863" b="1" dirty="0">
                <a:solidFill>
                  <a:srgbClr val="EFB13C"/>
                </a:solidFill>
                <a:latin typeface="Consolas" pitchFamily="34" charset="0"/>
                <a:ea typeface="Consolas" pitchFamily="34" charset="-122"/>
                <a:cs typeface="Consolas" pitchFamily="34" charset="-120"/>
              </a:rPr>
              <a:t>2026.10 ~</a:t>
            </a:r>
            <a:endParaRPr lang="en-US" sz="863" dirty="0"/>
          </a:p>
        </p:txBody>
      </p:sp>
      <p:sp>
        <p:nvSpPr>
          <p:cNvPr id="40" name="Shape 38"/>
          <p:cNvSpPr/>
          <p:nvPr/>
        </p:nvSpPr>
        <p:spPr>
          <a:xfrm>
            <a:off x="4443413" y="5233988"/>
            <a:ext cx="123825" cy="123825"/>
          </a:xfrm>
          <a:prstGeom prst="ellipse">
            <a:avLst/>
          </a:prstGeom>
          <a:solidFill>
            <a:srgbClr val="EFB13C"/>
          </a:solidFill>
          <a:ln/>
        </p:spPr>
      </p:sp>
      <p:sp>
        <p:nvSpPr>
          <p:cNvPr id="41" name="Text 39"/>
          <p:cNvSpPr txBox="1"/>
          <p:nvPr/>
        </p:nvSpPr>
        <p:spPr>
          <a:xfrm>
            <a:off x="3324225" y="5429250"/>
            <a:ext cx="2362200" cy="191929"/>
          </a:xfrm>
          <a:prstGeom prst="rect">
            <a:avLst/>
          </a:prstGeom>
          <a:noFill/>
          <a:ln/>
        </p:spPr>
        <p:txBody>
          <a:bodyPr wrap="square" lIns="0" tIns="0" rIns="0" bIns="0" rtlCol="0" anchor="t"/>
          <a:lstStyle/>
          <a:p>
            <a:pPr algn="ctr" indent="0" marL="0">
              <a:lnSpc>
                <a:spcPts val="1511"/>
              </a:lnSpc>
              <a:buNone/>
            </a:pPr>
            <a:r>
              <a:rPr lang="en-US" sz="1163" b="1" dirty="0">
                <a:solidFill>
                  <a:srgbClr val="EFB13C"/>
                </a:solidFill>
                <a:latin typeface="Malgun Gothic" pitchFamily="34" charset="0"/>
                <a:ea typeface="Malgun Gothic" pitchFamily="34" charset="-122"/>
                <a:cs typeface="Malgun Gothic" pitchFamily="34" charset="-120"/>
              </a:rPr>
              <a:t>테스트 누적 · 고도화</a:t>
            </a:r>
            <a:endParaRPr lang="en-US" sz="1163" dirty="0"/>
          </a:p>
        </p:txBody>
      </p:sp>
      <p:sp>
        <p:nvSpPr>
          <p:cNvPr id="42" name="Text 40"/>
          <p:cNvSpPr txBox="1"/>
          <p:nvPr/>
        </p:nvSpPr>
        <p:spPr>
          <a:xfrm>
            <a:off x="3324225" y="5638800"/>
            <a:ext cx="2362200" cy="284798"/>
          </a:xfrm>
          <a:prstGeom prst="rect">
            <a:avLst/>
          </a:prstGeom>
          <a:noFill/>
          <a:ln/>
        </p:spPr>
        <p:txBody>
          <a:bodyPr wrap="square" lIns="0" tIns="0" rIns="0" bIns="0" rtlCol="0" anchor="t"/>
          <a:lstStyle/>
          <a:p>
            <a:pPr algn="ctr" indent="0" marL="0">
              <a:lnSpc>
                <a:spcPts val="1121"/>
              </a:lnSpc>
              <a:buNone/>
            </a:pPr>
            <a:r>
              <a:rPr lang="en-US" sz="863" dirty="0">
                <a:solidFill>
                  <a:srgbClr val="A9A79F"/>
                </a:solidFill>
                <a:latin typeface="Malgun Gothic" pitchFamily="34" charset="0"/>
                <a:ea typeface="Malgun Gothic" pitchFamily="34" charset="-122"/>
                <a:cs typeface="Malgun Gothic" pitchFamily="34" charset="-120"/>
              </a:rPr>
              <a:t>회차마다 다시 학습 — 쌓을수록 오차가 줄어듭니다</a:t>
            </a:r>
            <a:endParaRPr lang="en-US" sz="863" dirty="0"/>
          </a:p>
        </p:txBody>
      </p:sp>
      <p:sp>
        <p:nvSpPr>
          <p:cNvPr id="43" name="Text 41"/>
          <p:cNvSpPr txBox="1"/>
          <p:nvPr/>
        </p:nvSpPr>
        <p:spPr>
          <a:xfrm>
            <a:off x="5924550" y="4914900"/>
            <a:ext cx="2362200" cy="131445"/>
          </a:xfrm>
          <a:prstGeom prst="rect">
            <a:avLst/>
          </a:prstGeom>
          <a:noFill/>
          <a:ln/>
        </p:spPr>
        <p:txBody>
          <a:bodyPr wrap="square" lIns="0" tIns="0" rIns="0" bIns="0" rtlCol="0" anchor="t"/>
          <a:lstStyle/>
          <a:p>
            <a:pPr algn="ctr" indent="0" marL="0">
              <a:lnSpc>
                <a:spcPts val="1035"/>
              </a:lnSpc>
              <a:buNone/>
            </a:pPr>
            <a:r>
              <a:rPr lang="en-US" sz="863" b="1" dirty="0">
                <a:solidFill>
                  <a:srgbClr val="8A8880"/>
                </a:solidFill>
                <a:latin typeface="Consolas" pitchFamily="34" charset="0"/>
                <a:ea typeface="Consolas" pitchFamily="34" charset="-122"/>
                <a:cs typeface="Consolas" pitchFamily="34" charset="-120"/>
              </a:rPr>
              <a:t>2027 상반기</a:t>
            </a:r>
            <a:endParaRPr lang="en-US" sz="863" dirty="0"/>
          </a:p>
        </p:txBody>
      </p:sp>
      <p:sp>
        <p:nvSpPr>
          <p:cNvPr id="44" name="Shape 42"/>
          <p:cNvSpPr/>
          <p:nvPr/>
        </p:nvSpPr>
        <p:spPr>
          <a:xfrm>
            <a:off x="7058025" y="5248275"/>
            <a:ext cx="95250" cy="95250"/>
          </a:xfrm>
          <a:prstGeom prst="ellipse">
            <a:avLst/>
          </a:prstGeom>
          <a:solidFill>
            <a:srgbClr val="55708A"/>
          </a:solidFill>
          <a:ln/>
        </p:spPr>
      </p:sp>
      <p:sp>
        <p:nvSpPr>
          <p:cNvPr id="45" name="Text 43"/>
          <p:cNvSpPr txBox="1"/>
          <p:nvPr/>
        </p:nvSpPr>
        <p:spPr>
          <a:xfrm>
            <a:off x="5924550" y="5429250"/>
            <a:ext cx="2362200" cy="191929"/>
          </a:xfrm>
          <a:prstGeom prst="rect">
            <a:avLst/>
          </a:prstGeom>
          <a:noFill/>
          <a:ln/>
        </p:spPr>
        <p:txBody>
          <a:bodyPr wrap="square" lIns="0" tIns="0" rIns="0" bIns="0" rtlCol="0" anchor="t"/>
          <a:lstStyle/>
          <a:p>
            <a:pPr algn="ctr" indent="0" marL="0">
              <a:lnSpc>
                <a:spcPts val="1511"/>
              </a:lnSpc>
              <a:buNone/>
            </a:pPr>
            <a:r>
              <a:rPr lang="en-US" sz="1163" b="1" dirty="0">
                <a:solidFill>
                  <a:srgbClr val="EAE7E0"/>
                </a:solidFill>
                <a:latin typeface="Malgun Gothic" pitchFamily="34" charset="0"/>
                <a:ea typeface="Malgun Gothic" pitchFamily="34" charset="-122"/>
                <a:cs typeface="Malgun Gothic" pitchFamily="34" charset="-120"/>
              </a:rPr>
              <a:t>같은 구조 1곳 시범</a:t>
            </a:r>
            <a:endParaRPr lang="en-US" sz="1163" dirty="0"/>
          </a:p>
        </p:txBody>
      </p:sp>
      <p:sp>
        <p:nvSpPr>
          <p:cNvPr id="46" name="Text 44"/>
          <p:cNvSpPr txBox="1"/>
          <p:nvPr/>
        </p:nvSpPr>
        <p:spPr>
          <a:xfrm>
            <a:off x="5924550" y="5638800"/>
            <a:ext cx="2362200" cy="284798"/>
          </a:xfrm>
          <a:prstGeom prst="rect">
            <a:avLst/>
          </a:prstGeom>
          <a:noFill/>
          <a:ln/>
        </p:spPr>
        <p:txBody>
          <a:bodyPr wrap="square" lIns="0" tIns="0" rIns="0" bIns="0" rtlCol="0" anchor="t"/>
          <a:lstStyle/>
          <a:p>
            <a:pPr algn="ctr" indent="0" marL="0">
              <a:lnSpc>
                <a:spcPts val="1121"/>
              </a:lnSpc>
              <a:buNone/>
            </a:pPr>
            <a:r>
              <a:rPr lang="en-US" sz="863" dirty="0">
                <a:solidFill>
                  <a:srgbClr val="A9A79F"/>
                </a:solidFill>
                <a:latin typeface="Malgun Gothic" pitchFamily="34" charset="0"/>
                <a:ea typeface="Malgun Gothic" pitchFamily="34" charset="-122"/>
                <a:cs typeface="Malgun Gothic" pitchFamily="34" charset="-120"/>
              </a:rPr>
              <a:t>이론식만 바꿔 나란히 운전</a:t>
            </a:r>
            <a:endParaRPr lang="en-US" sz="863" dirty="0"/>
          </a:p>
        </p:txBody>
      </p:sp>
      <p:sp>
        <p:nvSpPr>
          <p:cNvPr id="47" name="Text 45"/>
          <p:cNvSpPr txBox="1"/>
          <p:nvPr/>
        </p:nvSpPr>
        <p:spPr>
          <a:xfrm>
            <a:off x="8524875" y="4914900"/>
            <a:ext cx="2362200" cy="131445"/>
          </a:xfrm>
          <a:prstGeom prst="rect">
            <a:avLst/>
          </a:prstGeom>
          <a:noFill/>
          <a:ln/>
        </p:spPr>
        <p:txBody>
          <a:bodyPr wrap="square" lIns="0" tIns="0" rIns="0" bIns="0" rtlCol="0" anchor="t"/>
          <a:lstStyle/>
          <a:p>
            <a:pPr algn="ctr" indent="0" marL="0">
              <a:lnSpc>
                <a:spcPts val="1035"/>
              </a:lnSpc>
              <a:buNone/>
            </a:pPr>
            <a:r>
              <a:rPr lang="en-US" sz="863" b="1" dirty="0">
                <a:solidFill>
                  <a:srgbClr val="8A8880"/>
                </a:solidFill>
                <a:latin typeface="Consolas" pitchFamily="34" charset="0"/>
                <a:ea typeface="Consolas" pitchFamily="34" charset="-122"/>
                <a:cs typeface="Consolas" pitchFamily="34" charset="-120"/>
              </a:rPr>
              <a:t>2027 하반기</a:t>
            </a:r>
            <a:endParaRPr lang="en-US" sz="863" dirty="0"/>
          </a:p>
        </p:txBody>
      </p:sp>
      <p:sp>
        <p:nvSpPr>
          <p:cNvPr id="48" name="Shape 46"/>
          <p:cNvSpPr/>
          <p:nvPr/>
        </p:nvSpPr>
        <p:spPr>
          <a:xfrm>
            <a:off x="9658350" y="5248275"/>
            <a:ext cx="95250" cy="95250"/>
          </a:xfrm>
          <a:prstGeom prst="ellipse">
            <a:avLst/>
          </a:prstGeom>
          <a:solidFill>
            <a:srgbClr val="55708A"/>
          </a:solidFill>
          <a:ln/>
        </p:spPr>
      </p:sp>
      <p:sp>
        <p:nvSpPr>
          <p:cNvPr id="49" name="Text 47"/>
          <p:cNvSpPr txBox="1"/>
          <p:nvPr/>
        </p:nvSpPr>
        <p:spPr>
          <a:xfrm>
            <a:off x="8524875" y="5429250"/>
            <a:ext cx="2362200" cy="191929"/>
          </a:xfrm>
          <a:prstGeom prst="rect">
            <a:avLst/>
          </a:prstGeom>
          <a:noFill/>
          <a:ln/>
        </p:spPr>
        <p:txBody>
          <a:bodyPr wrap="square" lIns="0" tIns="0" rIns="0" bIns="0" rtlCol="0" anchor="t"/>
          <a:lstStyle/>
          <a:p>
            <a:pPr algn="ctr" indent="0" marL="0">
              <a:lnSpc>
                <a:spcPts val="1511"/>
              </a:lnSpc>
              <a:buNone/>
            </a:pPr>
            <a:r>
              <a:rPr lang="en-US" sz="1163" b="1" dirty="0">
                <a:solidFill>
                  <a:srgbClr val="EAE7E0"/>
                </a:solidFill>
                <a:latin typeface="Malgun Gothic" pitchFamily="34" charset="0"/>
                <a:ea typeface="Malgun Gothic" pitchFamily="34" charset="-122"/>
                <a:cs typeface="Malgun Gothic" pitchFamily="34" charset="-120"/>
              </a:rPr>
              <a:t>수평 전개</a:t>
            </a:r>
            <a:endParaRPr lang="en-US" sz="1163" dirty="0"/>
          </a:p>
        </p:txBody>
      </p:sp>
      <p:sp>
        <p:nvSpPr>
          <p:cNvPr id="50" name="Text 48"/>
          <p:cNvSpPr txBox="1"/>
          <p:nvPr/>
        </p:nvSpPr>
        <p:spPr>
          <a:xfrm>
            <a:off x="8524875" y="5638800"/>
            <a:ext cx="2362200" cy="284798"/>
          </a:xfrm>
          <a:prstGeom prst="rect">
            <a:avLst/>
          </a:prstGeom>
          <a:noFill/>
          <a:ln/>
        </p:spPr>
        <p:txBody>
          <a:bodyPr wrap="square" lIns="0" tIns="0" rIns="0" bIns="0" rtlCol="0" anchor="t"/>
          <a:lstStyle/>
          <a:p>
            <a:pPr algn="ctr" indent="0" marL="0">
              <a:lnSpc>
                <a:spcPts val="1121"/>
              </a:lnSpc>
              <a:buNone/>
            </a:pPr>
            <a:r>
              <a:rPr lang="en-US" sz="863" dirty="0">
                <a:solidFill>
                  <a:srgbClr val="A9A79F"/>
                </a:solidFill>
                <a:latin typeface="Malgun Gothic" pitchFamily="34" charset="0"/>
                <a:ea typeface="Malgun Gothic" pitchFamily="34" charset="-122"/>
                <a:cs typeface="Malgun Gothic" pitchFamily="34" charset="-120"/>
              </a:rPr>
              <a:t>이론식 부분을 분리한 뒤 확대</a:t>
            </a:r>
            <a:endParaRPr lang="en-US" sz="863" dirty="0"/>
          </a:p>
        </p:txBody>
      </p:sp>
      <p:sp>
        <p:nvSpPr>
          <p:cNvPr id="51" name="Shape 49"/>
          <p:cNvSpPr/>
          <p:nvPr/>
        </p:nvSpPr>
        <p:spPr>
          <a:xfrm>
            <a:off x="685800" y="6057900"/>
            <a:ext cx="10820400" cy="0"/>
          </a:xfrm>
          <a:prstGeom prst="line">
            <a:avLst/>
          </a:prstGeom>
          <a:noFill/>
          <a:ln w="12700">
            <a:solidFill>
              <a:srgbClr val="22354A"/>
            </a:solidFill>
            <a:prstDash val="solid"/>
          </a:ln>
        </p:spPr>
      </p:sp>
      <p:sp>
        <p:nvSpPr>
          <p:cNvPr id="52" name="Text 50"/>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53" name="Text 51"/>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배우는 부분은 그대로 옮겨집니다 — 사업소마다 바꿀 것은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이론식 하나</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입니다.</a:t>
            </a:r>
            <a:endParaRPr lang="en-US" sz="123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8"/>
        </a:solidFill>
      </p:bgPr>
    </p:bg>
    <p:spTree>
      <p:nvGrpSpPr>
        <p:cNvPr id="1" name=""/>
        <p:cNvGrpSpPr/>
        <p:nvPr/>
      </p:nvGrpSpPr>
      <p:grpSpPr>
        <a:xfrm>
          <a:off x="0" y="0"/>
          <a:ext cx="0" cy="0"/>
          <a:chOff x="0" y="0"/>
          <a:chExt cx="0" cy="0"/>
        </a:xfrm>
      </p:grpSpPr>
      <p:sp>
        <p:nvSpPr>
          <p:cNvPr id="2" name="Text 0"/>
          <p:cNvSpPr txBox="1"/>
          <p:nvPr/>
        </p:nvSpPr>
        <p:spPr>
          <a:xfrm>
            <a:off x="685800" y="419100"/>
            <a:ext cx="7620000" cy="182880"/>
          </a:xfrm>
          <a:prstGeom prst="rect">
            <a:avLst/>
          </a:prstGeom>
          <a:noFill/>
          <a:ln/>
        </p:spPr>
        <p:txBody>
          <a:bodyPr wrap="square" lIns="0" tIns="0" rIns="0" bIns="0" rtlCol="0" anchor="t"/>
          <a:lstStyle/>
          <a:p>
            <a:pPr algn="l" indent="0" marL="0">
              <a:lnSpc>
                <a:spcPts val="1440"/>
              </a:lnSpc>
              <a:buNone/>
            </a:pPr>
            <a:r>
              <a:rPr lang="en-US" sz="1125" b="1" spc="60" kern="0" dirty="0">
                <a:solidFill>
                  <a:srgbClr val="EAE7E0"/>
                </a:solidFill>
                <a:latin typeface="Malgun Gothic" pitchFamily="34" charset="0"/>
                <a:ea typeface="Malgun Gothic" pitchFamily="34" charset="-122"/>
                <a:cs typeface="Malgun Gothic" pitchFamily="34" charset="-120"/>
              </a:rPr>
              <a:t>Tool</a:t>
            </a:r>
            <a:endParaRPr lang="en-US" sz="1125" dirty="0"/>
          </a:p>
        </p:txBody>
      </p:sp>
      <p:sp>
        <p:nvSpPr>
          <p:cNvPr id="3" name="Shape 1"/>
          <p:cNvSpPr/>
          <p:nvPr/>
        </p:nvSpPr>
        <p:spPr>
          <a:xfrm>
            <a:off x="685800" y="685800"/>
            <a:ext cx="10820400" cy="0"/>
          </a:xfrm>
          <a:prstGeom prst="line">
            <a:avLst/>
          </a:prstGeom>
          <a:noFill/>
          <a:ln w="12700">
            <a:solidFill>
              <a:srgbClr val="22354A"/>
            </a:solidFill>
            <a:prstDash val="solid"/>
          </a:ln>
        </p:spPr>
      </p:sp>
      <p:sp>
        <p:nvSpPr>
          <p:cNvPr id="4" name="Text 2"/>
          <p:cNvSpPr txBox="1"/>
          <p:nvPr/>
        </p:nvSpPr>
        <p:spPr>
          <a:xfrm>
            <a:off x="685800" y="914400"/>
            <a:ext cx="10287000" cy="888111"/>
          </a:xfrm>
          <a:prstGeom prst="rect">
            <a:avLst/>
          </a:prstGeom>
          <a:noFill/>
          <a:ln/>
        </p:spPr>
        <p:txBody>
          <a:bodyPr wrap="square" lIns="0" tIns="0" rIns="0" bIns="0" rtlCol="0" anchor="t"/>
          <a:lstStyle/>
          <a:p>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엑셀 4개가 하던 일이,</a:t>
            </a:r>
            <a:endParaRPr lang="en-US" sz="2775" dirty="0"/>
          </a:p>
          <a:p>
            <a:pPr algn="l" indent="0" marL="0">
              <a:lnSpc>
                <a:spcPts val="3496"/>
              </a:lnSpc>
              <a:buNone/>
            </a:pPr>
            <a:r>
              <a:rPr lang="en-US" sz="2775" b="1" dirty="0">
                <a:solidFill>
                  <a:srgbClr val="EFB13C"/>
                </a:solidFill>
                <a:latin typeface="Malgun Gothic" pitchFamily="34" charset="0"/>
                <a:ea typeface="Malgun Gothic" pitchFamily="34" charset="-122"/>
                <a:cs typeface="Malgun Gothic" pitchFamily="34" charset="-120"/>
              </a:rPr>
              <a:t>이 한 화면</a:t>
            </a:r>
            <a:pPr algn="l" indent="0" marL="0">
              <a:lnSpc>
                <a:spcPts val="3496"/>
              </a:lnSpc>
              <a:buNone/>
            </a:pPr>
            <a:r>
              <a:rPr lang="en-US" sz="2775" b="1" dirty="0">
                <a:solidFill>
                  <a:srgbClr val="EAE7E0"/>
                </a:solidFill>
                <a:latin typeface="Malgun Gothic" pitchFamily="34" charset="0"/>
                <a:ea typeface="Malgun Gothic" pitchFamily="34" charset="-122"/>
                <a:cs typeface="Malgun Gothic" pitchFamily="34" charset="-120"/>
              </a:rPr>
              <a:t>에 들어왔습니다</a:t>
            </a:r>
            <a:endParaRPr lang="en-US" sz="2775" dirty="0"/>
          </a:p>
        </p:txBody>
      </p:sp>
      <p:sp>
        <p:nvSpPr>
          <p:cNvPr id="5" name="Text 3"/>
          <p:cNvSpPr txBox="1"/>
          <p:nvPr/>
        </p:nvSpPr>
        <p:spPr>
          <a:xfrm>
            <a:off x="685800" y="2000250"/>
            <a:ext cx="10287000" cy="284607"/>
          </a:xfrm>
          <a:prstGeom prst="rect">
            <a:avLst/>
          </a:prstGeom>
          <a:noFill/>
          <a:ln/>
        </p:spPr>
        <p:txBody>
          <a:bodyPr wrap="square" lIns="0" tIns="0" rIns="0" bIns="0" rtlCol="0" anchor="t"/>
          <a:lstStyle/>
          <a:p>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탭 6개입니다. 날짜·시각을 넣고 실행하면 </a:t>
            </a:r>
            <a:pPr algn="l" indent="0" marL="0">
              <a:lnSpc>
                <a:spcPts val="2241"/>
              </a:lnSpc>
              <a:buNone/>
            </a:pPr>
            <a:r>
              <a:rPr lang="en-US" sz="1350" b="1" dirty="0">
                <a:solidFill>
                  <a:srgbClr val="EAE7E0"/>
                </a:solidFill>
                <a:latin typeface="Malgun Gothic" pitchFamily="34" charset="0"/>
                <a:ea typeface="Malgun Gothic" pitchFamily="34" charset="-122"/>
                <a:cs typeface="Malgun Gothic" pitchFamily="34" charset="-120"/>
              </a:rPr>
              <a:t>−20 ~ 40℃ 61행 신고값 표</a:t>
            </a:r>
            <a:pPr algn="l" indent="0" marL="0">
              <a:lnSpc>
                <a:spcPts val="2241"/>
              </a:lnSpc>
              <a:buNone/>
            </a:pPr>
            <a:r>
              <a:rPr lang="en-US" sz="1350" dirty="0">
                <a:solidFill>
                  <a:srgbClr val="CFCBC2"/>
                </a:solidFill>
                <a:latin typeface="Malgun Gothic" pitchFamily="34" charset="0"/>
                <a:ea typeface="Malgun Gothic" pitchFamily="34" charset="-122"/>
                <a:cs typeface="Malgun Gothic" pitchFamily="34" charset="-120"/>
              </a:rPr>
              <a:t> 가 그대로 나옵니다.</a:t>
            </a:r>
            <a:endParaRPr lang="en-US" sz="1350" dirty="0"/>
          </a:p>
        </p:txBody>
      </p:sp>
      <p:sp>
        <p:nvSpPr>
          <p:cNvPr id="6" name="Text 4"/>
          <p:cNvSpPr txBox="1"/>
          <p:nvPr/>
        </p:nvSpPr>
        <p:spPr>
          <a:xfrm>
            <a:off x="1019175" y="2343150"/>
            <a:ext cx="4257675"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EFB13C"/>
                </a:solidFill>
                <a:latin typeface="Consolas" pitchFamily="34" charset="0"/>
                <a:ea typeface="Consolas" pitchFamily="34" charset="-122"/>
                <a:cs typeface="Consolas" pitchFamily="34" charset="-120"/>
              </a:rPr>
              <a:t>① 산정 화면  ·  입력 4칸 → 61행 신고값 표</a:t>
            </a:r>
            <a:endParaRPr lang="en-US" sz="788" dirty="0"/>
          </a:p>
        </p:txBody>
      </p:sp>
      <p:sp>
        <p:nvSpPr>
          <p:cNvPr id="7" name="Text 5"/>
          <p:cNvSpPr txBox="1"/>
          <p:nvPr/>
        </p:nvSpPr>
        <p:spPr>
          <a:xfrm>
            <a:off x="5657850" y="2343150"/>
            <a:ext cx="5514975"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EFB13C"/>
                </a:solidFill>
                <a:latin typeface="Consolas" pitchFamily="34" charset="0"/>
                <a:ea typeface="Consolas" pitchFamily="34" charset="-122"/>
                <a:cs typeface="Consolas" pitchFamily="34" charset="-120"/>
              </a:rPr>
              <a:t>② 출력곡선 비교  ·  이론값 vs 모델 + 실측 40회</a:t>
            </a:r>
            <a:endParaRPr lang="en-US" sz="788" dirty="0"/>
          </a:p>
        </p:txBody>
      </p:sp>
      <p:pic>
        <p:nvPicPr>
          <p:cNvPr id="8" name="Image 0" descr="/home/user/Narae-AI/docs/ppt/assets/tool_window.png">    </p:cNvPr>
          <p:cNvPicPr>
            <a:picLocks noChangeAspect="1"/>
          </p:cNvPicPr>
          <p:nvPr/>
        </p:nvPicPr>
        <p:blipFill>
          <a:blip r:embed="rId1"/>
          <a:stretch>
            <a:fillRect/>
          </a:stretch>
        </p:blipFill>
        <p:spPr>
          <a:xfrm>
            <a:off x="1019175" y="2495550"/>
            <a:ext cx="4257675" cy="2857500"/>
          </a:xfrm>
          <a:prstGeom prst="rect">
            <a:avLst/>
          </a:prstGeom>
        </p:spPr>
      </p:pic>
      <p:sp>
        <p:nvSpPr>
          <p:cNvPr id="9" name="Shape 6"/>
          <p:cNvSpPr/>
          <p:nvPr/>
        </p:nvSpPr>
        <p:spPr>
          <a:xfrm>
            <a:off x="1009650" y="2486025"/>
            <a:ext cx="4276725" cy="2876550"/>
          </a:xfrm>
          <a:prstGeom prst="rect">
            <a:avLst/>
          </a:prstGeom>
          <a:ln w="12700">
            <a:solidFill>
              <a:srgbClr val="22354A"/>
            </a:solidFill>
            <a:prstDash val="solid"/>
          </a:ln>
        </p:spPr>
      </p:sp>
      <p:pic>
        <p:nvPicPr>
          <p:cNvPr id="10" name="Image 1" descr="/home/user/Narae-AI/docs/ppt/assets/tool_curve.png">    </p:cNvPr>
          <p:cNvPicPr>
            <a:picLocks noChangeAspect="1"/>
          </p:cNvPicPr>
          <p:nvPr/>
        </p:nvPicPr>
        <p:blipFill>
          <a:blip r:embed="rId2"/>
          <a:stretch>
            <a:fillRect/>
          </a:stretch>
        </p:blipFill>
        <p:spPr>
          <a:xfrm>
            <a:off x="5657850" y="2495550"/>
            <a:ext cx="5514975" cy="2857500"/>
          </a:xfrm>
          <a:prstGeom prst="rect">
            <a:avLst/>
          </a:prstGeom>
        </p:spPr>
      </p:pic>
      <p:sp>
        <p:nvSpPr>
          <p:cNvPr id="11" name="Shape 7"/>
          <p:cNvSpPr/>
          <p:nvPr/>
        </p:nvSpPr>
        <p:spPr>
          <a:xfrm>
            <a:off x="5648325" y="2486025"/>
            <a:ext cx="5534025" cy="2876550"/>
          </a:xfrm>
          <a:prstGeom prst="rect">
            <a:avLst/>
          </a:prstGeom>
          <a:ln w="12700">
            <a:solidFill>
              <a:srgbClr val="22354A"/>
            </a:solidFill>
            <a:prstDash val="solid"/>
          </a:ln>
        </p:spPr>
      </p:sp>
      <p:sp>
        <p:nvSpPr>
          <p:cNvPr id="12" name="Shape 8"/>
          <p:cNvSpPr/>
          <p:nvPr/>
        </p:nvSpPr>
        <p:spPr>
          <a:xfrm>
            <a:off x="685800" y="5467350"/>
            <a:ext cx="10820400" cy="476250"/>
          </a:xfrm>
          <a:prstGeom prst="rect">
            <a:avLst/>
          </a:prstGeom>
          <a:solidFill>
            <a:srgbClr val="0A1320"/>
          </a:solidFill>
          <a:ln w="12700">
            <a:solidFill>
              <a:srgbClr val="182838"/>
            </a:solidFill>
            <a:prstDash val="solid"/>
          </a:ln>
        </p:spPr>
      </p:sp>
      <p:sp>
        <p:nvSpPr>
          <p:cNvPr id="13" name="Text 9"/>
          <p:cNvSpPr txBox="1"/>
          <p:nvPr/>
        </p:nvSpPr>
        <p:spPr>
          <a:xfrm>
            <a:off x="914400" y="5562600"/>
            <a:ext cx="7048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탭 6개</a:t>
            </a:r>
            <a:endParaRPr lang="en-US" sz="788" dirty="0"/>
          </a:p>
        </p:txBody>
      </p:sp>
      <p:sp>
        <p:nvSpPr>
          <p:cNvPr id="14" name="Text 10"/>
          <p:cNvSpPr txBox="1"/>
          <p:nvPr/>
        </p:nvSpPr>
        <p:spPr>
          <a:xfrm>
            <a:off x="1676400" y="5543550"/>
            <a:ext cx="9601200" cy="148590"/>
          </a:xfrm>
          <a:prstGeom prst="rect">
            <a:avLst/>
          </a:prstGeom>
          <a:noFill/>
          <a:ln/>
        </p:spPr>
        <p:txBody>
          <a:bodyPr wrap="square" lIns="0" tIns="0" rIns="0" bIns="0" rtlCol="0" anchor="t"/>
          <a:lstStyle/>
          <a:p>
            <a:pPr algn="l" indent="0" marL="0">
              <a:lnSpc>
                <a:spcPts val="1170"/>
              </a:lnSpc>
              <a:buNone/>
            </a:pPr>
            <a:r>
              <a:rPr lang="en-US" sz="900" dirty="0">
                <a:solidFill>
                  <a:srgbClr val="CFCBC2"/>
                </a:solidFill>
                <a:latin typeface="Malgun Gothic" pitchFamily="34" charset="0"/>
                <a:ea typeface="Malgun Gothic" pitchFamily="34" charset="-122"/>
                <a:cs typeface="Malgun Gothic" pitchFamily="34" charset="-120"/>
              </a:rPr>
              <a:t>공급가능용량 산정 · 온도 구간별 보정값 현황 · Test 결과 List-up · 출력 시뮬레이션 · 출력곡선 비교 · 모델 선정</a:t>
            </a:r>
            <a:endParaRPr lang="en-US" sz="900" dirty="0"/>
          </a:p>
        </p:txBody>
      </p:sp>
      <p:sp>
        <p:nvSpPr>
          <p:cNvPr id="15" name="Text 11"/>
          <p:cNvSpPr txBox="1"/>
          <p:nvPr/>
        </p:nvSpPr>
        <p:spPr>
          <a:xfrm>
            <a:off x="914400" y="5753100"/>
            <a:ext cx="70485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EFB13C"/>
                </a:solidFill>
                <a:latin typeface="Consolas" pitchFamily="34" charset="0"/>
                <a:ea typeface="Consolas" pitchFamily="34" charset="-122"/>
                <a:cs typeface="Consolas" pitchFamily="34" charset="-120"/>
              </a:rPr>
              <a:t>사용 순서</a:t>
            </a:r>
            <a:endParaRPr lang="en-US" sz="788" dirty="0"/>
          </a:p>
        </p:txBody>
      </p:sp>
      <p:sp>
        <p:nvSpPr>
          <p:cNvPr id="16" name="Text 12"/>
          <p:cNvSpPr txBox="1"/>
          <p:nvPr/>
        </p:nvSpPr>
        <p:spPr>
          <a:xfrm>
            <a:off x="1676400" y="5734050"/>
            <a:ext cx="9601200" cy="148590"/>
          </a:xfrm>
          <a:prstGeom prst="rect">
            <a:avLst/>
          </a:prstGeom>
          <a:noFill/>
          <a:ln/>
        </p:spPr>
        <p:txBody>
          <a:bodyPr wrap="square" lIns="0" tIns="0" rIns="0" bIns="0" rtlCol="0" anchor="t"/>
          <a:lstStyle/>
          <a:p>
            <a:pPr algn="l" indent="0" marL="0">
              <a:lnSpc>
                <a:spcPts val="1170"/>
              </a:lnSpc>
              <a:buNone/>
            </a:pPr>
            <a:r>
              <a:rPr lang="en-US" sz="900" b="1" dirty="0">
                <a:solidFill>
                  <a:srgbClr val="EAE7E0"/>
                </a:solidFill>
                <a:latin typeface="Malgun Gothic" pitchFamily="34" charset="0"/>
                <a:ea typeface="Malgun Gothic" pitchFamily="34" charset="-122"/>
                <a:cs typeface="Malgun Gothic" pitchFamily="34" charset="-120"/>
              </a:rPr>
              <a:t>① 날짜·시각 입력 → ② 실행 → ③ 곡선·표 확인 → ④ 엑셀로 저장</a:t>
            </a:r>
            <a:endParaRPr lang="en-US" sz="900" dirty="0"/>
          </a:p>
        </p:txBody>
      </p:sp>
      <p:sp>
        <p:nvSpPr>
          <p:cNvPr id="17" name="Shape 13"/>
          <p:cNvSpPr/>
          <p:nvPr/>
        </p:nvSpPr>
        <p:spPr>
          <a:xfrm>
            <a:off x="685800" y="6057900"/>
            <a:ext cx="10820400" cy="0"/>
          </a:xfrm>
          <a:prstGeom prst="line">
            <a:avLst/>
          </a:prstGeom>
          <a:noFill/>
          <a:ln w="12700">
            <a:solidFill>
              <a:srgbClr val="22354A"/>
            </a:solidFill>
            <a:prstDash val="solid"/>
          </a:ln>
        </p:spPr>
      </p:sp>
      <p:sp>
        <p:nvSpPr>
          <p:cNvPr id="18" name="Text 14"/>
          <p:cNvSpPr txBox="1"/>
          <p:nvPr/>
        </p:nvSpPr>
        <p:spPr>
          <a:xfrm>
            <a:off x="685800" y="6267450"/>
            <a:ext cx="476250" cy="120015"/>
          </a:xfrm>
          <a:prstGeom prst="rect">
            <a:avLst/>
          </a:prstGeom>
          <a:noFill/>
          <a:ln/>
        </p:spPr>
        <p:txBody>
          <a:bodyPr wrap="square" lIns="0" tIns="0" rIns="0" bIns="0" rtlCol="0" anchor="t"/>
          <a:lstStyle/>
          <a:p>
            <a:pPr algn="l" indent="0" marL="0">
              <a:lnSpc>
                <a:spcPts val="945"/>
              </a:lnSpc>
              <a:buNone/>
            </a:pPr>
            <a:r>
              <a:rPr lang="en-US" sz="788" b="1" spc="180" kern="0" dirty="0">
                <a:solidFill>
                  <a:srgbClr val="EFB13C"/>
                </a:solidFill>
                <a:latin typeface="Consolas" pitchFamily="34" charset="0"/>
                <a:ea typeface="Consolas" pitchFamily="34" charset="-122"/>
                <a:cs typeface="Consolas" pitchFamily="34" charset="-120"/>
              </a:rPr>
              <a:t>결론</a:t>
            </a:r>
            <a:endParaRPr lang="en-US" sz="788" dirty="0"/>
          </a:p>
        </p:txBody>
      </p:sp>
      <p:sp>
        <p:nvSpPr>
          <p:cNvPr id="19" name="Text 15"/>
          <p:cNvSpPr txBox="1"/>
          <p:nvPr/>
        </p:nvSpPr>
        <p:spPr>
          <a:xfrm>
            <a:off x="1219200" y="6229350"/>
            <a:ext cx="10287000" cy="220027"/>
          </a:xfrm>
          <a:prstGeom prst="rect">
            <a:avLst/>
          </a:prstGeom>
          <a:noFill/>
          <a:ln/>
        </p:spPr>
        <p:txBody>
          <a:bodyPr wrap="square" lIns="0" tIns="0" rIns="0" bIns="0" rtlCol="0" anchor="t"/>
          <a:lstStyle/>
          <a:p>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목업이 아니라 </a:t>
            </a:r>
            <a:pPr algn="l" indent="0" marL="0">
              <a:lnSpc>
                <a:spcPts val="1733"/>
              </a:lnSpc>
              <a:buNone/>
            </a:pPr>
            <a:r>
              <a:rPr lang="en-US" sz="1238" b="1" dirty="0">
                <a:solidFill>
                  <a:srgbClr val="EFB13C"/>
                </a:solidFill>
                <a:latin typeface="Malgun Gothic" pitchFamily="34" charset="0"/>
                <a:ea typeface="Malgun Gothic" pitchFamily="34" charset="-122"/>
                <a:cs typeface="Malgun Gothic" pitchFamily="34" charset="-120"/>
              </a:rPr>
              <a:t>실제 화면</a:t>
            </a:r>
            <a:pPr algn="l" indent="0" marL="0">
              <a:lnSpc>
                <a:spcPts val="1733"/>
              </a:lnSpc>
              <a:buNone/>
            </a:pPr>
            <a:r>
              <a:rPr lang="en-US" sz="1238" dirty="0">
                <a:solidFill>
                  <a:srgbClr val="CFCBC2"/>
                </a:solidFill>
                <a:latin typeface="Malgun Gothic" pitchFamily="34" charset="0"/>
                <a:ea typeface="Malgun Gothic" pitchFamily="34" charset="-122"/>
                <a:cs typeface="Malgun Gothic" pitchFamily="34" charset="-120"/>
              </a:rPr>
              <a:t>입니다 — 사람이 손으로 옮겨 적는 칸은 없습니다.</a:t>
            </a:r>
            <a:endParaRPr lang="en-US" sz="123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28"/>
        </a:solidFill>
      </p:bgPr>
    </p:bg>
    <p:spTree>
      <p:nvGrpSpPr>
        <p:cNvPr id="1" name=""/>
        <p:cNvGrpSpPr/>
        <p:nvPr/>
      </p:nvGrpSpPr>
      <p:grpSpPr>
        <a:xfrm>
          <a:off x="0" y="0"/>
          <a:ext cx="0" cy="0"/>
          <a:chOff x="0" y="0"/>
          <a:chExt cx="0" cy="0"/>
        </a:xfrm>
      </p:grpSpPr>
      <p:sp>
        <p:nvSpPr>
          <p:cNvPr id="2" name="Shape 0"/>
          <p:cNvSpPr/>
          <p:nvPr/>
        </p:nvSpPr>
        <p:spPr>
          <a:xfrm>
            <a:off x="685800" y="685800"/>
            <a:ext cx="10820400" cy="0"/>
          </a:xfrm>
          <a:prstGeom prst="line">
            <a:avLst/>
          </a:prstGeom>
          <a:noFill/>
          <a:ln w="12700">
            <a:solidFill>
              <a:srgbClr val="22354A"/>
            </a:solidFill>
            <a:prstDash val="solid"/>
          </a:ln>
        </p:spPr>
      </p:sp>
      <p:sp>
        <p:nvSpPr>
          <p:cNvPr id="3" name="Text 1"/>
          <p:cNvSpPr txBox="1"/>
          <p:nvPr/>
        </p:nvSpPr>
        <p:spPr>
          <a:xfrm>
            <a:off x="685800" y="419100"/>
            <a:ext cx="5715000" cy="142875"/>
          </a:xfrm>
          <a:prstGeom prst="rect">
            <a:avLst/>
          </a:prstGeom>
          <a:noFill/>
          <a:ln/>
        </p:spPr>
        <p:txBody>
          <a:bodyPr wrap="square" lIns="0" tIns="0" rIns="0" bIns="0" rtlCol="0" anchor="t"/>
          <a:lstStyle/>
          <a:p>
            <a:pPr algn="l" indent="0" marL="0">
              <a:lnSpc>
                <a:spcPts val="1125"/>
              </a:lnSpc>
              <a:buNone/>
            </a:pPr>
            <a:r>
              <a:rPr lang="en-US" sz="900" spc="180" kern="0" dirty="0">
                <a:solidFill>
                  <a:srgbClr val="8A8880"/>
                </a:solidFill>
                <a:latin typeface="Consolas" pitchFamily="34" charset="0"/>
                <a:ea typeface="Consolas" pitchFamily="34" charset="-122"/>
                <a:cs typeface="Consolas" pitchFamily="34" charset="-120"/>
              </a:rPr>
              <a:t>나래에너지서비스 위례사업소</a:t>
            </a:r>
            <a:endParaRPr lang="en-US" sz="900" dirty="0"/>
          </a:p>
        </p:txBody>
      </p:sp>
      <p:sp>
        <p:nvSpPr>
          <p:cNvPr id="4" name="Text 2"/>
          <p:cNvSpPr txBox="1"/>
          <p:nvPr/>
        </p:nvSpPr>
        <p:spPr>
          <a:xfrm>
            <a:off x="9601200" y="419100"/>
            <a:ext cx="1905000" cy="142875"/>
          </a:xfrm>
          <a:prstGeom prst="rect">
            <a:avLst/>
          </a:prstGeom>
          <a:noFill/>
          <a:ln/>
        </p:spPr>
        <p:txBody>
          <a:bodyPr wrap="square" lIns="0" tIns="0" rIns="0" bIns="0" rtlCol="0" anchor="t"/>
          <a:lstStyle/>
          <a:p>
            <a:pPr algn="r" indent="0" marL="0">
              <a:lnSpc>
                <a:spcPts val="1125"/>
              </a:lnSpc>
              <a:buNone/>
            </a:pPr>
            <a:r>
              <a:rPr lang="en-US" sz="900" spc="180" kern="0" dirty="0">
                <a:solidFill>
                  <a:srgbClr val="8A8880"/>
                </a:solidFill>
                <a:latin typeface="Consolas" pitchFamily="34" charset="0"/>
                <a:ea typeface="Consolas" pitchFamily="34" charset="-122"/>
                <a:cs typeface="Consolas" pitchFamily="34" charset="-120"/>
              </a:rPr>
              <a:t>2026. 09.</a:t>
            </a:r>
            <a:endParaRPr lang="en-US" sz="900" dirty="0"/>
          </a:p>
        </p:txBody>
      </p:sp>
      <p:sp>
        <p:nvSpPr>
          <p:cNvPr id="5" name="Text 3"/>
          <p:cNvSpPr txBox="1"/>
          <p:nvPr/>
        </p:nvSpPr>
        <p:spPr>
          <a:xfrm>
            <a:off x="685800" y="990600"/>
            <a:ext cx="6667500" cy="696087"/>
          </a:xfrm>
          <a:prstGeom prst="rect">
            <a:avLst/>
          </a:prstGeom>
          <a:noFill/>
          <a:ln/>
        </p:spPr>
        <p:txBody>
          <a:bodyPr wrap="square" lIns="0" tIns="0" rIns="0" bIns="0" rtlCol="0" anchor="t"/>
          <a:lstStyle/>
          <a:p>
            <a:pPr algn="l" indent="0" marL="0">
              <a:lnSpc>
                <a:spcPts val="5481"/>
              </a:lnSpc>
              <a:buNone/>
            </a:pPr>
            <a:r>
              <a:rPr lang="en-US" sz="4350" b="1" dirty="0">
                <a:solidFill>
                  <a:srgbClr val="EAE7E0"/>
                </a:solidFill>
                <a:latin typeface="Malgun Gothic" pitchFamily="34" charset="0"/>
                <a:ea typeface="Malgun Gothic" pitchFamily="34" charset="-122"/>
                <a:cs typeface="Malgun Gothic" pitchFamily="34" charset="-120"/>
              </a:rPr>
              <a:t>감사합니다</a:t>
            </a:r>
            <a:endParaRPr lang="en-US" sz="4350" dirty="0"/>
          </a:p>
        </p:txBody>
      </p:sp>
      <p:sp>
        <p:nvSpPr>
          <p:cNvPr id="6" name="Text 4"/>
          <p:cNvSpPr txBox="1"/>
          <p:nvPr/>
        </p:nvSpPr>
        <p:spPr>
          <a:xfrm>
            <a:off x="685800" y="1771650"/>
            <a:ext cx="8572500" cy="284036"/>
          </a:xfrm>
          <a:prstGeom prst="rect">
            <a:avLst/>
          </a:prstGeom>
          <a:noFill/>
          <a:ln/>
        </p:spPr>
        <p:txBody>
          <a:bodyPr wrap="square" lIns="0" tIns="0" rIns="0" bIns="0" rtlCol="0" anchor="t"/>
          <a:lstStyle/>
          <a:p>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매주 신고하는 숫자가, 이제 </a:t>
            </a:r>
            <a:pPr algn="l" indent="0" marL="0">
              <a:lnSpc>
                <a:spcPts val="2237"/>
              </a:lnSpc>
              <a:buNone/>
            </a:pPr>
            <a:r>
              <a:rPr lang="en-US" sz="1575" b="1" dirty="0">
                <a:solidFill>
                  <a:srgbClr val="EFB13C"/>
                </a:solidFill>
                <a:latin typeface="Malgun Gothic" pitchFamily="34" charset="0"/>
                <a:ea typeface="Malgun Gothic" pitchFamily="34" charset="-122"/>
                <a:cs typeface="Malgun Gothic" pitchFamily="34" charset="-120"/>
              </a:rPr>
              <a:t>40회 실적 위에서</a:t>
            </a:r>
            <a:pPr algn="l" indent="0" marL="0">
              <a:lnSpc>
                <a:spcPts val="2237"/>
              </a:lnSpc>
              <a:buNone/>
            </a:pPr>
            <a:r>
              <a:rPr lang="en-US" sz="1575" b="1" dirty="0">
                <a:solidFill>
                  <a:srgbClr val="EAE7E0"/>
                </a:solidFill>
                <a:latin typeface="Malgun Gothic" pitchFamily="34" charset="0"/>
                <a:ea typeface="Malgun Gothic" pitchFamily="34" charset="-122"/>
                <a:cs typeface="Malgun Gothic" pitchFamily="34" charset="-120"/>
              </a:rPr>
              <a:t> 정해집니다.</a:t>
            </a:r>
            <a:endParaRPr lang="en-US" sz="1575" dirty="0"/>
          </a:p>
        </p:txBody>
      </p:sp>
      <p:sp>
        <p:nvSpPr>
          <p:cNvPr id="7" name="Shape 5"/>
          <p:cNvSpPr/>
          <p:nvPr/>
        </p:nvSpPr>
        <p:spPr>
          <a:xfrm>
            <a:off x="685800" y="2381250"/>
            <a:ext cx="10820400" cy="2857500"/>
          </a:xfrm>
          <a:prstGeom prst="rect">
            <a:avLst/>
          </a:prstGeom>
          <a:solidFill>
            <a:srgbClr val="0A1320"/>
          </a:solidFill>
          <a:ln w="12700">
            <a:solidFill>
              <a:srgbClr val="182838"/>
            </a:solidFill>
            <a:prstDash val="solid"/>
          </a:ln>
        </p:spPr>
      </p:sp>
      <p:sp>
        <p:nvSpPr>
          <p:cNvPr id="8" name="Text 6"/>
          <p:cNvSpPr txBox="1"/>
          <p:nvPr/>
        </p:nvSpPr>
        <p:spPr>
          <a:xfrm>
            <a:off x="914400" y="2495550"/>
            <a:ext cx="6667500" cy="125016"/>
          </a:xfrm>
          <a:prstGeom prst="rect">
            <a:avLst/>
          </a:prstGeom>
          <a:noFill/>
          <a:ln/>
        </p:spPr>
        <p:txBody>
          <a:bodyPr wrap="square" lIns="0" tIns="0" rIns="0" bIns="0" rtlCol="0" anchor="t"/>
          <a:lstStyle/>
          <a:p>
            <a:pPr algn="l" indent="0" marL="0">
              <a:lnSpc>
                <a:spcPts val="984"/>
              </a:lnSpc>
              <a:buNone/>
            </a:pPr>
            <a:r>
              <a:rPr lang="en-US" sz="788" b="1" spc="150" kern="0" dirty="0">
                <a:solidFill>
                  <a:srgbClr val="8A8880"/>
                </a:solidFill>
                <a:latin typeface="Consolas" pitchFamily="34" charset="0"/>
                <a:ea typeface="Consolas" pitchFamily="34" charset="-122"/>
                <a:cs typeface="Consolas" pitchFamily="34" charset="-120"/>
              </a:rPr>
              <a:t>외기온도별 출력  ·  단위 MW  ·  누적 40회 실적으로 학습한 곡선</a:t>
            </a:r>
            <a:endParaRPr lang="en-US" sz="788" dirty="0"/>
          </a:p>
        </p:txBody>
      </p:sp>
      <p:sp>
        <p:nvSpPr>
          <p:cNvPr id="9" name="Shape 7"/>
          <p:cNvSpPr/>
          <p:nvPr/>
        </p:nvSpPr>
        <p:spPr>
          <a:xfrm>
            <a:off x="1428750" y="4768215"/>
            <a:ext cx="9525000" cy="0"/>
          </a:xfrm>
          <a:prstGeom prst="line">
            <a:avLst/>
          </a:prstGeom>
          <a:noFill/>
          <a:ln w="12700">
            <a:solidFill>
              <a:srgbClr val="182838"/>
            </a:solidFill>
            <a:prstDash val="solid"/>
          </a:ln>
        </p:spPr>
      </p:sp>
      <p:sp>
        <p:nvSpPr>
          <p:cNvPr id="10" name="Text 8"/>
          <p:cNvSpPr txBox="1"/>
          <p:nvPr/>
        </p:nvSpPr>
        <p:spPr>
          <a:xfrm>
            <a:off x="914400" y="470154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340</a:t>
            </a:r>
            <a:endParaRPr lang="en-US" sz="750" dirty="0"/>
          </a:p>
        </p:txBody>
      </p:sp>
      <p:sp>
        <p:nvSpPr>
          <p:cNvPr id="11" name="Shape 9"/>
          <p:cNvSpPr/>
          <p:nvPr/>
        </p:nvSpPr>
        <p:spPr>
          <a:xfrm>
            <a:off x="1428750" y="4486275"/>
            <a:ext cx="9525000" cy="0"/>
          </a:xfrm>
          <a:prstGeom prst="line">
            <a:avLst/>
          </a:prstGeom>
          <a:noFill/>
          <a:ln w="12700">
            <a:solidFill>
              <a:srgbClr val="182838"/>
            </a:solidFill>
            <a:prstDash val="solid"/>
          </a:ln>
        </p:spPr>
      </p:sp>
      <p:sp>
        <p:nvSpPr>
          <p:cNvPr id="12" name="Text 10"/>
          <p:cNvSpPr txBox="1"/>
          <p:nvPr/>
        </p:nvSpPr>
        <p:spPr>
          <a:xfrm>
            <a:off x="914400" y="441960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360</a:t>
            </a:r>
            <a:endParaRPr lang="en-US" sz="750" dirty="0"/>
          </a:p>
        </p:txBody>
      </p:sp>
      <p:sp>
        <p:nvSpPr>
          <p:cNvPr id="13" name="Shape 11"/>
          <p:cNvSpPr/>
          <p:nvPr/>
        </p:nvSpPr>
        <p:spPr>
          <a:xfrm>
            <a:off x="1428750" y="4204335"/>
            <a:ext cx="9525000" cy="0"/>
          </a:xfrm>
          <a:prstGeom prst="line">
            <a:avLst/>
          </a:prstGeom>
          <a:noFill/>
          <a:ln w="12700">
            <a:solidFill>
              <a:srgbClr val="182838"/>
            </a:solidFill>
            <a:prstDash val="solid"/>
          </a:ln>
        </p:spPr>
      </p:sp>
      <p:sp>
        <p:nvSpPr>
          <p:cNvPr id="14" name="Text 12"/>
          <p:cNvSpPr txBox="1"/>
          <p:nvPr/>
        </p:nvSpPr>
        <p:spPr>
          <a:xfrm>
            <a:off x="914400" y="413766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380</a:t>
            </a:r>
            <a:endParaRPr lang="en-US" sz="750" dirty="0"/>
          </a:p>
        </p:txBody>
      </p:sp>
      <p:sp>
        <p:nvSpPr>
          <p:cNvPr id="15" name="Shape 13"/>
          <p:cNvSpPr/>
          <p:nvPr/>
        </p:nvSpPr>
        <p:spPr>
          <a:xfrm>
            <a:off x="1428750" y="3922395"/>
            <a:ext cx="9525000" cy="0"/>
          </a:xfrm>
          <a:prstGeom prst="line">
            <a:avLst/>
          </a:prstGeom>
          <a:noFill/>
          <a:ln w="12700">
            <a:solidFill>
              <a:srgbClr val="182838"/>
            </a:solidFill>
            <a:prstDash val="solid"/>
          </a:ln>
        </p:spPr>
      </p:sp>
      <p:sp>
        <p:nvSpPr>
          <p:cNvPr id="16" name="Text 14"/>
          <p:cNvSpPr txBox="1"/>
          <p:nvPr/>
        </p:nvSpPr>
        <p:spPr>
          <a:xfrm>
            <a:off x="914400" y="385572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400</a:t>
            </a:r>
            <a:endParaRPr lang="en-US" sz="750" dirty="0"/>
          </a:p>
        </p:txBody>
      </p:sp>
      <p:sp>
        <p:nvSpPr>
          <p:cNvPr id="17" name="Shape 15"/>
          <p:cNvSpPr/>
          <p:nvPr/>
        </p:nvSpPr>
        <p:spPr>
          <a:xfrm>
            <a:off x="1428750" y="3640455"/>
            <a:ext cx="9525000" cy="0"/>
          </a:xfrm>
          <a:prstGeom prst="line">
            <a:avLst/>
          </a:prstGeom>
          <a:noFill/>
          <a:ln w="12700">
            <a:solidFill>
              <a:srgbClr val="182838"/>
            </a:solidFill>
            <a:prstDash val="solid"/>
          </a:ln>
        </p:spPr>
      </p:sp>
      <p:sp>
        <p:nvSpPr>
          <p:cNvPr id="18" name="Text 16"/>
          <p:cNvSpPr txBox="1"/>
          <p:nvPr/>
        </p:nvSpPr>
        <p:spPr>
          <a:xfrm>
            <a:off x="914400" y="357378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420</a:t>
            </a:r>
            <a:endParaRPr lang="en-US" sz="750" dirty="0"/>
          </a:p>
        </p:txBody>
      </p:sp>
      <p:sp>
        <p:nvSpPr>
          <p:cNvPr id="19" name="Shape 17"/>
          <p:cNvSpPr/>
          <p:nvPr/>
        </p:nvSpPr>
        <p:spPr>
          <a:xfrm>
            <a:off x="1428750" y="3358515"/>
            <a:ext cx="9525000" cy="0"/>
          </a:xfrm>
          <a:prstGeom prst="line">
            <a:avLst/>
          </a:prstGeom>
          <a:noFill/>
          <a:ln w="12700">
            <a:solidFill>
              <a:srgbClr val="182838"/>
            </a:solidFill>
            <a:prstDash val="solid"/>
          </a:ln>
        </p:spPr>
      </p:sp>
      <p:sp>
        <p:nvSpPr>
          <p:cNvPr id="20" name="Text 18"/>
          <p:cNvSpPr txBox="1"/>
          <p:nvPr/>
        </p:nvSpPr>
        <p:spPr>
          <a:xfrm>
            <a:off x="914400" y="329184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440</a:t>
            </a:r>
            <a:endParaRPr lang="en-US" sz="750" dirty="0"/>
          </a:p>
        </p:txBody>
      </p:sp>
      <p:sp>
        <p:nvSpPr>
          <p:cNvPr id="21" name="Shape 19"/>
          <p:cNvSpPr/>
          <p:nvPr/>
        </p:nvSpPr>
        <p:spPr>
          <a:xfrm>
            <a:off x="1428750" y="3076575"/>
            <a:ext cx="9525000" cy="0"/>
          </a:xfrm>
          <a:prstGeom prst="line">
            <a:avLst/>
          </a:prstGeom>
          <a:noFill/>
          <a:ln w="12700">
            <a:solidFill>
              <a:srgbClr val="182838"/>
            </a:solidFill>
            <a:prstDash val="solid"/>
          </a:ln>
        </p:spPr>
      </p:sp>
      <p:sp>
        <p:nvSpPr>
          <p:cNvPr id="22" name="Text 20"/>
          <p:cNvSpPr txBox="1"/>
          <p:nvPr/>
        </p:nvSpPr>
        <p:spPr>
          <a:xfrm>
            <a:off x="914400" y="300990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460</a:t>
            </a:r>
            <a:endParaRPr lang="en-US" sz="750" dirty="0"/>
          </a:p>
        </p:txBody>
      </p:sp>
      <p:sp>
        <p:nvSpPr>
          <p:cNvPr id="23" name="Shape 21"/>
          <p:cNvSpPr/>
          <p:nvPr/>
        </p:nvSpPr>
        <p:spPr>
          <a:xfrm>
            <a:off x="1428750" y="2794635"/>
            <a:ext cx="9525000" cy="0"/>
          </a:xfrm>
          <a:prstGeom prst="line">
            <a:avLst/>
          </a:prstGeom>
          <a:noFill/>
          <a:ln w="12700">
            <a:solidFill>
              <a:srgbClr val="182838"/>
            </a:solidFill>
            <a:prstDash val="solid"/>
          </a:ln>
        </p:spPr>
      </p:sp>
      <p:sp>
        <p:nvSpPr>
          <p:cNvPr id="24" name="Text 22"/>
          <p:cNvSpPr txBox="1"/>
          <p:nvPr/>
        </p:nvSpPr>
        <p:spPr>
          <a:xfrm>
            <a:off x="914400" y="2727960"/>
            <a:ext cx="438150" cy="123825"/>
          </a:xfrm>
          <a:prstGeom prst="rect">
            <a:avLst/>
          </a:prstGeom>
          <a:noFill/>
          <a:ln/>
        </p:spPr>
        <p:txBody>
          <a:bodyPr wrap="square" lIns="0" tIns="0" rIns="0" bIns="0" rtlCol="0" anchor="t"/>
          <a:lstStyle/>
          <a:p>
            <a:pPr algn="r" indent="0" marL="0">
              <a:lnSpc>
                <a:spcPts val="975"/>
              </a:lnSpc>
              <a:buNone/>
            </a:pPr>
            <a:r>
              <a:rPr lang="en-US" sz="750" dirty="0">
                <a:solidFill>
                  <a:srgbClr val="8A8880"/>
                </a:solidFill>
                <a:latin typeface="Consolas" pitchFamily="34" charset="0"/>
                <a:ea typeface="Consolas" pitchFamily="34" charset="-122"/>
                <a:cs typeface="Consolas" pitchFamily="34" charset="-120"/>
              </a:rPr>
              <a:t>480</a:t>
            </a:r>
            <a:endParaRPr lang="en-US" sz="750" dirty="0"/>
          </a:p>
        </p:txBody>
      </p:sp>
      <p:sp>
        <p:nvSpPr>
          <p:cNvPr id="25" name="Shape 23"/>
          <p:cNvSpPr/>
          <p:nvPr/>
        </p:nvSpPr>
        <p:spPr>
          <a:xfrm>
            <a:off x="1428750" y="4838700"/>
            <a:ext cx="9525000" cy="0"/>
          </a:xfrm>
          <a:prstGeom prst="line">
            <a:avLst/>
          </a:prstGeom>
          <a:noFill/>
          <a:ln w="12700">
            <a:solidFill>
              <a:srgbClr val="22354A"/>
            </a:solidFill>
            <a:prstDash val="solid"/>
          </a:ln>
        </p:spPr>
      </p:sp>
      <p:sp>
        <p:nvSpPr>
          <p:cNvPr id="26" name="Shape 24"/>
          <p:cNvSpPr/>
          <p:nvPr/>
        </p:nvSpPr>
        <p:spPr>
          <a:xfrm>
            <a:off x="1428750" y="4838700"/>
            <a:ext cx="0" cy="47625"/>
          </a:xfrm>
          <a:prstGeom prst="line">
            <a:avLst/>
          </a:prstGeom>
          <a:noFill/>
          <a:ln w="12700">
            <a:solidFill>
              <a:srgbClr val="8A8880"/>
            </a:solidFill>
            <a:prstDash val="solid"/>
          </a:ln>
        </p:spPr>
      </p:sp>
      <p:sp>
        <p:nvSpPr>
          <p:cNvPr id="27" name="Text 25"/>
          <p:cNvSpPr txBox="1"/>
          <p:nvPr/>
        </p:nvSpPr>
        <p:spPr>
          <a:xfrm>
            <a:off x="1200150" y="491490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28" name="Shape 26"/>
          <p:cNvSpPr/>
          <p:nvPr/>
        </p:nvSpPr>
        <p:spPr>
          <a:xfrm>
            <a:off x="3333750" y="4838700"/>
            <a:ext cx="0" cy="47625"/>
          </a:xfrm>
          <a:prstGeom prst="line">
            <a:avLst/>
          </a:prstGeom>
          <a:noFill/>
          <a:ln w="12700">
            <a:solidFill>
              <a:srgbClr val="8A8880"/>
            </a:solidFill>
            <a:prstDash val="solid"/>
          </a:ln>
        </p:spPr>
      </p:sp>
      <p:sp>
        <p:nvSpPr>
          <p:cNvPr id="29" name="Text 27"/>
          <p:cNvSpPr txBox="1"/>
          <p:nvPr/>
        </p:nvSpPr>
        <p:spPr>
          <a:xfrm>
            <a:off x="3105150" y="491490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0</a:t>
            </a:r>
            <a:endParaRPr lang="en-US" sz="750" dirty="0"/>
          </a:p>
        </p:txBody>
      </p:sp>
      <p:sp>
        <p:nvSpPr>
          <p:cNvPr id="30" name="Shape 28"/>
          <p:cNvSpPr/>
          <p:nvPr/>
        </p:nvSpPr>
        <p:spPr>
          <a:xfrm>
            <a:off x="5238750" y="4838700"/>
            <a:ext cx="0" cy="47625"/>
          </a:xfrm>
          <a:prstGeom prst="line">
            <a:avLst/>
          </a:prstGeom>
          <a:noFill/>
          <a:ln w="12700">
            <a:solidFill>
              <a:srgbClr val="8A8880"/>
            </a:solidFill>
            <a:prstDash val="solid"/>
          </a:ln>
        </p:spPr>
      </p:sp>
      <p:sp>
        <p:nvSpPr>
          <p:cNvPr id="31" name="Text 29"/>
          <p:cNvSpPr txBox="1"/>
          <p:nvPr/>
        </p:nvSpPr>
        <p:spPr>
          <a:xfrm>
            <a:off x="5010150" y="491490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10</a:t>
            </a:r>
            <a:endParaRPr lang="en-US" sz="750" dirty="0"/>
          </a:p>
        </p:txBody>
      </p:sp>
      <p:sp>
        <p:nvSpPr>
          <p:cNvPr id="32" name="Shape 30"/>
          <p:cNvSpPr/>
          <p:nvPr/>
        </p:nvSpPr>
        <p:spPr>
          <a:xfrm>
            <a:off x="7143750" y="4838700"/>
            <a:ext cx="0" cy="47625"/>
          </a:xfrm>
          <a:prstGeom prst="line">
            <a:avLst/>
          </a:prstGeom>
          <a:noFill/>
          <a:ln w="12700">
            <a:solidFill>
              <a:srgbClr val="8A8880"/>
            </a:solidFill>
            <a:prstDash val="solid"/>
          </a:ln>
        </p:spPr>
      </p:sp>
      <p:sp>
        <p:nvSpPr>
          <p:cNvPr id="33" name="Text 31"/>
          <p:cNvSpPr txBox="1"/>
          <p:nvPr/>
        </p:nvSpPr>
        <p:spPr>
          <a:xfrm>
            <a:off x="6915150" y="491490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20</a:t>
            </a:r>
            <a:endParaRPr lang="en-US" sz="750" dirty="0"/>
          </a:p>
        </p:txBody>
      </p:sp>
      <p:sp>
        <p:nvSpPr>
          <p:cNvPr id="34" name="Shape 32"/>
          <p:cNvSpPr/>
          <p:nvPr/>
        </p:nvSpPr>
        <p:spPr>
          <a:xfrm>
            <a:off x="9048750" y="4838700"/>
            <a:ext cx="0" cy="47625"/>
          </a:xfrm>
          <a:prstGeom prst="line">
            <a:avLst/>
          </a:prstGeom>
          <a:noFill/>
          <a:ln w="12700">
            <a:solidFill>
              <a:srgbClr val="8A8880"/>
            </a:solidFill>
            <a:prstDash val="solid"/>
          </a:ln>
        </p:spPr>
      </p:sp>
      <p:sp>
        <p:nvSpPr>
          <p:cNvPr id="35" name="Text 33"/>
          <p:cNvSpPr txBox="1"/>
          <p:nvPr/>
        </p:nvSpPr>
        <p:spPr>
          <a:xfrm>
            <a:off x="8820150" y="491490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30</a:t>
            </a:r>
            <a:endParaRPr lang="en-US" sz="750" dirty="0"/>
          </a:p>
        </p:txBody>
      </p:sp>
      <p:sp>
        <p:nvSpPr>
          <p:cNvPr id="36" name="Shape 34"/>
          <p:cNvSpPr/>
          <p:nvPr/>
        </p:nvSpPr>
        <p:spPr>
          <a:xfrm>
            <a:off x="10953750" y="4838700"/>
            <a:ext cx="0" cy="47625"/>
          </a:xfrm>
          <a:prstGeom prst="line">
            <a:avLst/>
          </a:prstGeom>
          <a:noFill/>
          <a:ln w="12700">
            <a:solidFill>
              <a:srgbClr val="8A8880"/>
            </a:solidFill>
            <a:prstDash val="solid"/>
          </a:ln>
        </p:spPr>
      </p:sp>
      <p:sp>
        <p:nvSpPr>
          <p:cNvPr id="37" name="Text 35"/>
          <p:cNvSpPr txBox="1"/>
          <p:nvPr/>
        </p:nvSpPr>
        <p:spPr>
          <a:xfrm>
            <a:off x="10725150" y="4914900"/>
            <a:ext cx="457200" cy="123825"/>
          </a:xfrm>
          <a:prstGeom prst="rect">
            <a:avLst/>
          </a:prstGeom>
          <a:noFill/>
          <a:ln/>
        </p:spPr>
        <p:txBody>
          <a:bodyPr wrap="square" lIns="0" tIns="0" rIns="0" bIns="0" rtlCol="0" anchor="t"/>
          <a:lstStyle/>
          <a:p>
            <a:pPr algn="ctr" indent="0" marL="0">
              <a:lnSpc>
                <a:spcPts val="975"/>
              </a:lnSpc>
              <a:buNone/>
            </a:pPr>
            <a:r>
              <a:rPr lang="en-US" sz="750" dirty="0">
                <a:solidFill>
                  <a:srgbClr val="8A8880"/>
                </a:solidFill>
                <a:latin typeface="Consolas" pitchFamily="34" charset="0"/>
                <a:ea typeface="Consolas" pitchFamily="34" charset="-122"/>
                <a:cs typeface="Consolas" pitchFamily="34" charset="-120"/>
              </a:rPr>
              <a:t>40</a:t>
            </a:r>
            <a:endParaRPr lang="en-US" sz="750" dirty="0"/>
          </a:p>
        </p:txBody>
      </p:sp>
      <p:sp>
        <p:nvSpPr>
          <p:cNvPr id="38" name="Shape 36"/>
          <p:cNvSpPr/>
          <p:nvPr/>
        </p:nvSpPr>
        <p:spPr>
          <a:xfrm flipV="1">
            <a:off x="1428750" y="3156787"/>
            <a:ext cx="381000" cy="17480"/>
          </a:xfrm>
          <a:prstGeom prst="line">
            <a:avLst/>
          </a:prstGeom>
          <a:noFill/>
          <a:ln w="17780">
            <a:solidFill>
              <a:srgbClr val="A8BCD1"/>
            </a:solidFill>
            <a:prstDash val="dash"/>
          </a:ln>
        </p:spPr>
      </p:sp>
      <p:sp>
        <p:nvSpPr>
          <p:cNvPr id="39" name="Shape 37"/>
          <p:cNvSpPr/>
          <p:nvPr/>
        </p:nvSpPr>
        <p:spPr>
          <a:xfrm flipV="1">
            <a:off x="1809750" y="3143113"/>
            <a:ext cx="381000" cy="13674"/>
          </a:xfrm>
          <a:prstGeom prst="line">
            <a:avLst/>
          </a:prstGeom>
          <a:noFill/>
          <a:ln w="17780">
            <a:solidFill>
              <a:srgbClr val="A8BCD1"/>
            </a:solidFill>
            <a:prstDash val="dash"/>
          </a:ln>
        </p:spPr>
      </p:sp>
      <p:sp>
        <p:nvSpPr>
          <p:cNvPr id="40" name="Shape 38"/>
          <p:cNvSpPr/>
          <p:nvPr/>
        </p:nvSpPr>
        <p:spPr>
          <a:xfrm flipV="1">
            <a:off x="2190750" y="3133809"/>
            <a:ext cx="381000" cy="9304"/>
          </a:xfrm>
          <a:prstGeom prst="line">
            <a:avLst/>
          </a:prstGeom>
          <a:noFill/>
          <a:ln w="17780">
            <a:solidFill>
              <a:srgbClr val="A8BCD1"/>
            </a:solidFill>
            <a:prstDash val="dash"/>
          </a:ln>
        </p:spPr>
      </p:sp>
      <p:sp>
        <p:nvSpPr>
          <p:cNvPr id="41" name="Shape 39"/>
          <p:cNvSpPr/>
          <p:nvPr/>
        </p:nvSpPr>
        <p:spPr>
          <a:xfrm flipV="1">
            <a:off x="2571750" y="3105333"/>
            <a:ext cx="381000" cy="28476"/>
          </a:xfrm>
          <a:prstGeom prst="line">
            <a:avLst/>
          </a:prstGeom>
          <a:noFill/>
          <a:ln w="17780">
            <a:solidFill>
              <a:srgbClr val="A8BCD1"/>
            </a:solidFill>
            <a:prstDash val="dash"/>
          </a:ln>
        </p:spPr>
      </p:sp>
      <p:sp>
        <p:nvSpPr>
          <p:cNvPr id="42" name="Shape 40"/>
          <p:cNvSpPr/>
          <p:nvPr/>
        </p:nvSpPr>
        <p:spPr>
          <a:xfrm flipV="1">
            <a:off x="2952750" y="3071077"/>
            <a:ext cx="381000" cy="34256"/>
          </a:xfrm>
          <a:prstGeom prst="line">
            <a:avLst/>
          </a:prstGeom>
          <a:noFill/>
          <a:ln w="17780">
            <a:solidFill>
              <a:srgbClr val="A8BCD1"/>
            </a:solidFill>
            <a:prstDash val="dash"/>
          </a:ln>
        </p:spPr>
      </p:sp>
      <p:sp>
        <p:nvSpPr>
          <p:cNvPr id="43" name="Shape 41"/>
          <p:cNvSpPr/>
          <p:nvPr/>
        </p:nvSpPr>
        <p:spPr>
          <a:xfrm>
            <a:off x="3333750" y="3071077"/>
            <a:ext cx="381000" cy="23683"/>
          </a:xfrm>
          <a:prstGeom prst="line">
            <a:avLst/>
          </a:prstGeom>
          <a:noFill/>
          <a:ln w="17780">
            <a:solidFill>
              <a:srgbClr val="A8BCD1"/>
            </a:solidFill>
            <a:prstDash val="dash"/>
          </a:ln>
        </p:spPr>
      </p:sp>
      <p:sp>
        <p:nvSpPr>
          <p:cNvPr id="44" name="Shape 42"/>
          <p:cNvSpPr/>
          <p:nvPr/>
        </p:nvSpPr>
        <p:spPr>
          <a:xfrm>
            <a:off x="3714750" y="3094760"/>
            <a:ext cx="381000" cy="25798"/>
          </a:xfrm>
          <a:prstGeom prst="line">
            <a:avLst/>
          </a:prstGeom>
          <a:noFill/>
          <a:ln w="17780">
            <a:solidFill>
              <a:srgbClr val="A8BCD1"/>
            </a:solidFill>
            <a:prstDash val="dash"/>
          </a:ln>
        </p:spPr>
      </p:sp>
      <p:sp>
        <p:nvSpPr>
          <p:cNvPr id="45" name="Shape 43"/>
          <p:cNvSpPr/>
          <p:nvPr/>
        </p:nvSpPr>
        <p:spPr>
          <a:xfrm>
            <a:off x="4095750" y="3120558"/>
            <a:ext cx="381000" cy="28899"/>
          </a:xfrm>
          <a:prstGeom prst="line">
            <a:avLst/>
          </a:prstGeom>
          <a:noFill/>
          <a:ln w="17780">
            <a:solidFill>
              <a:srgbClr val="A8BCD1"/>
            </a:solidFill>
            <a:prstDash val="dash"/>
          </a:ln>
        </p:spPr>
      </p:sp>
      <p:sp>
        <p:nvSpPr>
          <p:cNvPr id="46" name="Shape 44"/>
          <p:cNvSpPr/>
          <p:nvPr/>
        </p:nvSpPr>
        <p:spPr>
          <a:xfrm>
            <a:off x="4476750" y="3149456"/>
            <a:ext cx="381000" cy="32846"/>
          </a:xfrm>
          <a:prstGeom prst="line">
            <a:avLst/>
          </a:prstGeom>
          <a:noFill/>
          <a:ln w="17780">
            <a:solidFill>
              <a:srgbClr val="A8BCD1"/>
            </a:solidFill>
            <a:prstDash val="dash"/>
          </a:ln>
        </p:spPr>
      </p:sp>
      <p:sp>
        <p:nvSpPr>
          <p:cNvPr id="47" name="Shape 45"/>
          <p:cNvSpPr/>
          <p:nvPr/>
        </p:nvSpPr>
        <p:spPr>
          <a:xfrm>
            <a:off x="4857750" y="3182303"/>
            <a:ext cx="381000" cy="36088"/>
          </a:xfrm>
          <a:prstGeom prst="line">
            <a:avLst/>
          </a:prstGeom>
          <a:noFill/>
          <a:ln w="17780">
            <a:solidFill>
              <a:srgbClr val="A8BCD1"/>
            </a:solidFill>
            <a:prstDash val="dash"/>
          </a:ln>
        </p:spPr>
      </p:sp>
      <p:sp>
        <p:nvSpPr>
          <p:cNvPr id="48" name="Shape 46"/>
          <p:cNvSpPr/>
          <p:nvPr/>
        </p:nvSpPr>
        <p:spPr>
          <a:xfrm>
            <a:off x="5238750" y="3218391"/>
            <a:ext cx="381000" cy="39895"/>
          </a:xfrm>
          <a:prstGeom prst="line">
            <a:avLst/>
          </a:prstGeom>
          <a:noFill/>
          <a:ln w="17780">
            <a:solidFill>
              <a:srgbClr val="A8BCD1"/>
            </a:solidFill>
            <a:prstDash val="dash"/>
          </a:ln>
        </p:spPr>
      </p:sp>
      <p:sp>
        <p:nvSpPr>
          <p:cNvPr id="49" name="Shape 47"/>
          <p:cNvSpPr/>
          <p:nvPr/>
        </p:nvSpPr>
        <p:spPr>
          <a:xfrm>
            <a:off x="5619750" y="3258285"/>
            <a:ext cx="381000" cy="53569"/>
          </a:xfrm>
          <a:prstGeom prst="line">
            <a:avLst/>
          </a:prstGeom>
          <a:noFill/>
          <a:ln w="17780">
            <a:solidFill>
              <a:srgbClr val="A8BCD1"/>
            </a:solidFill>
            <a:prstDash val="dash"/>
          </a:ln>
        </p:spPr>
      </p:sp>
      <p:sp>
        <p:nvSpPr>
          <p:cNvPr id="50" name="Shape 48"/>
          <p:cNvSpPr/>
          <p:nvPr/>
        </p:nvSpPr>
        <p:spPr>
          <a:xfrm>
            <a:off x="6000750" y="3311854"/>
            <a:ext cx="381000" cy="58503"/>
          </a:xfrm>
          <a:prstGeom prst="line">
            <a:avLst/>
          </a:prstGeom>
          <a:noFill/>
          <a:ln w="17780">
            <a:solidFill>
              <a:srgbClr val="A8BCD1"/>
            </a:solidFill>
            <a:prstDash val="dash"/>
          </a:ln>
        </p:spPr>
      </p:sp>
      <p:sp>
        <p:nvSpPr>
          <p:cNvPr id="51" name="Shape 49"/>
          <p:cNvSpPr/>
          <p:nvPr/>
        </p:nvSpPr>
        <p:spPr>
          <a:xfrm>
            <a:off x="6381750" y="3370356"/>
            <a:ext cx="381000" cy="61604"/>
          </a:xfrm>
          <a:prstGeom prst="line">
            <a:avLst/>
          </a:prstGeom>
          <a:noFill/>
          <a:ln w="17780">
            <a:solidFill>
              <a:srgbClr val="A8BCD1"/>
            </a:solidFill>
            <a:prstDash val="dash"/>
          </a:ln>
        </p:spPr>
      </p:sp>
      <p:sp>
        <p:nvSpPr>
          <p:cNvPr id="52" name="Shape 50"/>
          <p:cNvSpPr/>
          <p:nvPr/>
        </p:nvSpPr>
        <p:spPr>
          <a:xfrm>
            <a:off x="6762750" y="3431960"/>
            <a:ext cx="381000" cy="67102"/>
          </a:xfrm>
          <a:prstGeom prst="line">
            <a:avLst/>
          </a:prstGeom>
          <a:noFill/>
          <a:ln w="17780">
            <a:solidFill>
              <a:srgbClr val="A8BCD1"/>
            </a:solidFill>
            <a:prstDash val="dash"/>
          </a:ln>
        </p:spPr>
      </p:sp>
      <p:sp>
        <p:nvSpPr>
          <p:cNvPr id="53" name="Shape 51"/>
          <p:cNvSpPr/>
          <p:nvPr/>
        </p:nvSpPr>
        <p:spPr>
          <a:xfrm>
            <a:off x="7143750" y="3499062"/>
            <a:ext cx="381000" cy="73022"/>
          </a:xfrm>
          <a:prstGeom prst="line">
            <a:avLst/>
          </a:prstGeom>
          <a:noFill/>
          <a:ln w="17780">
            <a:solidFill>
              <a:srgbClr val="A8BCD1"/>
            </a:solidFill>
            <a:prstDash val="dash"/>
          </a:ln>
        </p:spPr>
      </p:sp>
      <p:sp>
        <p:nvSpPr>
          <p:cNvPr id="54" name="Shape 52"/>
          <p:cNvSpPr/>
          <p:nvPr/>
        </p:nvSpPr>
        <p:spPr>
          <a:xfrm>
            <a:off x="7524750" y="3572085"/>
            <a:ext cx="381000" cy="78802"/>
          </a:xfrm>
          <a:prstGeom prst="line">
            <a:avLst/>
          </a:prstGeom>
          <a:noFill/>
          <a:ln w="17780">
            <a:solidFill>
              <a:srgbClr val="A8BCD1"/>
            </a:solidFill>
            <a:prstDash val="dash"/>
          </a:ln>
        </p:spPr>
      </p:sp>
      <p:sp>
        <p:nvSpPr>
          <p:cNvPr id="55" name="Shape 53"/>
          <p:cNvSpPr/>
          <p:nvPr/>
        </p:nvSpPr>
        <p:spPr>
          <a:xfrm>
            <a:off x="7905750" y="3650887"/>
            <a:ext cx="381000" cy="63577"/>
          </a:xfrm>
          <a:prstGeom prst="line">
            <a:avLst/>
          </a:prstGeom>
          <a:noFill/>
          <a:ln w="17780">
            <a:solidFill>
              <a:srgbClr val="A8BCD1"/>
            </a:solidFill>
            <a:prstDash val="dash"/>
          </a:ln>
        </p:spPr>
      </p:sp>
      <p:sp>
        <p:nvSpPr>
          <p:cNvPr id="56" name="Shape 54"/>
          <p:cNvSpPr/>
          <p:nvPr/>
        </p:nvSpPr>
        <p:spPr>
          <a:xfrm>
            <a:off x="8286750" y="3714464"/>
            <a:ext cx="381000" cy="88670"/>
          </a:xfrm>
          <a:prstGeom prst="line">
            <a:avLst/>
          </a:prstGeom>
          <a:noFill/>
          <a:ln w="17780">
            <a:solidFill>
              <a:srgbClr val="A8BCD1"/>
            </a:solidFill>
            <a:prstDash val="dash"/>
          </a:ln>
        </p:spPr>
      </p:sp>
      <p:sp>
        <p:nvSpPr>
          <p:cNvPr id="57" name="Shape 55"/>
          <p:cNvSpPr/>
          <p:nvPr/>
        </p:nvSpPr>
        <p:spPr>
          <a:xfrm>
            <a:off x="8667750" y="3803134"/>
            <a:ext cx="381000" cy="95860"/>
          </a:xfrm>
          <a:prstGeom prst="line">
            <a:avLst/>
          </a:prstGeom>
          <a:noFill/>
          <a:ln w="17780">
            <a:solidFill>
              <a:srgbClr val="A8BCD1"/>
            </a:solidFill>
            <a:prstDash val="dash"/>
          </a:ln>
        </p:spPr>
      </p:sp>
      <p:sp>
        <p:nvSpPr>
          <p:cNvPr id="58" name="Shape 56"/>
          <p:cNvSpPr/>
          <p:nvPr/>
        </p:nvSpPr>
        <p:spPr>
          <a:xfrm>
            <a:off x="9048750" y="3898994"/>
            <a:ext cx="381000" cy="105868"/>
          </a:xfrm>
          <a:prstGeom prst="line">
            <a:avLst/>
          </a:prstGeom>
          <a:noFill/>
          <a:ln w="17780">
            <a:solidFill>
              <a:srgbClr val="A8BCD1"/>
            </a:solidFill>
            <a:prstDash val="dash"/>
          </a:ln>
        </p:spPr>
      </p:sp>
      <p:sp>
        <p:nvSpPr>
          <p:cNvPr id="59" name="Shape 57"/>
          <p:cNvSpPr/>
          <p:nvPr/>
        </p:nvSpPr>
        <p:spPr>
          <a:xfrm>
            <a:off x="9429750" y="4004862"/>
            <a:ext cx="381000" cy="114327"/>
          </a:xfrm>
          <a:prstGeom prst="line">
            <a:avLst/>
          </a:prstGeom>
          <a:noFill/>
          <a:ln w="17780">
            <a:solidFill>
              <a:srgbClr val="A8BCD1"/>
            </a:solidFill>
            <a:prstDash val="dash"/>
          </a:ln>
        </p:spPr>
      </p:sp>
      <p:sp>
        <p:nvSpPr>
          <p:cNvPr id="60" name="Shape 58"/>
          <p:cNvSpPr/>
          <p:nvPr/>
        </p:nvSpPr>
        <p:spPr>
          <a:xfrm>
            <a:off x="9810750" y="4119189"/>
            <a:ext cx="381000" cy="119684"/>
          </a:xfrm>
          <a:prstGeom prst="line">
            <a:avLst/>
          </a:prstGeom>
          <a:noFill/>
          <a:ln w="17780">
            <a:solidFill>
              <a:srgbClr val="A8BCD1"/>
            </a:solidFill>
            <a:prstDash val="dash"/>
          </a:ln>
        </p:spPr>
      </p:sp>
      <p:sp>
        <p:nvSpPr>
          <p:cNvPr id="61" name="Shape 59"/>
          <p:cNvSpPr/>
          <p:nvPr/>
        </p:nvSpPr>
        <p:spPr>
          <a:xfrm>
            <a:off x="10191750" y="4238873"/>
            <a:ext cx="381000" cy="121798"/>
          </a:xfrm>
          <a:prstGeom prst="line">
            <a:avLst/>
          </a:prstGeom>
          <a:noFill/>
          <a:ln w="17780">
            <a:solidFill>
              <a:srgbClr val="A8BCD1"/>
            </a:solidFill>
            <a:prstDash val="dash"/>
          </a:ln>
        </p:spPr>
      </p:sp>
      <p:sp>
        <p:nvSpPr>
          <p:cNvPr id="62" name="Shape 60"/>
          <p:cNvSpPr/>
          <p:nvPr/>
        </p:nvSpPr>
        <p:spPr>
          <a:xfrm>
            <a:off x="10572750" y="4360671"/>
            <a:ext cx="381000" cy="133781"/>
          </a:xfrm>
          <a:prstGeom prst="line">
            <a:avLst/>
          </a:prstGeom>
          <a:noFill/>
          <a:ln w="17780">
            <a:solidFill>
              <a:srgbClr val="A8BCD1"/>
            </a:solidFill>
            <a:prstDash val="dash"/>
          </a:ln>
        </p:spPr>
      </p:sp>
      <p:sp>
        <p:nvSpPr>
          <p:cNvPr id="63" name="Shape 61"/>
          <p:cNvSpPr/>
          <p:nvPr/>
        </p:nvSpPr>
        <p:spPr>
          <a:xfrm flipV="1">
            <a:off x="1428750" y="3033015"/>
            <a:ext cx="381000" cy="17480"/>
          </a:xfrm>
          <a:prstGeom prst="line">
            <a:avLst/>
          </a:prstGeom>
          <a:noFill/>
          <a:ln w="22860">
            <a:solidFill>
              <a:srgbClr val="EFB13C"/>
            </a:solidFill>
            <a:prstDash val="solid"/>
          </a:ln>
        </p:spPr>
      </p:sp>
      <p:sp>
        <p:nvSpPr>
          <p:cNvPr id="64" name="Shape 62"/>
          <p:cNvSpPr/>
          <p:nvPr/>
        </p:nvSpPr>
        <p:spPr>
          <a:xfrm flipV="1">
            <a:off x="1809750" y="3019341"/>
            <a:ext cx="381000" cy="13674"/>
          </a:xfrm>
          <a:prstGeom prst="line">
            <a:avLst/>
          </a:prstGeom>
          <a:noFill/>
          <a:ln w="22860">
            <a:solidFill>
              <a:srgbClr val="EFB13C"/>
            </a:solidFill>
            <a:prstDash val="solid"/>
          </a:ln>
        </p:spPr>
      </p:sp>
      <p:sp>
        <p:nvSpPr>
          <p:cNvPr id="65" name="Shape 63"/>
          <p:cNvSpPr/>
          <p:nvPr/>
        </p:nvSpPr>
        <p:spPr>
          <a:xfrm flipV="1">
            <a:off x="2190750" y="3010037"/>
            <a:ext cx="381000" cy="9304"/>
          </a:xfrm>
          <a:prstGeom prst="line">
            <a:avLst/>
          </a:prstGeom>
          <a:noFill/>
          <a:ln w="22860">
            <a:solidFill>
              <a:srgbClr val="EFB13C"/>
            </a:solidFill>
            <a:prstDash val="solid"/>
          </a:ln>
        </p:spPr>
      </p:sp>
      <p:sp>
        <p:nvSpPr>
          <p:cNvPr id="66" name="Shape 64"/>
          <p:cNvSpPr/>
          <p:nvPr/>
        </p:nvSpPr>
        <p:spPr>
          <a:xfrm flipV="1">
            <a:off x="2571750" y="2981561"/>
            <a:ext cx="381000" cy="28476"/>
          </a:xfrm>
          <a:prstGeom prst="line">
            <a:avLst/>
          </a:prstGeom>
          <a:noFill/>
          <a:ln w="22860">
            <a:solidFill>
              <a:srgbClr val="EFB13C"/>
            </a:solidFill>
            <a:prstDash val="solid"/>
          </a:ln>
        </p:spPr>
      </p:sp>
      <p:sp>
        <p:nvSpPr>
          <p:cNvPr id="67" name="Shape 65"/>
          <p:cNvSpPr/>
          <p:nvPr/>
        </p:nvSpPr>
        <p:spPr>
          <a:xfrm flipV="1">
            <a:off x="2952750" y="2965632"/>
            <a:ext cx="381000" cy="15930"/>
          </a:xfrm>
          <a:prstGeom prst="line">
            <a:avLst/>
          </a:prstGeom>
          <a:noFill/>
          <a:ln w="22860">
            <a:solidFill>
              <a:srgbClr val="EFB13C"/>
            </a:solidFill>
            <a:prstDash val="solid"/>
          </a:ln>
        </p:spPr>
      </p:sp>
      <p:sp>
        <p:nvSpPr>
          <p:cNvPr id="68" name="Shape 66"/>
          <p:cNvSpPr/>
          <p:nvPr/>
        </p:nvSpPr>
        <p:spPr>
          <a:xfrm>
            <a:off x="3333750" y="2965632"/>
            <a:ext cx="381000" cy="24529"/>
          </a:xfrm>
          <a:prstGeom prst="line">
            <a:avLst/>
          </a:prstGeom>
          <a:noFill/>
          <a:ln w="22860">
            <a:solidFill>
              <a:srgbClr val="EFB13C"/>
            </a:solidFill>
            <a:prstDash val="solid"/>
          </a:ln>
        </p:spPr>
      </p:sp>
      <p:sp>
        <p:nvSpPr>
          <p:cNvPr id="69" name="Shape 67"/>
          <p:cNvSpPr/>
          <p:nvPr/>
        </p:nvSpPr>
        <p:spPr>
          <a:xfrm>
            <a:off x="3714750" y="2990160"/>
            <a:ext cx="381000" cy="41304"/>
          </a:xfrm>
          <a:prstGeom prst="line">
            <a:avLst/>
          </a:prstGeom>
          <a:noFill/>
          <a:ln w="22860">
            <a:solidFill>
              <a:srgbClr val="EFB13C"/>
            </a:solidFill>
            <a:prstDash val="solid"/>
          </a:ln>
        </p:spPr>
      </p:sp>
      <p:sp>
        <p:nvSpPr>
          <p:cNvPr id="70" name="Shape 68"/>
          <p:cNvSpPr/>
          <p:nvPr/>
        </p:nvSpPr>
        <p:spPr>
          <a:xfrm>
            <a:off x="4095750" y="3031465"/>
            <a:ext cx="381000" cy="41445"/>
          </a:xfrm>
          <a:prstGeom prst="line">
            <a:avLst/>
          </a:prstGeom>
          <a:noFill/>
          <a:ln w="22860">
            <a:solidFill>
              <a:srgbClr val="EFB13C"/>
            </a:solidFill>
            <a:prstDash val="solid"/>
          </a:ln>
        </p:spPr>
      </p:sp>
      <p:sp>
        <p:nvSpPr>
          <p:cNvPr id="71" name="Shape 69"/>
          <p:cNvSpPr/>
          <p:nvPr/>
        </p:nvSpPr>
        <p:spPr>
          <a:xfrm>
            <a:off x="4476750" y="3072910"/>
            <a:ext cx="381000" cy="38485"/>
          </a:xfrm>
          <a:prstGeom prst="line">
            <a:avLst/>
          </a:prstGeom>
          <a:noFill/>
          <a:ln w="22860">
            <a:solidFill>
              <a:srgbClr val="EFB13C"/>
            </a:solidFill>
            <a:prstDash val="solid"/>
          </a:ln>
        </p:spPr>
      </p:sp>
      <p:sp>
        <p:nvSpPr>
          <p:cNvPr id="72" name="Shape 70"/>
          <p:cNvSpPr/>
          <p:nvPr/>
        </p:nvSpPr>
        <p:spPr>
          <a:xfrm>
            <a:off x="4857750" y="3111395"/>
            <a:ext cx="381000" cy="34115"/>
          </a:xfrm>
          <a:prstGeom prst="line">
            <a:avLst/>
          </a:prstGeom>
          <a:noFill/>
          <a:ln w="22860">
            <a:solidFill>
              <a:srgbClr val="EFB13C"/>
            </a:solidFill>
            <a:prstDash val="solid"/>
          </a:ln>
        </p:spPr>
      </p:sp>
      <p:sp>
        <p:nvSpPr>
          <p:cNvPr id="73" name="Shape 71"/>
          <p:cNvSpPr/>
          <p:nvPr/>
        </p:nvSpPr>
        <p:spPr>
          <a:xfrm>
            <a:off x="5238750" y="3145509"/>
            <a:ext cx="381000" cy="33269"/>
          </a:xfrm>
          <a:prstGeom prst="line">
            <a:avLst/>
          </a:prstGeom>
          <a:noFill/>
          <a:ln w="22860">
            <a:solidFill>
              <a:srgbClr val="EFB13C"/>
            </a:solidFill>
            <a:prstDash val="solid"/>
          </a:ln>
        </p:spPr>
      </p:sp>
      <p:sp>
        <p:nvSpPr>
          <p:cNvPr id="74" name="Shape 72"/>
          <p:cNvSpPr/>
          <p:nvPr/>
        </p:nvSpPr>
        <p:spPr>
          <a:xfrm>
            <a:off x="5619750" y="3178778"/>
            <a:ext cx="381000" cy="48071"/>
          </a:xfrm>
          <a:prstGeom prst="line">
            <a:avLst/>
          </a:prstGeom>
          <a:noFill/>
          <a:ln w="22860">
            <a:solidFill>
              <a:srgbClr val="EFB13C"/>
            </a:solidFill>
            <a:prstDash val="solid"/>
          </a:ln>
        </p:spPr>
      </p:sp>
      <p:sp>
        <p:nvSpPr>
          <p:cNvPr id="75" name="Shape 73"/>
          <p:cNvSpPr/>
          <p:nvPr/>
        </p:nvSpPr>
        <p:spPr>
          <a:xfrm>
            <a:off x="6000750" y="3226849"/>
            <a:ext cx="381000" cy="59912"/>
          </a:xfrm>
          <a:prstGeom prst="line">
            <a:avLst/>
          </a:prstGeom>
          <a:noFill/>
          <a:ln w="22860">
            <a:solidFill>
              <a:srgbClr val="EFB13C"/>
            </a:solidFill>
            <a:prstDash val="solid"/>
          </a:ln>
        </p:spPr>
      </p:sp>
      <p:sp>
        <p:nvSpPr>
          <p:cNvPr id="76" name="Shape 74"/>
          <p:cNvSpPr/>
          <p:nvPr/>
        </p:nvSpPr>
        <p:spPr>
          <a:xfrm>
            <a:off x="6381750" y="3286761"/>
            <a:ext cx="381000" cy="73868"/>
          </a:xfrm>
          <a:prstGeom prst="line">
            <a:avLst/>
          </a:prstGeom>
          <a:noFill/>
          <a:ln w="22860">
            <a:solidFill>
              <a:srgbClr val="EFB13C"/>
            </a:solidFill>
            <a:prstDash val="solid"/>
          </a:ln>
        </p:spPr>
      </p:sp>
      <p:sp>
        <p:nvSpPr>
          <p:cNvPr id="77" name="Shape 75"/>
          <p:cNvSpPr/>
          <p:nvPr/>
        </p:nvSpPr>
        <p:spPr>
          <a:xfrm>
            <a:off x="6762750" y="3360630"/>
            <a:ext cx="381000" cy="90080"/>
          </a:xfrm>
          <a:prstGeom prst="line">
            <a:avLst/>
          </a:prstGeom>
          <a:noFill/>
          <a:ln w="22860">
            <a:solidFill>
              <a:srgbClr val="EFB13C"/>
            </a:solidFill>
            <a:prstDash val="solid"/>
          </a:ln>
        </p:spPr>
      </p:sp>
      <p:sp>
        <p:nvSpPr>
          <p:cNvPr id="78" name="Shape 76"/>
          <p:cNvSpPr/>
          <p:nvPr/>
        </p:nvSpPr>
        <p:spPr>
          <a:xfrm>
            <a:off x="7143750" y="3450709"/>
            <a:ext cx="381000" cy="102062"/>
          </a:xfrm>
          <a:prstGeom prst="line">
            <a:avLst/>
          </a:prstGeom>
          <a:noFill/>
          <a:ln w="22860">
            <a:solidFill>
              <a:srgbClr val="EFB13C"/>
            </a:solidFill>
            <a:prstDash val="solid"/>
          </a:ln>
        </p:spPr>
      </p:sp>
      <p:sp>
        <p:nvSpPr>
          <p:cNvPr id="79" name="Shape 77"/>
          <p:cNvSpPr/>
          <p:nvPr/>
        </p:nvSpPr>
        <p:spPr>
          <a:xfrm>
            <a:off x="7524750" y="3552772"/>
            <a:ext cx="381000" cy="107278"/>
          </a:xfrm>
          <a:prstGeom prst="line">
            <a:avLst/>
          </a:prstGeom>
          <a:noFill/>
          <a:ln w="22860">
            <a:solidFill>
              <a:srgbClr val="EFB13C"/>
            </a:solidFill>
            <a:prstDash val="solid"/>
          </a:ln>
        </p:spPr>
      </p:sp>
      <p:sp>
        <p:nvSpPr>
          <p:cNvPr id="80" name="Shape 78"/>
          <p:cNvSpPr/>
          <p:nvPr/>
        </p:nvSpPr>
        <p:spPr>
          <a:xfrm>
            <a:off x="7905750" y="3660050"/>
            <a:ext cx="381000" cy="84018"/>
          </a:xfrm>
          <a:prstGeom prst="line">
            <a:avLst/>
          </a:prstGeom>
          <a:noFill/>
          <a:ln w="22860">
            <a:solidFill>
              <a:srgbClr val="EFB13C"/>
            </a:solidFill>
            <a:prstDash val="solid"/>
          </a:ln>
        </p:spPr>
      </p:sp>
      <p:sp>
        <p:nvSpPr>
          <p:cNvPr id="81" name="Shape 79"/>
          <p:cNvSpPr/>
          <p:nvPr/>
        </p:nvSpPr>
        <p:spPr>
          <a:xfrm>
            <a:off x="8286750" y="3744068"/>
            <a:ext cx="381000" cy="96564"/>
          </a:xfrm>
          <a:prstGeom prst="line">
            <a:avLst/>
          </a:prstGeom>
          <a:noFill/>
          <a:ln w="22860">
            <a:solidFill>
              <a:srgbClr val="EFB13C"/>
            </a:solidFill>
            <a:prstDash val="solid"/>
          </a:ln>
        </p:spPr>
      </p:sp>
      <p:sp>
        <p:nvSpPr>
          <p:cNvPr id="82" name="Shape 80"/>
          <p:cNvSpPr/>
          <p:nvPr/>
        </p:nvSpPr>
        <p:spPr>
          <a:xfrm>
            <a:off x="8667750" y="3840632"/>
            <a:ext cx="381000" cy="90644"/>
          </a:xfrm>
          <a:prstGeom prst="line">
            <a:avLst/>
          </a:prstGeom>
          <a:noFill/>
          <a:ln w="22860">
            <a:solidFill>
              <a:srgbClr val="EFB13C"/>
            </a:solidFill>
            <a:prstDash val="solid"/>
          </a:ln>
        </p:spPr>
      </p:sp>
      <p:sp>
        <p:nvSpPr>
          <p:cNvPr id="83" name="Shape 81"/>
          <p:cNvSpPr/>
          <p:nvPr/>
        </p:nvSpPr>
        <p:spPr>
          <a:xfrm>
            <a:off x="9048750" y="3931276"/>
            <a:ext cx="381000" cy="91067"/>
          </a:xfrm>
          <a:prstGeom prst="line">
            <a:avLst/>
          </a:prstGeom>
          <a:noFill/>
          <a:ln w="22860">
            <a:solidFill>
              <a:srgbClr val="EFB13C"/>
            </a:solidFill>
            <a:prstDash val="solid"/>
          </a:ln>
        </p:spPr>
      </p:sp>
      <p:sp>
        <p:nvSpPr>
          <p:cNvPr id="84" name="Shape 82"/>
          <p:cNvSpPr/>
          <p:nvPr/>
        </p:nvSpPr>
        <p:spPr>
          <a:xfrm>
            <a:off x="9429750" y="4022343"/>
            <a:ext cx="381000" cy="95437"/>
          </a:xfrm>
          <a:prstGeom prst="line">
            <a:avLst/>
          </a:prstGeom>
          <a:noFill/>
          <a:ln w="22860">
            <a:solidFill>
              <a:srgbClr val="EFB13C"/>
            </a:solidFill>
            <a:prstDash val="solid"/>
          </a:ln>
        </p:spPr>
      </p:sp>
      <p:sp>
        <p:nvSpPr>
          <p:cNvPr id="85" name="Shape 83"/>
          <p:cNvSpPr/>
          <p:nvPr/>
        </p:nvSpPr>
        <p:spPr>
          <a:xfrm>
            <a:off x="9810750" y="4117779"/>
            <a:ext cx="381000" cy="102344"/>
          </a:xfrm>
          <a:prstGeom prst="line">
            <a:avLst/>
          </a:prstGeom>
          <a:noFill/>
          <a:ln w="22860">
            <a:solidFill>
              <a:srgbClr val="EFB13C"/>
            </a:solidFill>
            <a:prstDash val="solid"/>
          </a:ln>
        </p:spPr>
      </p:sp>
      <p:sp>
        <p:nvSpPr>
          <p:cNvPr id="86" name="Shape 84"/>
          <p:cNvSpPr/>
          <p:nvPr/>
        </p:nvSpPr>
        <p:spPr>
          <a:xfrm>
            <a:off x="10191750" y="4220124"/>
            <a:ext cx="381000" cy="110943"/>
          </a:xfrm>
          <a:prstGeom prst="line">
            <a:avLst/>
          </a:prstGeom>
          <a:noFill/>
          <a:ln w="22860">
            <a:solidFill>
              <a:srgbClr val="EFB13C"/>
            </a:solidFill>
            <a:prstDash val="solid"/>
          </a:ln>
        </p:spPr>
      </p:sp>
      <p:sp>
        <p:nvSpPr>
          <p:cNvPr id="87" name="Shape 85"/>
          <p:cNvSpPr/>
          <p:nvPr/>
        </p:nvSpPr>
        <p:spPr>
          <a:xfrm>
            <a:off x="10572750" y="4331067"/>
            <a:ext cx="381000" cy="133640"/>
          </a:xfrm>
          <a:prstGeom prst="line">
            <a:avLst/>
          </a:prstGeom>
          <a:noFill/>
          <a:ln w="22860">
            <a:solidFill>
              <a:srgbClr val="EFB13C"/>
            </a:solidFill>
            <a:prstDash val="solid"/>
          </a:ln>
        </p:spPr>
      </p:sp>
      <p:sp>
        <p:nvSpPr>
          <p:cNvPr id="88" name="Shape 86"/>
          <p:cNvSpPr/>
          <p:nvPr/>
        </p:nvSpPr>
        <p:spPr>
          <a:xfrm>
            <a:off x="2943225" y="2894272"/>
            <a:ext cx="57150" cy="57150"/>
          </a:xfrm>
          <a:prstGeom prst="ellipse">
            <a:avLst/>
          </a:prstGeom>
          <a:solidFill>
            <a:srgbClr val="EAE7E0"/>
          </a:solidFill>
          <a:ln/>
        </p:spPr>
      </p:sp>
      <p:sp>
        <p:nvSpPr>
          <p:cNvPr id="89" name="Shape 87"/>
          <p:cNvSpPr/>
          <p:nvPr/>
        </p:nvSpPr>
        <p:spPr>
          <a:xfrm>
            <a:off x="3028950" y="2900940"/>
            <a:ext cx="57150" cy="57150"/>
          </a:xfrm>
          <a:prstGeom prst="ellipse">
            <a:avLst/>
          </a:prstGeom>
          <a:solidFill>
            <a:srgbClr val="EAE7E0"/>
          </a:solidFill>
          <a:ln/>
        </p:spPr>
      </p:sp>
      <p:sp>
        <p:nvSpPr>
          <p:cNvPr id="90" name="Shape 88"/>
          <p:cNvSpPr/>
          <p:nvPr/>
        </p:nvSpPr>
        <p:spPr>
          <a:xfrm>
            <a:off x="3667125" y="2942371"/>
            <a:ext cx="57150" cy="57150"/>
          </a:xfrm>
          <a:prstGeom prst="ellipse">
            <a:avLst/>
          </a:prstGeom>
          <a:solidFill>
            <a:srgbClr val="EAE7E0"/>
          </a:solidFill>
          <a:ln/>
        </p:spPr>
      </p:sp>
      <p:sp>
        <p:nvSpPr>
          <p:cNvPr id="91" name="Shape 89"/>
          <p:cNvSpPr/>
          <p:nvPr/>
        </p:nvSpPr>
        <p:spPr>
          <a:xfrm>
            <a:off x="4048125" y="3011446"/>
            <a:ext cx="57150" cy="57150"/>
          </a:xfrm>
          <a:prstGeom prst="ellipse">
            <a:avLst/>
          </a:prstGeom>
          <a:solidFill>
            <a:srgbClr val="EAE7E0"/>
          </a:solidFill>
          <a:ln/>
        </p:spPr>
      </p:sp>
      <p:sp>
        <p:nvSpPr>
          <p:cNvPr id="92" name="Shape 90"/>
          <p:cNvSpPr/>
          <p:nvPr/>
        </p:nvSpPr>
        <p:spPr>
          <a:xfrm>
            <a:off x="4448175" y="3044278"/>
            <a:ext cx="57150" cy="57150"/>
          </a:xfrm>
          <a:prstGeom prst="ellipse">
            <a:avLst/>
          </a:prstGeom>
          <a:solidFill>
            <a:srgbClr val="EAE7E0"/>
          </a:solidFill>
          <a:ln/>
        </p:spPr>
      </p:sp>
      <p:sp>
        <p:nvSpPr>
          <p:cNvPr id="93" name="Shape 91"/>
          <p:cNvSpPr/>
          <p:nvPr/>
        </p:nvSpPr>
        <p:spPr>
          <a:xfrm>
            <a:off x="4638675" y="3083567"/>
            <a:ext cx="57150" cy="57150"/>
          </a:xfrm>
          <a:prstGeom prst="ellipse">
            <a:avLst/>
          </a:prstGeom>
          <a:solidFill>
            <a:srgbClr val="EAE7E0"/>
          </a:solidFill>
          <a:ln/>
        </p:spPr>
      </p:sp>
      <p:sp>
        <p:nvSpPr>
          <p:cNvPr id="94" name="Shape 92"/>
          <p:cNvSpPr/>
          <p:nvPr/>
        </p:nvSpPr>
        <p:spPr>
          <a:xfrm>
            <a:off x="4829175" y="3089544"/>
            <a:ext cx="57150" cy="57150"/>
          </a:xfrm>
          <a:prstGeom prst="ellipse">
            <a:avLst/>
          </a:prstGeom>
          <a:solidFill>
            <a:srgbClr val="EAE7E0"/>
          </a:solidFill>
          <a:ln/>
        </p:spPr>
      </p:sp>
      <p:sp>
        <p:nvSpPr>
          <p:cNvPr id="95" name="Shape 93"/>
          <p:cNvSpPr/>
          <p:nvPr/>
        </p:nvSpPr>
        <p:spPr>
          <a:xfrm>
            <a:off x="5000625" y="3065776"/>
            <a:ext cx="57150" cy="57150"/>
          </a:xfrm>
          <a:prstGeom prst="ellipse">
            <a:avLst/>
          </a:prstGeom>
          <a:solidFill>
            <a:srgbClr val="EAE7E0"/>
          </a:solidFill>
          <a:ln/>
        </p:spPr>
      </p:sp>
      <p:sp>
        <p:nvSpPr>
          <p:cNvPr id="96" name="Shape 94"/>
          <p:cNvSpPr/>
          <p:nvPr/>
        </p:nvSpPr>
        <p:spPr>
          <a:xfrm>
            <a:off x="5114925" y="3138263"/>
            <a:ext cx="57150" cy="57150"/>
          </a:xfrm>
          <a:prstGeom prst="ellipse">
            <a:avLst/>
          </a:prstGeom>
          <a:solidFill>
            <a:srgbClr val="EAE7E0"/>
          </a:solidFill>
          <a:ln/>
        </p:spPr>
      </p:sp>
      <p:sp>
        <p:nvSpPr>
          <p:cNvPr id="97" name="Shape 95"/>
          <p:cNvSpPr/>
          <p:nvPr/>
        </p:nvSpPr>
        <p:spPr>
          <a:xfrm>
            <a:off x="5438775" y="3157195"/>
            <a:ext cx="57150" cy="57150"/>
          </a:xfrm>
          <a:prstGeom prst="ellipse">
            <a:avLst/>
          </a:prstGeom>
          <a:solidFill>
            <a:srgbClr val="EAE7E0"/>
          </a:solidFill>
          <a:ln/>
        </p:spPr>
      </p:sp>
      <p:sp>
        <p:nvSpPr>
          <p:cNvPr id="98" name="Shape 96"/>
          <p:cNvSpPr/>
          <p:nvPr/>
        </p:nvSpPr>
        <p:spPr>
          <a:xfrm>
            <a:off x="5724525" y="3161565"/>
            <a:ext cx="57150" cy="57150"/>
          </a:xfrm>
          <a:prstGeom prst="ellipse">
            <a:avLst/>
          </a:prstGeom>
          <a:solidFill>
            <a:srgbClr val="EAE7E0"/>
          </a:solidFill>
          <a:ln/>
        </p:spPr>
      </p:sp>
      <p:sp>
        <p:nvSpPr>
          <p:cNvPr id="99" name="Shape 97"/>
          <p:cNvSpPr/>
          <p:nvPr/>
        </p:nvSpPr>
        <p:spPr>
          <a:xfrm>
            <a:off x="5781675" y="3185671"/>
            <a:ext cx="57150" cy="57150"/>
          </a:xfrm>
          <a:prstGeom prst="ellipse">
            <a:avLst/>
          </a:prstGeom>
          <a:solidFill>
            <a:srgbClr val="EAE7E0"/>
          </a:solidFill>
          <a:ln/>
        </p:spPr>
      </p:sp>
      <p:sp>
        <p:nvSpPr>
          <p:cNvPr id="100" name="Shape 98"/>
          <p:cNvSpPr/>
          <p:nvPr/>
        </p:nvSpPr>
        <p:spPr>
          <a:xfrm>
            <a:off x="5838825" y="3191944"/>
            <a:ext cx="57150" cy="57150"/>
          </a:xfrm>
          <a:prstGeom prst="ellipse">
            <a:avLst/>
          </a:prstGeom>
          <a:solidFill>
            <a:srgbClr val="EAE7E0"/>
          </a:solidFill>
          <a:ln/>
        </p:spPr>
      </p:sp>
      <p:sp>
        <p:nvSpPr>
          <p:cNvPr id="101" name="Shape 99"/>
          <p:cNvSpPr/>
          <p:nvPr/>
        </p:nvSpPr>
        <p:spPr>
          <a:xfrm>
            <a:off x="6048375" y="3179652"/>
            <a:ext cx="57150" cy="57150"/>
          </a:xfrm>
          <a:prstGeom prst="ellipse">
            <a:avLst/>
          </a:prstGeom>
          <a:solidFill>
            <a:srgbClr val="EAE7E0"/>
          </a:solidFill>
          <a:ln/>
        </p:spPr>
      </p:sp>
      <p:sp>
        <p:nvSpPr>
          <p:cNvPr id="102" name="Shape 100"/>
          <p:cNvSpPr/>
          <p:nvPr/>
        </p:nvSpPr>
        <p:spPr>
          <a:xfrm>
            <a:off x="6067425" y="3198542"/>
            <a:ext cx="57150" cy="57150"/>
          </a:xfrm>
          <a:prstGeom prst="ellipse">
            <a:avLst/>
          </a:prstGeom>
          <a:solidFill>
            <a:srgbClr val="EAE7E0"/>
          </a:solidFill>
          <a:ln/>
        </p:spPr>
      </p:sp>
      <p:sp>
        <p:nvSpPr>
          <p:cNvPr id="103" name="Shape 101"/>
          <p:cNvSpPr/>
          <p:nvPr/>
        </p:nvSpPr>
        <p:spPr>
          <a:xfrm>
            <a:off x="6181725" y="3263007"/>
            <a:ext cx="57150" cy="57150"/>
          </a:xfrm>
          <a:prstGeom prst="ellipse">
            <a:avLst/>
          </a:prstGeom>
          <a:solidFill>
            <a:srgbClr val="EAE7E0"/>
          </a:solidFill>
          <a:ln/>
        </p:spPr>
      </p:sp>
      <p:sp>
        <p:nvSpPr>
          <p:cNvPr id="104" name="Shape 102"/>
          <p:cNvSpPr/>
          <p:nvPr/>
        </p:nvSpPr>
        <p:spPr>
          <a:xfrm>
            <a:off x="6467475" y="3266137"/>
            <a:ext cx="57150" cy="57150"/>
          </a:xfrm>
          <a:prstGeom prst="ellipse">
            <a:avLst/>
          </a:prstGeom>
          <a:solidFill>
            <a:srgbClr val="EAE7E0"/>
          </a:solidFill>
          <a:ln/>
        </p:spPr>
      </p:sp>
      <p:sp>
        <p:nvSpPr>
          <p:cNvPr id="105" name="Shape 103"/>
          <p:cNvSpPr/>
          <p:nvPr/>
        </p:nvSpPr>
        <p:spPr>
          <a:xfrm>
            <a:off x="6486525" y="3261386"/>
            <a:ext cx="57150" cy="57150"/>
          </a:xfrm>
          <a:prstGeom prst="ellipse">
            <a:avLst/>
          </a:prstGeom>
          <a:solidFill>
            <a:srgbClr val="EAE7E0"/>
          </a:solidFill>
          <a:ln/>
        </p:spPr>
      </p:sp>
      <p:sp>
        <p:nvSpPr>
          <p:cNvPr id="106" name="Shape 104"/>
          <p:cNvSpPr/>
          <p:nvPr/>
        </p:nvSpPr>
        <p:spPr>
          <a:xfrm>
            <a:off x="7362825" y="3506590"/>
            <a:ext cx="57150" cy="57150"/>
          </a:xfrm>
          <a:prstGeom prst="ellipse">
            <a:avLst/>
          </a:prstGeom>
          <a:solidFill>
            <a:srgbClr val="EAE7E0"/>
          </a:solidFill>
          <a:ln/>
        </p:spPr>
      </p:sp>
      <p:sp>
        <p:nvSpPr>
          <p:cNvPr id="107" name="Shape 105"/>
          <p:cNvSpPr/>
          <p:nvPr/>
        </p:nvSpPr>
        <p:spPr>
          <a:xfrm>
            <a:off x="8086725" y="3715620"/>
            <a:ext cx="57150" cy="57150"/>
          </a:xfrm>
          <a:prstGeom prst="ellipse">
            <a:avLst/>
          </a:prstGeom>
          <a:solidFill>
            <a:srgbClr val="EAE7E0"/>
          </a:solidFill>
          <a:ln/>
        </p:spPr>
      </p:sp>
      <p:sp>
        <p:nvSpPr>
          <p:cNvPr id="108" name="Shape 106"/>
          <p:cNvSpPr/>
          <p:nvPr/>
        </p:nvSpPr>
        <p:spPr>
          <a:xfrm>
            <a:off x="8124825" y="3732184"/>
            <a:ext cx="57150" cy="57150"/>
          </a:xfrm>
          <a:prstGeom prst="ellipse">
            <a:avLst/>
          </a:prstGeom>
          <a:solidFill>
            <a:srgbClr val="EAE7E0"/>
          </a:solidFill>
          <a:ln/>
        </p:spPr>
      </p:sp>
      <p:sp>
        <p:nvSpPr>
          <p:cNvPr id="109" name="Shape 107"/>
          <p:cNvSpPr/>
          <p:nvPr/>
        </p:nvSpPr>
        <p:spPr>
          <a:xfrm>
            <a:off x="8143875" y="3694051"/>
            <a:ext cx="57150" cy="57150"/>
          </a:xfrm>
          <a:prstGeom prst="ellipse">
            <a:avLst/>
          </a:prstGeom>
          <a:solidFill>
            <a:srgbClr val="EAE7E0"/>
          </a:solidFill>
          <a:ln/>
        </p:spPr>
      </p:sp>
      <p:sp>
        <p:nvSpPr>
          <p:cNvPr id="110" name="Shape 108"/>
          <p:cNvSpPr/>
          <p:nvPr/>
        </p:nvSpPr>
        <p:spPr>
          <a:xfrm>
            <a:off x="8201025" y="3695757"/>
            <a:ext cx="57150" cy="57150"/>
          </a:xfrm>
          <a:prstGeom prst="ellipse">
            <a:avLst/>
          </a:prstGeom>
          <a:solidFill>
            <a:srgbClr val="EAE7E0"/>
          </a:solidFill>
          <a:ln/>
        </p:spPr>
      </p:sp>
      <p:sp>
        <p:nvSpPr>
          <p:cNvPr id="111" name="Shape 109"/>
          <p:cNvSpPr/>
          <p:nvPr/>
        </p:nvSpPr>
        <p:spPr>
          <a:xfrm>
            <a:off x="8524875" y="3812227"/>
            <a:ext cx="57150" cy="57150"/>
          </a:xfrm>
          <a:prstGeom prst="ellipse">
            <a:avLst/>
          </a:prstGeom>
          <a:solidFill>
            <a:srgbClr val="EAE7E0"/>
          </a:solidFill>
          <a:ln/>
        </p:spPr>
      </p:sp>
      <p:sp>
        <p:nvSpPr>
          <p:cNvPr id="112" name="Shape 110"/>
          <p:cNvSpPr/>
          <p:nvPr/>
        </p:nvSpPr>
        <p:spPr>
          <a:xfrm>
            <a:off x="8772525" y="3843000"/>
            <a:ext cx="57150" cy="57150"/>
          </a:xfrm>
          <a:prstGeom prst="ellipse">
            <a:avLst/>
          </a:prstGeom>
          <a:solidFill>
            <a:srgbClr val="EAE7E0"/>
          </a:solidFill>
          <a:ln/>
        </p:spPr>
      </p:sp>
      <p:sp>
        <p:nvSpPr>
          <p:cNvPr id="113" name="Shape 111"/>
          <p:cNvSpPr/>
          <p:nvPr/>
        </p:nvSpPr>
        <p:spPr>
          <a:xfrm>
            <a:off x="9058275" y="3893045"/>
            <a:ext cx="57150" cy="57150"/>
          </a:xfrm>
          <a:prstGeom prst="ellipse">
            <a:avLst/>
          </a:prstGeom>
          <a:solidFill>
            <a:srgbClr val="EAE7E0"/>
          </a:solidFill>
          <a:ln/>
        </p:spPr>
      </p:sp>
      <p:sp>
        <p:nvSpPr>
          <p:cNvPr id="114" name="Shape 112"/>
          <p:cNvSpPr/>
          <p:nvPr/>
        </p:nvSpPr>
        <p:spPr>
          <a:xfrm>
            <a:off x="9058275" y="3877171"/>
            <a:ext cx="57150" cy="57150"/>
          </a:xfrm>
          <a:prstGeom prst="ellipse">
            <a:avLst/>
          </a:prstGeom>
          <a:solidFill>
            <a:srgbClr val="EAE7E0"/>
          </a:solidFill>
          <a:ln/>
        </p:spPr>
      </p:sp>
      <p:sp>
        <p:nvSpPr>
          <p:cNvPr id="115" name="Shape 113"/>
          <p:cNvSpPr/>
          <p:nvPr/>
        </p:nvSpPr>
        <p:spPr>
          <a:xfrm>
            <a:off x="9153525" y="3919040"/>
            <a:ext cx="57150" cy="57150"/>
          </a:xfrm>
          <a:prstGeom prst="ellipse">
            <a:avLst/>
          </a:prstGeom>
          <a:solidFill>
            <a:srgbClr val="EAE7E0"/>
          </a:solidFill>
          <a:ln/>
        </p:spPr>
      </p:sp>
      <p:sp>
        <p:nvSpPr>
          <p:cNvPr id="116" name="Shape 114"/>
          <p:cNvSpPr/>
          <p:nvPr/>
        </p:nvSpPr>
        <p:spPr>
          <a:xfrm>
            <a:off x="9191625" y="3918292"/>
            <a:ext cx="57150" cy="57150"/>
          </a:xfrm>
          <a:prstGeom prst="ellipse">
            <a:avLst/>
          </a:prstGeom>
          <a:solidFill>
            <a:srgbClr val="EAE7E0"/>
          </a:solidFill>
          <a:ln/>
        </p:spPr>
      </p:sp>
      <p:sp>
        <p:nvSpPr>
          <p:cNvPr id="117" name="Shape 115"/>
          <p:cNvSpPr/>
          <p:nvPr/>
        </p:nvSpPr>
        <p:spPr>
          <a:xfrm>
            <a:off x="9344025" y="3988594"/>
            <a:ext cx="57150" cy="57150"/>
          </a:xfrm>
          <a:prstGeom prst="ellipse">
            <a:avLst/>
          </a:prstGeom>
          <a:solidFill>
            <a:srgbClr val="EAE7E0"/>
          </a:solidFill>
          <a:ln/>
        </p:spPr>
      </p:sp>
      <p:sp>
        <p:nvSpPr>
          <p:cNvPr id="118" name="Shape 116"/>
          <p:cNvSpPr/>
          <p:nvPr/>
        </p:nvSpPr>
        <p:spPr>
          <a:xfrm>
            <a:off x="9477375" y="3985028"/>
            <a:ext cx="57150" cy="57150"/>
          </a:xfrm>
          <a:prstGeom prst="ellipse">
            <a:avLst/>
          </a:prstGeom>
          <a:solidFill>
            <a:srgbClr val="EAE7E0"/>
          </a:solidFill>
          <a:ln/>
        </p:spPr>
      </p:sp>
      <p:sp>
        <p:nvSpPr>
          <p:cNvPr id="119" name="Shape 117"/>
          <p:cNvSpPr/>
          <p:nvPr/>
        </p:nvSpPr>
        <p:spPr>
          <a:xfrm>
            <a:off x="9534525" y="4012108"/>
            <a:ext cx="57150" cy="57150"/>
          </a:xfrm>
          <a:prstGeom prst="ellipse">
            <a:avLst/>
          </a:prstGeom>
          <a:solidFill>
            <a:srgbClr val="EAE7E0"/>
          </a:solidFill>
          <a:ln/>
        </p:spPr>
      </p:sp>
      <p:sp>
        <p:nvSpPr>
          <p:cNvPr id="120" name="Shape 118"/>
          <p:cNvSpPr/>
          <p:nvPr/>
        </p:nvSpPr>
        <p:spPr>
          <a:xfrm>
            <a:off x="9553575" y="3946529"/>
            <a:ext cx="57150" cy="57150"/>
          </a:xfrm>
          <a:prstGeom prst="ellipse">
            <a:avLst/>
          </a:prstGeom>
          <a:solidFill>
            <a:srgbClr val="EAE7E0"/>
          </a:solidFill>
          <a:ln/>
        </p:spPr>
      </p:sp>
      <p:sp>
        <p:nvSpPr>
          <p:cNvPr id="121" name="Shape 119"/>
          <p:cNvSpPr/>
          <p:nvPr/>
        </p:nvSpPr>
        <p:spPr>
          <a:xfrm>
            <a:off x="9553575" y="3956679"/>
            <a:ext cx="57150" cy="57150"/>
          </a:xfrm>
          <a:prstGeom prst="ellipse">
            <a:avLst/>
          </a:prstGeom>
          <a:solidFill>
            <a:srgbClr val="EAE7E0"/>
          </a:solidFill>
          <a:ln/>
        </p:spPr>
      </p:sp>
      <p:sp>
        <p:nvSpPr>
          <p:cNvPr id="122" name="Shape 120"/>
          <p:cNvSpPr/>
          <p:nvPr/>
        </p:nvSpPr>
        <p:spPr>
          <a:xfrm>
            <a:off x="9553575" y="3997898"/>
            <a:ext cx="57150" cy="57150"/>
          </a:xfrm>
          <a:prstGeom prst="ellipse">
            <a:avLst/>
          </a:prstGeom>
          <a:solidFill>
            <a:srgbClr val="EAE7E0"/>
          </a:solidFill>
          <a:ln/>
        </p:spPr>
      </p:sp>
      <p:sp>
        <p:nvSpPr>
          <p:cNvPr id="123" name="Shape 121"/>
          <p:cNvSpPr/>
          <p:nvPr/>
        </p:nvSpPr>
        <p:spPr>
          <a:xfrm>
            <a:off x="9705975" y="4081056"/>
            <a:ext cx="57150" cy="57150"/>
          </a:xfrm>
          <a:prstGeom prst="ellipse">
            <a:avLst/>
          </a:prstGeom>
          <a:solidFill>
            <a:srgbClr val="EAE7E0"/>
          </a:solidFill>
          <a:ln/>
        </p:spPr>
      </p:sp>
      <p:sp>
        <p:nvSpPr>
          <p:cNvPr id="124" name="Shape 122"/>
          <p:cNvSpPr/>
          <p:nvPr/>
        </p:nvSpPr>
        <p:spPr>
          <a:xfrm>
            <a:off x="9744075" y="4123418"/>
            <a:ext cx="57150" cy="57150"/>
          </a:xfrm>
          <a:prstGeom prst="ellipse">
            <a:avLst/>
          </a:prstGeom>
          <a:solidFill>
            <a:srgbClr val="EAE7E0"/>
          </a:solidFill>
          <a:ln/>
        </p:spPr>
      </p:sp>
      <p:sp>
        <p:nvSpPr>
          <p:cNvPr id="125" name="Shape 123"/>
          <p:cNvSpPr/>
          <p:nvPr/>
        </p:nvSpPr>
        <p:spPr>
          <a:xfrm>
            <a:off x="9896475" y="4080196"/>
            <a:ext cx="57150" cy="57150"/>
          </a:xfrm>
          <a:prstGeom prst="ellipse">
            <a:avLst/>
          </a:prstGeom>
          <a:solidFill>
            <a:srgbClr val="EAE7E0"/>
          </a:solidFill>
          <a:ln/>
        </p:spPr>
      </p:sp>
      <p:sp>
        <p:nvSpPr>
          <p:cNvPr id="126" name="Shape 124"/>
          <p:cNvSpPr/>
          <p:nvPr/>
        </p:nvSpPr>
        <p:spPr>
          <a:xfrm>
            <a:off x="10182225" y="4180694"/>
            <a:ext cx="57150" cy="57150"/>
          </a:xfrm>
          <a:prstGeom prst="ellipse">
            <a:avLst/>
          </a:prstGeom>
          <a:solidFill>
            <a:srgbClr val="EAE7E0"/>
          </a:solidFill>
          <a:ln/>
        </p:spPr>
      </p:sp>
      <p:sp>
        <p:nvSpPr>
          <p:cNvPr id="127" name="Shape 125"/>
          <p:cNvSpPr/>
          <p:nvPr/>
        </p:nvSpPr>
        <p:spPr>
          <a:xfrm>
            <a:off x="10525125" y="4312022"/>
            <a:ext cx="57150" cy="57150"/>
          </a:xfrm>
          <a:prstGeom prst="ellipse">
            <a:avLst/>
          </a:prstGeom>
          <a:solidFill>
            <a:srgbClr val="EAE7E0"/>
          </a:solidFill>
          <a:ln/>
        </p:spPr>
      </p:sp>
      <p:sp>
        <p:nvSpPr>
          <p:cNvPr id="128" name="Shape 126"/>
          <p:cNvSpPr/>
          <p:nvPr/>
        </p:nvSpPr>
        <p:spPr>
          <a:xfrm>
            <a:off x="6667500" y="2714625"/>
            <a:ext cx="228600" cy="0"/>
          </a:xfrm>
          <a:prstGeom prst="line">
            <a:avLst/>
          </a:prstGeom>
          <a:noFill/>
          <a:ln w="17780">
            <a:solidFill>
              <a:srgbClr val="A8BCD1"/>
            </a:solidFill>
            <a:prstDash val="dash"/>
          </a:ln>
        </p:spPr>
      </p:sp>
      <p:sp>
        <p:nvSpPr>
          <p:cNvPr id="129" name="Text 127"/>
          <p:cNvSpPr txBox="1"/>
          <p:nvPr/>
        </p:nvSpPr>
        <p:spPr>
          <a:xfrm>
            <a:off x="6972300" y="2647950"/>
            <a:ext cx="1905000" cy="148590"/>
          </a:xfrm>
          <a:prstGeom prst="rect">
            <a:avLst/>
          </a:prstGeom>
          <a:noFill/>
          <a:ln/>
        </p:spPr>
        <p:txBody>
          <a:bodyPr wrap="square" lIns="0" tIns="0" rIns="0" bIns="0" rtlCol="0" anchor="t"/>
          <a:lstStyle/>
          <a:p>
            <a:pPr algn="l" indent="0" marL="0">
              <a:lnSpc>
                <a:spcPts val="1170"/>
              </a:lnSpc>
              <a:buNone/>
            </a:pPr>
            <a:r>
              <a:rPr lang="en-US" sz="900" dirty="0">
                <a:solidFill>
                  <a:srgbClr val="A8BCD1"/>
                </a:solidFill>
                <a:latin typeface="Malgun Gothic" pitchFamily="34" charset="0"/>
                <a:ea typeface="Malgun Gothic" pitchFamily="34" charset="-122"/>
                <a:cs typeface="Malgun Gothic" pitchFamily="34" charset="-120"/>
              </a:rPr>
              <a:t>이론값 (보정 없음)</a:t>
            </a:r>
            <a:endParaRPr lang="en-US" sz="900" dirty="0"/>
          </a:p>
        </p:txBody>
      </p:sp>
      <p:sp>
        <p:nvSpPr>
          <p:cNvPr id="130" name="Shape 128"/>
          <p:cNvSpPr/>
          <p:nvPr/>
        </p:nvSpPr>
        <p:spPr>
          <a:xfrm>
            <a:off x="8858250" y="2714625"/>
            <a:ext cx="228600" cy="0"/>
          </a:xfrm>
          <a:prstGeom prst="line">
            <a:avLst/>
          </a:prstGeom>
          <a:noFill/>
          <a:ln w="22860">
            <a:solidFill>
              <a:srgbClr val="EFB13C"/>
            </a:solidFill>
            <a:prstDash val="solid"/>
          </a:ln>
        </p:spPr>
      </p:sp>
      <p:sp>
        <p:nvSpPr>
          <p:cNvPr id="131" name="Text 129"/>
          <p:cNvSpPr txBox="1"/>
          <p:nvPr/>
        </p:nvSpPr>
        <p:spPr>
          <a:xfrm>
            <a:off x="9163050" y="2647950"/>
            <a:ext cx="1905000" cy="148590"/>
          </a:xfrm>
          <a:prstGeom prst="rect">
            <a:avLst/>
          </a:prstGeom>
          <a:noFill/>
          <a:ln/>
        </p:spPr>
        <p:txBody>
          <a:bodyPr wrap="square" lIns="0" tIns="0" rIns="0" bIns="0" rtlCol="0" anchor="t"/>
          <a:lstStyle/>
          <a:p>
            <a:pPr algn="l" indent="0" marL="0">
              <a:lnSpc>
                <a:spcPts val="1170"/>
              </a:lnSpc>
              <a:buNone/>
            </a:pPr>
            <a:r>
              <a:rPr lang="en-US" sz="900" dirty="0">
                <a:solidFill>
                  <a:srgbClr val="EFB13C"/>
                </a:solidFill>
                <a:latin typeface="Malgun Gothic" pitchFamily="34" charset="0"/>
                <a:ea typeface="Malgun Gothic" pitchFamily="34" charset="-122"/>
                <a:cs typeface="Malgun Gothic" pitchFamily="34" charset="-120"/>
              </a:rPr>
              <a:t>모델이 만든 곡선</a:t>
            </a:r>
            <a:endParaRPr lang="en-US" sz="900" dirty="0"/>
          </a:p>
        </p:txBody>
      </p:sp>
      <p:sp>
        <p:nvSpPr>
          <p:cNvPr id="132" name="Shape 130"/>
          <p:cNvSpPr/>
          <p:nvPr/>
        </p:nvSpPr>
        <p:spPr>
          <a:xfrm>
            <a:off x="6692265" y="2872740"/>
            <a:ext cx="64770" cy="64770"/>
          </a:xfrm>
          <a:prstGeom prst="ellipse">
            <a:avLst/>
          </a:prstGeom>
          <a:solidFill>
            <a:srgbClr val="EAE7E0"/>
          </a:solidFill>
          <a:ln/>
        </p:spPr>
      </p:sp>
      <p:sp>
        <p:nvSpPr>
          <p:cNvPr id="133" name="Text 131"/>
          <p:cNvSpPr txBox="1"/>
          <p:nvPr/>
        </p:nvSpPr>
        <p:spPr>
          <a:xfrm>
            <a:off x="6858000" y="2838450"/>
            <a:ext cx="1905000" cy="148590"/>
          </a:xfrm>
          <a:prstGeom prst="rect">
            <a:avLst/>
          </a:prstGeom>
          <a:noFill/>
          <a:ln/>
        </p:spPr>
        <p:txBody>
          <a:bodyPr wrap="square" lIns="0" tIns="0" rIns="0" bIns="0" rtlCol="0" anchor="t"/>
          <a:lstStyle/>
          <a:p>
            <a:pPr algn="l" indent="0" marL="0">
              <a:lnSpc>
                <a:spcPts val="1170"/>
              </a:lnSpc>
              <a:buNone/>
            </a:pPr>
            <a:r>
              <a:rPr lang="en-US" sz="900" dirty="0">
                <a:solidFill>
                  <a:srgbClr val="EAE7E0"/>
                </a:solidFill>
                <a:latin typeface="Malgun Gothic" pitchFamily="34" charset="0"/>
                <a:ea typeface="Malgun Gothic" pitchFamily="34" charset="-122"/>
                <a:cs typeface="Malgun Gothic" pitchFamily="34" charset="-120"/>
              </a:rPr>
              <a:t>실제 테스트 40회</a:t>
            </a:r>
            <a:endParaRPr lang="en-US" sz="900" dirty="0"/>
          </a:p>
        </p:txBody>
      </p:sp>
      <p:sp>
        <p:nvSpPr>
          <p:cNvPr id="134" name="Text 132"/>
          <p:cNvSpPr txBox="1"/>
          <p:nvPr/>
        </p:nvSpPr>
        <p:spPr>
          <a:xfrm>
            <a:off x="685800" y="5410200"/>
            <a:ext cx="10820400" cy="200025"/>
          </a:xfrm>
          <a:prstGeom prst="rect">
            <a:avLst/>
          </a:prstGeom>
          <a:noFill/>
          <a:ln/>
        </p:spPr>
        <p:txBody>
          <a:bodyPr wrap="square" lIns="0" tIns="0" rIns="0" bIns="0" rtlCol="0" anchor="t"/>
          <a:lstStyle/>
          <a:p>
            <a:pPr algn="ctr" indent="0" marL="0">
              <a:lnSpc>
                <a:spcPts val="1575"/>
              </a:lnSpc>
              <a:buNone/>
            </a:pPr>
            <a:r>
              <a:rPr lang="en-US" sz="1125" dirty="0">
                <a:solidFill>
                  <a:srgbClr val="A9A79F"/>
                </a:solidFill>
                <a:latin typeface="Malgun Gothic" pitchFamily="34" charset="0"/>
                <a:ea typeface="Malgun Gothic" pitchFamily="34" charset="-122"/>
                <a:cs typeface="Malgun Gothic" pitchFamily="34" charset="-120"/>
              </a:rPr>
              <a:t>사람이 정하던 값이 아니라, 데이터가 만들어 내는 값입니다.</a:t>
            </a:r>
            <a:endParaRPr lang="en-US" sz="1125" dirty="0"/>
          </a:p>
        </p:txBody>
      </p:sp>
      <p:sp>
        <p:nvSpPr>
          <p:cNvPr id="135" name="Shape 133"/>
          <p:cNvSpPr/>
          <p:nvPr/>
        </p:nvSpPr>
        <p:spPr>
          <a:xfrm>
            <a:off x="685800" y="6038850"/>
            <a:ext cx="10820400" cy="0"/>
          </a:xfrm>
          <a:prstGeom prst="line">
            <a:avLst/>
          </a:prstGeom>
          <a:noFill/>
          <a:ln w="12700">
            <a:solidFill>
              <a:srgbClr val="22354A"/>
            </a:solidFill>
            <a:prstDash val="solid"/>
          </a:ln>
        </p:spPr>
      </p:sp>
      <p:sp>
        <p:nvSpPr>
          <p:cNvPr id="136" name="Text 134"/>
          <p:cNvSpPr txBox="1"/>
          <p:nvPr/>
        </p:nvSpPr>
        <p:spPr>
          <a:xfrm>
            <a:off x="685800" y="6229350"/>
            <a:ext cx="5715000" cy="160020"/>
          </a:xfrm>
          <a:prstGeom prst="rect">
            <a:avLst/>
          </a:prstGeom>
          <a:noFill/>
          <a:ln/>
        </p:spPr>
        <p:txBody>
          <a:bodyPr wrap="square" lIns="0" tIns="0" rIns="0" bIns="0" rtlCol="0" anchor="t"/>
          <a:lstStyle/>
          <a:p>
            <a:pPr algn="l" indent="0" marL="0">
              <a:lnSpc>
                <a:spcPts val="1260"/>
              </a:lnSpc>
              <a:buNone/>
            </a:pPr>
            <a:r>
              <a:rPr lang="en-US" sz="900" spc="160" kern="0" dirty="0">
                <a:solidFill>
                  <a:srgbClr val="A9A79F"/>
                </a:solidFill>
                <a:latin typeface="Consolas" pitchFamily="34" charset="0"/>
                <a:ea typeface="Consolas" pitchFamily="34" charset="-122"/>
                <a:cs typeface="Consolas" pitchFamily="34" charset="-120"/>
              </a:rPr>
              <a:t>정비기술팀  ·  주현M · 정상우M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나래에너지서비스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공급가능용량 산정 Tool — 최종 발표</dc:title>
  <dc:subject>위례열병합발전소 공급가능용량 산정 체계 개선</dc:subject>
  <dc:creator>주현M, 정상우M</dc:creator>
  <cp:lastModifiedBy>주현M, 정상우M</cp:lastModifiedBy>
  <cp:revision>1</cp:revision>
  <dcterms:created xsi:type="dcterms:W3CDTF">2026-09-18T07:09:11Z</dcterms:created>
  <dcterms:modified xsi:type="dcterms:W3CDTF">2026-09-18T07:09:11Z</dcterms:modified>
</cp:coreProperties>
</file>