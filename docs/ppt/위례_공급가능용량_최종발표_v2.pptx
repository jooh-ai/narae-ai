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52700"/>
            <a:ext cx="5619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로,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76550"/>
            <a:ext cx="5619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정한 값을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으로.</a:t>
            </a:r>
            <a:endParaRPr lang="en-US" sz="157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28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MW ·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38300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28900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24200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38300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002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5908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0861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24910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38220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 MW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02689"/>
            <a:ext cx="1352550" cy="28603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1988725"/>
            <a:ext cx="1352550" cy="21545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04180"/>
            <a:ext cx="1352550" cy="70827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64589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50625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6608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874359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07464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10306050" y="2960084"/>
            <a:ext cx="6286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−2.3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515100" y="3733800"/>
            <a:ext cx="47625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겨울엔 5.0 MW 모자라고, 여름엔 4.7 MW 넘칩니다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5720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47815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(MAE · 평균 몇 MW 틀렸나)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405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000500" y="47815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(실제 &lt; 신고값)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40005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4050" dirty="0"/>
          </a:p>
        </p:txBody>
      </p:sp>
      <p:sp>
        <p:nvSpPr>
          <p:cNvPr id="43" name="Text 41"/>
          <p:cNvSpPr txBox="1"/>
          <p:nvPr/>
        </p:nvSpPr>
        <p:spPr>
          <a:xfrm>
            <a:off x="40005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회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7315200" y="47815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(높게 신고한 양)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73152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4050" dirty="0"/>
          </a:p>
        </p:txBody>
      </p:sp>
      <p:sp>
        <p:nvSpPr>
          <p:cNvPr id="46" name="Text 44"/>
          <p:cNvSpPr txBox="1"/>
          <p:nvPr/>
        </p:nvSpPr>
        <p:spPr>
          <a:xfrm>
            <a:off x="73152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771900" y="478155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086600" y="478155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621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1409700" y="23431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10172700" y="24003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27241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84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1409700" y="28575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10172700" y="29146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2385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3528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1409700" y="33718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0172700" y="34290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8671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50" dirty="0"/>
          </a:p>
        </p:txBody>
      </p:sp>
      <p:sp>
        <p:nvSpPr>
          <p:cNvPr id="19" name="Text 17"/>
          <p:cNvSpPr txBox="1"/>
          <p:nvPr/>
        </p:nvSpPr>
        <p:spPr>
          <a:xfrm>
            <a:off x="1409700" y="38862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0172700" y="39433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800" y="42672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3815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409700" y="44005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0172700" y="44577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7815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8958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50" dirty="0"/>
          </a:p>
        </p:txBody>
      </p:sp>
      <p:sp>
        <p:nvSpPr>
          <p:cNvPr id="27" name="Text 25"/>
          <p:cNvSpPr txBox="1"/>
          <p:nvPr/>
        </p:nvSpPr>
        <p:spPr>
          <a:xfrm>
            <a:off x="1409700" y="49149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49720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52959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54102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50" dirty="0"/>
          </a:p>
        </p:txBody>
      </p:sp>
      <p:sp>
        <p:nvSpPr>
          <p:cNvPr id="31" name="Text 29"/>
          <p:cNvSpPr txBox="1"/>
          <p:nvPr/>
        </p:nvSpPr>
        <p:spPr>
          <a:xfrm>
            <a:off x="1409700" y="54292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0172700" y="54864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발표 10분 + Tool 시연 4분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도구 하나로,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정한 값을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 입력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끝나고, 신고 숫자는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정합니다.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MAE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67050"/>
            <a:ext cx="140208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2145030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792730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3.80</a:t>
            </a:r>
            <a:endParaRPr lang="en-US" sz="1575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신고할 값을 미리 계산했을 때 실제와 벌어진 폭의 평균입니다. 작을수록 좋습니다.</a:t>
            </a:r>
            <a:endParaRPr lang="en-US" sz="938" dirty="0"/>
          </a:p>
        </p:txBody>
      </p:sp>
      <p:sp>
        <p:nvSpPr>
          <p:cNvPr id="12" name="Shape 10"/>
          <p:cNvSpPr/>
          <p:nvPr/>
        </p:nvSpPr>
        <p:spPr>
          <a:xfrm>
            <a:off x="4448175" y="270510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48175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4" name="Text 12"/>
          <p:cNvSpPr txBox="1"/>
          <p:nvPr/>
        </p:nvSpPr>
        <p:spPr>
          <a:xfrm>
            <a:off x="4448175" y="3067050"/>
            <a:ext cx="36480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500" dirty="0"/>
          </a:p>
        </p:txBody>
      </p:sp>
      <p:sp>
        <p:nvSpPr>
          <p:cNvPr id="15" name="Text 13"/>
          <p:cNvSpPr txBox="1"/>
          <p:nvPr/>
        </p:nvSpPr>
        <p:spPr>
          <a:xfrm>
            <a:off x="487013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51783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4448175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출력이 신고값에 못 미친 횟수입니다. 40회 중 몇 번이었나.</a:t>
            </a:r>
            <a:endParaRPr lang="en-US" sz="938" dirty="0"/>
          </a:p>
        </p:txBody>
      </p:sp>
      <p:sp>
        <p:nvSpPr>
          <p:cNvPr id="18" name="Shape 16"/>
          <p:cNvSpPr/>
          <p:nvPr/>
        </p:nvSpPr>
        <p:spPr>
          <a:xfrm>
            <a:off x="821055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1055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067050"/>
            <a:ext cx="105632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4500" dirty="0"/>
          </a:p>
        </p:txBody>
      </p:sp>
      <p:sp>
        <p:nvSpPr>
          <p:cNvPr id="21" name="Text 19"/>
          <p:cNvSpPr txBox="1"/>
          <p:nvPr/>
        </p:nvSpPr>
        <p:spPr>
          <a:xfrm>
            <a:off x="932402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97172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821055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동안 실제보다 높게 신고한 양을 모두 더한 값입니다.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685800" y="4381500"/>
            <a:ext cx="10820400" cy="14859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43815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6000" y="43815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6096000" y="4648200"/>
            <a:ext cx="0" cy="952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67400" y="4933950"/>
            <a:ext cx="457200" cy="3810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867400" y="4972050"/>
            <a:ext cx="457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엑셀 4개  ·  사람의 판단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무관한 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손으로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순서대로 돌려 만들었습니다.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도구 1개  ·  데이터의 학습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3246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63246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날짜·시각만 넣으면 바로 나옵니다.</a:t>
            </a:r>
            <a:endParaRPr lang="en-US" sz="1125" dirty="0"/>
          </a:p>
        </p:txBody>
      </p:sp>
      <p:sp>
        <p:nvSpPr>
          <p:cNvPr id="36" name="Shape 3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한 번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으로, 숫자는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실적이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바꿨습니다.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왜 하는가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손이 많이 갔고,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과제는 두 가지를 고쳤습니다 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524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일 처리  ·  온도 프로파일(온도별 신고값 표) 만드는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48000"/>
            <a:ext cx="1866900" cy="4953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8700" y="3124200"/>
            <a:ext cx="16383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모으기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3314700"/>
            <a:ext cx="16383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사이트 크롤링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2800350" y="3209925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3028950" y="3048000"/>
            <a:ext cx="1866900" cy="4953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43250" y="3124200"/>
            <a:ext cx="16383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결과 계산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143250" y="3314700"/>
            <a:ext cx="16383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넣고 RiMS 조회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4914900" y="3209925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5143500" y="3048000"/>
            <a:ext cx="1866900" cy="4953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57800" y="3124200"/>
            <a:ext cx="16383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출력 계산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257800" y="3314700"/>
            <a:ext cx="16383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−20~40℃ 61개 값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7029450" y="3209925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7258050" y="3048000"/>
            <a:ext cx="1866900" cy="4953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72350" y="3124200"/>
            <a:ext cx="16383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완성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372350" y="3314700"/>
            <a:ext cx="16383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 값 복사·붙여넣기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9372600" y="3143250"/>
            <a:ext cx="1905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9372600" y="3333750"/>
            <a:ext cx="1905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순서를 지켜 하나씩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914400" y="3676650"/>
            <a:ext cx="8210550" cy="400050"/>
          </a:xfrm>
          <a:prstGeom prst="rect">
            <a:avLst/>
          </a:prstGeom>
          <a:solidFill>
            <a:srgbClr val="0F1A28"/>
          </a:solidFill>
          <a:ln w="17780">
            <a:solidFill>
              <a:srgbClr val="EFB13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6800" y="3781425"/>
            <a:ext cx="790575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날짜·시각만 입력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실행 → 온도 프로파일이 바로 나옵니다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372600" y="3714750"/>
            <a:ext cx="1905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9372600" y="3905250"/>
            <a:ext cx="1905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 적는 값 0개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85800" y="4438650"/>
            <a:ext cx="10820400" cy="1504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14400" y="45720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신고하는 숫자  ·  다음 주에 낼 수 있는 최대 출력을 매주 신고한다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5143500" y="4781550"/>
            <a:ext cx="1905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발전 능력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96000" y="4991100"/>
            <a:ext cx="0" cy="285750"/>
          </a:xfrm>
          <a:prstGeom prst="line">
            <a:avLst/>
          </a:prstGeom>
          <a:noFill/>
          <a:ln w="25400">
            <a:solidFill>
              <a:srgbClr val="EAE7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05000" y="5295900"/>
            <a:ext cx="3810000" cy="0"/>
          </a:xfrm>
          <a:prstGeom prst="line">
            <a:avLst/>
          </a:prstGeom>
          <a:noFill/>
          <a:ln w="30480">
            <a:solidFill>
              <a:srgbClr val="A8BCD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7000" y="5295900"/>
            <a:ext cx="3810000" cy="0"/>
          </a:xfrm>
          <a:prstGeom prst="line">
            <a:avLst/>
          </a:prstGeom>
          <a:noFill/>
          <a:ln w="30480">
            <a:solidFill>
              <a:srgbClr val="FF4D6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771650" y="5210175"/>
            <a:ext cx="19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◀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0229850" y="5210175"/>
            <a:ext cx="19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905000" y="4933950"/>
            <a:ext cx="285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신고하면</a:t>
            </a:r>
            <a:endParaRPr lang="en-US" sz="1575" dirty="0"/>
          </a:p>
        </p:txBody>
      </p:sp>
      <p:sp>
        <p:nvSpPr>
          <p:cNvPr id="45" name="Text 43"/>
          <p:cNvSpPr txBox="1"/>
          <p:nvPr/>
        </p:nvSpPr>
        <p:spPr>
          <a:xfrm>
            <a:off x="7429500" y="4933950"/>
            <a:ext cx="285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신고하면</a:t>
            </a:r>
            <a:endParaRPr lang="en-US" sz="1575" dirty="0"/>
          </a:p>
        </p:txBody>
      </p:sp>
      <p:sp>
        <p:nvSpPr>
          <p:cNvPr id="46" name="Text 44"/>
          <p:cNvSpPr txBox="1"/>
          <p:nvPr/>
        </p:nvSpPr>
        <p:spPr>
          <a:xfrm>
            <a:off x="1905000" y="5429250"/>
            <a:ext cx="4000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못 팝니다   ·   종전 누계 75.5 MW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6286500" y="5429250"/>
            <a:ext cx="4000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못 미쳐 벌점입니다   ·   종전 40회 중 15회</a:t>
            </a:r>
            <a:endParaRPr lang="en-US" sz="1125" dirty="0"/>
          </a:p>
        </p:txBody>
      </p:sp>
      <p:sp>
        <p:nvSpPr>
          <p:cNvPr id="48" name="Shape 4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간단하게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정확하게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 두 가지가 목적이었습니다.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MW 더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여름엔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MW 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실제의 차이를 온도 축에 찍으면, 흩어진 게 아니라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 줄줄이 내려갑니다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495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38450"/>
            <a:ext cx="7239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점 하나가 테스트 1회  ·  누적 40회  ·  가로 외기온도 ℃ / 세로 = 실제 − 이론값 (MW)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238250" y="33147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8250" y="36576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8250" y="40005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38250" y="46863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38250" y="4343400"/>
            <a:ext cx="10001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8250" y="3143250"/>
            <a:ext cx="0" cy="1714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32480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76300" y="35909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39338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4276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76300" y="46196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7259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973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1643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57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6027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41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411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125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238250" y="4132945"/>
            <a:ext cx="10001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8572500" y="3904345"/>
            <a:ext cx="2667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 MW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1205484" y="3176540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5212" y="3217088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2132076" y="3533327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636901" y="3813648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3148965" y="383756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3392805" y="387674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3636645" y="39130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3856101" y="37685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4002405" y="398989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4416933" y="386242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4782693" y="388900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4855845" y="370983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4928997" y="374798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5197221" y="367323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5221605" y="378810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5367909" y="382436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5733669" y="384339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5758053" y="381450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6879717" y="407888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7806309" y="44841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7855077" y="458491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7879461" y="43530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7952613" y="436340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8367141" y="45324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8666988" y="4702445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9049893" y="444098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9049893" y="43444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9171813" y="459906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9220581" y="459451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9415653" y="437823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9586341" y="435654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9659493" y="452122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9683877" y="41224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9683877" y="41841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9683877" y="443481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9878949" y="42452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9927717" y="450287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10122789" y="424004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10488549" y="41233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10927461" y="418132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809750" y="3276600"/>
            <a:ext cx="2476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실제가 더 나오고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8382000" y="4476750"/>
            <a:ext cx="2857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실제가 덜 나옵니다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685800" y="5372100"/>
            <a:ext cx="10820400" cy="533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14400" y="5486400"/>
            <a:ext cx="4191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담당자가 손으로 정한 값 16회  ·  전부 정수 하나</a:t>
            </a:r>
            <a:endParaRPr lang="en-US" sz="788" dirty="0"/>
          </a:p>
        </p:txBody>
      </p:sp>
      <p:sp>
        <p:nvSpPr>
          <p:cNvPr id="80" name="Text 78"/>
          <p:cNvSpPr txBox="1"/>
          <p:nvPr/>
        </p:nvSpPr>
        <p:spPr>
          <a:xfrm>
            <a:off x="5334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81" name="Text 79"/>
          <p:cNvSpPr txBox="1"/>
          <p:nvPr/>
        </p:nvSpPr>
        <p:spPr>
          <a:xfrm>
            <a:off x="5334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13" dirty="0"/>
          </a:p>
        </p:txBody>
      </p:sp>
      <p:sp>
        <p:nvSpPr>
          <p:cNvPr id="82" name="Text 80"/>
          <p:cNvSpPr txBox="1"/>
          <p:nvPr/>
        </p:nvSpPr>
        <p:spPr>
          <a:xfrm>
            <a:off x="5715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3" name="Text 81"/>
          <p:cNvSpPr txBox="1"/>
          <p:nvPr/>
        </p:nvSpPr>
        <p:spPr>
          <a:xfrm>
            <a:off x="5715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13" dirty="0"/>
          </a:p>
        </p:txBody>
      </p:sp>
      <p:sp>
        <p:nvSpPr>
          <p:cNvPr id="84" name="Text 82"/>
          <p:cNvSpPr txBox="1"/>
          <p:nvPr/>
        </p:nvSpPr>
        <p:spPr>
          <a:xfrm>
            <a:off x="6096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5" name="Text 83"/>
          <p:cNvSpPr txBox="1"/>
          <p:nvPr/>
        </p:nvSpPr>
        <p:spPr>
          <a:xfrm>
            <a:off x="6096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13" dirty="0"/>
          </a:p>
        </p:txBody>
      </p:sp>
      <p:sp>
        <p:nvSpPr>
          <p:cNvPr id="86" name="Text 84"/>
          <p:cNvSpPr txBox="1"/>
          <p:nvPr/>
        </p:nvSpPr>
        <p:spPr>
          <a:xfrm>
            <a:off x="6477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7" name="Text 85"/>
          <p:cNvSpPr txBox="1"/>
          <p:nvPr/>
        </p:nvSpPr>
        <p:spPr>
          <a:xfrm>
            <a:off x="6477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13" dirty="0"/>
          </a:p>
        </p:txBody>
      </p:sp>
      <p:sp>
        <p:nvSpPr>
          <p:cNvPr id="88" name="Text 86"/>
          <p:cNvSpPr txBox="1"/>
          <p:nvPr/>
        </p:nvSpPr>
        <p:spPr>
          <a:xfrm>
            <a:off x="6858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9" name="Text 87"/>
          <p:cNvSpPr txBox="1"/>
          <p:nvPr/>
        </p:nvSpPr>
        <p:spPr>
          <a:xfrm>
            <a:off x="6858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13" dirty="0"/>
          </a:p>
        </p:txBody>
      </p:sp>
      <p:sp>
        <p:nvSpPr>
          <p:cNvPr id="90" name="Text 88"/>
          <p:cNvSpPr txBox="1"/>
          <p:nvPr/>
        </p:nvSpPr>
        <p:spPr>
          <a:xfrm>
            <a:off x="7239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1" name="Text 89"/>
          <p:cNvSpPr txBox="1"/>
          <p:nvPr/>
        </p:nvSpPr>
        <p:spPr>
          <a:xfrm>
            <a:off x="7239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13" dirty="0"/>
          </a:p>
        </p:txBody>
      </p:sp>
      <p:sp>
        <p:nvSpPr>
          <p:cNvPr id="92" name="Text 90"/>
          <p:cNvSpPr txBox="1"/>
          <p:nvPr/>
        </p:nvSpPr>
        <p:spPr>
          <a:xfrm>
            <a:off x="7620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93" name="Text 91"/>
          <p:cNvSpPr txBox="1"/>
          <p:nvPr/>
        </p:nvSpPr>
        <p:spPr>
          <a:xfrm>
            <a:off x="7620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13" dirty="0"/>
          </a:p>
        </p:txBody>
      </p:sp>
      <p:sp>
        <p:nvSpPr>
          <p:cNvPr id="94" name="Text 92"/>
          <p:cNvSpPr txBox="1"/>
          <p:nvPr/>
        </p:nvSpPr>
        <p:spPr>
          <a:xfrm>
            <a:off x="8001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95" name="Text 93"/>
          <p:cNvSpPr txBox="1"/>
          <p:nvPr/>
        </p:nvSpPr>
        <p:spPr>
          <a:xfrm>
            <a:off x="8001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13" dirty="0"/>
          </a:p>
        </p:txBody>
      </p:sp>
      <p:sp>
        <p:nvSpPr>
          <p:cNvPr id="96" name="Text 94"/>
          <p:cNvSpPr txBox="1"/>
          <p:nvPr/>
        </p:nvSpPr>
        <p:spPr>
          <a:xfrm>
            <a:off x="8382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97" name="Text 95"/>
          <p:cNvSpPr txBox="1"/>
          <p:nvPr/>
        </p:nvSpPr>
        <p:spPr>
          <a:xfrm>
            <a:off x="8382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13" dirty="0"/>
          </a:p>
        </p:txBody>
      </p:sp>
      <p:sp>
        <p:nvSpPr>
          <p:cNvPr id="98" name="Text 96"/>
          <p:cNvSpPr txBox="1"/>
          <p:nvPr/>
        </p:nvSpPr>
        <p:spPr>
          <a:xfrm>
            <a:off x="8763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99" name="Text 97"/>
          <p:cNvSpPr txBox="1"/>
          <p:nvPr/>
        </p:nvSpPr>
        <p:spPr>
          <a:xfrm>
            <a:off x="8763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13" dirty="0"/>
          </a:p>
        </p:txBody>
      </p:sp>
      <p:sp>
        <p:nvSpPr>
          <p:cNvPr id="100" name="Text 98"/>
          <p:cNvSpPr txBox="1"/>
          <p:nvPr/>
        </p:nvSpPr>
        <p:spPr>
          <a:xfrm>
            <a:off x="9144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1" name="Text 99"/>
          <p:cNvSpPr txBox="1"/>
          <p:nvPr/>
        </p:nvSpPr>
        <p:spPr>
          <a:xfrm>
            <a:off x="9144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13" dirty="0"/>
          </a:p>
        </p:txBody>
      </p:sp>
      <p:sp>
        <p:nvSpPr>
          <p:cNvPr id="102" name="Text 100"/>
          <p:cNvSpPr txBox="1"/>
          <p:nvPr/>
        </p:nvSpPr>
        <p:spPr>
          <a:xfrm>
            <a:off x="9525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3" name="Text 101"/>
          <p:cNvSpPr txBox="1"/>
          <p:nvPr/>
        </p:nvSpPr>
        <p:spPr>
          <a:xfrm>
            <a:off x="9525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13" dirty="0"/>
          </a:p>
        </p:txBody>
      </p:sp>
      <p:sp>
        <p:nvSpPr>
          <p:cNvPr id="104" name="Text 102"/>
          <p:cNvSpPr txBox="1"/>
          <p:nvPr/>
        </p:nvSpPr>
        <p:spPr>
          <a:xfrm>
            <a:off x="9906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5" name="Text 103"/>
          <p:cNvSpPr txBox="1"/>
          <p:nvPr/>
        </p:nvSpPr>
        <p:spPr>
          <a:xfrm>
            <a:off x="9906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13" dirty="0"/>
          </a:p>
        </p:txBody>
      </p:sp>
      <p:sp>
        <p:nvSpPr>
          <p:cNvPr id="106" name="Text 104"/>
          <p:cNvSpPr txBox="1"/>
          <p:nvPr/>
        </p:nvSpPr>
        <p:spPr>
          <a:xfrm>
            <a:off x="10287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7" name="Text 105"/>
          <p:cNvSpPr txBox="1"/>
          <p:nvPr/>
        </p:nvSpPr>
        <p:spPr>
          <a:xfrm>
            <a:off x="10287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13" dirty="0"/>
          </a:p>
        </p:txBody>
      </p:sp>
      <p:sp>
        <p:nvSpPr>
          <p:cNvPr id="108" name="Text 106"/>
          <p:cNvSpPr txBox="1"/>
          <p:nvPr/>
        </p:nvSpPr>
        <p:spPr>
          <a:xfrm>
            <a:off x="10668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109" name="Text 107"/>
          <p:cNvSpPr txBox="1"/>
          <p:nvPr/>
        </p:nvSpPr>
        <p:spPr>
          <a:xfrm>
            <a:off x="10668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13" dirty="0"/>
          </a:p>
        </p:txBody>
      </p:sp>
      <p:sp>
        <p:nvSpPr>
          <p:cNvPr id="110" name="Text 108"/>
          <p:cNvSpPr txBox="1"/>
          <p:nvPr/>
        </p:nvSpPr>
        <p:spPr>
          <a:xfrm>
            <a:off x="11049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111" name="Text 109"/>
          <p:cNvSpPr txBox="1"/>
          <p:nvPr/>
        </p:nvSpPr>
        <p:spPr>
          <a:xfrm>
            <a:off x="11049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13" dirty="0"/>
          </a:p>
        </p:txBody>
      </p:sp>
      <p:sp>
        <p:nvSpPr>
          <p:cNvPr id="112" name="Text 110"/>
          <p:cNvSpPr txBox="1"/>
          <p:nvPr/>
        </p:nvSpPr>
        <p:spPr>
          <a:xfrm>
            <a:off x="914400" y="5676900"/>
            <a:ext cx="4191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+5</a:t>
            </a:r>
            <a:endParaRPr lang="en-US" sz="975" dirty="0"/>
          </a:p>
        </p:txBody>
      </p:sp>
      <p:sp>
        <p:nvSpPr>
          <p:cNvPr id="113" name="Shape 11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15" name="Text 11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 주는 것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원인 규명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원인처럼 보이는 것이 넷이었는데,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걷어내니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남았습니다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후보들이 서로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묶여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있었습니다. 온도의 영향을 뺀 뒤 다시 재는 것이 진짜 질문입니다.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43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00350"/>
            <a:ext cx="5905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보정값과의 관련성  ·  상관계수 r  ·  0 에 가까우면 관계 없음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7239000" y="2781300"/>
            <a:ext cx="4038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±0.31 — 이 선을 넘지 못하면 우연으로 봅니다 (n=40)</a:t>
            </a:r>
            <a:endParaRPr lang="en-US" sz="863" dirty="0"/>
          </a:p>
        </p:txBody>
      </p:sp>
      <p:sp>
        <p:nvSpPr>
          <p:cNvPr id="16" name="Shape 14"/>
          <p:cNvSpPr/>
          <p:nvPr/>
        </p:nvSpPr>
        <p:spPr>
          <a:xfrm>
            <a:off x="914400" y="3048000"/>
            <a:ext cx="171450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43000" y="2990850"/>
            <a:ext cx="1428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그냥 봤을 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24150" y="3048000"/>
            <a:ext cx="171450" cy="7620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952750" y="2990850"/>
            <a:ext cx="2000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5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온도를 직선으로 뺀 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239000" y="2990850"/>
            <a:ext cx="403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온도를 곡선(모델)으로 뺀 뒤  =  오른쪽 숫자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57500" y="3276600"/>
            <a:ext cx="0" cy="13144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9452" y="3276600"/>
            <a:ext cx="0" cy="1314450"/>
          </a:xfrm>
          <a:prstGeom prst="line">
            <a:avLst/>
          </a:prstGeom>
          <a:noFill/>
          <a:ln w="20320">
            <a:solidFill>
              <a:srgbClr val="FF4D63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914400" y="3305175"/>
            <a:ext cx="1809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2857500" y="3295650"/>
            <a:ext cx="512064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54340" y="3286125"/>
            <a:ext cx="666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-0.84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334500" y="3305175"/>
            <a:ext cx="19431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주된 원인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914400" y="354330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36195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857500" y="3581400"/>
            <a:ext cx="5017008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50708" y="35718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−0.82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2857500" y="3714750"/>
            <a:ext cx="88392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817620" y="37052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−0.14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9334500" y="36195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+0.00 → 사라짐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394335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857500" y="3905250"/>
            <a:ext cx="4474464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408164" y="38957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+0.73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2857500" y="4038600"/>
            <a:ext cx="749808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83508" y="40290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+0.12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9334500" y="394335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−0.13 → 사라짐</a:t>
            </a:r>
            <a:endParaRPr lang="en-US" sz="938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42672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857500" y="4229100"/>
            <a:ext cx="4419600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353300" y="42195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−0.72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2857500" y="4362450"/>
            <a:ext cx="2481072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4772" y="43529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−0.41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9334500" y="42672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−0.24 → 사라짐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451485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온도와의 r  진공도 +0.95   ·   대기압 −0.83   ·   대습도 +0.67  — 후보들이 서로 온도에 묶여 있다</a:t>
            </a:r>
            <a:endParaRPr lang="en-US" sz="863" dirty="0"/>
          </a:p>
        </p:txBody>
      </p:sp>
      <p:sp>
        <p:nvSpPr>
          <p:cNvPr id="47" name="Shape 45"/>
          <p:cNvSpPr/>
          <p:nvPr/>
        </p:nvSpPr>
        <p:spPr>
          <a:xfrm>
            <a:off x="685800" y="4781550"/>
            <a:ext cx="10820400" cy="1162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14400" y="4876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무엇을 알았나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9144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144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진공도·대기압은 온도의 그림자였습니다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144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에서 강해 보인 것은 이 둘이 온도를 따라가기 때문입니다. 온도를 빼면 사라집니다.</a:t>
            </a:r>
            <a:endParaRPr lang="en-US" sz="938" dirty="0"/>
          </a:p>
        </p:txBody>
      </p:sp>
      <p:sp>
        <p:nvSpPr>
          <p:cNvPr id="52" name="Shape 50"/>
          <p:cNvSpPr/>
          <p:nvPr/>
        </p:nvSpPr>
        <p:spPr>
          <a:xfrm>
            <a:off x="44196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4196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② 에서 남고 ③ 에서 사라졌습니다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44196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남고,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사라집니다 — 관계가 직선이 아니라는 뜻입니다.</a:t>
            </a:r>
            <a:endParaRPr lang="en-US" sz="938" dirty="0"/>
          </a:p>
        </p:txBody>
      </p:sp>
      <p:sp>
        <p:nvSpPr>
          <p:cNvPr id="55" name="Shape 53"/>
          <p:cNvSpPr/>
          <p:nvPr/>
        </p:nvSpPr>
        <p:spPr>
          <a:xfrm>
            <a:off x="79248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9248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남긴 오차는 설명되지 않습니다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79248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1.29 MW 남은 오차를 넷 중 어느 것도 설명하지 못했습니다.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0" name="Text 5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 — 그런데 그 관계가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직선이 아닙니다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곡선을 학습합니다.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세웠고,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기각했습니다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 기준은 둘입니다 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상관계수 r 이 임계값(±0.31)을 넘지 못하거나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한 회만 빼도 결론이 뒤집히면 채택하지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241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27813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1447800" y="2705100"/>
            <a:ext cx="4095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 설비 상태가 달랐다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5715000" y="2762250"/>
            <a:ext cx="57912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설비가 아니라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IGV(공기 흡입량을 늘리는 조작) 미실시</a:t>
            </a:r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 효과 평균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+0.09 MW</a:t>
            </a:r>
            <a:endParaRPr lang="en-US" sz="1013" dirty="0"/>
          </a:p>
        </p:txBody>
      </p:sp>
      <p:sp>
        <p:nvSpPr>
          <p:cNvPr id="17" name="Shape 15"/>
          <p:cNvSpPr/>
          <p:nvPr/>
        </p:nvSpPr>
        <p:spPr>
          <a:xfrm>
            <a:off x="685800" y="32099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32575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3147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13" dirty="0"/>
          </a:p>
        </p:txBody>
      </p:sp>
      <p:sp>
        <p:nvSpPr>
          <p:cNvPr id="20" name="Text 18"/>
          <p:cNvSpPr txBox="1"/>
          <p:nvPr/>
        </p:nvSpPr>
        <p:spPr>
          <a:xfrm>
            <a:off x="1447800" y="3238500"/>
            <a:ext cx="4095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진공도를 보면 보정값을 맞힐 수 있다</a:t>
            </a:r>
            <a:endParaRPr lang="en-US" sz="1575" dirty="0"/>
          </a:p>
        </p:txBody>
      </p:sp>
      <p:sp>
        <p:nvSpPr>
          <p:cNvPr id="21" name="Text 19"/>
          <p:cNvSpPr txBox="1"/>
          <p:nvPr/>
        </p:nvSpPr>
        <p:spPr>
          <a:xfrm>
            <a:off x="5715000" y="3295650"/>
            <a:ext cx="57912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5회에서 r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−0.85</a:t>
            </a:r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보였지만, 40회 전부에서는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+0.00</a:t>
            </a:r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임계 0.31 미달</a:t>
            </a:r>
            <a:endParaRPr lang="en-US" sz="1013" dirty="0"/>
          </a:p>
        </p:txBody>
      </p:sp>
      <p:sp>
        <p:nvSpPr>
          <p:cNvPr id="22" name="Shape 20"/>
          <p:cNvSpPr/>
          <p:nvPr/>
        </p:nvSpPr>
        <p:spPr>
          <a:xfrm>
            <a:off x="685800" y="37433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37909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8481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13" dirty="0"/>
          </a:p>
        </p:txBody>
      </p:sp>
      <p:sp>
        <p:nvSpPr>
          <p:cNvPr id="25" name="Text 23"/>
          <p:cNvSpPr txBox="1"/>
          <p:nvPr/>
        </p:nvSpPr>
        <p:spPr>
          <a:xfrm>
            <a:off x="1447800" y="3771900"/>
            <a:ext cx="4095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이론값과의 차이는 진공 항 때문이다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5715000" y="3829050"/>
            <a:ext cx="57912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58회를 맞대 보니 차이가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비례</a:t>
            </a:r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진공이 아니라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곡선 자체의 차이</a:t>
            </a:r>
            <a:endParaRPr lang="en-US" sz="1013" dirty="0"/>
          </a:p>
        </p:txBody>
      </p:sp>
      <p:sp>
        <p:nvSpPr>
          <p:cNvPr id="27" name="Shape 25"/>
          <p:cNvSpPr/>
          <p:nvPr/>
        </p:nvSpPr>
        <p:spPr>
          <a:xfrm>
            <a:off x="685800" y="42767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3243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43815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1447800" y="4305300"/>
            <a:ext cx="4095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여름에만 진공도 영향이 보인다</a:t>
            </a:r>
            <a:endParaRPr lang="en-US" sz="1575" dirty="0"/>
          </a:p>
        </p:txBody>
      </p:sp>
      <p:sp>
        <p:nvSpPr>
          <p:cNvPr id="31" name="Text 29"/>
          <p:cNvSpPr txBox="1"/>
          <p:nvPr/>
        </p:nvSpPr>
        <p:spPr>
          <a:xfrm>
            <a:off x="5715000" y="4362450"/>
            <a:ext cx="57912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 9회 r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−0.675</a:t>
            </a:r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(임계 0.666) → 창을 넓힐수록 0 으로 수렴.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9개 중 고른 값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685800" y="48101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857750"/>
            <a:ext cx="609600" cy="26670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49149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447800" y="4838700"/>
            <a:ext cx="4095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 외기온도의 함수다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5715000" y="4895850"/>
            <a:ext cx="57912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33.43 + 1.261 × 온도,  r </a:t>
            </a:r>
            <a:pPr algn="l" indent="0" marL="0">
              <a:lnSpc>
                <a:spcPts val="1701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+0.952</a:t>
            </a:r>
            <a:pPr algn="l" indent="0" marL="0">
              <a:lnSpc>
                <a:spcPts val="170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(설명력 91%) — 위 4건이 강해 보인 이유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5391150"/>
            <a:ext cx="10820400" cy="5524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486400"/>
            <a:ext cx="10363200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변수(진공도)에 </a:t>
            </a:r>
            <a:pPr algn="ctr" indent="0" marL="0">
              <a:lnSpc>
                <a:spcPts val="1631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</a:t>
            </a:r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걸렸습니다 — 전부 </a:t>
            </a:r>
            <a:pPr algn="ctr" indent="0" marL="0">
              <a:lnSpc>
                <a:spcPts val="1631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부분집합을 잘라 만든 상관</a:t>
            </a:r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이었습니다.  그래서 이 판정을 사람이 하지 않고 </a:t>
            </a:r>
            <a:pPr algn="ctr" indent="0" marL="0">
              <a:lnSpc>
                <a:spcPts val="1631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안의 절차로</a:t>
            </a:r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옮겼습니다 (11장 가드).</a:t>
            </a:r>
            <a:endParaRPr lang="en-US" sz="1088" dirty="0"/>
          </a:p>
        </p:txBody>
      </p:sp>
      <p:sp>
        <p:nvSpPr>
          <p:cNvPr id="39" name="Shape 3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 — 그래서 온도별 곡선을 학습하기로 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배웁니다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이론식은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둡니다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배우는 것은 이론값과 실제의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05100"/>
            <a:ext cx="108204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손대지 않는 부분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온도·대기압·습도·복수기 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(보정 없음)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46710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이론식입니다. 데이터가 쌓여도 바뀌지 않습니다.</a:t>
            </a:r>
            <a:endParaRPr lang="en-US" sz="1125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924300"/>
            <a:ext cx="285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76350" y="3971925"/>
            <a:ext cx="3810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실제의 차이만 넘깁니다</a:t>
            </a:r>
            <a:endParaRPr lang="en-US" sz="1013" dirty="0"/>
          </a:p>
        </p:txBody>
      </p:sp>
      <p:sp>
        <p:nvSpPr>
          <p:cNvPr id="20" name="Shape 18"/>
          <p:cNvSpPr/>
          <p:nvPr/>
        </p:nvSpPr>
        <p:spPr>
          <a:xfrm>
            <a:off x="685800" y="42672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267200"/>
            <a:ext cx="108204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4196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데이터가 배우는 부분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6291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배우는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= 실제 − 이론값 − W(IGV)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다시 배웁니다. 실측 범위 밖은 끝값을 유지합니다(외삽 금지).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85800" y="5524500"/>
            <a:ext cx="10820400" cy="419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38800"/>
            <a:ext cx="103632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+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=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</a:t>
            </a:r>
            <a:endParaRPr lang="en-US" sz="1425" dirty="0"/>
          </a:p>
        </p:txBody>
      </p:sp>
      <p:sp>
        <p:nvSpPr>
          <p:cNvPr id="27" name="Shape 2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그대로, 차이만 배웁니다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옮겨집니다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선정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점을 그대로 잇지 않았습니다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7가지를 겨뤄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곡선을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맞혀보는 방식(LOOCV)으로 40번 채점했습니다. 세 지표 모두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1위입니다.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62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6096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LOOCV 채점 결과  ·  종전(온도 구분 없이 하나의 값)은 MAE 3.80 MW 였습니다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7143750" y="2800350"/>
            <a:ext cx="413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MAE·RMSE 는 작을수록,  R² 는 1 에 가까울수록 좋습니다</a:t>
            </a:r>
            <a:endParaRPr lang="en-US" sz="863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285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순위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0670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산출 방식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3238500" y="30670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MAE  (MW)  ·  1.30 ~ 1.48 구간 확대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8153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RMSE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9296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914400" y="321945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2766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1333500" y="32766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3238500" y="3295650"/>
            <a:ext cx="57150" cy="1047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37560" y="32766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938" dirty="0"/>
          </a:p>
        </p:txBody>
      </p:sp>
      <p:sp>
        <p:nvSpPr>
          <p:cNvPr id="26" name="Text 24"/>
          <p:cNvSpPr txBox="1"/>
          <p:nvPr/>
        </p:nvSpPr>
        <p:spPr>
          <a:xfrm>
            <a:off x="8153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1.678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9296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0.854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34480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1333500" y="34480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Rational Quadratic</a:t>
            </a:r>
            <a:endParaRPr lang="en-US" sz="938" dirty="0"/>
          </a:p>
        </p:txBody>
      </p:sp>
      <p:sp>
        <p:nvSpPr>
          <p:cNvPr id="30" name="Shape 28"/>
          <p:cNvSpPr/>
          <p:nvPr/>
        </p:nvSpPr>
        <p:spPr>
          <a:xfrm>
            <a:off x="3238500" y="3467100"/>
            <a:ext cx="1143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429000" y="34480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2" name="Text 30"/>
          <p:cNvSpPr txBox="1"/>
          <p:nvPr/>
        </p:nvSpPr>
        <p:spPr>
          <a:xfrm>
            <a:off x="8153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9296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36195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1333500" y="36195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3238500" y="3638550"/>
            <a:ext cx="2286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43300" y="3619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8153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1.689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9296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37909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1333500" y="37909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3238500" y="3810000"/>
            <a:ext cx="50292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817620" y="37909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44" name="Text 42"/>
          <p:cNvSpPr txBox="1"/>
          <p:nvPr/>
        </p:nvSpPr>
        <p:spPr>
          <a:xfrm>
            <a:off x="8153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1.700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9296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0.850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39624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1333500" y="39624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 (Matérn 1/2)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3238500" y="3981450"/>
            <a:ext cx="148590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800600" y="39624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8153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1.739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9296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0.843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914400" y="41338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1333500" y="41338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 (거리가중 평균)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3238500" y="4152900"/>
            <a:ext cx="272034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035040" y="41338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8153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1.794</a:t>
            </a:r>
            <a:endParaRPr lang="en-US" sz="938" dirty="0"/>
          </a:p>
        </p:txBody>
      </p:sp>
      <p:sp>
        <p:nvSpPr>
          <p:cNvPr id="57" name="Text 55"/>
          <p:cNvSpPr txBox="1"/>
          <p:nvPr/>
        </p:nvSpPr>
        <p:spPr>
          <a:xfrm>
            <a:off x="9296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0.833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914400" y="43053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38" dirty="0"/>
          </a:p>
        </p:txBody>
      </p:sp>
      <p:sp>
        <p:nvSpPr>
          <p:cNvPr id="59" name="Text 57"/>
          <p:cNvSpPr txBox="1"/>
          <p:nvPr/>
        </p:nvSpPr>
        <p:spPr>
          <a:xfrm>
            <a:off x="1333500" y="43053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 (온도 구간별 평균)</a:t>
            </a:r>
            <a:endParaRPr lang="en-US" sz="938" dirty="0"/>
          </a:p>
        </p:txBody>
      </p:sp>
      <p:sp>
        <p:nvSpPr>
          <p:cNvPr id="60" name="Shape 58"/>
          <p:cNvSpPr/>
          <p:nvPr/>
        </p:nvSpPr>
        <p:spPr>
          <a:xfrm>
            <a:off x="3238500" y="4324350"/>
            <a:ext cx="4000500" cy="1047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315200" y="43053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62" name="Text 60"/>
          <p:cNvSpPr txBox="1"/>
          <p:nvPr/>
        </p:nvSpPr>
        <p:spPr>
          <a:xfrm>
            <a:off x="8153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1.874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9296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0.818</a:t>
            </a:r>
            <a:endParaRPr lang="en-US" sz="938" dirty="0"/>
          </a:p>
        </p:txBody>
      </p:sp>
      <p:sp>
        <p:nvSpPr>
          <p:cNvPr id="64" name="Text 62"/>
          <p:cNvSpPr txBox="1"/>
          <p:nvPr/>
        </p:nvSpPr>
        <p:spPr>
          <a:xfrm>
            <a:off x="914400" y="449580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평균 오차  ·  RMSE 크게 틀린 경우에 벌점을 더 준 오차  ·  R² 설명력  ·  커널 점과 점 사이를 어떤 모양으로 이을지 정하는 규칙</a:t>
            </a:r>
            <a:endParaRPr lang="en-US" sz="863" dirty="0"/>
          </a:p>
        </p:txBody>
      </p:sp>
      <p:sp>
        <p:nvSpPr>
          <p:cNvPr id="65" name="Shape 63"/>
          <p:cNvSpPr/>
          <p:nvPr/>
        </p:nvSpPr>
        <p:spPr>
          <a:xfrm>
            <a:off x="685800" y="47625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14400" y="485775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커널별 보정 곡선  ·  0 ~ 30℃  ·  MW</a:t>
            </a:r>
            <a:endParaRPr lang="en-US" sz="788" dirty="0"/>
          </a:p>
        </p:txBody>
      </p:sp>
      <p:sp>
        <p:nvSpPr>
          <p:cNvPr id="67" name="Shape 65"/>
          <p:cNvSpPr/>
          <p:nvPr/>
        </p:nvSpPr>
        <p:spPr>
          <a:xfrm>
            <a:off x="1905000" y="504825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428750" y="49911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69" name="Shape 67"/>
          <p:cNvSpPr/>
          <p:nvPr/>
        </p:nvSpPr>
        <p:spPr>
          <a:xfrm>
            <a:off x="1905000" y="5518150"/>
            <a:ext cx="4762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428750" y="54610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71" name="Shape 69"/>
          <p:cNvSpPr/>
          <p:nvPr/>
        </p:nvSpPr>
        <p:spPr>
          <a:xfrm>
            <a:off x="1905000" y="575310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428750" y="569595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13" dirty="0"/>
          </a:p>
        </p:txBody>
      </p:sp>
      <p:sp>
        <p:nvSpPr>
          <p:cNvPr id="73" name="Text 71"/>
          <p:cNvSpPr txBox="1"/>
          <p:nvPr/>
        </p:nvSpPr>
        <p:spPr>
          <a:xfrm>
            <a:off x="1676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74" name="Text 72"/>
          <p:cNvSpPr txBox="1"/>
          <p:nvPr/>
        </p:nvSpPr>
        <p:spPr>
          <a:xfrm>
            <a:off x="3263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75" name="Text 73"/>
          <p:cNvSpPr txBox="1"/>
          <p:nvPr/>
        </p:nvSpPr>
        <p:spPr>
          <a:xfrm>
            <a:off x="4851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76" name="Text 74"/>
          <p:cNvSpPr txBox="1"/>
          <p:nvPr/>
        </p:nvSpPr>
        <p:spPr>
          <a:xfrm>
            <a:off x="6438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77" name="Shape 75"/>
          <p:cNvSpPr/>
          <p:nvPr/>
        </p:nvSpPr>
        <p:spPr>
          <a:xfrm>
            <a:off x="1905000" y="5073507"/>
            <a:ext cx="1587500" cy="145669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492500" y="5219176"/>
            <a:ext cx="1587500" cy="9809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080000" y="5317268"/>
            <a:ext cx="1587500" cy="34244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905000" y="5077619"/>
            <a:ext cx="1587500" cy="14038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92500" y="5218001"/>
            <a:ext cx="1587500" cy="10631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080000" y="5324316"/>
            <a:ext cx="1587500" cy="334216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05000" y="5077031"/>
            <a:ext cx="1587500" cy="15506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92500" y="5232098"/>
            <a:ext cx="1587500" cy="10455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080000" y="5336651"/>
            <a:ext cx="1587500" cy="30543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05000" y="5071745"/>
            <a:ext cx="1587500" cy="147431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492500" y="5219176"/>
            <a:ext cx="1587500" cy="96329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080000" y="5315506"/>
            <a:ext cx="1587500" cy="343614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05000" y="5078794"/>
            <a:ext cx="1587500" cy="135684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92500" y="5214477"/>
            <a:ext cx="1587500" cy="10220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080000" y="5316680"/>
            <a:ext cx="1587500" cy="3359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080000" y="5277406"/>
            <a:ext cx="0" cy="97346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048500" y="5143500"/>
            <a:ext cx="422910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바꾸면 곡선이 갈립니다 — 가장 벌어지는 곳은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20℃, 0.36 MW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눈으로는 고를 수 없어서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표로 채점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</a:t>
            </a:r>
            <a:endParaRPr lang="en-US" sz="975" dirty="0"/>
          </a:p>
        </p:txBody>
      </p:sp>
      <p:sp>
        <p:nvSpPr>
          <p:cNvPr id="94" name="Shape 9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6" name="Text 9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곡선의 성격(길이척도·잡음)은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학습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커널은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곡선 비교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겉보기엔 같은 곡선인데,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확대하면 온도마다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본 그 점들입니다. 이제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 고른 곡선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그 점들을 따라 지나갑니다.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552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[출력곡선 비교] 화면과 같은 곡선  ·  가로 외기온도 ℃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1428750" y="2952750"/>
            <a:ext cx="952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출력  MW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428750" y="40386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9814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340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428750" y="3750129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692979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428750" y="3461657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3404507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428750" y="3173186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3116036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 flipV="1">
            <a:off x="1428750" y="3214221"/>
            <a:ext cx="381000" cy="894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 flipV="1">
            <a:off x="1809750" y="3207225"/>
            <a:ext cx="381000" cy="699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2190750" y="3202466"/>
            <a:ext cx="381000" cy="476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2571750" y="3187898"/>
            <a:ext cx="381000" cy="1456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952750" y="3170373"/>
            <a:ext cx="381000" cy="1752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333750" y="3170373"/>
            <a:ext cx="381000" cy="1211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3714750" y="3182489"/>
            <a:ext cx="381000" cy="1319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095750" y="3195686"/>
            <a:ext cx="381000" cy="1478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476750" y="3210471"/>
            <a:ext cx="381000" cy="1680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4857750" y="3227274"/>
            <a:ext cx="381000" cy="1846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238750" y="3245736"/>
            <a:ext cx="381000" cy="2040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619750" y="3266146"/>
            <a:ext cx="381000" cy="2740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000750" y="3293550"/>
            <a:ext cx="381000" cy="2992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381750" y="3323479"/>
            <a:ext cx="381000" cy="3151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762750" y="3354995"/>
            <a:ext cx="381000" cy="3432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7143750" y="3389323"/>
            <a:ext cx="381000" cy="3735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7524750" y="3426680"/>
            <a:ext cx="381000" cy="4031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7905750" y="3466994"/>
            <a:ext cx="381000" cy="3252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8286750" y="3499519"/>
            <a:ext cx="381000" cy="4536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667750" y="3544881"/>
            <a:ext cx="381000" cy="490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9048750" y="3593921"/>
            <a:ext cx="381000" cy="5416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9429750" y="3648082"/>
            <a:ext cx="381000" cy="5848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9810750" y="3706569"/>
            <a:ext cx="381000" cy="6122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0191750" y="3767797"/>
            <a:ext cx="381000" cy="6231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572750" y="3830107"/>
            <a:ext cx="381000" cy="684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1428750" y="3150901"/>
            <a:ext cx="381000" cy="894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809750" y="3143906"/>
            <a:ext cx="381000" cy="699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190750" y="3139146"/>
            <a:ext cx="381000" cy="476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2571750" y="3124578"/>
            <a:ext cx="381000" cy="1456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2952750" y="3116429"/>
            <a:ext cx="381000" cy="81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33750" y="3116429"/>
            <a:ext cx="381000" cy="125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714750" y="3128977"/>
            <a:ext cx="381000" cy="2113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095750" y="3150108"/>
            <a:ext cx="381000" cy="2120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76750" y="3171311"/>
            <a:ext cx="381000" cy="1968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57750" y="3190999"/>
            <a:ext cx="381000" cy="1745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38750" y="3208451"/>
            <a:ext cx="381000" cy="1702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19750" y="3225471"/>
            <a:ext cx="381000" cy="2459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00750" y="3250063"/>
            <a:ext cx="381000" cy="306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81750" y="3280713"/>
            <a:ext cx="381000" cy="3779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2750" y="3318503"/>
            <a:ext cx="381000" cy="4608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143750" y="3364587"/>
            <a:ext cx="381000" cy="52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524750" y="3416800"/>
            <a:ext cx="381000" cy="5488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905750" y="3471682"/>
            <a:ext cx="381000" cy="4298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286750" y="3514664"/>
            <a:ext cx="381000" cy="4940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67750" y="3564065"/>
            <a:ext cx="381000" cy="4637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48750" y="3610436"/>
            <a:ext cx="381000" cy="4658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429750" y="3657024"/>
            <a:ext cx="381000" cy="48824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810750" y="3705848"/>
            <a:ext cx="381000" cy="5235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191750" y="3758206"/>
            <a:ext cx="381000" cy="56757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572750" y="3814963"/>
            <a:ext cx="381000" cy="6836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43950" y="3114675"/>
            <a:ext cx="24765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9067800" y="3048000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(보정 없음)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743950" y="3295650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067800" y="32289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곡선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6096000" y="3810000"/>
            <a:ext cx="3810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곡선이 거의 붙어 보입니다 →  확대해 보겠습니다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85800" y="4152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428750" y="50292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14400" y="49720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-5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428750" y="4843463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914400" y="4786313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1428750" y="465772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914400" y="4600575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428750" y="4471988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14400" y="4414838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428750" y="428625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14400" y="422910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+15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42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20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333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10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523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01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714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91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904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82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1095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072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1428750" y="4200525"/>
            <a:ext cx="2190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= 실제 − 이론값 (MW)</a:t>
            </a:r>
            <a:endParaRPr lang="en-US" sz="863" dirty="0"/>
          </a:p>
        </p:txBody>
      </p:sp>
      <p:sp>
        <p:nvSpPr>
          <p:cNvPr id="103" name="Shape 101"/>
          <p:cNvSpPr/>
          <p:nvPr/>
        </p:nvSpPr>
        <p:spPr>
          <a:xfrm>
            <a:off x="3798570" y="422719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943350" y="4200525"/>
            <a:ext cx="1619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테스트 40회</a:t>
            </a:r>
            <a:endParaRPr lang="en-US" sz="863" dirty="0"/>
          </a:p>
        </p:txBody>
      </p:sp>
      <p:sp>
        <p:nvSpPr>
          <p:cNvPr id="105" name="Text 103"/>
          <p:cNvSpPr txBox="1"/>
          <p:nvPr/>
        </p:nvSpPr>
        <p:spPr>
          <a:xfrm>
            <a:off x="5715000" y="4200525"/>
            <a:ext cx="2571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위쪽일수록 더 나온 것</a:t>
            </a:r>
            <a:endParaRPr lang="en-US" sz="863" dirty="0"/>
          </a:p>
        </p:txBody>
      </p:sp>
      <p:sp>
        <p:nvSpPr>
          <p:cNvPr id="106" name="Shape 104"/>
          <p:cNvSpPr/>
          <p:nvPr/>
        </p:nvSpPr>
        <p:spPr>
          <a:xfrm>
            <a:off x="8439150" y="4257675"/>
            <a:ext cx="22860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07" name="Text 105"/>
          <p:cNvSpPr txBox="1"/>
          <p:nvPr/>
        </p:nvSpPr>
        <p:spPr>
          <a:xfrm>
            <a:off x="8705850" y="4200525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온도 구분 없이 +2.5</a:t>
            </a:r>
            <a:endParaRPr lang="en-US" sz="863" dirty="0"/>
          </a:p>
        </p:txBody>
      </p:sp>
      <p:sp>
        <p:nvSpPr>
          <p:cNvPr id="108" name="Shape 106"/>
          <p:cNvSpPr/>
          <p:nvPr/>
        </p:nvSpPr>
        <p:spPr>
          <a:xfrm>
            <a:off x="1428750" y="4752265"/>
            <a:ext cx="952500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2941320" y="4332108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27045" y="434967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65220" y="448671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46220" y="460075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446270" y="461112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636770" y="462809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827270" y="464385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98720" y="458121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113020" y="46771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36870" y="46218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22620" y="46334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79770" y="45557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36920" y="45723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046470" y="45399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65520" y="458968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79820" y="460540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65570" y="461364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484620" y="46011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360920" y="471569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084820" y="4891327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8122920" y="493497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8141970" y="483449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8199120" y="483898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8522970" y="491224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8770620" y="49933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056370" y="48726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056370" y="483077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1620" y="49411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89720" y="493913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342120" y="484541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475470" y="483601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532620" y="490737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551670" y="473456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551670" y="476131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51670" y="48699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704070" y="47877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742170" y="489942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894570" y="47855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0180320" y="47349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523220" y="476008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428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809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190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571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952750" y="4517307"/>
            <a:ext cx="381000" cy="48292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333750" y="4565599"/>
            <a:ext cx="381000" cy="1857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714750" y="4567457"/>
            <a:ext cx="381000" cy="41234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095750" y="4608690"/>
            <a:ext cx="381000" cy="33061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476750" y="4641752"/>
            <a:ext cx="381000" cy="1485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4857750" y="4651410"/>
            <a:ext cx="381000" cy="5201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5238750" y="4633951"/>
            <a:ext cx="381000" cy="1745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5619750" y="4619463"/>
            <a:ext cx="381000" cy="1448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000750" y="4619463"/>
            <a:ext cx="381000" cy="408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381750" y="4623549"/>
            <a:ext cx="381000" cy="3231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762750" y="4655868"/>
            <a:ext cx="381000" cy="6017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143750" y="4716047"/>
            <a:ext cx="381000" cy="7689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524750" y="4792942"/>
            <a:ext cx="381000" cy="7466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905750" y="4867608"/>
            <a:ext cx="381000" cy="53864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286750" y="4921472"/>
            <a:ext cx="381000" cy="20803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8667750" y="4928530"/>
            <a:ext cx="381000" cy="1374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9048750" y="4889525"/>
            <a:ext cx="381000" cy="3900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9429750" y="4839376"/>
            <a:ext cx="381000" cy="5014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9810750" y="4794428"/>
            <a:ext cx="381000" cy="4494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10191750" y="4765081"/>
            <a:ext cx="381000" cy="29347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0572750" y="4765081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5800" y="5372100"/>
            <a:ext cx="1082040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14400" y="5486400"/>
            <a:ext cx="10363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이론값보다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는 7.5 MW 더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28℃ 는 2.7 MW 덜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나왔습니다.   종전에는 이 차이를 온도 구분 없이 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값 +2.5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덮었습니다.</a:t>
            </a:r>
            <a:endParaRPr lang="en-US" sz="1125" dirty="0"/>
          </a:p>
        </p:txBody>
      </p:sp>
      <p:sp>
        <p:nvSpPr>
          <p:cNvPr id="176" name="Shape 17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78" name="Text 17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온도마다 배웁니다 — 방식 7가지를 겨뤄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맞는 곡선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스스로 다시 고르고,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의심도 도구가 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정해야 하는 숫자가 없습니다.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 → 채점 → 고르기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한 바퀴입니다.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28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06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0600" y="29718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239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1239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결과 넣기</a:t>
            </a:r>
            <a:endParaRPr lang="en-US" sz="1238" dirty="0"/>
          </a:p>
        </p:txBody>
      </p:sp>
      <p:sp>
        <p:nvSpPr>
          <p:cNvPr id="18" name="Text 16"/>
          <p:cNvSpPr txBox="1"/>
          <p:nvPr/>
        </p:nvSpPr>
        <p:spPr>
          <a:xfrm>
            <a:off x="11239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1회 = 한 줄</a:t>
            </a:r>
            <a:endParaRPr lang="en-US" sz="863" dirty="0"/>
          </a:p>
        </p:txBody>
      </p:sp>
      <p:sp>
        <p:nvSpPr>
          <p:cNvPr id="19" name="Text 17"/>
          <p:cNvSpPr txBox="1"/>
          <p:nvPr/>
        </p:nvSpPr>
        <p:spPr>
          <a:xfrm>
            <a:off x="30861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5433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433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766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</a:t>
            </a:r>
            <a:endParaRPr lang="en-US" sz="1238" dirty="0"/>
          </a:p>
        </p:txBody>
      </p:sp>
      <p:sp>
        <p:nvSpPr>
          <p:cNvPr id="24" name="Text 22"/>
          <p:cNvSpPr txBox="1"/>
          <p:nvPr/>
        </p:nvSpPr>
        <p:spPr>
          <a:xfrm>
            <a:off x="36766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7가지 전부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56388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0960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60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293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2293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잘 맞는 쪽으로</a:t>
            </a:r>
            <a:endParaRPr lang="en-US" sz="1238" dirty="0"/>
          </a:p>
        </p:txBody>
      </p:sp>
      <p:sp>
        <p:nvSpPr>
          <p:cNvPr id="30" name="Text 28"/>
          <p:cNvSpPr txBox="1"/>
          <p:nvPr/>
        </p:nvSpPr>
        <p:spPr>
          <a:xfrm>
            <a:off x="62293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1위가 바뀌면 교체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81915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6487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87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820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820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 갱신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87820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함께 출력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000250" y="3810000"/>
            <a:ext cx="7620000" cy="0"/>
          </a:xfrm>
          <a:prstGeom prst="line">
            <a:avLst/>
          </a:prstGeom>
          <a:noFill/>
          <a:ln w="17780">
            <a:solidFill>
              <a:srgbClr val="8A6620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2000250" y="3867150"/>
            <a:ext cx="7620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테스트가 늘면 다시 처음으로 — 사람이 손으로 정하는 값은 없습니다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8580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회만 빼도 뒤집히면 버린다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3300" dirty="0"/>
          </a:p>
        </p:txBody>
      </p:sp>
      <p:sp>
        <p:nvSpPr>
          <p:cNvPr id="42" name="Text 40"/>
          <p:cNvSpPr txBox="1"/>
          <p:nvPr/>
        </p:nvSpPr>
        <p:spPr>
          <a:xfrm>
            <a:off x="1269111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8580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회씩 빼 보며 다시 계산합니다.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번 중 여덟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이상 같은 결론이 나와야 믿습니다.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4448175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448175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우연일 수 있으면 안 믿는다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448175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3300" dirty="0"/>
          </a:p>
        </p:txBody>
      </p:sp>
      <p:sp>
        <p:nvSpPr>
          <p:cNvPr id="47" name="Text 45"/>
          <p:cNvSpPr txBox="1"/>
          <p:nvPr/>
        </p:nvSpPr>
        <p:spPr>
          <a:xfrm>
            <a:off x="5031486" y="5029200"/>
            <a:ext cx="725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번에 1번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448175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우연히 그렇게 보일 확률이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이보다 크면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관계가 없다고 봅니다.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821055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21055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예측을 미리 적어 둔다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210550" y="4819650"/>
            <a:ext cx="272606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3300" dirty="0"/>
          </a:p>
        </p:txBody>
      </p:sp>
      <p:sp>
        <p:nvSpPr>
          <p:cNvPr id="52" name="Text 50"/>
          <p:cNvSpPr txBox="1"/>
          <p:nvPr/>
        </p:nvSpPr>
        <p:spPr>
          <a:xfrm>
            <a:off x="8540306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21055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실측하기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예측을 기록했습니다. 나중에 맞추는 것을 막습니다.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정할 숫자가 없습니다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설명은 도구가 걸러냅니다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간단해지고,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정확해졌습니다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40회를 종전 방식과 나란히 채점한 결과입니다.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10287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일 처리  ·  담당자 업무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067050"/>
            <a:ext cx="1494282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→ 1</a:t>
            </a:r>
            <a:endParaRPr lang="en-US" sz="3300" dirty="0"/>
          </a:p>
        </p:txBody>
      </p:sp>
      <p:sp>
        <p:nvSpPr>
          <p:cNvPr id="19" name="Text 17"/>
          <p:cNvSpPr txBox="1"/>
          <p:nvPr/>
        </p:nvSpPr>
        <p:spPr>
          <a:xfrm>
            <a:off x="2465832" y="3276600"/>
            <a:ext cx="16568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 → 도구 1개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순서를 지켜 파일 4개를 돌리던 일이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끝납니다. 손으로 옮겨 적던 값 61개는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신고 정확도  ·  실제와 어긋난 정도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067050"/>
            <a:ext cx="779717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7161467" y="3276600"/>
            <a:ext cx="400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8572500" y="3200400"/>
            <a:ext cx="27051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3.80 → 1.29 MW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못 미친 횟수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→ 4회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높게 신고한 양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685800" y="4343400"/>
            <a:ext cx="108204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76750"/>
            <a:ext cx="6477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9회  ·  실측 전에 적어 둔 예측과 대조  ·  세로 = 실제 − 예측 MW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7524750" y="4457700"/>
            <a:ext cx="37528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편차 −0.044  ·  오차 1.234  ·  개선율 +91%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333500" y="51054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33500" y="4724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33500" y="5486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4657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5038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5419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504950" y="4804410"/>
            <a:ext cx="438150" cy="30099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371600" y="4642485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+1.58</a:t>
            </a:r>
            <a:endParaRPr lang="en-US" sz="788" dirty="0"/>
          </a:p>
        </p:txBody>
      </p:sp>
      <p:sp>
        <p:nvSpPr>
          <p:cNvPr id="37" name="Text 35"/>
          <p:cNvSpPr txBox="1"/>
          <p:nvPr/>
        </p:nvSpPr>
        <p:spPr>
          <a:xfrm>
            <a:off x="1371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04-15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552700" y="4877562"/>
            <a:ext cx="438150" cy="227838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419350" y="4715637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+1.20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2419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05-27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00450" y="5062538"/>
            <a:ext cx="438150" cy="42863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467100" y="490061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+0.23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3467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07-07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648200" y="5105400"/>
            <a:ext cx="438150" cy="46253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14850" y="559650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−2.43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514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07-22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695950" y="4986719"/>
            <a:ext cx="438150" cy="118682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562600" y="482479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+0.62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5562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07-29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743700" y="5105400"/>
            <a:ext cx="438150" cy="101918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610350" y="523589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−0.54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610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08-04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791450" y="4776026"/>
            <a:ext cx="438150" cy="329374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58100" y="4614101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+1.73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658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08-12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8839200" y="5105400"/>
            <a:ext cx="438150" cy="209169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05850" y="534314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−1.10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8705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08-18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9886950" y="5105400"/>
            <a:ext cx="438150" cy="32137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753600" y="545534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−1.69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9753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08-26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시간도 줄고 숫자도 맞았습니다 — 그리고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설명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있게 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수평 전개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구조를 둘로 나눈 덕분에,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이론식만 갈아끼우면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옮겨집니다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배우는 부분은 설비 종류와 상관이 없습니다. 사업소마다 다른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09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9906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가져가는 것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사업소마다 갈아끼우는 것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차이를 배우고 방식을 고르는 부분</a:t>
            </a:r>
            <a:endParaRPr lang="en-US" sz="1163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의심하고 걸러내는 절차</a:t>
            </a:r>
            <a:endParaRPr lang="en-US" sz="1163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6766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프로파일 생성과 화면</a:t>
            </a:r>
            <a:endParaRPr lang="en-US" sz="1163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설비별 이론식 (성능 곡선)</a:t>
            </a:r>
            <a:endParaRPr lang="en-US" sz="1163" dirty="0"/>
          </a:p>
        </p:txBody>
      </p:sp>
      <p:sp>
        <p:nvSpPr>
          <p:cNvPr id="23" name="Text 21"/>
          <p:cNvSpPr txBox="1"/>
          <p:nvPr/>
        </p:nvSpPr>
        <p:spPr>
          <a:xfrm>
            <a:off x="63246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설비 상수</a:t>
            </a:r>
            <a:endParaRPr lang="en-US" sz="1163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3 덩어리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2 덩어리뿐</a:t>
            </a:r>
            <a:endParaRPr lang="en-US" sz="863" dirty="0"/>
          </a:p>
        </p:txBody>
      </p:sp>
      <p:sp>
        <p:nvSpPr>
          <p:cNvPr id="26" name="Shape 24"/>
          <p:cNvSpPr/>
          <p:nvPr/>
        </p:nvSpPr>
        <p:spPr>
          <a:xfrm>
            <a:off x="685800" y="4362450"/>
            <a:ext cx="10820400" cy="1581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95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전개 순서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1428750" y="5162550"/>
            <a:ext cx="923925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2026.09</a:t>
            </a:r>
            <a:endParaRPr lang="en-US" sz="863" dirty="0"/>
          </a:p>
        </p:txBody>
      </p:sp>
      <p:sp>
        <p:nvSpPr>
          <p:cNvPr id="30" name="Shape 28"/>
          <p:cNvSpPr/>
          <p:nvPr/>
        </p:nvSpPr>
        <p:spPr>
          <a:xfrm>
            <a:off x="1838325" y="5095875"/>
            <a:ext cx="133350" cy="13335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6200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</a:t>
            </a:r>
            <a:endParaRPr lang="en-US" sz="1238" dirty="0"/>
          </a:p>
        </p:txBody>
      </p:sp>
      <p:sp>
        <p:nvSpPr>
          <p:cNvPr id="32" name="Text 30"/>
          <p:cNvSpPr txBox="1"/>
          <p:nvPr/>
        </p:nvSpPr>
        <p:spPr>
          <a:xfrm>
            <a:off x="72390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회차로 운영 중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336232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2026.10~12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445293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36232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 문서화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332422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검증·가드 기준을 사내 문서로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596265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38" name="Shape 36"/>
          <p:cNvSpPr/>
          <p:nvPr/>
        </p:nvSpPr>
        <p:spPr>
          <a:xfrm>
            <a:off x="7053263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6265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1곳 시범</a:t>
            </a:r>
            <a:endParaRPr lang="en-US" sz="1238" dirty="0"/>
          </a:p>
        </p:txBody>
      </p:sp>
      <p:sp>
        <p:nvSpPr>
          <p:cNvPr id="40" name="Text 38"/>
          <p:cNvSpPr txBox="1"/>
          <p:nvPr/>
        </p:nvSpPr>
        <p:spPr>
          <a:xfrm>
            <a:off x="592455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이론식만 바꿔 나란히 운전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856297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965358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56297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1238" dirty="0"/>
          </a:p>
        </p:txBody>
      </p:sp>
      <p:sp>
        <p:nvSpPr>
          <p:cNvPr id="44" name="Text 42"/>
          <p:cNvSpPr txBox="1"/>
          <p:nvPr/>
        </p:nvSpPr>
        <p:spPr>
          <a:xfrm>
            <a:off x="852487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 부분을 분리한 뒤 확대</a:t>
            </a:r>
            <a:endParaRPr lang="en-US" sz="938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위례에서 검증한 절차 그대로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이론식 하나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기능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4개가 하던 일이,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화면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들어왔습니다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6개입니다. 날짜·시각을 넣고 실행하면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−20 ~ 40℃ 61행 신고값 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그대로 나옵니다.</a:t>
            </a:r>
            <a:endParaRPr lang="en-US" sz="1350" dirty="0"/>
          </a:p>
        </p:txBody>
      </p:sp>
      <p:pic>
        <p:nvPicPr>
          <p:cNvPr id="6" name="Image 0" descr="/home/user/Narae-AI/docs/ppt/assets/tool_wind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343150"/>
            <a:ext cx="4533900" cy="3048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76275" y="2333625"/>
            <a:ext cx="4552950" cy="30670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pic>
        <p:nvPicPr>
          <p:cNvPr id="8" name="Image 1" descr="/home/user/Narae-AI/docs/ppt/assets/tool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343150"/>
            <a:ext cx="5876925" cy="3048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591175" y="2333625"/>
            <a:ext cx="5895975" cy="30670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5486400"/>
            <a:ext cx="4533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무엇을 넣고 무엇이 나오나</a:t>
            </a:r>
            <a:endParaRPr lang="en-US" sz="788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5638800"/>
            <a:ext cx="45339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입력은 </a:t>
            </a:r>
            <a:pPr algn="l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</a:t>
            </a:r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4칸 → 아래에 61행 신고값 표</a:t>
            </a:r>
            <a:endParaRPr lang="en-US" sz="975" dirty="0"/>
          </a:p>
        </p:txBody>
      </p:sp>
      <p:sp>
        <p:nvSpPr>
          <p:cNvPr id="12" name="Text 8"/>
          <p:cNvSpPr txBox="1"/>
          <p:nvPr/>
        </p:nvSpPr>
        <p:spPr>
          <a:xfrm>
            <a:off x="5600700" y="5486400"/>
            <a:ext cx="58769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무엇을 보고 판단하나</a:t>
            </a:r>
            <a:endParaRPr lang="en-US" sz="788" dirty="0"/>
          </a:p>
        </p:txBody>
      </p:sp>
      <p:sp>
        <p:nvSpPr>
          <p:cNvPr id="13" name="Text 9"/>
          <p:cNvSpPr txBox="1"/>
          <p:nvPr/>
        </p:nvSpPr>
        <p:spPr>
          <a:xfrm>
            <a:off x="5600700" y="5638800"/>
            <a:ext cx="5876925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곡선과 </a:t>
            </a:r>
            <a:pPr algn="l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곡선, 그리고 실측점 40회를 겹쳐 봅니다</a:t>
            </a:r>
            <a:endParaRPr lang="en-US" sz="975" dirty="0"/>
          </a:p>
        </p:txBody>
      </p:sp>
      <p:sp>
        <p:nvSpPr>
          <p:cNvPr id="14" name="Shape 1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6" name="Text 1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목업이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화면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 — 다음 장에서 직접 띄우겠습니다.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돌려 보겠습니다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3~4분입니다.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단계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057400"/>
            <a:ext cx="108204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228850"/>
            <a:ext cx="3238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40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314450" y="2209800"/>
            <a:ext cx="1943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취득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1314450" y="2552700"/>
            <a:ext cx="1943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값을 그대로 읽어옵니다. 옮겨 적는 칸이 없습니다.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3352800" y="2209800"/>
            <a:ext cx="0" cy="10477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05200" y="2228850"/>
            <a:ext cx="3238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40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905250" y="2209800"/>
            <a:ext cx="1943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시뮬레이션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3905250" y="2552700"/>
            <a:ext cx="1943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넣으면 이론값이 나옵니다. 손대지 않는 부분입니다.</a:t>
            </a:r>
            <a:endParaRPr lang="en-US" sz="1125" dirty="0"/>
          </a:p>
        </p:txBody>
      </p:sp>
      <p:sp>
        <p:nvSpPr>
          <p:cNvPr id="14" name="Shape 12"/>
          <p:cNvSpPr/>
          <p:nvPr/>
        </p:nvSpPr>
        <p:spPr>
          <a:xfrm>
            <a:off x="5943600" y="2209800"/>
            <a:ext cx="0" cy="10477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96000" y="2228850"/>
            <a:ext cx="3238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40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2209800"/>
            <a:ext cx="1943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비교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6496050" y="2552700"/>
            <a:ext cx="1943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곡선과 모델 곡선을 겹쳐 봅니다. 차이가 보입니다.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8534400" y="2209800"/>
            <a:ext cx="0" cy="104775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0" y="2228850"/>
            <a:ext cx="3238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40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9086850" y="2209800"/>
            <a:ext cx="1943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생성</a:t>
            </a:r>
            <a:endParaRPr lang="en-US" sz="1575" dirty="0"/>
          </a:p>
        </p:txBody>
      </p:sp>
      <p:sp>
        <p:nvSpPr>
          <p:cNvPr id="21" name="Text 19"/>
          <p:cNvSpPr txBox="1"/>
          <p:nvPr/>
        </p:nvSpPr>
        <p:spPr>
          <a:xfrm>
            <a:off x="9086850" y="2552700"/>
            <a:ext cx="1943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신고할 표가 파일로 바로 나옵니다.</a:t>
            </a:r>
            <a:endParaRPr lang="en-US" sz="1125" dirty="0"/>
          </a:p>
        </p:txBody>
      </p:sp>
      <p:sp>
        <p:nvSpPr>
          <p:cNvPr id="22" name="Text 20"/>
          <p:cNvSpPr txBox="1"/>
          <p:nvPr/>
        </p:nvSpPr>
        <p:spPr>
          <a:xfrm>
            <a:off x="2286000" y="36957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④ 의 결과  ·  온도별 신고값 표  ·  −20 ~ 40℃ 61행  ·  실제 화면</a:t>
            </a:r>
            <a:endParaRPr lang="en-US" sz="788" dirty="0"/>
          </a:p>
        </p:txBody>
      </p:sp>
      <p:pic>
        <p:nvPicPr>
          <p:cNvPr id="23" name="Image 0" descr="/home/user/Narae-AI/docs/ppt/assets/tool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3867150"/>
            <a:ext cx="7620000" cy="205740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2276475" y="3857625"/>
            <a:ext cx="7639050" cy="20764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86000" y="6000750"/>
            <a:ext cx="7620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표가 그대로 </a:t>
            </a:r>
            <a:pPr algn="r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입찰값</a:t>
            </a:r>
            <a:pPr algn="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됩니다</a:t>
            </a:r>
            <a:endParaRPr lang="en-US" sz="975" dirty="0"/>
          </a:p>
        </p:txBody>
      </p:sp>
      <p:sp>
        <p:nvSpPr>
          <p:cNvPr id="26" name="Shape 2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28" name="Text 2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붙은 숫자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보십시오.</a:t>
            </a:r>
            <a:endParaRPr lang="en-US" sz="123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09800"/>
            <a:ext cx="6667500" cy="1248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14"/>
              </a:lnSpc>
              <a:buNone/>
            </a:pPr>
            <a:r>
              <a:rPr lang="en-US" sz="39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900" dirty="0"/>
          </a:p>
          <a:p>
            <a:pPr algn="l" indent="0" marL="0">
              <a:lnSpc>
                <a:spcPts val="4914"/>
              </a:lnSpc>
              <a:buNone/>
            </a:pPr>
            <a:r>
              <a:rPr lang="en-US" sz="39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867150"/>
            <a:ext cx="857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도구 하나로, 감으로 정한 값을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갱신하는 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으로.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2026-09-03T15:45:19Z</dcterms:created>
  <dcterms:modified xsi:type="dcterms:W3CDTF">2026-09-03T15:45:19Z</dcterms:modified>
</cp:coreProperties>
</file>