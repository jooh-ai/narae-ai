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공급가능용량 산정 방식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엑셀 네 개에 차례로 옮겨 담아 신고할 숫자를 만들었습니다.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809750"/>
            <a:ext cx="10820400" cy="23431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19050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산정 절차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8648700" y="1895475"/>
            <a:ext cx="2667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엑셀 파일 4개</a:t>
            </a:r>
            <a:endParaRPr lang="en-US" sz="825" dirty="0"/>
          </a:p>
        </p:txBody>
      </p:sp>
      <p:sp>
        <p:nvSpPr>
          <p:cNvPr id="16" name="Text 14"/>
          <p:cNvSpPr txBox="1"/>
          <p:nvPr/>
        </p:nvSpPr>
        <p:spPr>
          <a:xfrm>
            <a:off x="838200" y="2114550"/>
            <a:ext cx="24574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시험 결과 받아오기</a:t>
            </a:r>
            <a:endParaRPr lang="en-US" sz="1013" dirty="0"/>
          </a:p>
        </p:txBody>
      </p:sp>
      <p:sp>
        <p:nvSpPr>
          <p:cNvPr id="17" name="Shape 15"/>
          <p:cNvSpPr/>
          <p:nvPr/>
        </p:nvSpPr>
        <p:spPr>
          <a:xfrm>
            <a:off x="838200" y="2324100"/>
            <a:ext cx="2457450" cy="108585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18" name="Image 0" descr="/home/user/Narae-AI/docs/ppt/assets/엑셀1-1_날짜, 시간 입력 후(RiMS 데이터 가져오기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487570"/>
            <a:ext cx="2343150" cy="758909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885825" y="2478045"/>
            <a:ext cx="2362200" cy="777959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38200" y="3505200"/>
            <a:ext cx="2457450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시각을 넣으면 계측값 14개를 시스템에서 끌어옵니다.</a:t>
            </a:r>
            <a:endParaRPr lang="en-US" sz="863" dirty="0"/>
          </a:p>
        </p:txBody>
      </p:sp>
      <p:sp>
        <p:nvSpPr>
          <p:cNvPr id="21" name="Text 18"/>
          <p:cNvSpPr txBox="1"/>
          <p:nvPr/>
        </p:nvSpPr>
        <p:spPr>
          <a:xfrm>
            <a:off x="3305175" y="27813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2" name="Text 19"/>
          <p:cNvSpPr txBox="1"/>
          <p:nvPr/>
        </p:nvSpPr>
        <p:spPr>
          <a:xfrm>
            <a:off x="3486150" y="2114550"/>
            <a:ext cx="24574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온도별 이론값 계산</a:t>
            </a:r>
            <a:endParaRPr lang="en-US" sz="1013" dirty="0"/>
          </a:p>
        </p:txBody>
      </p:sp>
      <p:sp>
        <p:nvSpPr>
          <p:cNvPr id="23" name="Shape 20"/>
          <p:cNvSpPr/>
          <p:nvPr/>
        </p:nvSpPr>
        <p:spPr>
          <a:xfrm>
            <a:off x="3486150" y="2324100"/>
            <a:ext cx="2457450" cy="108585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24" name="Image 1" descr="/home/user/Narae-AI/docs/ppt/assets/엑셀2-1_G열 대기압 입력 후 온도별 이론값 생성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1152" y="2381250"/>
            <a:ext cx="1147446" cy="97155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131627" y="2371725"/>
            <a:ext cx="1166496" cy="99060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3486150" y="3505200"/>
            <a:ext cx="2457450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대기압을 넣으면 영하 20도부터 40도까지 61개 값이 나옵니다.</a:t>
            </a:r>
            <a:endParaRPr lang="en-US" sz="863" dirty="0"/>
          </a:p>
        </p:txBody>
      </p:sp>
      <p:sp>
        <p:nvSpPr>
          <p:cNvPr id="27" name="Text 23"/>
          <p:cNvSpPr txBox="1"/>
          <p:nvPr/>
        </p:nvSpPr>
        <p:spPr>
          <a:xfrm>
            <a:off x="5953125" y="27813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8" name="Text 24"/>
          <p:cNvSpPr txBox="1"/>
          <p:nvPr/>
        </p:nvSpPr>
        <p:spPr>
          <a:xfrm>
            <a:off x="6134100" y="2114550"/>
            <a:ext cx="24574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보정값 더하기</a:t>
            </a:r>
            <a:endParaRPr lang="en-US" sz="1013" dirty="0"/>
          </a:p>
        </p:txBody>
      </p:sp>
      <p:sp>
        <p:nvSpPr>
          <p:cNvPr id="29" name="Shape 25"/>
          <p:cNvSpPr/>
          <p:nvPr/>
        </p:nvSpPr>
        <p:spPr>
          <a:xfrm>
            <a:off x="6134100" y="2324100"/>
            <a:ext cx="2457450" cy="108585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30" name="Image 2" descr="/home/user/Narae-AI/docs/ppt/assets/엑셀2-2_IGV Turn up 적용 및, 테스트 온도 지점의 실제 출력과 이론값 비교하여 BTL(보정값) 적용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2617754"/>
            <a:ext cx="2343150" cy="498543"/>
          </a:xfrm>
          <a:prstGeom prst="rect">
            <a:avLst/>
          </a:prstGeom>
        </p:spPr>
      </p:pic>
      <p:sp>
        <p:nvSpPr>
          <p:cNvPr id="31" name="Shape 26"/>
          <p:cNvSpPr/>
          <p:nvPr/>
        </p:nvSpPr>
        <p:spPr>
          <a:xfrm>
            <a:off x="6181725" y="2608229"/>
            <a:ext cx="2362200" cy="517593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134100" y="3505200"/>
            <a:ext cx="2457450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 온도에서 생긴 차이를 61개 값에 모두 더합니다.</a:t>
            </a:r>
            <a:endParaRPr lang="en-US" sz="863" dirty="0"/>
          </a:p>
        </p:txBody>
      </p:sp>
      <p:sp>
        <p:nvSpPr>
          <p:cNvPr id="33" name="Text 28"/>
          <p:cNvSpPr txBox="1"/>
          <p:nvPr/>
        </p:nvSpPr>
        <p:spPr>
          <a:xfrm>
            <a:off x="8601075" y="27813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34" name="Text 29"/>
          <p:cNvSpPr txBox="1"/>
          <p:nvPr/>
        </p:nvSpPr>
        <p:spPr>
          <a:xfrm>
            <a:off x="8782050" y="2114550"/>
            <a:ext cx="24574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온도 프로파일 완성</a:t>
            </a:r>
            <a:endParaRPr lang="en-US" sz="1013" dirty="0"/>
          </a:p>
        </p:txBody>
      </p:sp>
      <p:sp>
        <p:nvSpPr>
          <p:cNvPr id="35" name="Shape 30"/>
          <p:cNvSpPr/>
          <p:nvPr/>
        </p:nvSpPr>
        <p:spPr>
          <a:xfrm>
            <a:off x="8782050" y="2324100"/>
            <a:ext cx="2457450" cy="108585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36" name="Image 3" descr="/home/user/Narae-AI/docs/ppt/assets/xl_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1030" y="2381250"/>
            <a:ext cx="1639491" cy="971550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9181505" y="2371725"/>
            <a:ext cx="1658541" cy="99060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8782050" y="3505200"/>
            <a:ext cx="2457450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표를 그대로 옮겨 붙이면 그날 신고할 숫자가 됩니다.</a:t>
            </a:r>
            <a:endParaRPr lang="en-US" sz="863" dirty="0"/>
          </a:p>
        </p:txBody>
      </p:sp>
      <p:sp>
        <p:nvSpPr>
          <p:cNvPr id="39" name="Shape 33"/>
          <p:cNvSpPr/>
          <p:nvPr/>
        </p:nvSpPr>
        <p:spPr>
          <a:xfrm>
            <a:off x="685800" y="4267200"/>
            <a:ext cx="10820400" cy="1676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914400" y="4362450"/>
            <a:ext cx="247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보정값을 정하는 방법</a:t>
            </a:r>
            <a:endParaRPr lang="en-US" sz="788" dirty="0"/>
          </a:p>
        </p:txBody>
      </p:sp>
      <p:sp>
        <p:nvSpPr>
          <p:cNvPr id="41" name="Text 35"/>
          <p:cNvSpPr txBox="1"/>
          <p:nvPr/>
        </p:nvSpPr>
        <p:spPr>
          <a:xfrm>
            <a:off x="3619500" y="4343400"/>
            <a:ext cx="76962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시험은 하루에 한 곳에서만 합니다. 그 한 곳에서 나온 차이를 나머지 60개 온도에도 똑같이 더했습니다.</a:t>
            </a:r>
            <a:endParaRPr lang="en-US" sz="975" dirty="0"/>
          </a:p>
        </p:txBody>
      </p:sp>
      <p:sp>
        <p:nvSpPr>
          <p:cNvPr id="42" name="Shape 36"/>
          <p:cNvSpPr/>
          <p:nvPr/>
        </p:nvSpPr>
        <p:spPr>
          <a:xfrm>
            <a:off x="19050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20510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21971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23431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24892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7" name="Shape 41"/>
          <p:cNvSpPr/>
          <p:nvPr/>
        </p:nvSpPr>
        <p:spPr>
          <a:xfrm>
            <a:off x="26352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27813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29273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0" name="Shape 44"/>
          <p:cNvSpPr/>
          <p:nvPr/>
        </p:nvSpPr>
        <p:spPr>
          <a:xfrm>
            <a:off x="30734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32194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2" name="Shape 46"/>
          <p:cNvSpPr/>
          <p:nvPr/>
        </p:nvSpPr>
        <p:spPr>
          <a:xfrm>
            <a:off x="33655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35115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36576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38036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6" name="Shape 50"/>
          <p:cNvSpPr/>
          <p:nvPr/>
        </p:nvSpPr>
        <p:spPr>
          <a:xfrm>
            <a:off x="39497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7" name="Shape 51"/>
          <p:cNvSpPr/>
          <p:nvPr/>
        </p:nvSpPr>
        <p:spPr>
          <a:xfrm>
            <a:off x="40957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8" name="Shape 52"/>
          <p:cNvSpPr/>
          <p:nvPr/>
        </p:nvSpPr>
        <p:spPr>
          <a:xfrm>
            <a:off x="42418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9" name="Shape 53"/>
          <p:cNvSpPr/>
          <p:nvPr/>
        </p:nvSpPr>
        <p:spPr>
          <a:xfrm>
            <a:off x="43878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Shape 54"/>
          <p:cNvSpPr/>
          <p:nvPr/>
        </p:nvSpPr>
        <p:spPr>
          <a:xfrm>
            <a:off x="45339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1" name="Shape 55"/>
          <p:cNvSpPr/>
          <p:nvPr/>
        </p:nvSpPr>
        <p:spPr>
          <a:xfrm>
            <a:off x="46799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2" name="Shape 56"/>
          <p:cNvSpPr/>
          <p:nvPr/>
        </p:nvSpPr>
        <p:spPr>
          <a:xfrm>
            <a:off x="48260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3" name="Shape 57"/>
          <p:cNvSpPr/>
          <p:nvPr/>
        </p:nvSpPr>
        <p:spPr>
          <a:xfrm>
            <a:off x="49720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4" name="Shape 58"/>
          <p:cNvSpPr/>
          <p:nvPr/>
        </p:nvSpPr>
        <p:spPr>
          <a:xfrm>
            <a:off x="51181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5" name="Shape 59"/>
          <p:cNvSpPr/>
          <p:nvPr/>
        </p:nvSpPr>
        <p:spPr>
          <a:xfrm>
            <a:off x="52641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6" name="Shape 60"/>
          <p:cNvSpPr/>
          <p:nvPr/>
        </p:nvSpPr>
        <p:spPr>
          <a:xfrm>
            <a:off x="54102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7" name="Shape 61"/>
          <p:cNvSpPr/>
          <p:nvPr/>
        </p:nvSpPr>
        <p:spPr>
          <a:xfrm>
            <a:off x="55562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8" name="Shape 62"/>
          <p:cNvSpPr/>
          <p:nvPr/>
        </p:nvSpPr>
        <p:spPr>
          <a:xfrm>
            <a:off x="57023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9" name="Shape 63"/>
          <p:cNvSpPr/>
          <p:nvPr/>
        </p:nvSpPr>
        <p:spPr>
          <a:xfrm>
            <a:off x="58483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0" name="Shape 64"/>
          <p:cNvSpPr/>
          <p:nvPr/>
        </p:nvSpPr>
        <p:spPr>
          <a:xfrm>
            <a:off x="59944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1" name="Shape 65"/>
          <p:cNvSpPr/>
          <p:nvPr/>
        </p:nvSpPr>
        <p:spPr>
          <a:xfrm>
            <a:off x="61404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2" name="Shape 66"/>
          <p:cNvSpPr/>
          <p:nvPr/>
        </p:nvSpPr>
        <p:spPr>
          <a:xfrm>
            <a:off x="62865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3" name="Shape 67"/>
          <p:cNvSpPr/>
          <p:nvPr/>
        </p:nvSpPr>
        <p:spPr>
          <a:xfrm>
            <a:off x="64325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4" name="Shape 68"/>
          <p:cNvSpPr/>
          <p:nvPr/>
        </p:nvSpPr>
        <p:spPr>
          <a:xfrm>
            <a:off x="65786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5" name="Shape 69"/>
          <p:cNvSpPr/>
          <p:nvPr/>
        </p:nvSpPr>
        <p:spPr>
          <a:xfrm>
            <a:off x="67246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6" name="Shape 70"/>
          <p:cNvSpPr/>
          <p:nvPr/>
        </p:nvSpPr>
        <p:spPr>
          <a:xfrm>
            <a:off x="68707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7" name="Shape 71"/>
          <p:cNvSpPr/>
          <p:nvPr/>
        </p:nvSpPr>
        <p:spPr>
          <a:xfrm>
            <a:off x="70167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8" name="Shape 72"/>
          <p:cNvSpPr/>
          <p:nvPr/>
        </p:nvSpPr>
        <p:spPr>
          <a:xfrm>
            <a:off x="71628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9" name="Shape 73"/>
          <p:cNvSpPr/>
          <p:nvPr/>
        </p:nvSpPr>
        <p:spPr>
          <a:xfrm>
            <a:off x="73088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0" name="Shape 74"/>
          <p:cNvSpPr/>
          <p:nvPr/>
        </p:nvSpPr>
        <p:spPr>
          <a:xfrm>
            <a:off x="74549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1" name="Shape 75"/>
          <p:cNvSpPr/>
          <p:nvPr/>
        </p:nvSpPr>
        <p:spPr>
          <a:xfrm>
            <a:off x="76009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2" name="Shape 76"/>
          <p:cNvSpPr/>
          <p:nvPr/>
        </p:nvSpPr>
        <p:spPr>
          <a:xfrm>
            <a:off x="77470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3" name="Shape 77"/>
          <p:cNvSpPr/>
          <p:nvPr/>
        </p:nvSpPr>
        <p:spPr>
          <a:xfrm>
            <a:off x="78930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4" name="Shape 78"/>
          <p:cNvSpPr/>
          <p:nvPr/>
        </p:nvSpPr>
        <p:spPr>
          <a:xfrm>
            <a:off x="80391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5" name="Shape 79"/>
          <p:cNvSpPr/>
          <p:nvPr/>
        </p:nvSpPr>
        <p:spPr>
          <a:xfrm>
            <a:off x="81851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6" name="Shape 80"/>
          <p:cNvSpPr/>
          <p:nvPr/>
        </p:nvSpPr>
        <p:spPr>
          <a:xfrm>
            <a:off x="83312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7" name="Shape 81"/>
          <p:cNvSpPr/>
          <p:nvPr/>
        </p:nvSpPr>
        <p:spPr>
          <a:xfrm>
            <a:off x="8477250" y="5562600"/>
            <a:ext cx="0" cy="133350"/>
          </a:xfrm>
          <a:prstGeom prst="line">
            <a:avLst/>
          </a:prstGeom>
          <a:noFill/>
          <a:ln w="25400">
            <a:solidFill>
              <a:srgbClr val="EFB13C"/>
            </a:solidFill>
            <a:prstDash val="solid"/>
          </a:ln>
        </p:spPr>
      </p:sp>
      <p:sp>
        <p:nvSpPr>
          <p:cNvPr id="88" name="Shape 82"/>
          <p:cNvSpPr/>
          <p:nvPr/>
        </p:nvSpPr>
        <p:spPr>
          <a:xfrm>
            <a:off x="86233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9" name="Shape 83"/>
          <p:cNvSpPr/>
          <p:nvPr/>
        </p:nvSpPr>
        <p:spPr>
          <a:xfrm>
            <a:off x="87693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0" name="Shape 84"/>
          <p:cNvSpPr/>
          <p:nvPr/>
        </p:nvSpPr>
        <p:spPr>
          <a:xfrm>
            <a:off x="89154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1" name="Shape 85"/>
          <p:cNvSpPr/>
          <p:nvPr/>
        </p:nvSpPr>
        <p:spPr>
          <a:xfrm>
            <a:off x="90614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2" name="Shape 86"/>
          <p:cNvSpPr/>
          <p:nvPr/>
        </p:nvSpPr>
        <p:spPr>
          <a:xfrm>
            <a:off x="92075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3" name="Shape 87"/>
          <p:cNvSpPr/>
          <p:nvPr/>
        </p:nvSpPr>
        <p:spPr>
          <a:xfrm>
            <a:off x="93535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4" name="Shape 88"/>
          <p:cNvSpPr/>
          <p:nvPr/>
        </p:nvSpPr>
        <p:spPr>
          <a:xfrm>
            <a:off x="94996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5" name="Shape 89"/>
          <p:cNvSpPr/>
          <p:nvPr/>
        </p:nvSpPr>
        <p:spPr>
          <a:xfrm>
            <a:off x="96456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6" name="Shape 90"/>
          <p:cNvSpPr/>
          <p:nvPr/>
        </p:nvSpPr>
        <p:spPr>
          <a:xfrm>
            <a:off x="97917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7" name="Shape 91"/>
          <p:cNvSpPr/>
          <p:nvPr/>
        </p:nvSpPr>
        <p:spPr>
          <a:xfrm>
            <a:off x="99377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8" name="Shape 92"/>
          <p:cNvSpPr/>
          <p:nvPr/>
        </p:nvSpPr>
        <p:spPr>
          <a:xfrm>
            <a:off x="100838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9" name="Shape 93"/>
          <p:cNvSpPr/>
          <p:nvPr/>
        </p:nvSpPr>
        <p:spPr>
          <a:xfrm>
            <a:off x="102298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00" name="Shape 94"/>
          <p:cNvSpPr/>
          <p:nvPr/>
        </p:nvSpPr>
        <p:spPr>
          <a:xfrm>
            <a:off x="103759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01" name="Shape 95"/>
          <p:cNvSpPr/>
          <p:nvPr/>
        </p:nvSpPr>
        <p:spPr>
          <a:xfrm>
            <a:off x="1052195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02" name="Shape 96"/>
          <p:cNvSpPr/>
          <p:nvPr/>
        </p:nvSpPr>
        <p:spPr>
          <a:xfrm>
            <a:off x="10668000" y="56388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03" name="Shape 97"/>
          <p:cNvSpPr/>
          <p:nvPr/>
        </p:nvSpPr>
        <p:spPr>
          <a:xfrm>
            <a:off x="1828800" y="5695950"/>
            <a:ext cx="8915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04" name="Text 98"/>
          <p:cNvSpPr txBox="1"/>
          <p:nvPr/>
        </p:nvSpPr>
        <p:spPr>
          <a:xfrm>
            <a:off x="1676400" y="5762625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-20</a:t>
            </a:r>
            <a:endParaRPr lang="en-US" sz="788" dirty="0"/>
          </a:p>
        </p:txBody>
      </p:sp>
      <p:sp>
        <p:nvSpPr>
          <p:cNvPr id="105" name="Text 99"/>
          <p:cNvSpPr txBox="1"/>
          <p:nvPr/>
        </p:nvSpPr>
        <p:spPr>
          <a:xfrm>
            <a:off x="3136900" y="5762625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</a:t>
            </a:r>
            <a:endParaRPr lang="en-US" sz="788" dirty="0"/>
          </a:p>
        </p:txBody>
      </p:sp>
      <p:sp>
        <p:nvSpPr>
          <p:cNvPr id="106" name="Text 100"/>
          <p:cNvSpPr txBox="1"/>
          <p:nvPr/>
        </p:nvSpPr>
        <p:spPr>
          <a:xfrm>
            <a:off x="4597400" y="5762625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88" dirty="0"/>
          </a:p>
        </p:txBody>
      </p:sp>
      <p:sp>
        <p:nvSpPr>
          <p:cNvPr id="107" name="Text 101"/>
          <p:cNvSpPr txBox="1"/>
          <p:nvPr/>
        </p:nvSpPr>
        <p:spPr>
          <a:xfrm>
            <a:off x="6057900" y="5762625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+10</a:t>
            </a:r>
            <a:endParaRPr lang="en-US" sz="788" dirty="0"/>
          </a:p>
        </p:txBody>
      </p:sp>
      <p:sp>
        <p:nvSpPr>
          <p:cNvPr id="108" name="Text 102"/>
          <p:cNvSpPr txBox="1"/>
          <p:nvPr/>
        </p:nvSpPr>
        <p:spPr>
          <a:xfrm>
            <a:off x="7518400" y="5762625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+20</a:t>
            </a:r>
            <a:endParaRPr lang="en-US" sz="788" dirty="0"/>
          </a:p>
        </p:txBody>
      </p:sp>
      <p:sp>
        <p:nvSpPr>
          <p:cNvPr id="109" name="Text 103"/>
          <p:cNvSpPr txBox="1"/>
          <p:nvPr/>
        </p:nvSpPr>
        <p:spPr>
          <a:xfrm>
            <a:off x="8978900" y="5762625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+30</a:t>
            </a:r>
            <a:endParaRPr lang="en-US" sz="788" dirty="0"/>
          </a:p>
        </p:txBody>
      </p:sp>
      <p:sp>
        <p:nvSpPr>
          <p:cNvPr id="110" name="Text 104"/>
          <p:cNvSpPr txBox="1"/>
          <p:nvPr/>
        </p:nvSpPr>
        <p:spPr>
          <a:xfrm>
            <a:off x="10439400" y="5762625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+40</a:t>
            </a:r>
            <a:endParaRPr lang="en-US" sz="788" dirty="0"/>
          </a:p>
        </p:txBody>
      </p:sp>
      <p:sp>
        <p:nvSpPr>
          <p:cNvPr id="111" name="Text 105"/>
          <p:cNvSpPr txBox="1"/>
          <p:nvPr/>
        </p:nvSpPr>
        <p:spPr>
          <a:xfrm>
            <a:off x="10915650" y="5762625"/>
            <a:ext cx="228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℃</a:t>
            </a:r>
            <a:endParaRPr lang="en-US" sz="788" dirty="0"/>
          </a:p>
        </p:txBody>
      </p:sp>
      <p:sp>
        <p:nvSpPr>
          <p:cNvPr id="112" name="Shape 106"/>
          <p:cNvSpPr/>
          <p:nvPr/>
        </p:nvSpPr>
        <p:spPr>
          <a:xfrm>
            <a:off x="1905000" y="5029200"/>
            <a:ext cx="8763000" cy="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13" name="Shape 107"/>
          <p:cNvSpPr/>
          <p:nvPr/>
        </p:nvSpPr>
        <p:spPr>
          <a:xfrm>
            <a:off x="8410575" y="4962525"/>
            <a:ext cx="133350" cy="133350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114" name="Shape 108"/>
          <p:cNvSpPr/>
          <p:nvPr/>
        </p:nvSpPr>
        <p:spPr>
          <a:xfrm>
            <a:off x="8477250" y="5105400"/>
            <a:ext cx="0" cy="457200"/>
          </a:xfrm>
          <a:prstGeom prst="line">
            <a:avLst/>
          </a:prstGeom>
          <a:noFill/>
          <a:ln w="12700">
            <a:solidFill>
              <a:srgbClr val="EFB13C"/>
            </a:solidFill>
            <a:prstDash val="dash"/>
          </a:ln>
        </p:spPr>
      </p:sp>
      <p:sp>
        <p:nvSpPr>
          <p:cNvPr id="115" name="Text 109"/>
          <p:cNvSpPr txBox="1"/>
          <p:nvPr/>
        </p:nvSpPr>
        <p:spPr>
          <a:xfrm>
            <a:off x="7048500" y="4762500"/>
            <a:ext cx="2857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 온도 1곳</a:t>
            </a:r>
            <a:endParaRPr lang="en-US" sz="1013" dirty="0"/>
          </a:p>
        </p:txBody>
      </p:sp>
      <p:sp>
        <p:nvSpPr>
          <p:cNvPr id="116" name="Text 110"/>
          <p:cNvSpPr txBox="1"/>
          <p:nvPr/>
        </p:nvSpPr>
        <p:spPr>
          <a:xfrm>
            <a:off x="914400" y="4933950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범위 61개 온도</a:t>
            </a:r>
            <a:endParaRPr lang="en-US" sz="900" dirty="0"/>
          </a:p>
        </p:txBody>
      </p:sp>
      <p:sp>
        <p:nvSpPr>
          <p:cNvPr id="117" name="Shape 11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8" name="Text 11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19" name="Text 11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해보지 않은 온도는 알 방법이 없었으니, 그때는 이게 최선이었습니다.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결과는 회차마다 달랐지만, 더해 주는 보정값은 거의 하나로 고정돼 있었습니다.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809750"/>
            <a:ext cx="4476750" cy="41338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6300" y="1905000"/>
            <a:ext cx="247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기존 실적 시트 기록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52500" y="2152650"/>
            <a:ext cx="3276600" cy="2476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16" name="Shape 14"/>
          <p:cNvSpPr/>
          <p:nvPr/>
        </p:nvSpPr>
        <p:spPr>
          <a:xfrm>
            <a:off x="952500" y="2400300"/>
            <a:ext cx="32766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38225" y="22288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743075" y="2228850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실제 차이</a:t>
            </a:r>
            <a:endParaRPr lang="en-US" sz="938" dirty="0"/>
          </a:p>
        </p:txBody>
      </p:sp>
      <p:sp>
        <p:nvSpPr>
          <p:cNvPr id="19" name="Text 17"/>
          <p:cNvSpPr txBox="1"/>
          <p:nvPr/>
        </p:nvSpPr>
        <p:spPr>
          <a:xfrm>
            <a:off x="2905125" y="2228850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적용한 보정값</a:t>
            </a:r>
            <a:endParaRPr lang="en-US" sz="938" dirty="0"/>
          </a:p>
        </p:txBody>
      </p:sp>
      <p:sp>
        <p:nvSpPr>
          <p:cNvPr id="20" name="Shape 18"/>
          <p:cNvSpPr/>
          <p:nvPr/>
        </p:nvSpPr>
        <p:spPr>
          <a:xfrm>
            <a:off x="952500" y="260985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38225" y="2433638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2/24</a:t>
            </a:r>
            <a:endParaRPr lang="en-US" sz="938" dirty="0"/>
          </a:p>
        </p:txBody>
      </p:sp>
      <p:sp>
        <p:nvSpPr>
          <p:cNvPr id="22" name="Text 20"/>
          <p:cNvSpPr txBox="1"/>
          <p:nvPr/>
        </p:nvSpPr>
        <p:spPr>
          <a:xfrm>
            <a:off x="1743075" y="2433638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11.3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2905125" y="2433638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24" name="Shape 22"/>
          <p:cNvSpPr/>
          <p:nvPr/>
        </p:nvSpPr>
        <p:spPr>
          <a:xfrm>
            <a:off x="952500" y="2609850"/>
            <a:ext cx="3276600" cy="209550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952500" y="281940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38225" y="2643188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27" name="Text 25"/>
          <p:cNvSpPr txBox="1"/>
          <p:nvPr/>
        </p:nvSpPr>
        <p:spPr>
          <a:xfrm>
            <a:off x="1743075" y="2643188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endParaRPr lang="en-US" sz="938" dirty="0"/>
          </a:p>
        </p:txBody>
      </p:sp>
      <p:sp>
        <p:nvSpPr>
          <p:cNvPr id="28" name="Text 26"/>
          <p:cNvSpPr txBox="1"/>
          <p:nvPr/>
        </p:nvSpPr>
        <p:spPr>
          <a:xfrm>
            <a:off x="2905125" y="2643188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29" name="Shape 27"/>
          <p:cNvSpPr/>
          <p:nvPr/>
        </p:nvSpPr>
        <p:spPr>
          <a:xfrm>
            <a:off x="952500" y="302895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38225" y="2852738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1743075" y="2852738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11.0</a:t>
            </a:r>
            <a:endParaRPr lang="en-US" sz="938" dirty="0"/>
          </a:p>
        </p:txBody>
      </p:sp>
      <p:sp>
        <p:nvSpPr>
          <p:cNvPr id="32" name="Text 30"/>
          <p:cNvSpPr txBox="1"/>
          <p:nvPr/>
        </p:nvSpPr>
        <p:spPr>
          <a:xfrm>
            <a:off x="2905125" y="2852738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33" name="Shape 31"/>
          <p:cNvSpPr/>
          <p:nvPr/>
        </p:nvSpPr>
        <p:spPr>
          <a:xfrm>
            <a:off x="952500" y="3028950"/>
            <a:ext cx="3276600" cy="209550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52500" y="323850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38225" y="3062288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1743075" y="3062288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8.0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2905125" y="3062288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38" name="Shape 36"/>
          <p:cNvSpPr/>
          <p:nvPr/>
        </p:nvSpPr>
        <p:spPr>
          <a:xfrm>
            <a:off x="952500" y="344805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38225" y="3271838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40" name="Text 38"/>
          <p:cNvSpPr txBox="1"/>
          <p:nvPr/>
        </p:nvSpPr>
        <p:spPr>
          <a:xfrm>
            <a:off x="1743075" y="3271838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11.5</a:t>
            </a:r>
            <a:endParaRPr lang="en-US" sz="938" dirty="0"/>
          </a:p>
        </p:txBody>
      </p:sp>
      <p:sp>
        <p:nvSpPr>
          <p:cNvPr id="41" name="Text 39"/>
          <p:cNvSpPr txBox="1"/>
          <p:nvPr/>
        </p:nvSpPr>
        <p:spPr>
          <a:xfrm>
            <a:off x="2905125" y="3271838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42" name="Shape 40"/>
          <p:cNvSpPr/>
          <p:nvPr/>
        </p:nvSpPr>
        <p:spPr>
          <a:xfrm>
            <a:off x="952500" y="3448050"/>
            <a:ext cx="3276600" cy="209550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952500" y="365760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38225" y="3481388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743075" y="3481388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6.9</a:t>
            </a:r>
            <a:endParaRPr lang="en-US" sz="938" dirty="0"/>
          </a:p>
        </p:txBody>
      </p:sp>
      <p:sp>
        <p:nvSpPr>
          <p:cNvPr id="46" name="Text 44"/>
          <p:cNvSpPr txBox="1"/>
          <p:nvPr/>
        </p:nvSpPr>
        <p:spPr>
          <a:xfrm>
            <a:off x="2905125" y="3481388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47" name="Shape 45"/>
          <p:cNvSpPr/>
          <p:nvPr/>
        </p:nvSpPr>
        <p:spPr>
          <a:xfrm>
            <a:off x="952500" y="386715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38225" y="3690937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49" name="Text 47"/>
          <p:cNvSpPr txBox="1"/>
          <p:nvPr/>
        </p:nvSpPr>
        <p:spPr>
          <a:xfrm>
            <a:off x="1743075" y="3690937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9.5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2905125" y="3690937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51" name="Shape 49"/>
          <p:cNvSpPr/>
          <p:nvPr/>
        </p:nvSpPr>
        <p:spPr>
          <a:xfrm>
            <a:off x="952500" y="3867150"/>
            <a:ext cx="3276600" cy="209550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52500" y="407670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038225" y="3900488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54" name="Text 52"/>
          <p:cNvSpPr txBox="1"/>
          <p:nvPr/>
        </p:nvSpPr>
        <p:spPr>
          <a:xfrm>
            <a:off x="1743075" y="3900488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2905125" y="3900488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56" name="Shape 54"/>
          <p:cNvSpPr/>
          <p:nvPr/>
        </p:nvSpPr>
        <p:spPr>
          <a:xfrm>
            <a:off x="952500" y="428625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38225" y="4110038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1743075" y="4110038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9.7</a:t>
            </a:r>
            <a:endParaRPr lang="en-US" sz="938" dirty="0"/>
          </a:p>
        </p:txBody>
      </p:sp>
      <p:sp>
        <p:nvSpPr>
          <p:cNvPr id="59" name="Text 57"/>
          <p:cNvSpPr txBox="1"/>
          <p:nvPr/>
        </p:nvSpPr>
        <p:spPr>
          <a:xfrm>
            <a:off x="2905125" y="4110038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60" name="Shape 58"/>
          <p:cNvSpPr/>
          <p:nvPr/>
        </p:nvSpPr>
        <p:spPr>
          <a:xfrm>
            <a:off x="952500" y="4286250"/>
            <a:ext cx="3276600" cy="209550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52500" y="449580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38225" y="4319588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743075" y="4319588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4.6</a:t>
            </a:r>
            <a:endParaRPr lang="en-US" sz="938" dirty="0"/>
          </a:p>
        </p:txBody>
      </p:sp>
      <p:sp>
        <p:nvSpPr>
          <p:cNvPr id="64" name="Text 62"/>
          <p:cNvSpPr txBox="1"/>
          <p:nvPr/>
        </p:nvSpPr>
        <p:spPr>
          <a:xfrm>
            <a:off x="2905125" y="4319588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38" dirty="0"/>
          </a:p>
        </p:txBody>
      </p:sp>
      <p:sp>
        <p:nvSpPr>
          <p:cNvPr id="65" name="Shape 63"/>
          <p:cNvSpPr/>
          <p:nvPr/>
        </p:nvSpPr>
        <p:spPr>
          <a:xfrm>
            <a:off x="952500" y="470535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1038225" y="4529138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67" name="Text 65"/>
          <p:cNvSpPr txBox="1"/>
          <p:nvPr/>
        </p:nvSpPr>
        <p:spPr>
          <a:xfrm>
            <a:off x="1743075" y="4529138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10.2</a:t>
            </a:r>
            <a:endParaRPr lang="en-US" sz="938" dirty="0"/>
          </a:p>
        </p:txBody>
      </p:sp>
      <p:sp>
        <p:nvSpPr>
          <p:cNvPr id="68" name="Text 66"/>
          <p:cNvSpPr txBox="1"/>
          <p:nvPr/>
        </p:nvSpPr>
        <p:spPr>
          <a:xfrm>
            <a:off x="2905125" y="4529138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38" dirty="0"/>
          </a:p>
        </p:txBody>
      </p:sp>
      <p:sp>
        <p:nvSpPr>
          <p:cNvPr id="69" name="Shape 67"/>
          <p:cNvSpPr/>
          <p:nvPr/>
        </p:nvSpPr>
        <p:spPr>
          <a:xfrm>
            <a:off x="952500" y="4705350"/>
            <a:ext cx="3276600" cy="209550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52500" y="491490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038225" y="4738688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72" name="Text 70"/>
          <p:cNvSpPr txBox="1"/>
          <p:nvPr/>
        </p:nvSpPr>
        <p:spPr>
          <a:xfrm>
            <a:off x="1743075" y="4738688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-4.6</a:t>
            </a:r>
            <a:endParaRPr lang="en-US" sz="938" dirty="0"/>
          </a:p>
        </p:txBody>
      </p:sp>
      <p:sp>
        <p:nvSpPr>
          <p:cNvPr id="73" name="Text 71"/>
          <p:cNvSpPr txBox="1"/>
          <p:nvPr/>
        </p:nvSpPr>
        <p:spPr>
          <a:xfrm>
            <a:off x="2905125" y="4738688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74" name="Shape 72"/>
          <p:cNvSpPr/>
          <p:nvPr/>
        </p:nvSpPr>
        <p:spPr>
          <a:xfrm>
            <a:off x="952500" y="512445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1038225" y="4948238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76" name="Text 74"/>
          <p:cNvSpPr txBox="1"/>
          <p:nvPr/>
        </p:nvSpPr>
        <p:spPr>
          <a:xfrm>
            <a:off x="1743075" y="4948238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3.2</a:t>
            </a:r>
            <a:endParaRPr lang="en-US" sz="938" dirty="0"/>
          </a:p>
        </p:txBody>
      </p:sp>
      <p:sp>
        <p:nvSpPr>
          <p:cNvPr id="77" name="Text 75"/>
          <p:cNvSpPr txBox="1"/>
          <p:nvPr/>
        </p:nvSpPr>
        <p:spPr>
          <a:xfrm>
            <a:off x="2905125" y="4948238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78" name="Shape 76"/>
          <p:cNvSpPr/>
          <p:nvPr/>
        </p:nvSpPr>
        <p:spPr>
          <a:xfrm>
            <a:off x="952500" y="5124450"/>
            <a:ext cx="32766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038225" y="5176838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938" dirty="0"/>
          </a:p>
        </p:txBody>
      </p:sp>
      <p:sp>
        <p:nvSpPr>
          <p:cNvPr id="80" name="Text 78"/>
          <p:cNvSpPr txBox="1"/>
          <p:nvPr/>
        </p:nvSpPr>
        <p:spPr>
          <a:xfrm>
            <a:off x="1743075" y="5176838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-4.6 ~ 11.5</a:t>
            </a:r>
            <a:endParaRPr lang="en-US" sz="938" dirty="0"/>
          </a:p>
        </p:txBody>
      </p:sp>
      <p:sp>
        <p:nvSpPr>
          <p:cNvPr id="81" name="Text 79"/>
          <p:cNvSpPr txBox="1"/>
          <p:nvPr/>
        </p:nvSpPr>
        <p:spPr>
          <a:xfrm>
            <a:off x="2905125" y="5176838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~ 5</a:t>
            </a:r>
            <a:endParaRPr lang="en-US" sz="938" dirty="0"/>
          </a:p>
        </p:txBody>
      </p:sp>
      <p:sp>
        <p:nvSpPr>
          <p:cNvPr id="82" name="Text 80"/>
          <p:cNvSpPr txBox="1"/>
          <p:nvPr/>
        </p:nvSpPr>
        <p:spPr>
          <a:xfrm>
            <a:off x="952500" y="5715000"/>
            <a:ext cx="3276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MW. 기존 실적 시트에서 옮겨 적었습니다.</a:t>
            </a:r>
            <a:endParaRPr lang="en-US" sz="788" dirty="0"/>
          </a:p>
        </p:txBody>
      </p:sp>
      <p:sp>
        <p:nvSpPr>
          <p:cNvPr id="83" name="Shape 81"/>
          <p:cNvSpPr/>
          <p:nvPr/>
        </p:nvSpPr>
        <p:spPr>
          <a:xfrm>
            <a:off x="5314950" y="1809750"/>
            <a:ext cx="6191250" cy="41338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5505450" y="1905000"/>
            <a:ext cx="2286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시험 40회 전체</a:t>
            </a:r>
            <a:endParaRPr lang="en-US" sz="788" dirty="0"/>
          </a:p>
        </p:txBody>
      </p:sp>
      <p:sp>
        <p:nvSpPr>
          <p:cNvPr id="85" name="Text 83"/>
          <p:cNvSpPr txBox="1"/>
          <p:nvPr/>
        </p:nvSpPr>
        <p:spPr>
          <a:xfrm>
            <a:off x="8362950" y="1895475"/>
            <a:ext cx="29527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외기온도 ℃ / 세로 실제 차이 MW</a:t>
            </a:r>
            <a:endParaRPr lang="en-US" sz="788" dirty="0"/>
          </a:p>
        </p:txBody>
      </p:sp>
      <p:sp>
        <p:nvSpPr>
          <p:cNvPr id="86" name="Shape 84"/>
          <p:cNvSpPr/>
          <p:nvPr/>
        </p:nvSpPr>
        <p:spPr>
          <a:xfrm>
            <a:off x="5924550" y="2487930"/>
            <a:ext cx="53149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924550" y="2891790"/>
            <a:ext cx="53149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924550" y="3295650"/>
            <a:ext cx="53149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24550" y="4103370"/>
            <a:ext cx="53149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24550" y="3699510"/>
            <a:ext cx="53149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5486400" y="2421255"/>
            <a:ext cx="342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5486400" y="2825115"/>
            <a:ext cx="342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93" name="Text 91"/>
          <p:cNvSpPr txBox="1"/>
          <p:nvPr/>
        </p:nvSpPr>
        <p:spPr>
          <a:xfrm>
            <a:off x="5486400" y="3228975"/>
            <a:ext cx="342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94" name="Text 92"/>
          <p:cNvSpPr txBox="1"/>
          <p:nvPr/>
        </p:nvSpPr>
        <p:spPr>
          <a:xfrm>
            <a:off x="5486400" y="3632835"/>
            <a:ext cx="342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95" name="Text 93"/>
          <p:cNvSpPr txBox="1"/>
          <p:nvPr/>
        </p:nvSpPr>
        <p:spPr>
          <a:xfrm>
            <a:off x="5486400" y="4036695"/>
            <a:ext cx="342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6313170" y="43053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103620" y="43815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7608570" y="43053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399020" y="43815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8903970" y="43053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8694420" y="43815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10199370" y="43053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9989820" y="43815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5924550" y="3451641"/>
            <a:ext cx="5314950" cy="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05" name="Text 103"/>
          <p:cNvSpPr txBox="1"/>
          <p:nvPr/>
        </p:nvSpPr>
        <p:spPr>
          <a:xfrm>
            <a:off x="8903970" y="3270666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적용한 보정값</a:t>
            </a:r>
            <a:endParaRPr lang="en-US" sz="863" dirty="0"/>
          </a:p>
        </p:txBody>
      </p:sp>
      <p:sp>
        <p:nvSpPr>
          <p:cNvPr id="106" name="Shape 104"/>
          <p:cNvSpPr/>
          <p:nvPr/>
        </p:nvSpPr>
        <p:spPr>
          <a:xfrm>
            <a:off x="6035612" y="2361086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093905" y="2408842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527864" y="2781302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786944" y="3091264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058978" y="3119434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188518" y="3165575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318058" y="3208384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7434644" y="3038157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512368" y="3298848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732586" y="3148714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926896" y="3180013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965758" y="2968996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8" name="Shape 116"/>
          <p:cNvSpPr/>
          <p:nvPr/>
        </p:nvSpPr>
        <p:spPr>
          <a:xfrm>
            <a:off x="8004620" y="3013925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9" name="Shape 117"/>
          <p:cNvSpPr/>
          <p:nvPr/>
        </p:nvSpPr>
        <p:spPr>
          <a:xfrm>
            <a:off x="8147114" y="2925884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160068" y="3061177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1" name="Shape 119"/>
          <p:cNvSpPr/>
          <p:nvPr/>
        </p:nvSpPr>
        <p:spPr>
          <a:xfrm>
            <a:off x="8237792" y="3103885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432102" y="3126299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445056" y="3092274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4" name="Shape 122"/>
          <p:cNvSpPr/>
          <p:nvPr/>
        </p:nvSpPr>
        <p:spPr>
          <a:xfrm>
            <a:off x="9040940" y="3403650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5" name="Shape 123"/>
          <p:cNvSpPr/>
          <p:nvPr/>
        </p:nvSpPr>
        <p:spPr>
          <a:xfrm>
            <a:off x="9533192" y="3881013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6" name="Shape 124"/>
          <p:cNvSpPr/>
          <p:nvPr/>
        </p:nvSpPr>
        <p:spPr>
          <a:xfrm>
            <a:off x="9559100" y="3999647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9572054" y="3726536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610916" y="3738753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831134" y="3937856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999536" y="4158263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1" name="Shape 129"/>
          <p:cNvSpPr/>
          <p:nvPr/>
        </p:nvSpPr>
        <p:spPr>
          <a:xfrm>
            <a:off x="10193846" y="3830126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10193846" y="3716440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10258616" y="4016306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4" name="Shape 132"/>
          <p:cNvSpPr/>
          <p:nvPr/>
        </p:nvSpPr>
        <p:spPr>
          <a:xfrm>
            <a:off x="10284524" y="4010955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5" name="Shape 133"/>
          <p:cNvSpPr/>
          <p:nvPr/>
        </p:nvSpPr>
        <p:spPr>
          <a:xfrm>
            <a:off x="10388156" y="3756220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6" name="Shape 134"/>
          <p:cNvSpPr/>
          <p:nvPr/>
        </p:nvSpPr>
        <p:spPr>
          <a:xfrm>
            <a:off x="10478834" y="3730676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10517696" y="3924630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10530650" y="3454940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0530650" y="3527635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0" name="Shape 138"/>
          <p:cNvSpPr/>
          <p:nvPr/>
        </p:nvSpPr>
        <p:spPr>
          <a:xfrm>
            <a:off x="10530650" y="3822857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1" name="Shape 139"/>
          <p:cNvSpPr/>
          <p:nvPr/>
        </p:nvSpPr>
        <p:spPr>
          <a:xfrm>
            <a:off x="10634282" y="3599623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2" name="Shape 140"/>
          <p:cNvSpPr/>
          <p:nvPr/>
        </p:nvSpPr>
        <p:spPr>
          <a:xfrm>
            <a:off x="10660190" y="3903023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10763822" y="3593464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4" name="Shape 142"/>
          <p:cNvSpPr/>
          <p:nvPr/>
        </p:nvSpPr>
        <p:spPr>
          <a:xfrm>
            <a:off x="10958132" y="3456051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5" name="Shape 143"/>
          <p:cNvSpPr/>
          <p:nvPr/>
        </p:nvSpPr>
        <p:spPr>
          <a:xfrm>
            <a:off x="11191304" y="3524303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505450" y="4476750"/>
            <a:ext cx="5810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5505450" y="4676775"/>
            <a:ext cx="38100" cy="247650"/>
          </a:xfrm>
          <a:prstGeom prst="rect">
            <a:avLst/>
          </a:prstGeom>
          <a:solidFill>
            <a:srgbClr val="A8BCD1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5638800" y="4648200"/>
            <a:ext cx="5143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</a:t>
            </a:r>
            <a:endParaRPr lang="en-US" sz="1125" dirty="0"/>
          </a:p>
        </p:txBody>
      </p:sp>
      <p:sp>
        <p:nvSpPr>
          <p:cNvPr id="149" name="Text 147"/>
          <p:cNvSpPr txBox="1"/>
          <p:nvPr/>
        </p:nvSpPr>
        <p:spPr>
          <a:xfrm>
            <a:off x="6229350" y="4657725"/>
            <a:ext cx="489585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낼 수 있는데 적게 신고했습니다. 팔 수 있는 양을 못 팔았습니다.</a:t>
            </a:r>
            <a:endParaRPr lang="en-US" sz="1013" dirty="0"/>
          </a:p>
        </p:txBody>
      </p:sp>
      <p:sp>
        <p:nvSpPr>
          <p:cNvPr id="150" name="Shape 148"/>
          <p:cNvSpPr/>
          <p:nvPr/>
        </p:nvSpPr>
        <p:spPr>
          <a:xfrm>
            <a:off x="5505450" y="5095875"/>
            <a:ext cx="38100" cy="2476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5638800" y="5067300"/>
            <a:ext cx="5143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</a:t>
            </a:r>
            <a:endParaRPr lang="en-US" sz="1125" dirty="0"/>
          </a:p>
        </p:txBody>
      </p:sp>
      <p:sp>
        <p:nvSpPr>
          <p:cNvPr id="152" name="Text 150"/>
          <p:cNvSpPr txBox="1"/>
          <p:nvPr/>
        </p:nvSpPr>
        <p:spPr>
          <a:xfrm>
            <a:off x="6229350" y="5076825"/>
            <a:ext cx="489585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내는데 많이 신고했습니다. 신고값을 못 채우면 정산에서 불이익을 받습니다.</a:t>
            </a:r>
            <a:endParaRPr lang="en-US" sz="1013" dirty="0"/>
          </a:p>
        </p:txBody>
      </p:sp>
      <p:sp>
        <p:nvSpPr>
          <p:cNvPr id="153" name="Shape 151"/>
          <p:cNvSpPr/>
          <p:nvPr/>
        </p:nvSpPr>
        <p:spPr>
          <a:xfrm>
            <a:off x="5505450" y="5514975"/>
            <a:ext cx="38100" cy="2476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5638800" y="5486400"/>
            <a:ext cx="5143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25" dirty="0"/>
          </a:p>
        </p:txBody>
      </p:sp>
      <p:sp>
        <p:nvSpPr>
          <p:cNvPr id="155" name="Text 153"/>
          <p:cNvSpPr txBox="1"/>
          <p:nvPr/>
        </p:nvSpPr>
        <p:spPr>
          <a:xfrm>
            <a:off x="6229350" y="5495925"/>
            <a:ext cx="489585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15회가 신고값을 못 채웠고, 가장 크게 어긋난 날은 10.8 MW 였습니다.</a:t>
            </a:r>
            <a:endParaRPr lang="en-US" sz="1013" dirty="0"/>
          </a:p>
        </p:txBody>
      </p:sp>
      <p:sp>
        <p:nvSpPr>
          <p:cNvPr id="156" name="Shape 154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58" name="Text 156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다른 것을 하나로 맞추려니 맞을 수가 없었습니다.</a:t>
            </a:r>
            <a:endParaRPr lang="en-US" sz="123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2026-09-16T05:58:26Z</dcterms:created>
  <dcterms:modified xsi:type="dcterms:W3CDTF">2026-09-16T05:58:26Z</dcterms:modified>
</cp:coreProperties>
</file>