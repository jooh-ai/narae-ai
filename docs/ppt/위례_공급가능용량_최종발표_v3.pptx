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개요 및 추진 배경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추진 배경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444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네 개를 순서대로 돌렸습니다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167640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테스트가 끝나면 파일을 옮겨 다니며 값을 넘겼습니다. 여기에 대기압을 받아 오는 파일이 하나 더 붙습니다.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247900"/>
            <a:ext cx="2533650" cy="23812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00100" y="2362200"/>
            <a:ext cx="230505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RiMS 에서 값 가져오기</a:t>
            </a:r>
            <a:endParaRPr lang="en-US" sz="975" dirty="0"/>
          </a:p>
        </p:txBody>
      </p:sp>
      <p:pic>
        <p:nvPicPr>
          <p:cNvPr id="15" name="Image 0" descr="/home/user/Narae-AI/docs/ppt/assets/엑셀1-1_날짜, 시간 입력 후(RiMS 데이터 가져오기)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1050" y="2954295"/>
            <a:ext cx="2343150" cy="758909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771525" y="2944770"/>
            <a:ext cx="2362200" cy="777959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00100" y="4152900"/>
            <a:ext cx="2305050" cy="331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날짜와 시각을 넣으면 태그 </a:t>
            </a:r>
            <a:pPr algn="l" indent="0" marL="0">
              <a:lnSpc>
                <a:spcPts val="1305"/>
              </a:lnSpc>
              <a:buNone/>
            </a:pPr>
            <a:r>
              <a:rPr lang="en-US" sz="90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14개</a:t>
            </a:r>
            <a:pPr algn="l"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끌어와 한 줄로 정리합니다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3238500" y="3257550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19" name="Shape 16"/>
          <p:cNvSpPr/>
          <p:nvPr/>
        </p:nvSpPr>
        <p:spPr>
          <a:xfrm>
            <a:off x="3448050" y="2247900"/>
            <a:ext cx="2533650" cy="23812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3562350" y="2362200"/>
            <a:ext cx="230505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온도별 이론값 만들기</a:t>
            </a:r>
            <a:endParaRPr lang="en-US" sz="975" dirty="0"/>
          </a:p>
        </p:txBody>
      </p:sp>
      <p:pic>
        <p:nvPicPr>
          <p:cNvPr id="21" name="Image 1" descr="/home/user/Narae-AI/docs/ppt/assets/엑셀2-1_G열 대기압 입력 후 온도별 이론값 생성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59915" y="2609850"/>
            <a:ext cx="1709919" cy="1447800"/>
          </a:xfrm>
          <a:prstGeom prst="rect">
            <a:avLst/>
          </a:prstGeom>
        </p:spPr>
      </p:pic>
      <p:sp>
        <p:nvSpPr>
          <p:cNvPr id="22" name="Shape 18"/>
          <p:cNvSpPr/>
          <p:nvPr/>
        </p:nvSpPr>
        <p:spPr>
          <a:xfrm>
            <a:off x="3850390" y="2600325"/>
            <a:ext cx="1728969" cy="14668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3562350" y="4152900"/>
            <a:ext cx="2305050" cy="331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대기압을 넣으면 −20 ~ 40℃ 를 1도 단위로 </a:t>
            </a:r>
            <a:pPr algn="l" indent="0" marL="0">
              <a:lnSpc>
                <a:spcPts val="1305"/>
              </a:lnSpc>
              <a:buNone/>
            </a:pPr>
            <a:r>
              <a:rPr lang="en-US" sz="90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60개</a:t>
            </a:r>
            <a:pPr algn="l"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계산합니다</a:t>
            </a:r>
            <a:endParaRPr lang="en-US" sz="900" dirty="0"/>
          </a:p>
        </p:txBody>
      </p:sp>
      <p:sp>
        <p:nvSpPr>
          <p:cNvPr id="24" name="Text 20"/>
          <p:cNvSpPr txBox="1"/>
          <p:nvPr/>
        </p:nvSpPr>
        <p:spPr>
          <a:xfrm>
            <a:off x="6000750" y="3257550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5" name="Shape 21"/>
          <p:cNvSpPr/>
          <p:nvPr/>
        </p:nvSpPr>
        <p:spPr>
          <a:xfrm>
            <a:off x="6210300" y="2247900"/>
            <a:ext cx="2533650" cy="23812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324600" y="2362200"/>
            <a:ext cx="230505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차이 하나를 전부에 얹기</a:t>
            </a:r>
            <a:endParaRPr lang="en-US" sz="975" dirty="0"/>
          </a:p>
        </p:txBody>
      </p:sp>
      <p:pic>
        <p:nvPicPr>
          <p:cNvPr id="27" name="Image 2" descr="/home/user/Narae-AI/docs/ppt/assets/엑셀2-2_IGV Turn up 적용 및, 테스트 온도 지점의 실제 출력과 이론값 비교하여 BTL(보정값) 적용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5550" y="3084479"/>
            <a:ext cx="2343150" cy="498543"/>
          </a:xfrm>
          <a:prstGeom prst="rect">
            <a:avLst/>
          </a:prstGeom>
        </p:spPr>
      </p:pic>
      <p:sp>
        <p:nvSpPr>
          <p:cNvPr id="28" name="Shape 23"/>
          <p:cNvSpPr/>
          <p:nvPr/>
        </p:nvSpPr>
        <p:spPr>
          <a:xfrm>
            <a:off x="6296025" y="3074954"/>
            <a:ext cx="2362200" cy="517593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6324600" y="4152900"/>
            <a:ext cx="2305050" cy="331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테스트한 </a:t>
            </a:r>
            <a:pPr algn="l" indent="0" marL="0">
              <a:lnSpc>
                <a:spcPts val="1305"/>
              </a:lnSpc>
              <a:buNone/>
            </a:pPr>
            <a:r>
              <a:rPr lang="en-US" sz="90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한 점</a:t>
            </a:r>
            <a:pPr algn="l"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 차이를 60개 전부에 똑같이 더합니다</a:t>
            </a:r>
            <a:endParaRPr lang="en-US" sz="900" dirty="0"/>
          </a:p>
        </p:txBody>
      </p:sp>
      <p:sp>
        <p:nvSpPr>
          <p:cNvPr id="30" name="Text 25"/>
          <p:cNvSpPr txBox="1"/>
          <p:nvPr/>
        </p:nvSpPr>
        <p:spPr>
          <a:xfrm>
            <a:off x="8763000" y="3257550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31" name="Shape 26"/>
          <p:cNvSpPr/>
          <p:nvPr/>
        </p:nvSpPr>
        <p:spPr>
          <a:xfrm>
            <a:off x="8972550" y="2247900"/>
            <a:ext cx="2533650" cy="23812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9086850" y="2362200"/>
            <a:ext cx="230505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온도 프로파일 완성</a:t>
            </a:r>
            <a:endParaRPr lang="en-US" sz="975" dirty="0"/>
          </a:p>
        </p:txBody>
      </p:sp>
      <p:pic>
        <p:nvPicPr>
          <p:cNvPr id="33" name="Image 3" descr="/home/user/Narae-AI/docs/ppt/assets/xl_profil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67800" y="2639483"/>
            <a:ext cx="2343150" cy="1388533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9058275" y="2629958"/>
            <a:ext cx="2362200" cy="1407583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35" name="Text 29"/>
          <p:cNvSpPr txBox="1"/>
          <p:nvPr/>
        </p:nvSpPr>
        <p:spPr>
          <a:xfrm>
            <a:off x="9086850" y="4152900"/>
            <a:ext cx="2305050" cy="331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복사해 붙여 넣으면 이것이 그날의 </a:t>
            </a:r>
            <a:pPr algn="l" indent="0" marL="0">
              <a:lnSpc>
                <a:spcPts val="1305"/>
              </a:lnSpc>
              <a:buNone/>
            </a:pPr>
            <a:r>
              <a:rPr lang="en-US" sz="90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입찰값</a:t>
            </a:r>
            <a:pPr algn="l"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됩니다</a:t>
            </a:r>
            <a:endParaRPr lang="en-US" sz="900" dirty="0"/>
          </a:p>
        </p:txBody>
      </p:sp>
      <p:sp>
        <p:nvSpPr>
          <p:cNvPr id="36" name="Shape 30"/>
          <p:cNvSpPr/>
          <p:nvPr/>
        </p:nvSpPr>
        <p:spPr>
          <a:xfrm>
            <a:off x="685800" y="4781550"/>
            <a:ext cx="10820400" cy="11620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37" name="Text 31"/>
          <p:cNvSpPr txBox="1"/>
          <p:nvPr/>
        </p:nvSpPr>
        <p:spPr>
          <a:xfrm>
            <a:off x="914400" y="4876800"/>
            <a:ext cx="3810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왜 차이 하나를 전부에 얹었나</a:t>
            </a:r>
            <a:endParaRPr lang="en-US" sz="788" dirty="0"/>
          </a:p>
        </p:txBody>
      </p:sp>
      <p:sp>
        <p:nvSpPr>
          <p:cNvPr id="38" name="Text 32"/>
          <p:cNvSpPr txBox="1"/>
          <p:nvPr/>
        </p:nvSpPr>
        <p:spPr>
          <a:xfrm>
            <a:off x="914400" y="5086350"/>
            <a:ext cx="6667500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13"/>
              </a:lnSpc>
              <a:buNone/>
            </a:pPr>
            <a:r>
              <a:rPr lang="en-US" sz="1275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테스트는 </a:t>
            </a:r>
            <a:pPr algn="l" indent="0" marL="0">
              <a:lnSpc>
                <a:spcPts val="1913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그날의 온도 한 점</a:t>
            </a:r>
            <a:pPr algn="l" indent="0" marL="0">
              <a:lnSpc>
                <a:spcPts val="1913"/>
              </a:lnSpc>
              <a:buNone/>
            </a:pPr>
            <a:r>
              <a:rPr lang="en-US" sz="1275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에서 합니다. 신고는 </a:t>
            </a:r>
            <a:pPr algn="l" indent="0" marL="0">
              <a:lnSpc>
                <a:spcPts val="1913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61개 온도 전부</a:t>
            </a:r>
            <a:pPr algn="l" indent="0" marL="0">
              <a:lnSpc>
                <a:spcPts val="1913"/>
              </a:lnSpc>
              <a:buNone/>
            </a:pPr>
            <a:r>
              <a:rPr lang="en-US" sz="1275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입니다.</a:t>
            </a:r>
            <a:endParaRPr lang="en-US" sz="1275" dirty="0"/>
          </a:p>
        </p:txBody>
      </p:sp>
      <p:sp>
        <p:nvSpPr>
          <p:cNvPr id="39" name="Text 33"/>
          <p:cNvSpPr txBox="1"/>
          <p:nvPr/>
        </p:nvSpPr>
        <p:spPr>
          <a:xfrm>
            <a:off x="914400" y="5353050"/>
            <a:ext cx="6667500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01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나머지 60개 온도의 차이는 알 방법이 없었습니다. 같은 값을 얹는 것이 그때로서는 가장 안전했습니다.</a:t>
            </a:r>
            <a:endParaRPr lang="en-US" sz="1013" dirty="0"/>
          </a:p>
        </p:txBody>
      </p:sp>
      <p:sp>
        <p:nvSpPr>
          <p:cNvPr id="40" name="Shape 34"/>
          <p:cNvSpPr/>
          <p:nvPr/>
        </p:nvSpPr>
        <p:spPr>
          <a:xfrm>
            <a:off x="7962900" y="5029200"/>
            <a:ext cx="28575" cy="7048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41" name="Text 35"/>
          <p:cNvSpPr txBox="1"/>
          <p:nvPr/>
        </p:nvSpPr>
        <p:spPr>
          <a:xfrm>
            <a:off x="8153400" y="5029200"/>
            <a:ext cx="3143250" cy="655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21"/>
              </a:lnSpc>
              <a:buNone/>
            </a:pPr>
            <a:r>
              <a:rPr lang="en-US" sz="1013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 4개</a:t>
            </a:r>
            <a:endParaRPr lang="en-US" sz="1013" dirty="0"/>
          </a:p>
          <a:p>
            <a:pPr algn="l" indent="0" marL="0">
              <a:lnSpc>
                <a:spcPts val="1721"/>
              </a:lnSpc>
              <a:buNone/>
            </a:pPr>
            <a:r>
              <a:rPr lang="en-US" sz="1013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옮겨 적는 값 61개</a:t>
            </a:r>
            <a:endParaRPr lang="en-US" sz="1013" dirty="0"/>
          </a:p>
          <a:p>
            <a:pPr algn="l" indent="0" marL="0">
              <a:lnSpc>
                <a:spcPts val="1721"/>
              </a:lnSpc>
              <a:buNone/>
            </a:pPr>
            <a:r>
              <a:rPr lang="en-US" sz="1013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지점 여러 곳</a:t>
            </a:r>
            <a:endParaRPr lang="en-US" sz="1013" dirty="0"/>
          </a:p>
        </p:txBody>
      </p:sp>
      <p:sp>
        <p:nvSpPr>
          <p:cNvPr id="42" name="Shape 36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3" name="Text 37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44" name="Text 38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온도별로 알 방법이 없었으니,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그때는 그게 최선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이었습니다.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현황 파악 및 문제 정의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문제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차이는 매번 달랐습니다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그런데 얹는 값은 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였습니다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180975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왼쪽은 담당자가 쓰던 실적 시트입니다. 노란 칸은 회차마다 달라지는데, 오른쪽 칸은 같은 값입니다.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438400"/>
            <a:ext cx="5334000" cy="35052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76300" y="2552700"/>
            <a:ext cx="4953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엑셀①「Base Load Test 실적」 에서 세 열만 오렸습니다</a:t>
            </a:r>
            <a:endParaRPr lang="en-US" sz="788" dirty="0"/>
          </a:p>
        </p:txBody>
      </p:sp>
      <p:pic>
        <p:nvPicPr>
          <p:cNvPr id="15" name="Image 0" descr="/home/user/Narae-AI/docs/ppt/assets/xl1_g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0588" y="2762250"/>
            <a:ext cx="4924425" cy="2724150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881063" y="2752725"/>
            <a:ext cx="4943475" cy="274320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76300" y="5600700"/>
            <a:ext cx="49530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시트, 같은 회차. 열 사이 거리만 좁혔습니다.</a:t>
            </a:r>
            <a:endParaRPr lang="en-US" sz="825" dirty="0"/>
          </a:p>
        </p:txBody>
      </p:sp>
      <p:sp>
        <p:nvSpPr>
          <p:cNvPr id="18" name="Shape 15"/>
          <p:cNvSpPr/>
          <p:nvPr/>
        </p:nvSpPr>
        <p:spPr>
          <a:xfrm>
            <a:off x="6172200" y="2438400"/>
            <a:ext cx="5334000" cy="35052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362700" y="2552700"/>
            <a:ext cx="2857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누적 40회  ·  점 하나가 테스트 한 번</a:t>
            </a:r>
            <a:endParaRPr lang="en-US" sz="788" dirty="0"/>
          </a:p>
        </p:txBody>
      </p:sp>
      <p:sp>
        <p:nvSpPr>
          <p:cNvPr id="20" name="Text 17"/>
          <p:cNvSpPr txBox="1"/>
          <p:nvPr/>
        </p:nvSpPr>
        <p:spPr>
          <a:xfrm>
            <a:off x="9220200" y="2533650"/>
            <a:ext cx="20955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가로 외기온도 ℃ / 세로 차이 MW</a:t>
            </a:r>
            <a:endParaRPr lang="en-US" sz="788" dirty="0"/>
          </a:p>
        </p:txBody>
      </p:sp>
      <p:sp>
        <p:nvSpPr>
          <p:cNvPr id="21" name="Shape 18"/>
          <p:cNvSpPr/>
          <p:nvPr/>
        </p:nvSpPr>
        <p:spPr>
          <a:xfrm>
            <a:off x="6667500" y="3124200"/>
            <a:ext cx="4572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667500" y="3543300"/>
            <a:ext cx="4572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667500" y="3962400"/>
            <a:ext cx="4572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667500" y="4800600"/>
            <a:ext cx="4572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667500" y="4381500"/>
            <a:ext cx="45720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667500" y="2914650"/>
            <a:ext cx="0" cy="209550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286500" y="3057525"/>
            <a:ext cx="3048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+12</a:t>
            </a:r>
            <a:endParaRPr lang="en-US" sz="750" dirty="0"/>
          </a:p>
        </p:txBody>
      </p:sp>
      <p:sp>
        <p:nvSpPr>
          <p:cNvPr id="28" name="Text 25"/>
          <p:cNvSpPr txBox="1"/>
          <p:nvPr/>
        </p:nvSpPr>
        <p:spPr>
          <a:xfrm>
            <a:off x="6286500" y="3476625"/>
            <a:ext cx="3048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+8</a:t>
            </a:r>
            <a:endParaRPr lang="en-US" sz="750" dirty="0"/>
          </a:p>
        </p:txBody>
      </p:sp>
      <p:sp>
        <p:nvSpPr>
          <p:cNvPr id="29" name="Text 26"/>
          <p:cNvSpPr txBox="1"/>
          <p:nvPr/>
        </p:nvSpPr>
        <p:spPr>
          <a:xfrm>
            <a:off x="6286500" y="3895725"/>
            <a:ext cx="3048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+4</a:t>
            </a:r>
            <a:endParaRPr lang="en-US" sz="750" dirty="0"/>
          </a:p>
        </p:txBody>
      </p:sp>
      <p:sp>
        <p:nvSpPr>
          <p:cNvPr id="30" name="Text 27"/>
          <p:cNvSpPr txBox="1"/>
          <p:nvPr/>
        </p:nvSpPr>
        <p:spPr>
          <a:xfrm>
            <a:off x="6286500" y="4314825"/>
            <a:ext cx="3048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50" dirty="0"/>
          </a:p>
        </p:txBody>
      </p:sp>
      <p:sp>
        <p:nvSpPr>
          <p:cNvPr id="31" name="Text 28"/>
          <p:cNvSpPr txBox="1"/>
          <p:nvPr/>
        </p:nvSpPr>
        <p:spPr>
          <a:xfrm>
            <a:off x="6286500" y="4733925"/>
            <a:ext cx="3048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-4</a:t>
            </a:r>
            <a:endParaRPr lang="en-US" sz="750" dirty="0"/>
          </a:p>
        </p:txBody>
      </p:sp>
      <p:sp>
        <p:nvSpPr>
          <p:cNvPr id="32" name="Shape 29"/>
          <p:cNvSpPr/>
          <p:nvPr/>
        </p:nvSpPr>
        <p:spPr>
          <a:xfrm>
            <a:off x="6993255" y="501015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764655" y="5095875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0℃</a:t>
            </a:r>
            <a:endParaRPr lang="en-US" sz="750" dirty="0"/>
          </a:p>
        </p:txBody>
      </p:sp>
      <p:sp>
        <p:nvSpPr>
          <p:cNvPr id="34" name="Shape 31"/>
          <p:cNvSpPr/>
          <p:nvPr/>
        </p:nvSpPr>
        <p:spPr>
          <a:xfrm>
            <a:off x="8079105" y="501015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7850505" y="5095875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750" dirty="0"/>
          </a:p>
        </p:txBody>
      </p:sp>
      <p:sp>
        <p:nvSpPr>
          <p:cNvPr id="36" name="Shape 33"/>
          <p:cNvSpPr/>
          <p:nvPr/>
        </p:nvSpPr>
        <p:spPr>
          <a:xfrm>
            <a:off x="9164955" y="501015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8936355" y="5095875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750" dirty="0"/>
          </a:p>
        </p:txBody>
      </p:sp>
      <p:sp>
        <p:nvSpPr>
          <p:cNvPr id="38" name="Shape 35"/>
          <p:cNvSpPr/>
          <p:nvPr/>
        </p:nvSpPr>
        <p:spPr>
          <a:xfrm>
            <a:off x="10250805" y="501015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10022205" y="5095875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750" dirty="0"/>
          </a:p>
        </p:txBody>
      </p:sp>
      <p:sp>
        <p:nvSpPr>
          <p:cNvPr id="40" name="Shape 37"/>
          <p:cNvSpPr/>
          <p:nvPr/>
        </p:nvSpPr>
        <p:spPr>
          <a:xfrm>
            <a:off x="6667500" y="4124277"/>
            <a:ext cx="4572000" cy="0"/>
          </a:xfrm>
          <a:prstGeom prst="line">
            <a:avLst/>
          </a:prstGeom>
          <a:noFill/>
          <a:ln w="17780">
            <a:solidFill>
              <a:srgbClr val="A8BCD1"/>
            </a:solidFill>
            <a:prstDash val="dash"/>
          </a:ln>
        </p:spPr>
      </p:sp>
      <p:sp>
        <p:nvSpPr>
          <p:cNvPr id="41" name="Text 38"/>
          <p:cNvSpPr txBox="1"/>
          <p:nvPr/>
        </p:nvSpPr>
        <p:spPr>
          <a:xfrm>
            <a:off x="8572500" y="3914727"/>
            <a:ext cx="26670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1"/>
              </a:lnSpc>
              <a:buNone/>
            </a:pPr>
            <a:r>
              <a:rPr lang="en-US" sz="863" b="1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· 온도 구분 없이 +2.5</a:t>
            </a:r>
            <a:endParaRPr lang="en-US" sz="863" dirty="0"/>
          </a:p>
        </p:txBody>
      </p:sp>
      <p:sp>
        <p:nvSpPr>
          <p:cNvPr id="42" name="Shape 39"/>
          <p:cNvSpPr/>
          <p:nvPr/>
        </p:nvSpPr>
        <p:spPr>
          <a:xfrm>
            <a:off x="6754559" y="2992803"/>
            <a:ext cx="64770" cy="6477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3" name="Shape 40"/>
          <p:cNvSpPr/>
          <p:nvPr/>
        </p:nvSpPr>
        <p:spPr>
          <a:xfrm>
            <a:off x="6803422" y="3042361"/>
            <a:ext cx="64770" cy="6477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4" name="Shape 41"/>
          <p:cNvSpPr/>
          <p:nvPr/>
        </p:nvSpPr>
        <p:spPr>
          <a:xfrm>
            <a:off x="7167182" y="3428876"/>
            <a:ext cx="64770" cy="6477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5" name="Shape 42"/>
          <p:cNvSpPr/>
          <p:nvPr/>
        </p:nvSpPr>
        <p:spPr>
          <a:xfrm>
            <a:off x="7384352" y="3750535"/>
            <a:ext cx="64770" cy="6477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6" name="Shape 43"/>
          <p:cNvSpPr/>
          <p:nvPr/>
        </p:nvSpPr>
        <p:spPr>
          <a:xfrm>
            <a:off x="7612380" y="3779768"/>
            <a:ext cx="64770" cy="6477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7" name="Shape 44"/>
          <p:cNvSpPr/>
          <p:nvPr/>
        </p:nvSpPr>
        <p:spPr>
          <a:xfrm>
            <a:off x="7720965" y="3827650"/>
            <a:ext cx="64770" cy="6477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8" name="Shape 45"/>
          <p:cNvSpPr/>
          <p:nvPr/>
        </p:nvSpPr>
        <p:spPr>
          <a:xfrm>
            <a:off x="7829550" y="3872074"/>
            <a:ext cx="64770" cy="6477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9" name="Shape 46"/>
          <p:cNvSpPr/>
          <p:nvPr/>
        </p:nvSpPr>
        <p:spPr>
          <a:xfrm>
            <a:off x="7927277" y="3695424"/>
            <a:ext cx="64770" cy="6477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0" name="Shape 47"/>
          <p:cNvSpPr/>
          <p:nvPr/>
        </p:nvSpPr>
        <p:spPr>
          <a:xfrm>
            <a:off x="7992428" y="3965953"/>
            <a:ext cx="64770" cy="6477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1" name="Shape 48"/>
          <p:cNvSpPr/>
          <p:nvPr/>
        </p:nvSpPr>
        <p:spPr>
          <a:xfrm>
            <a:off x="8177022" y="3810152"/>
            <a:ext cx="64770" cy="6477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2" name="Shape 49"/>
          <p:cNvSpPr/>
          <p:nvPr/>
        </p:nvSpPr>
        <p:spPr>
          <a:xfrm>
            <a:off x="8339900" y="3842633"/>
            <a:ext cx="64770" cy="6477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3" name="Shape 50"/>
          <p:cNvSpPr/>
          <p:nvPr/>
        </p:nvSpPr>
        <p:spPr>
          <a:xfrm>
            <a:off x="8372475" y="3623653"/>
            <a:ext cx="64770" cy="6477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4" name="Shape 51"/>
          <p:cNvSpPr/>
          <p:nvPr/>
        </p:nvSpPr>
        <p:spPr>
          <a:xfrm>
            <a:off x="8405051" y="3670278"/>
            <a:ext cx="64770" cy="6477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5" name="Shape 52"/>
          <p:cNvSpPr/>
          <p:nvPr/>
        </p:nvSpPr>
        <p:spPr>
          <a:xfrm>
            <a:off x="8524494" y="3578914"/>
            <a:ext cx="64770" cy="6477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6" name="Shape 53"/>
          <p:cNvSpPr/>
          <p:nvPr/>
        </p:nvSpPr>
        <p:spPr>
          <a:xfrm>
            <a:off x="8535353" y="3719312"/>
            <a:ext cx="64770" cy="6477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7" name="Shape 54"/>
          <p:cNvSpPr/>
          <p:nvPr/>
        </p:nvSpPr>
        <p:spPr>
          <a:xfrm>
            <a:off x="8600504" y="3763632"/>
            <a:ext cx="64770" cy="6477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8" name="Shape 55"/>
          <p:cNvSpPr/>
          <p:nvPr/>
        </p:nvSpPr>
        <p:spPr>
          <a:xfrm>
            <a:off x="8763381" y="3786892"/>
            <a:ext cx="64770" cy="6477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9" name="Shape 56"/>
          <p:cNvSpPr/>
          <p:nvPr/>
        </p:nvSpPr>
        <p:spPr>
          <a:xfrm>
            <a:off x="8774240" y="3751583"/>
            <a:ext cx="64770" cy="6477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0" name="Shape 57"/>
          <p:cNvSpPr/>
          <p:nvPr/>
        </p:nvSpPr>
        <p:spPr>
          <a:xfrm>
            <a:off x="9273731" y="4074709"/>
            <a:ext cx="64770" cy="6477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1" name="Shape 58"/>
          <p:cNvSpPr/>
          <p:nvPr/>
        </p:nvSpPr>
        <p:spPr>
          <a:xfrm>
            <a:off x="9686354" y="4570085"/>
            <a:ext cx="64770" cy="6477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2" name="Shape 59"/>
          <p:cNvSpPr/>
          <p:nvPr/>
        </p:nvSpPr>
        <p:spPr>
          <a:xfrm>
            <a:off x="9708071" y="4693196"/>
            <a:ext cx="64770" cy="6477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3" name="Shape 60"/>
          <p:cNvSpPr/>
          <p:nvPr/>
        </p:nvSpPr>
        <p:spPr>
          <a:xfrm>
            <a:off x="9718929" y="4409780"/>
            <a:ext cx="64770" cy="6477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4" name="Shape 61"/>
          <p:cNvSpPr/>
          <p:nvPr/>
        </p:nvSpPr>
        <p:spPr>
          <a:xfrm>
            <a:off x="9751505" y="4422458"/>
            <a:ext cx="64770" cy="6477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5" name="Shape 62"/>
          <p:cNvSpPr/>
          <p:nvPr/>
        </p:nvSpPr>
        <p:spPr>
          <a:xfrm>
            <a:off x="9936099" y="4629074"/>
            <a:ext cx="64770" cy="6477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6" name="Shape 63"/>
          <p:cNvSpPr/>
          <p:nvPr/>
        </p:nvSpPr>
        <p:spPr>
          <a:xfrm>
            <a:off x="10077260" y="4857798"/>
            <a:ext cx="64770" cy="6477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7" name="Shape 64"/>
          <p:cNvSpPr/>
          <p:nvPr/>
        </p:nvSpPr>
        <p:spPr>
          <a:xfrm>
            <a:off x="10240137" y="4517279"/>
            <a:ext cx="64770" cy="6477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8" name="Shape 65"/>
          <p:cNvSpPr/>
          <p:nvPr/>
        </p:nvSpPr>
        <p:spPr>
          <a:xfrm>
            <a:off x="10240137" y="4399302"/>
            <a:ext cx="64770" cy="6477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9" name="Shape 66"/>
          <p:cNvSpPr/>
          <p:nvPr/>
        </p:nvSpPr>
        <p:spPr>
          <a:xfrm>
            <a:off x="10294430" y="4710484"/>
            <a:ext cx="64770" cy="6477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70" name="Shape 67"/>
          <p:cNvSpPr/>
          <p:nvPr/>
        </p:nvSpPr>
        <p:spPr>
          <a:xfrm>
            <a:off x="10316147" y="4704931"/>
            <a:ext cx="64770" cy="6477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71" name="Shape 68"/>
          <p:cNvSpPr/>
          <p:nvPr/>
        </p:nvSpPr>
        <p:spPr>
          <a:xfrm>
            <a:off x="10403014" y="4440584"/>
            <a:ext cx="64770" cy="6477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72" name="Shape 69"/>
          <p:cNvSpPr/>
          <p:nvPr/>
        </p:nvSpPr>
        <p:spPr>
          <a:xfrm>
            <a:off x="10479024" y="4414076"/>
            <a:ext cx="64770" cy="6477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73" name="Shape 70"/>
          <p:cNvSpPr/>
          <p:nvPr/>
        </p:nvSpPr>
        <p:spPr>
          <a:xfrm>
            <a:off x="10511599" y="4615348"/>
            <a:ext cx="64770" cy="6477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74" name="Shape 71"/>
          <p:cNvSpPr/>
          <p:nvPr/>
        </p:nvSpPr>
        <p:spPr>
          <a:xfrm>
            <a:off x="10522458" y="4127935"/>
            <a:ext cx="64770" cy="6477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75" name="Shape 72"/>
          <p:cNvSpPr/>
          <p:nvPr/>
        </p:nvSpPr>
        <p:spPr>
          <a:xfrm>
            <a:off x="10522458" y="4203373"/>
            <a:ext cx="64770" cy="6477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76" name="Shape 73"/>
          <p:cNvSpPr/>
          <p:nvPr/>
        </p:nvSpPr>
        <p:spPr>
          <a:xfrm>
            <a:off x="10522458" y="4509735"/>
            <a:ext cx="64770" cy="6477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77" name="Shape 74"/>
          <p:cNvSpPr/>
          <p:nvPr/>
        </p:nvSpPr>
        <p:spPr>
          <a:xfrm>
            <a:off x="10609326" y="4278078"/>
            <a:ext cx="64770" cy="6477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78" name="Shape 75"/>
          <p:cNvSpPr/>
          <p:nvPr/>
        </p:nvSpPr>
        <p:spPr>
          <a:xfrm>
            <a:off x="10631043" y="4592926"/>
            <a:ext cx="64770" cy="6477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79" name="Shape 76"/>
          <p:cNvSpPr/>
          <p:nvPr/>
        </p:nvSpPr>
        <p:spPr>
          <a:xfrm>
            <a:off x="10717911" y="4271686"/>
            <a:ext cx="64770" cy="6477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80" name="Shape 77"/>
          <p:cNvSpPr/>
          <p:nvPr/>
        </p:nvSpPr>
        <p:spPr>
          <a:xfrm>
            <a:off x="10880789" y="4129088"/>
            <a:ext cx="64770" cy="6477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81" name="Shape 78"/>
          <p:cNvSpPr/>
          <p:nvPr/>
        </p:nvSpPr>
        <p:spPr>
          <a:xfrm>
            <a:off x="11076241" y="4199915"/>
            <a:ext cx="64770" cy="6477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82" name="Text 79"/>
          <p:cNvSpPr txBox="1"/>
          <p:nvPr/>
        </p:nvSpPr>
        <p:spPr>
          <a:xfrm>
            <a:off x="6362700" y="5410200"/>
            <a:ext cx="4762500" cy="3571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추울수록 더 나오고, 더울수록 덜 나옵니다. 가장 큰 회차는 </a:t>
            </a:r>
            <a:pPr algn="l" indent="0" marL="0">
              <a:lnSpc>
                <a:spcPts val="1406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+13</a:t>
            </a:r>
            <a:pPr algn="l" indent="0" marL="0">
              <a:lnSpc>
                <a:spcPts val="1406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과 </a:t>
            </a:r>
            <a:pPr algn="l" indent="0" marL="0">
              <a:lnSpc>
                <a:spcPts val="1406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−5 MW</a:t>
            </a:r>
            <a:pPr algn="l" indent="0" marL="0">
              <a:lnSpc>
                <a:spcPts val="1406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였습니다.</a:t>
            </a:r>
            <a:endParaRPr lang="en-US" sz="938" dirty="0"/>
          </a:p>
        </p:txBody>
      </p:sp>
      <p:sp>
        <p:nvSpPr>
          <p:cNvPr id="83" name="Shape 80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84" name="Text 81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85" name="Text 82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고쳐야 할 것은 값의 크기가 아니라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온도마다 다르게 주는 것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이었습니다.</a:t>
            </a:r>
            <a:endParaRPr lang="en-US" sz="1238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나래에너지서비스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공급가능용량 산정 Tool — 최종 발표</dc:title>
  <dc:subject>위례열병합발전소 공급가능용량 산정 체계 개선</dc:subject>
  <dc:creator>주현M, 정상우M</dc:creator>
  <cp:lastModifiedBy>주현M, 정상우M</cp:lastModifiedBy>
  <cp:revision>1</cp:revision>
  <dcterms:created xsi:type="dcterms:W3CDTF">2026-09-16T01:50:38Z</dcterms:created>
  <dcterms:modified xsi:type="dcterms:W3CDTF">2026-09-16T01:50:38Z</dcterms:modified>
</cp:coreProperties>
</file>