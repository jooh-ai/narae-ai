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공급가능용량 산정 방식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엑셀 네 개에 차례로 옮겨 담아 신고할 숫자를 만들었습니다.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9621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4202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산정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506075" y="1857375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시험 결과 받아오기</a:t>
            </a:r>
            <a:endParaRPr lang="en-US" sz="1013" dirty="0"/>
          </a:p>
        </p:txBody>
      </p:sp>
      <p:sp>
        <p:nvSpPr>
          <p:cNvPr id="21" name="Shape 19"/>
          <p:cNvSpPr/>
          <p:nvPr/>
        </p:nvSpPr>
        <p:spPr>
          <a:xfrm>
            <a:off x="83820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22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344695"/>
            <a:ext cx="2343150" cy="758909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85825" y="2335170"/>
            <a:ext cx="2362200" cy="777959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3820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넣으면 계측값 14개를 시스템에서 끌어옵니다.</a:t>
            </a:r>
            <a:endParaRPr lang="en-US" sz="863" dirty="0"/>
          </a:p>
        </p:txBody>
      </p:sp>
      <p:sp>
        <p:nvSpPr>
          <p:cNvPr id="25" name="Text 22"/>
          <p:cNvSpPr txBox="1"/>
          <p:nvPr/>
        </p:nvSpPr>
        <p:spPr>
          <a:xfrm>
            <a:off x="3305175" y="2667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3"/>
          <p:cNvSpPr txBox="1"/>
          <p:nvPr/>
        </p:nvSpPr>
        <p:spPr>
          <a:xfrm>
            <a:off x="348615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 이론값 계산</a:t>
            </a:r>
            <a:endParaRPr lang="en-US" sz="1013" dirty="0"/>
          </a:p>
        </p:txBody>
      </p:sp>
      <p:sp>
        <p:nvSpPr>
          <p:cNvPr id="27" name="Shape 24"/>
          <p:cNvSpPr/>
          <p:nvPr/>
        </p:nvSpPr>
        <p:spPr>
          <a:xfrm>
            <a:off x="348615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28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4896" y="2343150"/>
            <a:ext cx="899958" cy="76200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55371" y="2333625"/>
            <a:ext cx="919008" cy="7810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8615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대기압을 넣으면 영하 20도부터 40도까지 61개 값이 나옵니다.</a:t>
            </a:r>
            <a:endParaRPr lang="en-US" sz="863" dirty="0"/>
          </a:p>
        </p:txBody>
      </p:sp>
      <p:sp>
        <p:nvSpPr>
          <p:cNvPr id="31" name="Text 27"/>
          <p:cNvSpPr txBox="1"/>
          <p:nvPr/>
        </p:nvSpPr>
        <p:spPr>
          <a:xfrm>
            <a:off x="5953125" y="2667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2" name="Text 28"/>
          <p:cNvSpPr txBox="1"/>
          <p:nvPr/>
        </p:nvSpPr>
        <p:spPr>
          <a:xfrm>
            <a:off x="613410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보정값 더하기</a:t>
            </a:r>
            <a:endParaRPr lang="en-US" sz="1013" dirty="0"/>
          </a:p>
        </p:txBody>
      </p:sp>
      <p:sp>
        <p:nvSpPr>
          <p:cNvPr id="33" name="Shape 29"/>
          <p:cNvSpPr/>
          <p:nvPr/>
        </p:nvSpPr>
        <p:spPr>
          <a:xfrm>
            <a:off x="613410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34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2474879"/>
            <a:ext cx="2343150" cy="498543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6181725" y="2465354"/>
            <a:ext cx="2362200" cy="517593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3410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온도에서 생긴 차이를 61개 값에 모두 더합니다.</a:t>
            </a:r>
            <a:endParaRPr lang="en-US" sz="863" dirty="0"/>
          </a:p>
        </p:txBody>
      </p:sp>
      <p:sp>
        <p:nvSpPr>
          <p:cNvPr id="37" name="Text 32"/>
          <p:cNvSpPr txBox="1"/>
          <p:nvPr/>
        </p:nvSpPr>
        <p:spPr>
          <a:xfrm>
            <a:off x="8601075" y="2667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8" name="Text 33"/>
          <p:cNvSpPr txBox="1"/>
          <p:nvPr/>
        </p:nvSpPr>
        <p:spPr>
          <a:xfrm>
            <a:off x="878205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온도 프로파일 완성</a:t>
            </a:r>
            <a:endParaRPr lang="en-US" sz="1013" dirty="0"/>
          </a:p>
        </p:txBody>
      </p:sp>
      <p:sp>
        <p:nvSpPr>
          <p:cNvPr id="39" name="Shape 34"/>
          <p:cNvSpPr/>
          <p:nvPr/>
        </p:nvSpPr>
        <p:spPr>
          <a:xfrm>
            <a:off x="878205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40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7838" y="2343150"/>
            <a:ext cx="1285875" cy="762000"/>
          </a:xfrm>
          <a:prstGeom prst="rect">
            <a:avLst/>
          </a:prstGeom>
        </p:spPr>
      </p:pic>
      <p:sp>
        <p:nvSpPr>
          <p:cNvPr id="41" name="Shape 35"/>
          <p:cNvSpPr/>
          <p:nvPr/>
        </p:nvSpPr>
        <p:spPr>
          <a:xfrm>
            <a:off x="9358313" y="2333625"/>
            <a:ext cx="1304925" cy="7810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78205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표를 그대로 옮겨 붙이면 그날 신고할 숫자가 됩니다.</a:t>
            </a:r>
            <a:endParaRPr lang="en-US" sz="863" dirty="0"/>
          </a:p>
        </p:txBody>
      </p:sp>
      <p:sp>
        <p:nvSpPr>
          <p:cNvPr id="43" name="Shape 37"/>
          <p:cNvSpPr/>
          <p:nvPr/>
        </p:nvSpPr>
        <p:spPr>
          <a:xfrm>
            <a:off x="685800" y="3848100"/>
            <a:ext cx="10820400" cy="20955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95325" y="38576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5" name="Shape 39"/>
          <p:cNvSpPr/>
          <p:nvPr/>
        </p:nvSpPr>
        <p:spPr>
          <a:xfrm>
            <a:off x="685800" y="41338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95325" y="38576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857250" y="39243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8" name="Text 42"/>
          <p:cNvSpPr txBox="1"/>
          <p:nvPr/>
        </p:nvSpPr>
        <p:spPr>
          <a:xfrm>
            <a:off x="1085850" y="3924300"/>
            <a:ext cx="89344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정하는 방법</a:t>
            </a:r>
            <a:endParaRPr lang="en-US" sz="1013" dirty="0"/>
          </a:p>
        </p:txBody>
      </p:sp>
      <p:sp>
        <p:nvSpPr>
          <p:cNvPr id="49" name="Text 43"/>
          <p:cNvSpPr txBox="1"/>
          <p:nvPr/>
        </p:nvSpPr>
        <p:spPr>
          <a:xfrm>
            <a:off x="10020300" y="3933825"/>
            <a:ext cx="1352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1곳 → 61개 온도</a:t>
            </a:r>
            <a:endParaRPr lang="en-US" sz="825" dirty="0"/>
          </a:p>
        </p:txBody>
      </p:sp>
      <p:sp>
        <p:nvSpPr>
          <p:cNvPr id="50" name="Text 44"/>
          <p:cNvSpPr txBox="1"/>
          <p:nvPr/>
        </p:nvSpPr>
        <p:spPr>
          <a:xfrm>
            <a:off x="914400" y="4191000"/>
            <a:ext cx="666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온도에서 나온 차이 하나를 61개 온도에 모두 같은 크기로 더했습니다.</a:t>
            </a:r>
            <a:endParaRPr lang="en-US" sz="975" dirty="0"/>
          </a:p>
        </p:txBody>
      </p:sp>
      <p:sp>
        <p:nvSpPr>
          <p:cNvPr id="51" name="Shape 45"/>
          <p:cNvSpPr/>
          <p:nvPr/>
        </p:nvSpPr>
        <p:spPr>
          <a:xfrm>
            <a:off x="1866900" y="5524500"/>
            <a:ext cx="8877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428750" y="54578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88" dirty="0"/>
          </a:p>
        </p:txBody>
      </p:sp>
      <p:sp>
        <p:nvSpPr>
          <p:cNvPr id="53" name="Shape 47"/>
          <p:cNvSpPr/>
          <p:nvPr/>
        </p:nvSpPr>
        <p:spPr>
          <a:xfrm>
            <a:off x="1866900" y="5181600"/>
            <a:ext cx="8877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1428750" y="51149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788" dirty="0"/>
          </a:p>
        </p:txBody>
      </p:sp>
      <p:sp>
        <p:nvSpPr>
          <p:cNvPr id="55" name="Shape 49"/>
          <p:cNvSpPr/>
          <p:nvPr/>
        </p:nvSpPr>
        <p:spPr>
          <a:xfrm>
            <a:off x="1866900" y="4838700"/>
            <a:ext cx="8877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1428750" y="47720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788" dirty="0"/>
          </a:p>
        </p:txBody>
      </p:sp>
      <p:sp>
        <p:nvSpPr>
          <p:cNvPr id="57" name="Shape 51"/>
          <p:cNvSpPr/>
          <p:nvPr/>
        </p:nvSpPr>
        <p:spPr>
          <a:xfrm>
            <a:off x="1866900" y="4495800"/>
            <a:ext cx="8877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1428750" y="44291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788" dirty="0"/>
          </a:p>
        </p:txBody>
      </p:sp>
      <p:sp>
        <p:nvSpPr>
          <p:cNvPr id="59" name="Text 53"/>
          <p:cNvSpPr txBox="1"/>
          <p:nvPr/>
        </p:nvSpPr>
        <p:spPr>
          <a:xfrm>
            <a:off x="914400" y="4457700"/>
            <a:ext cx="4381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750" dirty="0"/>
          </a:p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750" dirty="0"/>
          </a:p>
        </p:txBody>
      </p:sp>
      <p:sp>
        <p:nvSpPr>
          <p:cNvPr id="60" name="Shape 54"/>
          <p:cNvSpPr/>
          <p:nvPr/>
        </p:nvSpPr>
        <p:spPr>
          <a:xfrm>
            <a:off x="1862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1" name="Shape 55"/>
          <p:cNvSpPr/>
          <p:nvPr/>
        </p:nvSpPr>
        <p:spPr>
          <a:xfrm>
            <a:off x="20081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2" name="Shape 56"/>
          <p:cNvSpPr/>
          <p:nvPr/>
        </p:nvSpPr>
        <p:spPr>
          <a:xfrm>
            <a:off x="21542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3" name="Shape 57"/>
          <p:cNvSpPr/>
          <p:nvPr/>
        </p:nvSpPr>
        <p:spPr>
          <a:xfrm>
            <a:off x="23002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4" name="Shape 58"/>
          <p:cNvSpPr/>
          <p:nvPr/>
        </p:nvSpPr>
        <p:spPr>
          <a:xfrm>
            <a:off x="2446337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5" name="Shape 59"/>
          <p:cNvSpPr/>
          <p:nvPr/>
        </p:nvSpPr>
        <p:spPr>
          <a:xfrm>
            <a:off x="25923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6" name="Shape 60"/>
          <p:cNvSpPr/>
          <p:nvPr/>
        </p:nvSpPr>
        <p:spPr>
          <a:xfrm>
            <a:off x="27384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7" name="Shape 61"/>
          <p:cNvSpPr/>
          <p:nvPr/>
        </p:nvSpPr>
        <p:spPr>
          <a:xfrm>
            <a:off x="28844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8" name="Shape 62"/>
          <p:cNvSpPr/>
          <p:nvPr/>
        </p:nvSpPr>
        <p:spPr>
          <a:xfrm>
            <a:off x="30305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9" name="Shape 63"/>
          <p:cNvSpPr/>
          <p:nvPr/>
        </p:nvSpPr>
        <p:spPr>
          <a:xfrm>
            <a:off x="31765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0" name="Shape 64"/>
          <p:cNvSpPr/>
          <p:nvPr/>
        </p:nvSpPr>
        <p:spPr>
          <a:xfrm>
            <a:off x="33226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1" name="Shape 65"/>
          <p:cNvSpPr/>
          <p:nvPr/>
        </p:nvSpPr>
        <p:spPr>
          <a:xfrm>
            <a:off x="34686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2" name="Shape 66"/>
          <p:cNvSpPr/>
          <p:nvPr/>
        </p:nvSpPr>
        <p:spPr>
          <a:xfrm>
            <a:off x="36147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3" name="Shape 67"/>
          <p:cNvSpPr/>
          <p:nvPr/>
        </p:nvSpPr>
        <p:spPr>
          <a:xfrm>
            <a:off x="37607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4" name="Shape 68"/>
          <p:cNvSpPr/>
          <p:nvPr/>
        </p:nvSpPr>
        <p:spPr>
          <a:xfrm>
            <a:off x="39068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5" name="Shape 69"/>
          <p:cNvSpPr/>
          <p:nvPr/>
        </p:nvSpPr>
        <p:spPr>
          <a:xfrm>
            <a:off x="40528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6" name="Shape 70"/>
          <p:cNvSpPr/>
          <p:nvPr/>
        </p:nvSpPr>
        <p:spPr>
          <a:xfrm>
            <a:off x="41989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7" name="Shape 71"/>
          <p:cNvSpPr/>
          <p:nvPr/>
        </p:nvSpPr>
        <p:spPr>
          <a:xfrm>
            <a:off x="43449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8" name="Shape 72"/>
          <p:cNvSpPr/>
          <p:nvPr/>
        </p:nvSpPr>
        <p:spPr>
          <a:xfrm>
            <a:off x="44910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9" name="Shape 73"/>
          <p:cNvSpPr/>
          <p:nvPr/>
        </p:nvSpPr>
        <p:spPr>
          <a:xfrm>
            <a:off x="46370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0" name="Shape 74"/>
          <p:cNvSpPr/>
          <p:nvPr/>
        </p:nvSpPr>
        <p:spPr>
          <a:xfrm>
            <a:off x="4783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1" name="Shape 75"/>
          <p:cNvSpPr/>
          <p:nvPr/>
        </p:nvSpPr>
        <p:spPr>
          <a:xfrm>
            <a:off x="49291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2" name="Shape 76"/>
          <p:cNvSpPr/>
          <p:nvPr/>
        </p:nvSpPr>
        <p:spPr>
          <a:xfrm>
            <a:off x="50752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3" name="Shape 77"/>
          <p:cNvSpPr/>
          <p:nvPr/>
        </p:nvSpPr>
        <p:spPr>
          <a:xfrm>
            <a:off x="52212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4" name="Shape 78"/>
          <p:cNvSpPr/>
          <p:nvPr/>
        </p:nvSpPr>
        <p:spPr>
          <a:xfrm>
            <a:off x="53673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5" name="Shape 79"/>
          <p:cNvSpPr/>
          <p:nvPr/>
        </p:nvSpPr>
        <p:spPr>
          <a:xfrm>
            <a:off x="55133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6" name="Shape 80"/>
          <p:cNvSpPr/>
          <p:nvPr/>
        </p:nvSpPr>
        <p:spPr>
          <a:xfrm>
            <a:off x="56594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7" name="Shape 81"/>
          <p:cNvSpPr/>
          <p:nvPr/>
        </p:nvSpPr>
        <p:spPr>
          <a:xfrm>
            <a:off x="58054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8" name="Shape 82"/>
          <p:cNvSpPr/>
          <p:nvPr/>
        </p:nvSpPr>
        <p:spPr>
          <a:xfrm>
            <a:off x="59515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9" name="Shape 83"/>
          <p:cNvSpPr/>
          <p:nvPr/>
        </p:nvSpPr>
        <p:spPr>
          <a:xfrm>
            <a:off x="60975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0" name="Shape 84"/>
          <p:cNvSpPr/>
          <p:nvPr/>
        </p:nvSpPr>
        <p:spPr>
          <a:xfrm>
            <a:off x="62436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1" name="Shape 85"/>
          <p:cNvSpPr/>
          <p:nvPr/>
        </p:nvSpPr>
        <p:spPr>
          <a:xfrm>
            <a:off x="63896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2" name="Shape 86"/>
          <p:cNvSpPr/>
          <p:nvPr/>
        </p:nvSpPr>
        <p:spPr>
          <a:xfrm>
            <a:off x="65357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3" name="Shape 87"/>
          <p:cNvSpPr/>
          <p:nvPr/>
        </p:nvSpPr>
        <p:spPr>
          <a:xfrm>
            <a:off x="66817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4" name="Shape 88"/>
          <p:cNvSpPr/>
          <p:nvPr/>
        </p:nvSpPr>
        <p:spPr>
          <a:xfrm>
            <a:off x="68278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5" name="Shape 89"/>
          <p:cNvSpPr/>
          <p:nvPr/>
        </p:nvSpPr>
        <p:spPr>
          <a:xfrm>
            <a:off x="69738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6" name="Shape 90"/>
          <p:cNvSpPr/>
          <p:nvPr/>
        </p:nvSpPr>
        <p:spPr>
          <a:xfrm>
            <a:off x="71199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7" name="Shape 91"/>
          <p:cNvSpPr/>
          <p:nvPr/>
        </p:nvSpPr>
        <p:spPr>
          <a:xfrm>
            <a:off x="72659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8" name="Shape 92"/>
          <p:cNvSpPr/>
          <p:nvPr/>
        </p:nvSpPr>
        <p:spPr>
          <a:xfrm>
            <a:off x="74120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9" name="Shape 93"/>
          <p:cNvSpPr/>
          <p:nvPr/>
        </p:nvSpPr>
        <p:spPr>
          <a:xfrm>
            <a:off x="75580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0" name="Shape 94"/>
          <p:cNvSpPr/>
          <p:nvPr/>
        </p:nvSpPr>
        <p:spPr>
          <a:xfrm>
            <a:off x="7704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1" name="Shape 95"/>
          <p:cNvSpPr/>
          <p:nvPr/>
        </p:nvSpPr>
        <p:spPr>
          <a:xfrm>
            <a:off x="78501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2" name="Shape 96"/>
          <p:cNvSpPr/>
          <p:nvPr/>
        </p:nvSpPr>
        <p:spPr>
          <a:xfrm>
            <a:off x="7996237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3" name="Shape 97"/>
          <p:cNvSpPr/>
          <p:nvPr/>
        </p:nvSpPr>
        <p:spPr>
          <a:xfrm>
            <a:off x="81422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4" name="Shape 98"/>
          <p:cNvSpPr/>
          <p:nvPr/>
        </p:nvSpPr>
        <p:spPr>
          <a:xfrm>
            <a:off x="82883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5" name="Shape 99"/>
          <p:cNvSpPr/>
          <p:nvPr/>
        </p:nvSpPr>
        <p:spPr>
          <a:xfrm>
            <a:off x="8434388" y="4838700"/>
            <a:ext cx="85725" cy="6858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6" name="Shape 100"/>
          <p:cNvSpPr/>
          <p:nvPr/>
        </p:nvSpPr>
        <p:spPr>
          <a:xfrm>
            <a:off x="85804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7" name="Shape 101"/>
          <p:cNvSpPr/>
          <p:nvPr/>
        </p:nvSpPr>
        <p:spPr>
          <a:xfrm>
            <a:off x="87264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8" name="Shape 102"/>
          <p:cNvSpPr/>
          <p:nvPr/>
        </p:nvSpPr>
        <p:spPr>
          <a:xfrm>
            <a:off x="88725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9" name="Shape 103"/>
          <p:cNvSpPr/>
          <p:nvPr/>
        </p:nvSpPr>
        <p:spPr>
          <a:xfrm>
            <a:off x="90185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0" name="Shape 104"/>
          <p:cNvSpPr/>
          <p:nvPr/>
        </p:nvSpPr>
        <p:spPr>
          <a:xfrm>
            <a:off x="91646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1" name="Shape 105"/>
          <p:cNvSpPr/>
          <p:nvPr/>
        </p:nvSpPr>
        <p:spPr>
          <a:xfrm>
            <a:off x="93106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2" name="Shape 106"/>
          <p:cNvSpPr/>
          <p:nvPr/>
        </p:nvSpPr>
        <p:spPr>
          <a:xfrm>
            <a:off x="94567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3" name="Shape 107"/>
          <p:cNvSpPr/>
          <p:nvPr/>
        </p:nvSpPr>
        <p:spPr>
          <a:xfrm>
            <a:off x="96027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4" name="Shape 108"/>
          <p:cNvSpPr/>
          <p:nvPr/>
        </p:nvSpPr>
        <p:spPr>
          <a:xfrm>
            <a:off x="97488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5" name="Shape 109"/>
          <p:cNvSpPr/>
          <p:nvPr/>
        </p:nvSpPr>
        <p:spPr>
          <a:xfrm>
            <a:off x="98948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6" name="Shape 110"/>
          <p:cNvSpPr/>
          <p:nvPr/>
        </p:nvSpPr>
        <p:spPr>
          <a:xfrm>
            <a:off x="100409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7" name="Shape 111"/>
          <p:cNvSpPr/>
          <p:nvPr/>
        </p:nvSpPr>
        <p:spPr>
          <a:xfrm>
            <a:off x="101869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8" name="Shape 112"/>
          <p:cNvSpPr/>
          <p:nvPr/>
        </p:nvSpPr>
        <p:spPr>
          <a:xfrm>
            <a:off x="103330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9" name="Shape 113"/>
          <p:cNvSpPr/>
          <p:nvPr/>
        </p:nvSpPr>
        <p:spPr>
          <a:xfrm>
            <a:off x="104790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20" name="Shape 114"/>
          <p:cNvSpPr/>
          <p:nvPr/>
        </p:nvSpPr>
        <p:spPr>
          <a:xfrm>
            <a:off x="10625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21" name="Text 115"/>
          <p:cNvSpPr txBox="1"/>
          <p:nvPr/>
        </p:nvSpPr>
        <p:spPr>
          <a:xfrm>
            <a:off x="1676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-20</a:t>
            </a:r>
            <a:endParaRPr lang="en-US" sz="788" dirty="0"/>
          </a:p>
        </p:txBody>
      </p:sp>
      <p:sp>
        <p:nvSpPr>
          <p:cNvPr id="122" name="Text 116"/>
          <p:cNvSpPr txBox="1"/>
          <p:nvPr/>
        </p:nvSpPr>
        <p:spPr>
          <a:xfrm>
            <a:off x="31369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</a:t>
            </a:r>
            <a:endParaRPr lang="en-US" sz="788" dirty="0"/>
          </a:p>
        </p:txBody>
      </p:sp>
      <p:sp>
        <p:nvSpPr>
          <p:cNvPr id="123" name="Text 117"/>
          <p:cNvSpPr txBox="1"/>
          <p:nvPr/>
        </p:nvSpPr>
        <p:spPr>
          <a:xfrm>
            <a:off x="4597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88" dirty="0"/>
          </a:p>
        </p:txBody>
      </p:sp>
      <p:sp>
        <p:nvSpPr>
          <p:cNvPr id="124" name="Text 118"/>
          <p:cNvSpPr txBox="1"/>
          <p:nvPr/>
        </p:nvSpPr>
        <p:spPr>
          <a:xfrm>
            <a:off x="60579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88" dirty="0"/>
          </a:p>
        </p:txBody>
      </p:sp>
      <p:sp>
        <p:nvSpPr>
          <p:cNvPr id="125" name="Text 119"/>
          <p:cNvSpPr txBox="1"/>
          <p:nvPr/>
        </p:nvSpPr>
        <p:spPr>
          <a:xfrm>
            <a:off x="7518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+20</a:t>
            </a:r>
            <a:endParaRPr lang="en-US" sz="788" dirty="0"/>
          </a:p>
        </p:txBody>
      </p:sp>
      <p:sp>
        <p:nvSpPr>
          <p:cNvPr id="126" name="Text 120"/>
          <p:cNvSpPr txBox="1"/>
          <p:nvPr/>
        </p:nvSpPr>
        <p:spPr>
          <a:xfrm>
            <a:off x="89789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+30</a:t>
            </a:r>
            <a:endParaRPr lang="en-US" sz="788" dirty="0"/>
          </a:p>
        </p:txBody>
      </p:sp>
      <p:sp>
        <p:nvSpPr>
          <p:cNvPr id="127" name="Text 121"/>
          <p:cNvSpPr txBox="1"/>
          <p:nvPr/>
        </p:nvSpPr>
        <p:spPr>
          <a:xfrm>
            <a:off x="10439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+40</a:t>
            </a:r>
            <a:endParaRPr lang="en-US" sz="788" dirty="0"/>
          </a:p>
        </p:txBody>
      </p:sp>
      <p:sp>
        <p:nvSpPr>
          <p:cNvPr id="128" name="Text 122"/>
          <p:cNvSpPr txBox="1"/>
          <p:nvPr/>
        </p:nvSpPr>
        <p:spPr>
          <a:xfrm>
            <a:off x="10915650" y="5581650"/>
            <a:ext cx="228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788" dirty="0"/>
          </a:p>
        </p:txBody>
      </p:sp>
      <p:sp>
        <p:nvSpPr>
          <p:cNvPr id="129" name="Shape 123"/>
          <p:cNvSpPr/>
          <p:nvPr/>
        </p:nvSpPr>
        <p:spPr>
          <a:xfrm>
            <a:off x="8477250" y="4610100"/>
            <a:ext cx="0" cy="190500"/>
          </a:xfrm>
          <a:prstGeom prst="line">
            <a:avLst/>
          </a:prstGeom>
          <a:noFill/>
          <a:ln w="12700">
            <a:solidFill>
              <a:srgbClr val="EFB13C"/>
            </a:solidFill>
            <a:prstDash val="solid"/>
          </a:ln>
        </p:spPr>
      </p:sp>
      <p:sp>
        <p:nvSpPr>
          <p:cNvPr id="130" name="Text 124"/>
          <p:cNvSpPr txBox="1"/>
          <p:nvPr/>
        </p:nvSpPr>
        <p:spPr>
          <a:xfrm>
            <a:off x="7048500" y="44386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온도만 실제로 시험</a:t>
            </a:r>
            <a:endParaRPr lang="en-US" sz="975" dirty="0"/>
          </a:p>
        </p:txBody>
      </p:sp>
      <p:sp>
        <p:nvSpPr>
          <p:cNvPr id="131" name="Shape 125"/>
          <p:cNvSpPr/>
          <p:nvPr/>
        </p:nvSpPr>
        <p:spPr>
          <a:xfrm>
            <a:off x="2000250" y="4514850"/>
            <a:ext cx="133350" cy="666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32" name="Text 126"/>
          <p:cNvSpPr txBox="1"/>
          <p:nvPr/>
        </p:nvSpPr>
        <p:spPr>
          <a:xfrm>
            <a:off x="2190750" y="4476750"/>
            <a:ext cx="3810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60개 온도는 시험하지 않고 같은 값</a:t>
            </a:r>
            <a:endParaRPr lang="en-US" sz="938" dirty="0"/>
          </a:p>
        </p:txBody>
      </p:sp>
      <p:sp>
        <p:nvSpPr>
          <p:cNvPr id="133" name="Shape 1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4" name="Text 1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35" name="Text 1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해보지 않은 온도는 알 방법이 없었으니, 그때는 이게 최선이었습니다.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문제는 세 가지였습니다. 절차가 번거롭고, 보정값이 하나로 고정되며, 그래서 예측이 어긋났습니다.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8763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1344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220325" y="1857375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회차마다 되풀이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3295650" y="2133600"/>
            <a:ext cx="0" cy="4000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6235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옮기는 값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562350" y="2286000"/>
            <a:ext cx="3429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1950" dirty="0"/>
          </a:p>
        </p:txBody>
      </p:sp>
      <p:sp>
        <p:nvSpPr>
          <p:cNvPr id="26" name="Text 24"/>
          <p:cNvSpPr txBox="1"/>
          <p:nvPr/>
        </p:nvSpPr>
        <p:spPr>
          <a:xfrm>
            <a:off x="394335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5943600" y="2133600"/>
            <a:ext cx="0" cy="4000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030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넣는 값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1030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30" name="Text 28"/>
          <p:cNvSpPr txBox="1"/>
          <p:nvPr/>
        </p:nvSpPr>
        <p:spPr>
          <a:xfrm>
            <a:off x="643890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곳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8591550" y="2133600"/>
            <a:ext cx="0" cy="4000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85825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885825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950" dirty="0"/>
          </a:p>
        </p:txBody>
      </p:sp>
      <p:sp>
        <p:nvSpPr>
          <p:cNvPr id="34" name="Text 32"/>
          <p:cNvSpPr txBox="1"/>
          <p:nvPr/>
        </p:nvSpPr>
        <p:spPr>
          <a:xfrm>
            <a:off x="908685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685800" y="2762250"/>
            <a:ext cx="4476750" cy="31813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5325" y="2771775"/>
            <a:ext cx="445770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7" name="Shape 35"/>
          <p:cNvSpPr/>
          <p:nvPr/>
        </p:nvSpPr>
        <p:spPr>
          <a:xfrm>
            <a:off x="685800" y="3048000"/>
            <a:ext cx="447675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5325" y="27717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7250" y="28384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1085850" y="2838450"/>
            <a:ext cx="23812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일괄 보정</a:t>
            </a:r>
            <a:endParaRPr lang="en-US" sz="1013" dirty="0"/>
          </a:p>
        </p:txBody>
      </p:sp>
      <p:sp>
        <p:nvSpPr>
          <p:cNvPr id="41" name="Text 39"/>
          <p:cNvSpPr txBox="1"/>
          <p:nvPr/>
        </p:nvSpPr>
        <p:spPr>
          <a:xfrm>
            <a:off x="3467100" y="2847975"/>
            <a:ext cx="15621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 ~ 4월 13회 · 단위 MW</a:t>
            </a:r>
            <a:endParaRPr lang="en-US" sz="825" dirty="0"/>
          </a:p>
        </p:txBody>
      </p:sp>
      <p:sp>
        <p:nvSpPr>
          <p:cNvPr id="42" name="Shape 40"/>
          <p:cNvSpPr/>
          <p:nvPr/>
        </p:nvSpPr>
        <p:spPr>
          <a:xfrm>
            <a:off x="952500" y="3124200"/>
            <a:ext cx="3276600" cy="2286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3" name="Shape 41"/>
          <p:cNvSpPr/>
          <p:nvPr/>
        </p:nvSpPr>
        <p:spPr>
          <a:xfrm>
            <a:off x="952500" y="3352800"/>
            <a:ext cx="32766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38225" y="32004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743075" y="3200400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 차이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2905125" y="3200400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적용한 보정값</a:t>
            </a:r>
            <a:endParaRPr lang="en-US" sz="938" dirty="0"/>
          </a:p>
        </p:txBody>
      </p:sp>
      <p:sp>
        <p:nvSpPr>
          <p:cNvPr id="47" name="Shape 45"/>
          <p:cNvSpPr/>
          <p:nvPr/>
        </p:nvSpPr>
        <p:spPr>
          <a:xfrm>
            <a:off x="952500" y="35337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38225" y="33718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1743075" y="33718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11.3</a:t>
            </a:r>
            <a:endParaRPr lang="en-US" sz="863" dirty="0"/>
          </a:p>
        </p:txBody>
      </p:sp>
      <p:sp>
        <p:nvSpPr>
          <p:cNvPr id="50" name="Text 48"/>
          <p:cNvSpPr txBox="1"/>
          <p:nvPr/>
        </p:nvSpPr>
        <p:spPr>
          <a:xfrm>
            <a:off x="2905125" y="33718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51" name="Shape 49"/>
          <p:cNvSpPr/>
          <p:nvPr/>
        </p:nvSpPr>
        <p:spPr>
          <a:xfrm>
            <a:off x="952500" y="353377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52500" y="37147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038225" y="355282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54" name="Text 52"/>
          <p:cNvSpPr txBox="1"/>
          <p:nvPr/>
        </p:nvSpPr>
        <p:spPr>
          <a:xfrm>
            <a:off x="1743075" y="355282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863" dirty="0"/>
          </a:p>
        </p:txBody>
      </p:sp>
      <p:sp>
        <p:nvSpPr>
          <p:cNvPr id="55" name="Text 53"/>
          <p:cNvSpPr txBox="1"/>
          <p:nvPr/>
        </p:nvSpPr>
        <p:spPr>
          <a:xfrm>
            <a:off x="2905125" y="355282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952500" y="389572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38225" y="37338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1743075" y="373380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11.0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2905125" y="373380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60" name="Shape 58"/>
          <p:cNvSpPr/>
          <p:nvPr/>
        </p:nvSpPr>
        <p:spPr>
          <a:xfrm>
            <a:off x="952500" y="389572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52500" y="40767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38225" y="39147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743075" y="39147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endParaRPr lang="en-US" sz="863" dirty="0"/>
          </a:p>
        </p:txBody>
      </p:sp>
      <p:sp>
        <p:nvSpPr>
          <p:cNvPr id="64" name="Text 62"/>
          <p:cNvSpPr txBox="1"/>
          <p:nvPr/>
        </p:nvSpPr>
        <p:spPr>
          <a:xfrm>
            <a:off x="2905125" y="39147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65" name="Shape 63"/>
          <p:cNvSpPr/>
          <p:nvPr/>
        </p:nvSpPr>
        <p:spPr>
          <a:xfrm>
            <a:off x="952500" y="42576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38225" y="40957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743075" y="40957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11.5</a:t>
            </a:r>
            <a:endParaRPr lang="en-US" sz="863" dirty="0"/>
          </a:p>
        </p:txBody>
      </p:sp>
      <p:sp>
        <p:nvSpPr>
          <p:cNvPr id="68" name="Text 66"/>
          <p:cNvSpPr txBox="1"/>
          <p:nvPr/>
        </p:nvSpPr>
        <p:spPr>
          <a:xfrm>
            <a:off x="2905125" y="40957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69" name="Shape 67"/>
          <p:cNvSpPr/>
          <p:nvPr/>
        </p:nvSpPr>
        <p:spPr>
          <a:xfrm>
            <a:off x="952500" y="425767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52500" y="44386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38225" y="427672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2" name="Text 70"/>
          <p:cNvSpPr txBox="1"/>
          <p:nvPr/>
        </p:nvSpPr>
        <p:spPr>
          <a:xfrm>
            <a:off x="1743075" y="427672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6.9</a:t>
            </a:r>
            <a:endParaRPr lang="en-US" sz="863" dirty="0"/>
          </a:p>
        </p:txBody>
      </p:sp>
      <p:sp>
        <p:nvSpPr>
          <p:cNvPr id="73" name="Text 71"/>
          <p:cNvSpPr txBox="1"/>
          <p:nvPr/>
        </p:nvSpPr>
        <p:spPr>
          <a:xfrm>
            <a:off x="2905125" y="427672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74" name="Shape 72"/>
          <p:cNvSpPr/>
          <p:nvPr/>
        </p:nvSpPr>
        <p:spPr>
          <a:xfrm>
            <a:off x="952500" y="461962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1038225" y="44577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743075" y="445770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9.5</a:t>
            </a:r>
            <a:endParaRPr lang="en-US" sz="863" dirty="0"/>
          </a:p>
        </p:txBody>
      </p:sp>
      <p:sp>
        <p:nvSpPr>
          <p:cNvPr id="77" name="Text 75"/>
          <p:cNvSpPr txBox="1"/>
          <p:nvPr/>
        </p:nvSpPr>
        <p:spPr>
          <a:xfrm>
            <a:off x="2905125" y="445770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78" name="Shape 76"/>
          <p:cNvSpPr/>
          <p:nvPr/>
        </p:nvSpPr>
        <p:spPr>
          <a:xfrm>
            <a:off x="952500" y="461962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52500" y="48006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1038225" y="46386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1743075" y="46386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2905125" y="46386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952500" y="49815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38225" y="48196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1743075" y="48196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9.7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2905125" y="48196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87" name="Shape 85"/>
          <p:cNvSpPr/>
          <p:nvPr/>
        </p:nvSpPr>
        <p:spPr>
          <a:xfrm>
            <a:off x="952500" y="498157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952500" y="51625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038225" y="500062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90" name="Text 88"/>
          <p:cNvSpPr txBox="1"/>
          <p:nvPr/>
        </p:nvSpPr>
        <p:spPr>
          <a:xfrm>
            <a:off x="1743075" y="500062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4.6</a:t>
            </a:r>
            <a:endParaRPr lang="en-US" sz="863" dirty="0"/>
          </a:p>
        </p:txBody>
      </p:sp>
      <p:sp>
        <p:nvSpPr>
          <p:cNvPr id="91" name="Text 89"/>
          <p:cNvSpPr txBox="1"/>
          <p:nvPr/>
        </p:nvSpPr>
        <p:spPr>
          <a:xfrm>
            <a:off x="2905125" y="500062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63" dirty="0"/>
          </a:p>
        </p:txBody>
      </p:sp>
      <p:sp>
        <p:nvSpPr>
          <p:cNvPr id="92" name="Shape 90"/>
          <p:cNvSpPr/>
          <p:nvPr/>
        </p:nvSpPr>
        <p:spPr>
          <a:xfrm>
            <a:off x="952500" y="534352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038225" y="51816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94" name="Text 92"/>
          <p:cNvSpPr txBox="1"/>
          <p:nvPr/>
        </p:nvSpPr>
        <p:spPr>
          <a:xfrm>
            <a:off x="1743075" y="518160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10.2</a:t>
            </a:r>
            <a:endParaRPr lang="en-US" sz="863" dirty="0"/>
          </a:p>
        </p:txBody>
      </p:sp>
      <p:sp>
        <p:nvSpPr>
          <p:cNvPr id="95" name="Text 93"/>
          <p:cNvSpPr txBox="1"/>
          <p:nvPr/>
        </p:nvSpPr>
        <p:spPr>
          <a:xfrm>
            <a:off x="2905125" y="518160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63" dirty="0"/>
          </a:p>
        </p:txBody>
      </p:sp>
      <p:sp>
        <p:nvSpPr>
          <p:cNvPr id="96" name="Shape 94"/>
          <p:cNvSpPr/>
          <p:nvPr/>
        </p:nvSpPr>
        <p:spPr>
          <a:xfrm>
            <a:off x="952500" y="534352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952500" y="55245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1038225" y="53625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9" name="Text 97"/>
          <p:cNvSpPr txBox="1"/>
          <p:nvPr/>
        </p:nvSpPr>
        <p:spPr>
          <a:xfrm>
            <a:off x="1743075" y="53625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</a:t>
            </a:r>
            <a:endParaRPr lang="en-US" sz="863" dirty="0"/>
          </a:p>
        </p:txBody>
      </p:sp>
      <p:sp>
        <p:nvSpPr>
          <p:cNvPr id="100" name="Text 98"/>
          <p:cNvSpPr txBox="1"/>
          <p:nvPr/>
        </p:nvSpPr>
        <p:spPr>
          <a:xfrm>
            <a:off x="2905125" y="53625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63" dirty="0"/>
          </a:p>
        </p:txBody>
      </p:sp>
      <p:sp>
        <p:nvSpPr>
          <p:cNvPr id="101" name="Shape 99"/>
          <p:cNvSpPr/>
          <p:nvPr/>
        </p:nvSpPr>
        <p:spPr>
          <a:xfrm>
            <a:off x="952500" y="57054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1038225" y="55435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1743075" y="55435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</a:t>
            </a:r>
            <a:endParaRPr lang="en-US" sz="863" dirty="0"/>
          </a:p>
        </p:txBody>
      </p:sp>
      <p:sp>
        <p:nvSpPr>
          <p:cNvPr id="104" name="Text 102"/>
          <p:cNvSpPr txBox="1"/>
          <p:nvPr/>
        </p:nvSpPr>
        <p:spPr>
          <a:xfrm>
            <a:off x="2905125" y="55435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63" dirty="0"/>
          </a:p>
        </p:txBody>
      </p:sp>
      <p:sp>
        <p:nvSpPr>
          <p:cNvPr id="105" name="Shape 103"/>
          <p:cNvSpPr/>
          <p:nvPr/>
        </p:nvSpPr>
        <p:spPr>
          <a:xfrm>
            <a:off x="952500" y="5705475"/>
            <a:ext cx="32766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038225" y="57435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7" name="Text 105"/>
          <p:cNvSpPr txBox="1"/>
          <p:nvPr/>
        </p:nvSpPr>
        <p:spPr>
          <a:xfrm>
            <a:off x="1743075" y="57435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 ~ 11.5</a:t>
            </a:r>
            <a:endParaRPr lang="en-US" sz="863" dirty="0"/>
          </a:p>
        </p:txBody>
      </p:sp>
      <p:sp>
        <p:nvSpPr>
          <p:cNvPr id="108" name="Text 106"/>
          <p:cNvSpPr txBox="1"/>
          <p:nvPr/>
        </p:nvSpPr>
        <p:spPr>
          <a:xfrm>
            <a:off x="2905125" y="57435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~ 5</a:t>
            </a:r>
            <a:endParaRPr lang="en-US" sz="863" dirty="0"/>
          </a:p>
        </p:txBody>
      </p:sp>
      <p:sp>
        <p:nvSpPr>
          <p:cNvPr id="109" name="Shape 107"/>
          <p:cNvSpPr/>
          <p:nvPr/>
        </p:nvSpPr>
        <p:spPr>
          <a:xfrm>
            <a:off x="5314950" y="2762250"/>
            <a:ext cx="6191250" cy="31813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24475" y="2771775"/>
            <a:ext cx="617220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314950" y="3048000"/>
            <a:ext cx="619125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24475" y="27717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486400" y="28384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114" name="Text 112"/>
          <p:cNvSpPr txBox="1"/>
          <p:nvPr/>
        </p:nvSpPr>
        <p:spPr>
          <a:xfrm>
            <a:off x="5715000" y="2838450"/>
            <a:ext cx="37242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오차</a:t>
            </a:r>
            <a:endParaRPr lang="en-US" sz="1013" dirty="0"/>
          </a:p>
        </p:txBody>
      </p:sp>
      <p:sp>
        <p:nvSpPr>
          <p:cNvPr id="115" name="Text 113"/>
          <p:cNvSpPr txBox="1"/>
          <p:nvPr/>
        </p:nvSpPr>
        <p:spPr>
          <a:xfrm>
            <a:off x="9439275" y="2847975"/>
            <a:ext cx="19335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/ 세로 차이 MW</a:t>
            </a:r>
            <a:endParaRPr lang="en-US" sz="825" dirty="0"/>
          </a:p>
        </p:txBody>
      </p:sp>
      <p:sp>
        <p:nvSpPr>
          <p:cNvPr id="116" name="Shape 114"/>
          <p:cNvSpPr/>
          <p:nvPr/>
        </p:nvSpPr>
        <p:spPr>
          <a:xfrm>
            <a:off x="5924550" y="32766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24550" y="35433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924550" y="38100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924550" y="43434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924550" y="4076700"/>
            <a:ext cx="53149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5486400" y="32099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22" name="Text 120"/>
          <p:cNvSpPr txBox="1"/>
          <p:nvPr/>
        </p:nvSpPr>
        <p:spPr>
          <a:xfrm>
            <a:off x="5486400" y="37433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23" name="Text 121"/>
          <p:cNvSpPr txBox="1"/>
          <p:nvPr/>
        </p:nvSpPr>
        <p:spPr>
          <a:xfrm>
            <a:off x="5486400" y="40100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24" name="Text 122"/>
          <p:cNvSpPr txBox="1"/>
          <p:nvPr/>
        </p:nvSpPr>
        <p:spPr>
          <a:xfrm>
            <a:off x="5486400" y="42767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63131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61036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27" name="Shape 125"/>
          <p:cNvSpPr/>
          <p:nvPr/>
        </p:nvSpPr>
        <p:spPr>
          <a:xfrm>
            <a:off x="76085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28" name="Text 126"/>
          <p:cNvSpPr txBox="1"/>
          <p:nvPr/>
        </p:nvSpPr>
        <p:spPr>
          <a:xfrm>
            <a:off x="73990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89039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86944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101993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99898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33" name="Shape 131"/>
          <p:cNvSpPr/>
          <p:nvPr/>
        </p:nvSpPr>
        <p:spPr>
          <a:xfrm>
            <a:off x="5924550" y="3913013"/>
            <a:ext cx="531495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34" name="Text 132"/>
          <p:cNvSpPr txBox="1"/>
          <p:nvPr/>
        </p:nvSpPr>
        <p:spPr>
          <a:xfrm>
            <a:off x="9033510" y="3741563"/>
            <a:ext cx="1714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적용한 보정값</a:t>
            </a:r>
            <a:endParaRPr lang="en-US" sz="825" dirty="0"/>
          </a:p>
        </p:txBody>
      </p:sp>
      <p:sp>
        <p:nvSpPr>
          <p:cNvPr id="135" name="Shape 133"/>
          <p:cNvSpPr/>
          <p:nvPr/>
        </p:nvSpPr>
        <p:spPr>
          <a:xfrm>
            <a:off x="6039422" y="318597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97715" y="3217507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531674" y="346347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790754" y="3668163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062788" y="368676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92328" y="371723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321868" y="374550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438454" y="363309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516178" y="3805247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736396" y="370610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930706" y="372677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969568" y="358742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08430" y="361709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8" name="Shape 146"/>
          <p:cNvSpPr/>
          <p:nvPr/>
        </p:nvSpPr>
        <p:spPr>
          <a:xfrm>
            <a:off x="8150924" y="355895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9" name="Shape 147"/>
          <p:cNvSpPr/>
          <p:nvPr/>
        </p:nvSpPr>
        <p:spPr>
          <a:xfrm>
            <a:off x="8163878" y="3648294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0" name="Shape 148"/>
          <p:cNvSpPr/>
          <p:nvPr/>
        </p:nvSpPr>
        <p:spPr>
          <a:xfrm>
            <a:off x="8241602" y="3676498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1" name="Shape 149"/>
          <p:cNvSpPr/>
          <p:nvPr/>
        </p:nvSpPr>
        <p:spPr>
          <a:xfrm>
            <a:off x="8435912" y="3691299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2" name="Shape 150"/>
          <p:cNvSpPr/>
          <p:nvPr/>
        </p:nvSpPr>
        <p:spPr>
          <a:xfrm>
            <a:off x="8448866" y="366883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3" name="Shape 151"/>
          <p:cNvSpPr/>
          <p:nvPr/>
        </p:nvSpPr>
        <p:spPr>
          <a:xfrm>
            <a:off x="9044750" y="387445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537002" y="418969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562910" y="4268038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6" name="Shape 154"/>
          <p:cNvSpPr/>
          <p:nvPr/>
        </p:nvSpPr>
        <p:spPr>
          <a:xfrm>
            <a:off x="9575864" y="408768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614726" y="409575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8" name="Shape 156"/>
          <p:cNvSpPr/>
          <p:nvPr/>
        </p:nvSpPr>
        <p:spPr>
          <a:xfrm>
            <a:off x="9834944" y="4227233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003345" y="437278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197655" y="415609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197655" y="408101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262426" y="427904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0288333" y="427550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0391966" y="410728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0482644" y="409041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0521506" y="4218499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0534459" y="3908327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534459" y="3956333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0534459" y="415129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0638091" y="400387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1" name="Shape 169"/>
          <p:cNvSpPr/>
          <p:nvPr/>
        </p:nvSpPr>
        <p:spPr>
          <a:xfrm>
            <a:off x="10664000" y="420423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2" name="Shape 170"/>
          <p:cNvSpPr/>
          <p:nvPr/>
        </p:nvSpPr>
        <p:spPr>
          <a:xfrm>
            <a:off x="10767632" y="399980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3" name="Shape 171"/>
          <p:cNvSpPr/>
          <p:nvPr/>
        </p:nvSpPr>
        <p:spPr>
          <a:xfrm>
            <a:off x="10961941" y="390906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4" name="Shape 172"/>
          <p:cNvSpPr/>
          <p:nvPr/>
        </p:nvSpPr>
        <p:spPr>
          <a:xfrm>
            <a:off x="11195114" y="395413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505450" y="4752975"/>
            <a:ext cx="38100" cy="2476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176" name="Text 174"/>
          <p:cNvSpPr txBox="1"/>
          <p:nvPr/>
        </p:nvSpPr>
        <p:spPr>
          <a:xfrm>
            <a:off x="5638800" y="4724400"/>
            <a:ext cx="514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</a:t>
            </a:r>
            <a:endParaRPr lang="en-US" sz="1088" dirty="0"/>
          </a:p>
        </p:txBody>
      </p:sp>
      <p:sp>
        <p:nvSpPr>
          <p:cNvPr id="177" name="Text 175"/>
          <p:cNvSpPr txBox="1"/>
          <p:nvPr/>
        </p:nvSpPr>
        <p:spPr>
          <a:xfrm>
            <a:off x="6210300" y="4733925"/>
            <a:ext cx="49149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낼 수 있는데 적게 신고했습니다. 팔 수 있는 양을 못 팔았습니다.</a:t>
            </a:r>
            <a:endParaRPr lang="en-US" sz="938" dirty="0"/>
          </a:p>
        </p:txBody>
      </p:sp>
      <p:sp>
        <p:nvSpPr>
          <p:cNvPr id="178" name="Shape 176"/>
          <p:cNvSpPr/>
          <p:nvPr/>
        </p:nvSpPr>
        <p:spPr>
          <a:xfrm>
            <a:off x="5505450" y="5172075"/>
            <a:ext cx="38100" cy="2476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5638800" y="5143500"/>
            <a:ext cx="514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</a:t>
            </a:r>
            <a:endParaRPr lang="en-US" sz="1088" dirty="0"/>
          </a:p>
        </p:txBody>
      </p:sp>
      <p:sp>
        <p:nvSpPr>
          <p:cNvPr id="180" name="Text 178"/>
          <p:cNvSpPr txBox="1"/>
          <p:nvPr/>
        </p:nvSpPr>
        <p:spPr>
          <a:xfrm>
            <a:off x="6210300" y="5153025"/>
            <a:ext cx="49149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내는데 많이 신고했습니다. 신고값을 못 채우면 정산에서 불이익을 받습니다.</a:t>
            </a:r>
            <a:endParaRPr lang="en-US" sz="938" dirty="0"/>
          </a:p>
        </p:txBody>
      </p:sp>
      <p:sp>
        <p:nvSpPr>
          <p:cNvPr id="181" name="Shape 179"/>
          <p:cNvSpPr/>
          <p:nvPr/>
        </p:nvSpPr>
        <p:spPr>
          <a:xfrm>
            <a:off x="5505450" y="5591175"/>
            <a:ext cx="38100" cy="2476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638800" y="5562600"/>
            <a:ext cx="514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88" dirty="0"/>
          </a:p>
        </p:txBody>
      </p:sp>
      <p:sp>
        <p:nvSpPr>
          <p:cNvPr id="183" name="Text 181"/>
          <p:cNvSpPr txBox="1"/>
          <p:nvPr/>
        </p:nvSpPr>
        <p:spPr>
          <a:xfrm>
            <a:off x="6210300" y="5572125"/>
            <a:ext cx="49149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15회가 신고값을 못 채웠고, 가장 크게 어긋난 날은 10.8 MW 였습니다.</a:t>
            </a:r>
            <a:endParaRPr lang="en-US" sz="938" dirty="0"/>
          </a:p>
        </p:txBody>
      </p:sp>
      <p:sp>
        <p:nvSpPr>
          <p:cNvPr id="184" name="Shape 18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86" name="Text 18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절차는 번거롭고, 온도마다 다른 것을 하나로 맞추려니 맞을 수가 없었습니다.</a:t>
            </a:r>
            <a:endParaRPr lang="en-US" sz="123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2026-09-16T10:09:24Z</dcterms:created>
  <dcterms:modified xsi:type="dcterms:W3CDTF">2026-09-16T10:09:24Z</dcterms:modified>
</cp:coreProperties>
</file>