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왜 했는지, 뒤의 다섯 항목이 무엇을 어떻게 바꿨는지입니다.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1257300" y="20193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3543300" y="20669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예전에 숫자를 만든 방법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53400" y="20764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63" dirty="0"/>
          </a:p>
        </p:txBody>
      </p:sp>
      <p:sp>
        <p:nvSpPr>
          <p:cNvPr id="9" name="Text 7"/>
          <p:cNvSpPr txBox="1"/>
          <p:nvPr/>
        </p:nvSpPr>
        <p:spPr>
          <a:xfrm>
            <a:off x="10972800" y="20574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24193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5431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75" dirty="0"/>
          </a:p>
        </p:txBody>
      </p:sp>
      <p:sp>
        <p:nvSpPr>
          <p:cNvPr id="12" name="Text 10"/>
          <p:cNvSpPr txBox="1"/>
          <p:nvPr/>
        </p:nvSpPr>
        <p:spPr>
          <a:xfrm>
            <a:off x="1257300" y="25050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543300" y="25527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· 똑같은 값 · 어긋난 숫자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53400" y="25622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 정의</a:t>
            </a:r>
            <a:endParaRPr lang="en-US" sz="863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5431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85800" y="29051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0289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75" dirty="0"/>
          </a:p>
        </p:txBody>
      </p:sp>
      <p:sp>
        <p:nvSpPr>
          <p:cNvPr id="18" name="Text 16"/>
          <p:cNvSpPr txBox="1"/>
          <p:nvPr/>
        </p:nvSpPr>
        <p:spPr>
          <a:xfrm>
            <a:off x="1257300" y="29908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30384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53400" y="30480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30289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3390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5147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75" dirty="0"/>
          </a:p>
        </p:txBody>
      </p:sp>
      <p:sp>
        <p:nvSpPr>
          <p:cNvPr id="24" name="Text 22"/>
          <p:cNvSpPr txBox="1"/>
          <p:nvPr/>
        </p:nvSpPr>
        <p:spPr>
          <a:xfrm>
            <a:off x="1257300" y="34766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575" dirty="0"/>
          </a:p>
        </p:txBody>
      </p:sp>
      <p:sp>
        <p:nvSpPr>
          <p:cNvPr id="25" name="Text 23"/>
          <p:cNvSpPr txBox="1"/>
          <p:nvPr/>
        </p:nvSpPr>
        <p:spPr>
          <a:xfrm>
            <a:off x="3543300" y="35242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배우기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5337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 방안 및 모델 개발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35147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685800" y="38766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00050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1257300" y="396240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3543300" y="401002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좋아졌나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401955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 효과</a:t>
            </a:r>
            <a:endParaRPr lang="en-US" sz="863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400050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43624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48627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444817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3543300" y="449580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450532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448627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25" dirty="0"/>
          </a:p>
        </p:txBody>
      </p:sp>
      <p:sp>
        <p:nvSpPr>
          <p:cNvPr id="40" name="Shape 38"/>
          <p:cNvSpPr/>
          <p:nvPr/>
        </p:nvSpPr>
        <p:spPr>
          <a:xfrm>
            <a:off x="685800" y="48482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972050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933950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3543300" y="4981575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4991100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모니터링 체계 구축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972050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685800" y="53340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457825"/>
            <a:ext cx="4191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1257300" y="5419725"/>
            <a:ext cx="20955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75" dirty="0"/>
          </a:p>
        </p:txBody>
      </p:sp>
      <p:sp>
        <p:nvSpPr>
          <p:cNvPr id="49" name="Text 47"/>
          <p:cNvSpPr txBox="1"/>
          <p:nvPr/>
        </p:nvSpPr>
        <p:spPr>
          <a:xfrm>
            <a:off x="3543300" y="5467350"/>
            <a:ext cx="4381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5476875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 계획 및 수평 전개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5457825"/>
            <a:ext cx="5334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484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본사 보고 항목입니다. 읽는 순서만 바꿨습니다.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 전에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08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3"/>
              </a:lnSpc>
              <a:buNone/>
            </a:pPr>
            <a:r>
              <a:rPr lang="en-US" sz="25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하는 일</a:t>
            </a:r>
            <a:endParaRPr lang="en-US" sz="25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87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만들어 팝니다. 팔기 전에 얼마나 낼 수 있는지 미리 알려 줘야 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10820400" cy="1066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5325" y="18383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145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5325" y="18383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7250" y="19050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1" name="Text 9"/>
          <p:cNvSpPr txBox="1"/>
          <p:nvPr/>
        </p:nvSpPr>
        <p:spPr>
          <a:xfrm>
            <a:off x="1085850" y="19050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전기를 파는 순서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116205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전기를 만든다</a:t>
            </a:r>
            <a:endParaRPr lang="en-US" sz="1088" dirty="0"/>
          </a:p>
        </p:txBody>
      </p:sp>
      <p:sp>
        <p:nvSpPr>
          <p:cNvPr id="14" name="Text 12"/>
          <p:cNvSpPr txBox="1"/>
          <p:nvPr/>
        </p:nvSpPr>
        <p:spPr>
          <a:xfrm>
            <a:off x="116205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가스와 증기로 돌립니다.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5755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6" name="Text 14"/>
          <p:cNvSpPr txBox="1"/>
          <p:nvPr/>
        </p:nvSpPr>
        <p:spPr>
          <a:xfrm>
            <a:off x="360045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17" name="Text 15"/>
          <p:cNvSpPr txBox="1"/>
          <p:nvPr/>
        </p:nvSpPr>
        <p:spPr>
          <a:xfrm>
            <a:off x="384810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낼 수 있다고 알린다</a:t>
            </a:r>
            <a:endParaRPr lang="en-US" sz="1088" dirty="0"/>
          </a:p>
        </p:txBody>
      </p:sp>
      <p:sp>
        <p:nvSpPr>
          <p:cNvPr id="18" name="Text 16"/>
          <p:cNvSpPr txBox="1"/>
          <p:nvPr/>
        </p:nvSpPr>
        <p:spPr>
          <a:xfrm>
            <a:off x="384810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전에 숫자를 냅니다.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53415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그만큼 팔린다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653415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숫자가 기준이 됩니다.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29650" y="2286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8972550" y="2247900"/>
            <a:ext cx="209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9220200" y="2228850"/>
            <a:ext cx="2038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그만큼 실제로 낸다</a:t>
            </a:r>
            <a:endParaRPr lang="en-US" sz="1088" dirty="0"/>
          </a:p>
        </p:txBody>
      </p:sp>
      <p:sp>
        <p:nvSpPr>
          <p:cNvPr id="26" name="Text 24"/>
          <p:cNvSpPr txBox="1"/>
          <p:nvPr/>
        </p:nvSpPr>
        <p:spPr>
          <a:xfrm>
            <a:off x="9220200" y="2457450"/>
            <a:ext cx="20383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내면 벌칙이 있습니다.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" y="3009900"/>
            <a:ext cx="5295900" cy="2933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5325" y="301942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29565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5325" y="30194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57250" y="30861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2" name="Text 30"/>
          <p:cNvSpPr txBox="1"/>
          <p:nvPr/>
        </p:nvSpPr>
        <p:spPr>
          <a:xfrm>
            <a:off x="1085850" y="3086100"/>
            <a:ext cx="33813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점 하나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4467225" y="3095625"/>
            <a:ext cx="1381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날씨에 따라 달라집니다</a:t>
            </a:r>
            <a:endParaRPr lang="en-US" sz="825" dirty="0"/>
          </a:p>
        </p:txBody>
      </p:sp>
      <p:sp>
        <p:nvSpPr>
          <p:cNvPr id="34" name="Shape 32"/>
          <p:cNvSpPr/>
          <p:nvPr/>
        </p:nvSpPr>
        <p:spPr>
          <a:xfrm>
            <a:off x="1257300" y="5029200"/>
            <a:ext cx="4572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57300" y="3619500"/>
            <a:ext cx="0" cy="1409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33500" y="3843021"/>
            <a:ext cx="169545" cy="145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503045" y="3831674"/>
            <a:ext cx="169545" cy="113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672590" y="3823954"/>
            <a:ext cx="169545" cy="77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842135" y="3800325"/>
            <a:ext cx="169545" cy="2362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11680" y="3771900"/>
            <a:ext cx="169545" cy="284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81225" y="3771900"/>
            <a:ext cx="169545" cy="1965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0770" y="3791552"/>
            <a:ext cx="169545" cy="2140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20315" y="3812958"/>
            <a:ext cx="169545" cy="239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89860" y="3836938"/>
            <a:ext cx="169545" cy="2725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859405" y="3864194"/>
            <a:ext cx="169545" cy="2994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28950" y="3894139"/>
            <a:ext cx="169545" cy="3310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8495" y="3927243"/>
            <a:ext cx="169545" cy="4445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68040" y="3971694"/>
            <a:ext cx="169545" cy="48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37585" y="4020239"/>
            <a:ext cx="169545" cy="511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07130" y="4071357"/>
            <a:ext cx="169545" cy="5568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76675" y="4127037"/>
            <a:ext cx="169545" cy="6059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46220" y="4187630"/>
            <a:ext cx="169545" cy="6538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15765" y="4253020"/>
            <a:ext cx="169545" cy="5275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385310" y="4305775"/>
            <a:ext cx="169545" cy="735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54855" y="4379353"/>
            <a:ext cx="169545" cy="795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24400" y="4458896"/>
            <a:ext cx="169545" cy="8784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93945" y="4546745"/>
            <a:ext cx="169545" cy="948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63490" y="4641612"/>
            <a:ext cx="169545" cy="993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3035" y="4740924"/>
            <a:ext cx="169545" cy="10106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402580" y="4841990"/>
            <a:ext cx="169545" cy="11101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00100" y="3695700"/>
            <a:ext cx="419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</a:t>
            </a:r>
            <a:endParaRPr lang="en-US" sz="863" dirty="0"/>
          </a:p>
        </p:txBody>
      </p:sp>
      <p:sp>
        <p:nvSpPr>
          <p:cNvPr id="62" name="Text 60"/>
          <p:cNvSpPr txBox="1"/>
          <p:nvPr/>
        </p:nvSpPr>
        <p:spPr>
          <a:xfrm>
            <a:off x="800100" y="4876800"/>
            <a:ext cx="419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</a:t>
            </a:r>
            <a:endParaRPr lang="en-US" sz="863" dirty="0"/>
          </a:p>
        </p:txBody>
      </p:sp>
      <p:sp>
        <p:nvSpPr>
          <p:cNvPr id="63" name="Text 61"/>
          <p:cNvSpPr txBox="1"/>
          <p:nvPr/>
        </p:nvSpPr>
        <p:spPr>
          <a:xfrm>
            <a:off x="1257300" y="508635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953000" y="508635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 때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445895" y="3785871"/>
            <a:ext cx="114300" cy="1143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66" name="Shape 64"/>
          <p:cNvSpPr/>
          <p:nvPr/>
        </p:nvSpPr>
        <p:spPr>
          <a:xfrm>
            <a:off x="5345430" y="4784840"/>
            <a:ext cx="114300" cy="1143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76300" y="3429000"/>
            <a:ext cx="49149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추운 날은 많이 낼 수 있고, 더운 날은 적게 낼 수 있습니다.</a:t>
            </a:r>
            <a:endParaRPr lang="en-US" sz="1088" dirty="0"/>
          </a:p>
        </p:txBody>
      </p:sp>
      <p:sp>
        <p:nvSpPr>
          <p:cNvPr id="68" name="Text 66"/>
          <p:cNvSpPr txBox="1"/>
          <p:nvPr/>
        </p:nvSpPr>
        <p:spPr>
          <a:xfrm>
            <a:off x="876300" y="5353050"/>
            <a:ext cx="49149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하나의 숫자로는 안 되고, 온도마다 따로 알려 줘야 합니다.</a:t>
            </a:r>
            <a:endParaRPr lang="en-US" sz="938" dirty="0"/>
          </a:p>
        </p:txBody>
      </p:sp>
      <p:sp>
        <p:nvSpPr>
          <p:cNvPr id="69" name="Shape 67"/>
          <p:cNvSpPr/>
          <p:nvPr/>
        </p:nvSpPr>
        <p:spPr>
          <a:xfrm>
            <a:off x="6134100" y="3009900"/>
            <a:ext cx="5372100" cy="2933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43625" y="301942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1" name="Shape 69"/>
          <p:cNvSpPr/>
          <p:nvPr/>
        </p:nvSpPr>
        <p:spPr>
          <a:xfrm>
            <a:off x="6134100" y="329565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43625" y="30194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305550" y="30861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4" name="Text 72"/>
          <p:cNvSpPr txBox="1"/>
          <p:nvPr/>
        </p:nvSpPr>
        <p:spPr>
          <a:xfrm>
            <a:off x="6534150" y="3086100"/>
            <a:ext cx="35718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점 둘</a:t>
            </a:r>
            <a:endParaRPr lang="en-US" sz="1013" dirty="0"/>
          </a:p>
        </p:txBody>
      </p:sp>
      <p:sp>
        <p:nvSpPr>
          <p:cNvPr id="75" name="Text 73"/>
          <p:cNvSpPr txBox="1"/>
          <p:nvPr/>
        </p:nvSpPr>
        <p:spPr>
          <a:xfrm>
            <a:off x="10106025" y="3095625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손해가 납니다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6324600" y="3429000"/>
            <a:ext cx="49911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알린 숫자와 실제가 어긋나면 두 가지로 손해가 납니다.</a:t>
            </a:r>
            <a:endParaRPr lang="en-US" sz="1088" dirty="0"/>
          </a:p>
        </p:txBody>
      </p:sp>
      <p:sp>
        <p:nvSpPr>
          <p:cNvPr id="77" name="Shape 75"/>
          <p:cNvSpPr/>
          <p:nvPr/>
        </p:nvSpPr>
        <p:spPr>
          <a:xfrm>
            <a:off x="6324600" y="3867150"/>
            <a:ext cx="4991100" cy="800100"/>
          </a:xfrm>
          <a:prstGeom prst="rect">
            <a:avLst/>
          </a:prstGeom>
          <a:ln w="17780">
            <a:solidFill>
              <a:srgbClr val="FF4D6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324600" y="3867150"/>
            <a:ext cx="47625" cy="8001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534150" y="4019550"/>
            <a:ext cx="46291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알렸는데 못 냈다</a:t>
            </a:r>
            <a:endParaRPr lang="en-US" sz="1275" dirty="0"/>
          </a:p>
        </p:txBody>
      </p:sp>
      <p:sp>
        <p:nvSpPr>
          <p:cNvPr id="80" name="Text 78"/>
          <p:cNvSpPr txBox="1"/>
          <p:nvPr/>
        </p:nvSpPr>
        <p:spPr>
          <a:xfrm>
            <a:off x="6534150" y="4305300"/>
            <a:ext cx="46291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내면 벌칙을 받습니다.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57750"/>
            <a:ext cx="4991100" cy="800100"/>
          </a:xfrm>
          <a:prstGeom prst="rect">
            <a:avLst/>
          </a:prstGeom>
          <a:ln w="17780">
            <a:solidFill>
              <a:srgbClr val="A8BCD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324600" y="4857750"/>
            <a:ext cx="47625" cy="80010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534150" y="5010150"/>
            <a:ext cx="46291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알렸는데 더 낼 수 있었다</a:t>
            </a:r>
            <a:endParaRPr lang="en-US" sz="1275" dirty="0"/>
          </a:p>
        </p:txBody>
      </p:sp>
      <p:sp>
        <p:nvSpPr>
          <p:cNvPr id="84" name="Text 82"/>
          <p:cNvSpPr txBox="1"/>
          <p:nvPr/>
        </p:nvSpPr>
        <p:spPr>
          <a:xfrm>
            <a:off x="6534150" y="5295900"/>
            <a:ext cx="46291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 양을 못 팔았습니다.</a:t>
            </a:r>
            <a:endParaRPr lang="en-US" sz="975" dirty="0"/>
          </a:p>
        </p:txBody>
      </p:sp>
      <p:sp>
        <p:nvSpPr>
          <p:cNvPr id="85" name="Text 83"/>
          <p:cNvSpPr txBox="1"/>
          <p:nvPr/>
        </p:nvSpPr>
        <p:spPr>
          <a:xfrm>
            <a:off x="6324600" y="5715000"/>
            <a:ext cx="4991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쪽이든 손해입니다. 그래서 숫자를 잘 맞히는 일이 중요합니다.</a:t>
            </a:r>
            <a:endParaRPr lang="en-US" sz="938" dirty="0"/>
          </a:p>
        </p:txBody>
      </p:sp>
      <p:sp>
        <p:nvSpPr>
          <p:cNvPr id="86" name="Shape 8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8" name="Text 8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과제는 그 숫자를 더 잘 맞히려고 한 일입니다.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예전에 숫자를 만든 방법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엑셀 네 개에 차례로 옮겨 담아 알릴 숫자를 만들었습니다.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9621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420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만드는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506075" y="18573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8382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2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44695"/>
            <a:ext cx="2343150" cy="758909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85825" y="2335170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2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온도와 압력 같은 값 14개를 끌어옵니다.</a:t>
            </a:r>
            <a:endParaRPr lang="en-US" sz="863" dirty="0"/>
          </a:p>
        </p:txBody>
      </p:sp>
      <p:sp>
        <p:nvSpPr>
          <p:cNvPr id="25" name="Text 22"/>
          <p:cNvSpPr txBox="1"/>
          <p:nvPr/>
        </p:nvSpPr>
        <p:spPr>
          <a:xfrm>
            <a:off x="33051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3"/>
          <p:cNvSpPr txBox="1"/>
          <p:nvPr/>
        </p:nvSpPr>
        <p:spPr>
          <a:xfrm>
            <a:off x="34861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34861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8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896" y="2343150"/>
            <a:ext cx="899958" cy="762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55371" y="2333625"/>
            <a:ext cx="919008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861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 압력을 넣으면 영하 20도부터 40도까지 61개 값이 나옵니다.</a:t>
            </a:r>
            <a:endParaRPr lang="en-US" sz="863" dirty="0"/>
          </a:p>
        </p:txBody>
      </p:sp>
      <p:sp>
        <p:nvSpPr>
          <p:cNvPr id="31" name="Text 27"/>
          <p:cNvSpPr txBox="1"/>
          <p:nvPr/>
        </p:nvSpPr>
        <p:spPr>
          <a:xfrm>
            <a:off x="595312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2" name="Text 28"/>
          <p:cNvSpPr txBox="1"/>
          <p:nvPr/>
        </p:nvSpPr>
        <p:spPr>
          <a:xfrm>
            <a:off x="613410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613410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474879"/>
            <a:ext cx="2343150" cy="498543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181725" y="2465354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3410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생긴 차이를 61개 값에 모두 더합니다.</a:t>
            </a:r>
            <a:endParaRPr lang="en-US" sz="863" dirty="0"/>
          </a:p>
        </p:txBody>
      </p:sp>
      <p:sp>
        <p:nvSpPr>
          <p:cNvPr id="37" name="Text 32"/>
          <p:cNvSpPr txBox="1"/>
          <p:nvPr/>
        </p:nvSpPr>
        <p:spPr>
          <a:xfrm>
            <a:off x="8601075" y="26670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 txBox="1"/>
          <p:nvPr/>
        </p:nvSpPr>
        <p:spPr>
          <a:xfrm>
            <a:off x="8782050" y="211455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1013" dirty="0"/>
          </a:p>
        </p:txBody>
      </p:sp>
      <p:sp>
        <p:nvSpPr>
          <p:cNvPr id="39" name="Shape 34"/>
          <p:cNvSpPr/>
          <p:nvPr/>
        </p:nvSpPr>
        <p:spPr>
          <a:xfrm>
            <a:off x="8782050" y="2305050"/>
            <a:ext cx="2457450" cy="83820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4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7838" y="2343150"/>
            <a:ext cx="1285875" cy="762000"/>
          </a:xfrm>
          <a:prstGeom prst="rect">
            <a:avLst/>
          </a:prstGeom>
        </p:spPr>
      </p:pic>
      <p:sp>
        <p:nvSpPr>
          <p:cNvPr id="41" name="Shape 35"/>
          <p:cNvSpPr/>
          <p:nvPr/>
        </p:nvSpPr>
        <p:spPr>
          <a:xfrm>
            <a:off x="9358313" y="2333625"/>
            <a:ext cx="1304925" cy="781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82050" y="321945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그대로 옮겨 붙이면 그날 알릴 숫자가 됩니다.</a:t>
            </a:r>
            <a:endParaRPr lang="en-US" sz="863" dirty="0"/>
          </a:p>
        </p:txBody>
      </p:sp>
      <p:sp>
        <p:nvSpPr>
          <p:cNvPr id="43" name="Shape 37"/>
          <p:cNvSpPr/>
          <p:nvPr/>
        </p:nvSpPr>
        <p:spPr>
          <a:xfrm>
            <a:off x="685800" y="3848100"/>
            <a:ext cx="10820400" cy="2095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95325" y="3857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39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95325" y="3857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857250" y="3924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8" name="Text 42"/>
          <p:cNvSpPr txBox="1"/>
          <p:nvPr/>
        </p:nvSpPr>
        <p:spPr>
          <a:xfrm>
            <a:off x="1085850" y="3924300"/>
            <a:ext cx="89344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값을 정하는 방법</a:t>
            </a:r>
            <a:endParaRPr lang="en-US" sz="1013" dirty="0"/>
          </a:p>
        </p:txBody>
      </p:sp>
      <p:sp>
        <p:nvSpPr>
          <p:cNvPr id="49" name="Text 43"/>
          <p:cNvSpPr txBox="1"/>
          <p:nvPr/>
        </p:nvSpPr>
        <p:spPr>
          <a:xfrm>
            <a:off x="10020300" y="3933825"/>
            <a:ext cx="1352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1곳 → 61개 온도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914400" y="4191000"/>
            <a:ext cx="666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나온 차이 하나를 61개 온도에 모두 같은 크기로 더했습니다.</a:t>
            </a:r>
            <a:endParaRPr lang="en-US" sz="975" dirty="0"/>
          </a:p>
        </p:txBody>
      </p:sp>
      <p:sp>
        <p:nvSpPr>
          <p:cNvPr id="51" name="Shape 45"/>
          <p:cNvSpPr/>
          <p:nvPr/>
        </p:nvSpPr>
        <p:spPr>
          <a:xfrm>
            <a:off x="1866900" y="5524500"/>
            <a:ext cx="8877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28750" y="54578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53" name="Shape 47"/>
          <p:cNvSpPr/>
          <p:nvPr/>
        </p:nvSpPr>
        <p:spPr>
          <a:xfrm>
            <a:off x="1866900" y="51816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1428750" y="51149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88" dirty="0"/>
          </a:p>
        </p:txBody>
      </p:sp>
      <p:sp>
        <p:nvSpPr>
          <p:cNvPr id="55" name="Shape 49"/>
          <p:cNvSpPr/>
          <p:nvPr/>
        </p:nvSpPr>
        <p:spPr>
          <a:xfrm>
            <a:off x="1866900" y="48387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1428750" y="47720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88" dirty="0"/>
          </a:p>
        </p:txBody>
      </p:sp>
      <p:sp>
        <p:nvSpPr>
          <p:cNvPr id="57" name="Shape 51"/>
          <p:cNvSpPr/>
          <p:nvPr/>
        </p:nvSpPr>
        <p:spPr>
          <a:xfrm>
            <a:off x="1866900" y="4495800"/>
            <a:ext cx="8877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428750" y="4429125"/>
            <a:ext cx="3429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788" dirty="0"/>
          </a:p>
        </p:txBody>
      </p:sp>
      <p:sp>
        <p:nvSpPr>
          <p:cNvPr id="59" name="Text 53"/>
          <p:cNvSpPr txBox="1"/>
          <p:nvPr/>
        </p:nvSpPr>
        <p:spPr>
          <a:xfrm>
            <a:off x="914400" y="4457700"/>
            <a:ext cx="438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750" dirty="0"/>
          </a:p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750" dirty="0"/>
          </a:p>
        </p:txBody>
      </p:sp>
      <p:sp>
        <p:nvSpPr>
          <p:cNvPr id="60" name="Shape 54"/>
          <p:cNvSpPr/>
          <p:nvPr/>
        </p:nvSpPr>
        <p:spPr>
          <a:xfrm>
            <a:off x="1862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Shape 55"/>
          <p:cNvSpPr/>
          <p:nvPr/>
        </p:nvSpPr>
        <p:spPr>
          <a:xfrm>
            <a:off x="2008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2" name="Shape 56"/>
          <p:cNvSpPr/>
          <p:nvPr/>
        </p:nvSpPr>
        <p:spPr>
          <a:xfrm>
            <a:off x="2154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3" name="Shape 57"/>
          <p:cNvSpPr/>
          <p:nvPr/>
        </p:nvSpPr>
        <p:spPr>
          <a:xfrm>
            <a:off x="2300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4" name="Shape 58"/>
          <p:cNvSpPr/>
          <p:nvPr/>
        </p:nvSpPr>
        <p:spPr>
          <a:xfrm>
            <a:off x="24463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5" name="Shape 59"/>
          <p:cNvSpPr/>
          <p:nvPr/>
        </p:nvSpPr>
        <p:spPr>
          <a:xfrm>
            <a:off x="2592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6" name="Shape 60"/>
          <p:cNvSpPr/>
          <p:nvPr/>
        </p:nvSpPr>
        <p:spPr>
          <a:xfrm>
            <a:off x="2738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7" name="Shape 61"/>
          <p:cNvSpPr/>
          <p:nvPr/>
        </p:nvSpPr>
        <p:spPr>
          <a:xfrm>
            <a:off x="2884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8" name="Shape 62"/>
          <p:cNvSpPr/>
          <p:nvPr/>
        </p:nvSpPr>
        <p:spPr>
          <a:xfrm>
            <a:off x="3030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9" name="Shape 63"/>
          <p:cNvSpPr/>
          <p:nvPr/>
        </p:nvSpPr>
        <p:spPr>
          <a:xfrm>
            <a:off x="3176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0" name="Shape 64"/>
          <p:cNvSpPr/>
          <p:nvPr/>
        </p:nvSpPr>
        <p:spPr>
          <a:xfrm>
            <a:off x="3322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1" name="Shape 65"/>
          <p:cNvSpPr/>
          <p:nvPr/>
        </p:nvSpPr>
        <p:spPr>
          <a:xfrm>
            <a:off x="3468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2" name="Shape 66"/>
          <p:cNvSpPr/>
          <p:nvPr/>
        </p:nvSpPr>
        <p:spPr>
          <a:xfrm>
            <a:off x="3614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3" name="Shape 67"/>
          <p:cNvSpPr/>
          <p:nvPr/>
        </p:nvSpPr>
        <p:spPr>
          <a:xfrm>
            <a:off x="3760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4" name="Shape 68"/>
          <p:cNvSpPr/>
          <p:nvPr/>
        </p:nvSpPr>
        <p:spPr>
          <a:xfrm>
            <a:off x="3906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5" name="Shape 69"/>
          <p:cNvSpPr/>
          <p:nvPr/>
        </p:nvSpPr>
        <p:spPr>
          <a:xfrm>
            <a:off x="4052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6" name="Shape 70"/>
          <p:cNvSpPr/>
          <p:nvPr/>
        </p:nvSpPr>
        <p:spPr>
          <a:xfrm>
            <a:off x="4198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7" name="Shape 71"/>
          <p:cNvSpPr/>
          <p:nvPr/>
        </p:nvSpPr>
        <p:spPr>
          <a:xfrm>
            <a:off x="4344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8" name="Shape 72"/>
          <p:cNvSpPr/>
          <p:nvPr/>
        </p:nvSpPr>
        <p:spPr>
          <a:xfrm>
            <a:off x="4491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9" name="Shape 73"/>
          <p:cNvSpPr/>
          <p:nvPr/>
        </p:nvSpPr>
        <p:spPr>
          <a:xfrm>
            <a:off x="4637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Shape 74"/>
          <p:cNvSpPr/>
          <p:nvPr/>
        </p:nvSpPr>
        <p:spPr>
          <a:xfrm>
            <a:off x="4783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1" name="Shape 75"/>
          <p:cNvSpPr/>
          <p:nvPr/>
        </p:nvSpPr>
        <p:spPr>
          <a:xfrm>
            <a:off x="4929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2" name="Shape 76"/>
          <p:cNvSpPr/>
          <p:nvPr/>
        </p:nvSpPr>
        <p:spPr>
          <a:xfrm>
            <a:off x="50752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3" name="Shape 77"/>
          <p:cNvSpPr/>
          <p:nvPr/>
        </p:nvSpPr>
        <p:spPr>
          <a:xfrm>
            <a:off x="5221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Shape 78"/>
          <p:cNvSpPr/>
          <p:nvPr/>
        </p:nvSpPr>
        <p:spPr>
          <a:xfrm>
            <a:off x="5367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5" name="Shape 79"/>
          <p:cNvSpPr/>
          <p:nvPr/>
        </p:nvSpPr>
        <p:spPr>
          <a:xfrm>
            <a:off x="55133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6" name="Shape 80"/>
          <p:cNvSpPr/>
          <p:nvPr/>
        </p:nvSpPr>
        <p:spPr>
          <a:xfrm>
            <a:off x="5659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7" name="Shape 81"/>
          <p:cNvSpPr/>
          <p:nvPr/>
        </p:nvSpPr>
        <p:spPr>
          <a:xfrm>
            <a:off x="5805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Shape 82"/>
          <p:cNvSpPr/>
          <p:nvPr/>
        </p:nvSpPr>
        <p:spPr>
          <a:xfrm>
            <a:off x="5951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9" name="Shape 83"/>
          <p:cNvSpPr/>
          <p:nvPr/>
        </p:nvSpPr>
        <p:spPr>
          <a:xfrm>
            <a:off x="6097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0" name="Shape 84"/>
          <p:cNvSpPr/>
          <p:nvPr/>
        </p:nvSpPr>
        <p:spPr>
          <a:xfrm>
            <a:off x="6243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1" name="Shape 85"/>
          <p:cNvSpPr/>
          <p:nvPr/>
        </p:nvSpPr>
        <p:spPr>
          <a:xfrm>
            <a:off x="6389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2" name="Shape 86"/>
          <p:cNvSpPr/>
          <p:nvPr/>
        </p:nvSpPr>
        <p:spPr>
          <a:xfrm>
            <a:off x="6535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3" name="Shape 87"/>
          <p:cNvSpPr/>
          <p:nvPr/>
        </p:nvSpPr>
        <p:spPr>
          <a:xfrm>
            <a:off x="6681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4" name="Shape 88"/>
          <p:cNvSpPr/>
          <p:nvPr/>
        </p:nvSpPr>
        <p:spPr>
          <a:xfrm>
            <a:off x="6827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5" name="Shape 89"/>
          <p:cNvSpPr/>
          <p:nvPr/>
        </p:nvSpPr>
        <p:spPr>
          <a:xfrm>
            <a:off x="6973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Shape 90"/>
          <p:cNvSpPr/>
          <p:nvPr/>
        </p:nvSpPr>
        <p:spPr>
          <a:xfrm>
            <a:off x="7119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7" name="Shape 91"/>
          <p:cNvSpPr/>
          <p:nvPr/>
        </p:nvSpPr>
        <p:spPr>
          <a:xfrm>
            <a:off x="7265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8" name="Shape 92"/>
          <p:cNvSpPr/>
          <p:nvPr/>
        </p:nvSpPr>
        <p:spPr>
          <a:xfrm>
            <a:off x="7412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9" name="Shape 93"/>
          <p:cNvSpPr/>
          <p:nvPr/>
        </p:nvSpPr>
        <p:spPr>
          <a:xfrm>
            <a:off x="7558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0" name="Shape 94"/>
          <p:cNvSpPr/>
          <p:nvPr/>
        </p:nvSpPr>
        <p:spPr>
          <a:xfrm>
            <a:off x="7704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1" name="Shape 95"/>
          <p:cNvSpPr/>
          <p:nvPr/>
        </p:nvSpPr>
        <p:spPr>
          <a:xfrm>
            <a:off x="78501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2" name="Shape 96"/>
          <p:cNvSpPr/>
          <p:nvPr/>
        </p:nvSpPr>
        <p:spPr>
          <a:xfrm>
            <a:off x="7996237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3" name="Shape 97"/>
          <p:cNvSpPr/>
          <p:nvPr/>
        </p:nvSpPr>
        <p:spPr>
          <a:xfrm>
            <a:off x="81422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4" name="Shape 98"/>
          <p:cNvSpPr/>
          <p:nvPr/>
        </p:nvSpPr>
        <p:spPr>
          <a:xfrm>
            <a:off x="82883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5" name="Shape 99"/>
          <p:cNvSpPr/>
          <p:nvPr/>
        </p:nvSpPr>
        <p:spPr>
          <a:xfrm>
            <a:off x="8434388" y="4838700"/>
            <a:ext cx="85725" cy="6858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6" name="Shape 100"/>
          <p:cNvSpPr/>
          <p:nvPr/>
        </p:nvSpPr>
        <p:spPr>
          <a:xfrm>
            <a:off x="85804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7" name="Shape 101"/>
          <p:cNvSpPr/>
          <p:nvPr/>
        </p:nvSpPr>
        <p:spPr>
          <a:xfrm>
            <a:off x="87264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8" name="Shape 102"/>
          <p:cNvSpPr/>
          <p:nvPr/>
        </p:nvSpPr>
        <p:spPr>
          <a:xfrm>
            <a:off x="88725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09" name="Shape 103"/>
          <p:cNvSpPr/>
          <p:nvPr/>
        </p:nvSpPr>
        <p:spPr>
          <a:xfrm>
            <a:off x="90185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0" name="Shape 104"/>
          <p:cNvSpPr/>
          <p:nvPr/>
        </p:nvSpPr>
        <p:spPr>
          <a:xfrm>
            <a:off x="91646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1" name="Shape 105"/>
          <p:cNvSpPr/>
          <p:nvPr/>
        </p:nvSpPr>
        <p:spPr>
          <a:xfrm>
            <a:off x="93106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2" name="Shape 106"/>
          <p:cNvSpPr/>
          <p:nvPr/>
        </p:nvSpPr>
        <p:spPr>
          <a:xfrm>
            <a:off x="94567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3" name="Shape 107"/>
          <p:cNvSpPr/>
          <p:nvPr/>
        </p:nvSpPr>
        <p:spPr>
          <a:xfrm>
            <a:off x="96027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4" name="Shape 108"/>
          <p:cNvSpPr/>
          <p:nvPr/>
        </p:nvSpPr>
        <p:spPr>
          <a:xfrm>
            <a:off x="97488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5" name="Shape 109"/>
          <p:cNvSpPr/>
          <p:nvPr/>
        </p:nvSpPr>
        <p:spPr>
          <a:xfrm>
            <a:off x="98948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6" name="Shape 110"/>
          <p:cNvSpPr/>
          <p:nvPr/>
        </p:nvSpPr>
        <p:spPr>
          <a:xfrm>
            <a:off x="100409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7" name="Shape 111"/>
          <p:cNvSpPr/>
          <p:nvPr/>
        </p:nvSpPr>
        <p:spPr>
          <a:xfrm>
            <a:off x="101869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8" name="Shape 112"/>
          <p:cNvSpPr/>
          <p:nvPr/>
        </p:nvSpPr>
        <p:spPr>
          <a:xfrm>
            <a:off x="103330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19" name="Shape 113"/>
          <p:cNvSpPr/>
          <p:nvPr/>
        </p:nvSpPr>
        <p:spPr>
          <a:xfrm>
            <a:off x="1047908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0" name="Shape 114"/>
          <p:cNvSpPr/>
          <p:nvPr/>
        </p:nvSpPr>
        <p:spPr>
          <a:xfrm>
            <a:off x="10625138" y="4838700"/>
            <a:ext cx="85725" cy="6858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1676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22" name="Text 116"/>
          <p:cNvSpPr txBox="1"/>
          <p:nvPr/>
        </p:nvSpPr>
        <p:spPr>
          <a:xfrm>
            <a:off x="3136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23" name="Text 117"/>
          <p:cNvSpPr txBox="1"/>
          <p:nvPr/>
        </p:nvSpPr>
        <p:spPr>
          <a:xfrm>
            <a:off x="4597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24" name="Text 118"/>
          <p:cNvSpPr txBox="1"/>
          <p:nvPr/>
        </p:nvSpPr>
        <p:spPr>
          <a:xfrm>
            <a:off x="6057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25" name="Text 119"/>
          <p:cNvSpPr txBox="1"/>
          <p:nvPr/>
        </p:nvSpPr>
        <p:spPr>
          <a:xfrm>
            <a:off x="7518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26" name="Text 120"/>
          <p:cNvSpPr txBox="1"/>
          <p:nvPr/>
        </p:nvSpPr>
        <p:spPr>
          <a:xfrm>
            <a:off x="89789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27" name="Text 121"/>
          <p:cNvSpPr txBox="1"/>
          <p:nvPr/>
        </p:nvSpPr>
        <p:spPr>
          <a:xfrm>
            <a:off x="10439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28" name="Text 122"/>
          <p:cNvSpPr txBox="1"/>
          <p:nvPr/>
        </p:nvSpPr>
        <p:spPr>
          <a:xfrm>
            <a:off x="10915650" y="5581650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29" name="Shape 123"/>
          <p:cNvSpPr/>
          <p:nvPr/>
        </p:nvSpPr>
        <p:spPr>
          <a:xfrm>
            <a:off x="8477250" y="4610100"/>
            <a:ext cx="0" cy="190500"/>
          </a:xfrm>
          <a:prstGeom prst="line">
            <a:avLst/>
          </a:prstGeom>
          <a:noFill/>
          <a:ln w="12700">
            <a:solidFill>
              <a:srgbClr val="EFB13C"/>
            </a:solidFill>
            <a:prstDash val="solid"/>
          </a:ln>
        </p:spPr>
      </p:sp>
      <p:sp>
        <p:nvSpPr>
          <p:cNvPr id="130" name="Text 124"/>
          <p:cNvSpPr txBox="1"/>
          <p:nvPr/>
        </p:nvSpPr>
        <p:spPr>
          <a:xfrm>
            <a:off x="7048500" y="44386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온도만 실제로 시험</a:t>
            </a:r>
            <a:endParaRPr lang="en-US" sz="975" dirty="0"/>
          </a:p>
        </p:txBody>
      </p:sp>
      <p:sp>
        <p:nvSpPr>
          <p:cNvPr id="131" name="Shape 125"/>
          <p:cNvSpPr/>
          <p:nvPr/>
        </p:nvSpPr>
        <p:spPr>
          <a:xfrm>
            <a:off x="2000250" y="4514850"/>
            <a:ext cx="133350" cy="666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32" name="Text 126"/>
          <p:cNvSpPr txBox="1"/>
          <p:nvPr/>
        </p:nvSpPr>
        <p:spPr>
          <a:xfrm>
            <a:off x="2190750" y="4476750"/>
            <a:ext cx="3810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60개 온도는 시험하지 않고 같은 값</a:t>
            </a:r>
            <a:endParaRPr lang="en-US" sz="938" dirty="0"/>
          </a:p>
        </p:txBody>
      </p:sp>
      <p:sp>
        <p:nvSpPr>
          <p:cNvPr id="133" name="Shape 1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4" name="Text 1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5" name="Text 1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세 가지였습니다. 절차가 번거롭고, 더하는 값이 하나로 고정되며, 그래서 숫자가 어긋났습니다.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876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회차마다 되풀이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32956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23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235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39433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594360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030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103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64389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8591550" y="2133600"/>
            <a:ext cx="0" cy="4000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58250" y="2152650"/>
            <a:ext cx="1809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85825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4" name="Text 32"/>
          <p:cNvSpPr txBox="1"/>
          <p:nvPr/>
        </p:nvSpPr>
        <p:spPr>
          <a:xfrm>
            <a:off x="908685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2762250"/>
            <a:ext cx="44767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325" y="2771775"/>
            <a:ext cx="44577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7" name="Shape 35"/>
          <p:cNvSpPr/>
          <p:nvPr/>
        </p:nvSpPr>
        <p:spPr>
          <a:xfrm>
            <a:off x="685800" y="3048000"/>
            <a:ext cx="44767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32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25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1085850" y="2838450"/>
            <a:ext cx="2381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똑같은 값 더하기</a:t>
            </a:r>
            <a:endParaRPr lang="en-US" sz="1013" dirty="0"/>
          </a:p>
        </p:txBody>
      </p:sp>
      <p:sp>
        <p:nvSpPr>
          <p:cNvPr id="41" name="Text 39"/>
          <p:cNvSpPr txBox="1"/>
          <p:nvPr/>
        </p:nvSpPr>
        <p:spPr>
          <a:xfrm>
            <a:off x="3467100" y="284797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952500" y="3124200"/>
            <a:ext cx="3276600" cy="2286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3" name="Shape 41"/>
          <p:cNvSpPr/>
          <p:nvPr/>
        </p:nvSpPr>
        <p:spPr>
          <a:xfrm>
            <a:off x="952500" y="33528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2004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20040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20040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5337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8225" y="33718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1743075" y="33718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2905125" y="33718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1" name="Shape 49"/>
          <p:cNvSpPr/>
          <p:nvPr/>
        </p:nvSpPr>
        <p:spPr>
          <a:xfrm>
            <a:off x="952500" y="35337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2500" y="37147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5528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5528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5528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952500" y="38957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225" y="37338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743075" y="37338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2905125" y="37338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952500" y="38957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52500" y="40767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39147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39147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63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39147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952500" y="42576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8225" y="40957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743075" y="40957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63" dirty="0"/>
          </a:p>
        </p:txBody>
      </p:sp>
      <p:sp>
        <p:nvSpPr>
          <p:cNvPr id="68" name="Text 66"/>
          <p:cNvSpPr txBox="1"/>
          <p:nvPr/>
        </p:nvSpPr>
        <p:spPr>
          <a:xfrm>
            <a:off x="2905125" y="40957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952500" y="42576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2500" y="44386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2767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2767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63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2767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952500" y="46196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38225" y="44577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743075" y="44577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63" dirty="0"/>
          </a:p>
        </p:txBody>
      </p:sp>
      <p:sp>
        <p:nvSpPr>
          <p:cNvPr id="77" name="Text 75"/>
          <p:cNvSpPr txBox="1"/>
          <p:nvPr/>
        </p:nvSpPr>
        <p:spPr>
          <a:xfrm>
            <a:off x="2905125" y="44577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78" name="Shape 76"/>
          <p:cNvSpPr/>
          <p:nvPr/>
        </p:nvSpPr>
        <p:spPr>
          <a:xfrm>
            <a:off x="952500" y="46196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52500" y="4800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38225" y="46386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1743075" y="46386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2905125" y="46386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952500" y="49815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38225" y="48196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1743075" y="48196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2905125" y="48196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63" dirty="0"/>
          </a:p>
        </p:txBody>
      </p:sp>
      <p:sp>
        <p:nvSpPr>
          <p:cNvPr id="87" name="Shape 85"/>
          <p:cNvSpPr/>
          <p:nvPr/>
        </p:nvSpPr>
        <p:spPr>
          <a:xfrm>
            <a:off x="952500" y="498157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952500" y="51625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38225" y="500062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0" name="Text 88"/>
          <p:cNvSpPr txBox="1"/>
          <p:nvPr/>
        </p:nvSpPr>
        <p:spPr>
          <a:xfrm>
            <a:off x="1743075" y="500062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63" dirty="0"/>
          </a:p>
        </p:txBody>
      </p:sp>
      <p:sp>
        <p:nvSpPr>
          <p:cNvPr id="91" name="Text 89"/>
          <p:cNvSpPr txBox="1"/>
          <p:nvPr/>
        </p:nvSpPr>
        <p:spPr>
          <a:xfrm>
            <a:off x="2905125" y="500062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2" name="Shape 90"/>
          <p:cNvSpPr/>
          <p:nvPr/>
        </p:nvSpPr>
        <p:spPr>
          <a:xfrm>
            <a:off x="952500" y="534352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8225" y="51816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4" name="Text 92"/>
          <p:cNvSpPr txBox="1"/>
          <p:nvPr/>
        </p:nvSpPr>
        <p:spPr>
          <a:xfrm>
            <a:off x="1743075" y="518160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63" dirty="0"/>
          </a:p>
        </p:txBody>
      </p:sp>
      <p:sp>
        <p:nvSpPr>
          <p:cNvPr id="95" name="Text 93"/>
          <p:cNvSpPr txBox="1"/>
          <p:nvPr/>
        </p:nvSpPr>
        <p:spPr>
          <a:xfrm>
            <a:off x="2905125" y="518160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63" dirty="0"/>
          </a:p>
        </p:txBody>
      </p:sp>
      <p:sp>
        <p:nvSpPr>
          <p:cNvPr id="96" name="Shape 94"/>
          <p:cNvSpPr/>
          <p:nvPr/>
        </p:nvSpPr>
        <p:spPr>
          <a:xfrm>
            <a:off x="952500" y="5343525"/>
            <a:ext cx="3276600" cy="18097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952500" y="5524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38225" y="5362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9" name="Text 97"/>
          <p:cNvSpPr txBox="1"/>
          <p:nvPr/>
        </p:nvSpPr>
        <p:spPr>
          <a:xfrm>
            <a:off x="1743075" y="5362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63" dirty="0"/>
          </a:p>
        </p:txBody>
      </p:sp>
      <p:sp>
        <p:nvSpPr>
          <p:cNvPr id="100" name="Text 98"/>
          <p:cNvSpPr txBox="1"/>
          <p:nvPr/>
        </p:nvSpPr>
        <p:spPr>
          <a:xfrm>
            <a:off x="2905125" y="5362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1" name="Shape 99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038225" y="55435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1743075" y="5543550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63" dirty="0"/>
          </a:p>
        </p:txBody>
      </p:sp>
      <p:sp>
        <p:nvSpPr>
          <p:cNvPr id="104" name="Text 102"/>
          <p:cNvSpPr txBox="1"/>
          <p:nvPr/>
        </p:nvSpPr>
        <p:spPr>
          <a:xfrm>
            <a:off x="2905125" y="5543550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105" name="Shape 103"/>
          <p:cNvSpPr/>
          <p:nvPr/>
        </p:nvSpPr>
        <p:spPr>
          <a:xfrm>
            <a:off x="952500" y="5705475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38225" y="5743575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7" name="Text 105"/>
          <p:cNvSpPr txBox="1"/>
          <p:nvPr/>
        </p:nvSpPr>
        <p:spPr>
          <a:xfrm>
            <a:off x="1743075" y="5743575"/>
            <a:ext cx="990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63" dirty="0"/>
          </a:p>
        </p:txBody>
      </p:sp>
      <p:sp>
        <p:nvSpPr>
          <p:cNvPr id="108" name="Text 106"/>
          <p:cNvSpPr txBox="1"/>
          <p:nvPr/>
        </p:nvSpPr>
        <p:spPr>
          <a:xfrm>
            <a:off x="2905125" y="5743575"/>
            <a:ext cx="1238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63" dirty="0"/>
          </a:p>
        </p:txBody>
      </p:sp>
      <p:sp>
        <p:nvSpPr>
          <p:cNvPr id="109" name="Shape 107"/>
          <p:cNvSpPr/>
          <p:nvPr/>
        </p:nvSpPr>
        <p:spPr>
          <a:xfrm>
            <a:off x="5314950" y="2762250"/>
            <a:ext cx="6191250" cy="31813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24475" y="277177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314950" y="304800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24475" y="27717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486400" y="28384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5715000" y="2838450"/>
            <a:ext cx="3657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어긋났나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9372600" y="2847975"/>
            <a:ext cx="2000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바깥 온도 ℃ / 세로 차이 MW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5924550" y="32766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24550" y="35433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924550" y="38100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924550" y="434340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24550" y="407670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486400" y="32099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5486400" y="37433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5486400" y="40100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5486400" y="427672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3131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1036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76085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73990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89039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6944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10199370" y="4476750"/>
            <a:ext cx="0" cy="381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89820" y="4533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5924550" y="3913013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4" name="Text 132"/>
          <p:cNvSpPr txBox="1"/>
          <p:nvPr/>
        </p:nvSpPr>
        <p:spPr>
          <a:xfrm>
            <a:off x="9033510" y="3741563"/>
            <a:ext cx="1714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825" dirty="0"/>
          </a:p>
        </p:txBody>
      </p:sp>
      <p:sp>
        <p:nvSpPr>
          <p:cNvPr id="135" name="Shape 133"/>
          <p:cNvSpPr/>
          <p:nvPr/>
        </p:nvSpPr>
        <p:spPr>
          <a:xfrm>
            <a:off x="6039422" y="318597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97715" y="321750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531674" y="34634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790754" y="366816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062788" y="368676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92328" y="371723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321868" y="374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438454" y="363309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516178" y="380524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736396" y="370610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930706" y="372677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969568" y="358742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08430" y="36170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50924" y="35589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163878" y="3648294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241602" y="367649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435912" y="36912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448866" y="36688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044750" y="387445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537002" y="418969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562910" y="4268038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575864" y="408768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614726" y="409575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834944" y="42272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003345" y="43727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197655" y="4156091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197655" y="408101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262426" y="427904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288333" y="427550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391966" y="410728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482644" y="4090416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521506" y="4218499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534459" y="3908327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534459" y="3956333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534459" y="415129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638091" y="400387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664000" y="420423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767632" y="3999805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961941" y="3909060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1195114" y="3954132"/>
            <a:ext cx="55245" cy="5524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505450" y="475297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5638800" y="47244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088" dirty="0"/>
          </a:p>
        </p:txBody>
      </p:sp>
      <p:sp>
        <p:nvSpPr>
          <p:cNvPr id="177" name="Text 175"/>
          <p:cNvSpPr txBox="1"/>
          <p:nvPr/>
        </p:nvSpPr>
        <p:spPr>
          <a:xfrm>
            <a:off x="6210300" y="47339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있는데 적게 알렸습니다. 팔 수 있는 양을 못 팔았습니다.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5505450" y="51720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638800" y="51435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088" dirty="0"/>
          </a:p>
        </p:txBody>
      </p:sp>
      <p:sp>
        <p:nvSpPr>
          <p:cNvPr id="180" name="Text 178"/>
          <p:cNvSpPr txBox="1"/>
          <p:nvPr/>
        </p:nvSpPr>
        <p:spPr>
          <a:xfrm>
            <a:off x="6210300" y="51530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알렸습니다. 알린 만큼 못 내면 벌칙을 받습니다.</a:t>
            </a:r>
            <a:endParaRPr lang="en-US" sz="938" dirty="0"/>
          </a:p>
        </p:txBody>
      </p:sp>
      <p:sp>
        <p:nvSpPr>
          <p:cNvPr id="181" name="Shape 179"/>
          <p:cNvSpPr/>
          <p:nvPr/>
        </p:nvSpPr>
        <p:spPr>
          <a:xfrm>
            <a:off x="5505450" y="559117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638800" y="5562600"/>
            <a:ext cx="5143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88" dirty="0"/>
          </a:p>
        </p:txBody>
      </p:sp>
      <p:sp>
        <p:nvSpPr>
          <p:cNvPr id="183" name="Text 181"/>
          <p:cNvSpPr txBox="1"/>
          <p:nvPr/>
        </p:nvSpPr>
        <p:spPr>
          <a:xfrm>
            <a:off x="6210300" y="5572125"/>
            <a:ext cx="49149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알린 만큼 못 냈습니다.</a:t>
            </a:r>
            <a:endParaRPr lang="en-US" sz="938" dirty="0"/>
          </a:p>
        </p:txBody>
      </p:sp>
      <p:sp>
        <p:nvSpPr>
          <p:cNvPr id="184" name="Shape 18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86" name="Text 18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영향을 줄 만한 것 네 가지를 놓고 하나씩 넣어 봤습니다. 남은 것은 바깥 온도 하나였습니다.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866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9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382250" y="1857375"/>
            <a:ext cx="990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4개 → 1개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38200" y="2152650"/>
            <a:ext cx="2457450" cy="57150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5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온도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9715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남았습니다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9715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이것만으로 거의 다 설명됐습니다.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861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95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3619500" y="2438400"/>
            <a:ext cx="1045702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95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36195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증기를 식히는 장치의 압력입니다. 온도를 빼면 사라졌습니다.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3410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74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 압력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6267450" y="2438400"/>
            <a:ext cx="8675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74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2674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계산식이 이미 쓰고 있었습니다.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7820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8915400" y="2438400"/>
            <a:ext cx="4133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154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넣어도 더 잘 맞히지 못했습니다.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" y="3752850"/>
            <a:ext cx="52959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37623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0386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3829050"/>
            <a:ext cx="4762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진공도를 세 번 접었다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133850"/>
            <a:ext cx="49149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 복수기 진공이 나빠지면 전기가 덜 나옵니다. 그럴듯했습니다.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세 번 다르게 확인했습니다.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47625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600200" y="47625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탓인지 설비 탓인지 갈라 봤습니다.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4495800" y="47625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508635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600200" y="508635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연도를 나눠 봤습니다.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4495800" y="508635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해만 그랬습니다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54102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600200" y="54102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걷어내고 다시 봤습니다.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4495800" y="54102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사라졌습니다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876300" y="5753100"/>
            <a:ext cx="4914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다 일부 회차만 골라 보면 그렇게 보이는 것이었습니다.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6134100" y="3752850"/>
            <a:ext cx="53721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43625" y="37623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134100" y="40386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436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55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6534150" y="3829050"/>
            <a:ext cx="4838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결론을 한 번 뒤집었다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6324600" y="4133850"/>
            <a:ext cx="49911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봄 시험이 유별나게 낮았습니다. 설비가 오래돼서라고 결론내고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문서까지 썼습니다.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6324600" y="4762500"/>
            <a:ext cx="38100" cy="876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5100" y="4762500"/>
            <a:ext cx="48006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파 보니 원인이 달랐습니다.</a:t>
            </a:r>
            <a:endParaRPr lang="en-US" sz="1088" dirty="0"/>
          </a:p>
        </p:txBody>
      </p:sp>
      <p:sp>
        <p:nvSpPr>
          <p:cNvPr id="65" name="Text 63"/>
          <p:cNvSpPr txBox="1"/>
          <p:nvPr/>
        </p:nvSpPr>
        <p:spPr>
          <a:xfrm>
            <a:off x="6515100" y="5010150"/>
            <a:ext cx="4800600" cy="767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넣어 주는 조작(IGV)을 하지 않고 시험한 날이었습니다.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전기가 4~6 MW 덜 나왔습니다. 결론을 거두고, 지금은 이런 날의 시험은 도구가 아예 쓰지 않습니다.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8" name="Text 6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그럴듯해 보이는 것을 하나씩 무너뜨린 끝에 온도만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배우기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그대로 두고, 계산한 값과 실제의 차이만 온도마다 따로 배우게 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3810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3790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3810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276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것과 두고 온 것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429000" cy="704850"/>
          </a:xfrm>
          <a:prstGeom prst="rect">
            <a:avLst/>
          </a:prstGeom>
          <a:ln w="17780">
            <a:solidFill>
              <a:srgbClr val="718B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9650" y="224790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둔 것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1009650" y="2438400"/>
            <a:ext cx="3143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009650" y="2647950"/>
            <a:ext cx="3143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식입니다. 손대지 않았습니다.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9146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81100" y="2952750"/>
            <a:ext cx="3048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계산한 값과 실제의 차이만 넘깁니다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76300" y="3219450"/>
            <a:ext cx="3429000" cy="70485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9650" y="331470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만든 것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1009650" y="3505200"/>
            <a:ext cx="3143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값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1009650" y="3714750"/>
            <a:ext cx="3143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40회를 학습해 온도마다 다른 값을 줍니다.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48200" y="1771650"/>
            <a:ext cx="6858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57725" y="1781175"/>
            <a:ext cx="6838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8200" y="2057400"/>
            <a:ext cx="6858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577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96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5048250" y="1847850"/>
            <a:ext cx="4286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그려 주는 화면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9334500" y="1857375"/>
            <a:ext cx="2038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주황이 배운 값, 흰 점이 시험 결과</a:t>
            </a:r>
            <a:endParaRPr lang="en-US" sz="825" dirty="0"/>
          </a:p>
        </p:txBody>
      </p:sp>
      <p:pic>
        <p:nvPicPr>
          <p:cNvPr id="36" name="Image 0" descr="/home/user/Narae-AI/docs/ppt/assets/too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868" y="2114550"/>
            <a:ext cx="6120664" cy="1543050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007343" y="2105025"/>
            <a:ext cx="6139714" cy="15621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762500" y="3733800"/>
            <a:ext cx="6629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값이 다릅니다. 흰 점이 실제 시험 결과이고, 주황 선이 도구가 배운 값입니다.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8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4" name="Text 41"/>
          <p:cNvSpPr txBox="1"/>
          <p:nvPr/>
        </p:nvSpPr>
        <p:spPr>
          <a:xfrm>
            <a:off x="1085850" y="4171950"/>
            <a:ext cx="96012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어떤 방법을 써야 하는지 몰랐다</a:t>
            </a:r>
            <a:endParaRPr lang="en-US" sz="1013" dirty="0"/>
          </a:p>
        </p:txBody>
      </p:sp>
      <p:sp>
        <p:nvSpPr>
          <p:cNvPr id="45" name="Text 42"/>
          <p:cNvSpPr txBox="1"/>
          <p:nvPr/>
        </p:nvSpPr>
        <p:spPr>
          <a:xfrm>
            <a:off x="10687050" y="41814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</a:t>
            </a:r>
            <a:endParaRPr lang="en-US" sz="825" dirty="0"/>
          </a:p>
        </p:txBody>
      </p:sp>
      <p:sp>
        <p:nvSpPr>
          <p:cNvPr id="46" name="Text 43"/>
          <p:cNvSpPr txBox="1"/>
          <p:nvPr/>
        </p:nvSpPr>
        <p:spPr>
          <a:xfrm>
            <a:off x="876300" y="4476750"/>
            <a:ext cx="447675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예측을 처음 다뤘습니다. 무엇을 써야 하는지 몰라서 후보 일곱 가지를 늘어놓고 같은 데이터로 겨루게 했습니다.</a:t>
            </a:r>
            <a:endParaRPr lang="en-US" sz="975" dirty="0"/>
          </a:p>
          <a:p>
            <a:pPr algn="l" indent="0" marL="0">
              <a:lnSpc>
                <a:spcPts val="1560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사람이 아니라 성적이 골랐습니다.</a:t>
            </a:r>
            <a:endParaRPr lang="en-US" sz="975" dirty="0"/>
          </a:p>
        </p:txBody>
      </p:sp>
      <p:sp>
        <p:nvSpPr>
          <p:cNvPr id="47" name="Text 44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48" name="Shape 45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0" name="Text 47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1위. 이것을 씁니다</a:t>
            </a:r>
            <a:endParaRPr lang="en-US" sz="863" dirty="0"/>
          </a:p>
        </p:txBody>
      </p:sp>
      <p:sp>
        <p:nvSpPr>
          <p:cNvPr id="51" name="Text 48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52" name="Shape 49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57" name="Text 54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63" name="Text 60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</a:t>
            </a:r>
            <a:endParaRPr lang="en-US" sz="863" dirty="0"/>
          </a:p>
        </p:txBody>
      </p:sp>
      <p:sp>
        <p:nvSpPr>
          <p:cNvPr id="64" name="Shape 61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66" name="Text 63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67" name="Shape 64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5467350" y="5867400"/>
            <a:ext cx="4191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것입니다. 단위 MW.</a:t>
            </a:r>
            <a:endParaRPr lang="en-US" sz="825" dirty="0"/>
          </a:p>
        </p:txBody>
      </p:sp>
      <p:sp>
        <p:nvSpPr>
          <p:cNvPr id="70" name="Shape 6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2" name="Text 6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그대로 두었으니, 다른 발전소로도 그대로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좋아졌나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40회에 예전 방법과 새 방법을 각각 써 보고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5495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얼마나 맞았나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581775" y="185737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438400"/>
            <a:ext cx="35242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285875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1552575" y="2343150"/>
            <a:ext cx="6667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2257425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8763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6" name="Shape 24"/>
          <p:cNvSpPr/>
          <p:nvPr/>
        </p:nvSpPr>
        <p:spPr>
          <a:xfrm>
            <a:off x="876300" y="3009900"/>
            <a:ext cx="638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3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67% 줄었습니다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8763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3.9 MW</a:t>
            </a:r>
            <a:endParaRPr lang="en-US" sz="863" dirty="0"/>
          </a:p>
        </p:txBody>
      </p:sp>
      <p:sp>
        <p:nvSpPr>
          <p:cNvPr id="29" name="Shape 27"/>
          <p:cNvSpPr/>
          <p:nvPr/>
        </p:nvSpPr>
        <p:spPr>
          <a:xfrm>
            <a:off x="29527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861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0861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33909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36576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700" dirty="0"/>
          </a:p>
        </p:txBody>
      </p:sp>
      <p:sp>
        <p:nvSpPr>
          <p:cNvPr id="34" name="Text 32"/>
          <p:cNvSpPr txBox="1"/>
          <p:nvPr/>
        </p:nvSpPr>
        <p:spPr>
          <a:xfrm>
            <a:off x="39433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30861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6100" y="3009900"/>
            <a:ext cx="5238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0861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 줄었습니다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0861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15 회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5162550" y="21526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95900" y="2152650"/>
            <a:ext cx="2000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알린 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295900" y="2438400"/>
            <a:ext cx="2476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5600700" y="2466975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43" name="Text 41"/>
          <p:cNvSpPr txBox="1"/>
          <p:nvPr/>
        </p:nvSpPr>
        <p:spPr>
          <a:xfrm>
            <a:off x="5867400" y="2343150"/>
            <a:ext cx="24765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700" dirty="0"/>
          </a:p>
        </p:txBody>
      </p:sp>
      <p:sp>
        <p:nvSpPr>
          <p:cNvPr id="44" name="Text 42"/>
          <p:cNvSpPr txBox="1"/>
          <p:nvPr/>
        </p:nvSpPr>
        <p:spPr>
          <a:xfrm>
            <a:off x="6153150" y="2552700"/>
            <a:ext cx="381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5295900" y="3009900"/>
            <a:ext cx="1943100" cy="762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6" name="Shape 44"/>
          <p:cNvSpPr/>
          <p:nvPr/>
        </p:nvSpPr>
        <p:spPr>
          <a:xfrm>
            <a:off x="5295900" y="3009900"/>
            <a:ext cx="257175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295900" y="3143250"/>
            <a:ext cx="1943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87% 줄었습니다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5295900" y="3352800"/>
            <a:ext cx="1943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70 MW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3657600"/>
            <a:ext cx="6286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방식으로 채점했습니다.</a:t>
            </a:r>
            <a:endParaRPr lang="en-US" sz="863" dirty="0"/>
          </a:p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알린 기록이 아니라, 같은 데이터에 두 방법을 써 본 값입니다.</a:t>
            </a:r>
            <a:endParaRPr lang="en-US" sz="863" dirty="0"/>
          </a:p>
        </p:txBody>
      </p:sp>
      <p:sp>
        <p:nvSpPr>
          <p:cNvPr id="50" name="Shape 48"/>
          <p:cNvSpPr/>
          <p:nvPr/>
        </p:nvSpPr>
        <p:spPr>
          <a:xfrm>
            <a:off x="7505700" y="1771650"/>
            <a:ext cx="40005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2" name="Shape 50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7905750" y="1847850"/>
            <a:ext cx="24193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 얼마나 줄었나</a:t>
            </a:r>
            <a:endParaRPr lang="en-US" sz="1013" dirty="0"/>
          </a:p>
        </p:txBody>
      </p:sp>
      <p:sp>
        <p:nvSpPr>
          <p:cNvPr id="56" name="Text 54"/>
          <p:cNvSpPr txBox="1"/>
          <p:nvPr/>
        </p:nvSpPr>
        <p:spPr>
          <a:xfrm>
            <a:off x="10325100" y="1857375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할 때 기준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7696200" y="22098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7696200" y="24003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275" dirty="0"/>
          </a:p>
        </p:txBody>
      </p:sp>
      <p:sp>
        <p:nvSpPr>
          <p:cNvPr id="59" name="Text 57"/>
          <p:cNvSpPr txBox="1"/>
          <p:nvPr/>
        </p:nvSpPr>
        <p:spPr>
          <a:xfrm>
            <a:off x="8086725" y="24193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8353425" y="23812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7696200" y="26479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696200" y="27432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7696200" y="2933700"/>
            <a:ext cx="41910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</a:t>
            </a:r>
            <a:endParaRPr lang="en-US" sz="1275" dirty="0"/>
          </a:p>
        </p:txBody>
      </p:sp>
      <p:sp>
        <p:nvSpPr>
          <p:cNvPr id="64" name="Text 62"/>
          <p:cNvSpPr txBox="1"/>
          <p:nvPr/>
        </p:nvSpPr>
        <p:spPr>
          <a:xfrm>
            <a:off x="8191500" y="29527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Text 63"/>
          <p:cNvSpPr txBox="1"/>
          <p:nvPr/>
        </p:nvSpPr>
        <p:spPr>
          <a:xfrm>
            <a:off x="8458200" y="2914650"/>
            <a:ext cx="2819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7696200" y="318135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696200" y="3276600"/>
            <a:ext cx="2286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넣는 값</a:t>
            </a:r>
            <a:endParaRPr lang="en-US" sz="938" dirty="0"/>
          </a:p>
        </p:txBody>
      </p:sp>
      <p:sp>
        <p:nvSpPr>
          <p:cNvPr id="68" name="Text 66"/>
          <p:cNvSpPr txBox="1"/>
          <p:nvPr/>
        </p:nvSpPr>
        <p:spPr>
          <a:xfrm>
            <a:off x="7696200" y="3467100"/>
            <a:ext cx="314325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</a:t>
            </a:r>
            <a:endParaRPr lang="en-US" sz="1275" dirty="0"/>
          </a:p>
        </p:txBody>
      </p:sp>
      <p:sp>
        <p:nvSpPr>
          <p:cNvPr id="69" name="Text 67"/>
          <p:cNvSpPr txBox="1"/>
          <p:nvPr/>
        </p:nvSpPr>
        <p:spPr>
          <a:xfrm>
            <a:off x="8086725" y="34861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70" name="Text 68"/>
          <p:cNvSpPr txBox="1"/>
          <p:nvPr/>
        </p:nvSpPr>
        <p:spPr>
          <a:xfrm>
            <a:off x="8353425" y="3448050"/>
            <a:ext cx="292417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</a:t>
            </a:r>
            <a:endParaRPr lang="en-US" sz="1350" dirty="0"/>
          </a:p>
        </p:txBody>
      </p:sp>
      <p:sp>
        <p:nvSpPr>
          <p:cNvPr id="71" name="Text 69"/>
          <p:cNvSpPr txBox="1"/>
          <p:nvPr/>
        </p:nvSpPr>
        <p:spPr>
          <a:xfrm>
            <a:off x="7696200" y="3771900"/>
            <a:ext cx="3619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넣고 실행하면 끝납니다.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4" name="Shape 72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7" name="Text 75"/>
          <p:cNvSpPr txBox="1"/>
          <p:nvPr/>
        </p:nvSpPr>
        <p:spPr>
          <a:xfrm>
            <a:off x="1085850" y="41719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우리 계산이 엑셀과 달랐다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876300" y="4476750"/>
            <a:ext cx="5143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기존 엑셀과 같은 답을 내는지 맞춰 보다가 드러났습니다.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 압력을 우리는 7일 평균으로 쓰고 있었는데, 엑셀 수식은 5일 평균이었습니다.</a:t>
            </a:r>
            <a:endParaRPr lang="en-US" sz="1013" dirty="0"/>
          </a:p>
        </p:txBody>
      </p:sp>
      <p:sp>
        <p:nvSpPr>
          <p:cNvPr id="79" name="Shape 77"/>
          <p:cNvSpPr/>
          <p:nvPr/>
        </p:nvSpPr>
        <p:spPr>
          <a:xfrm>
            <a:off x="6324600" y="4438650"/>
            <a:ext cx="38100" cy="1238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15100" y="4438650"/>
            <a:ext cx="48006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처방도 한 번 틀렸습니다.</a:t>
            </a:r>
            <a:endParaRPr lang="en-US" sz="1125" dirty="0"/>
          </a:p>
        </p:txBody>
      </p:sp>
      <p:sp>
        <p:nvSpPr>
          <p:cNvPr id="81" name="Text 79"/>
          <p:cNvSpPr txBox="1"/>
          <p:nvPr/>
        </p:nvSpPr>
        <p:spPr>
          <a:xfrm>
            <a:off x="6515100" y="4705350"/>
            <a:ext cx="4800600" cy="959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"고를 수 있게 만들자" 고 했습니다. 그런데 실무는 하나로 정해져 있어 고를 여지가 없었습니다.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선택을 빼고 엑셀과 똑같이 맞췄습니다.</a:t>
            </a:r>
            <a:endParaRPr lang="en-US" sz="97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좋아진 것보다, 왜 그 숫자인지 말할 수 있게 된 것이 더 큽니다.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일이라 막히는 데가 많았습니다. 세 가지가 특히 오래 걸렸습니다.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907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8002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764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8002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669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669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8763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3431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시작 시각을 한 칸에 넣으면 그때부터 한 시간 평균을 채우는 구조였습니다. 도구가 같은 방식으로 받아오게 했습니다.</a:t>
            </a:r>
            <a:endParaRPr lang="en-US" sz="938" dirty="0"/>
          </a:p>
        </p:txBody>
      </p:sp>
      <p:sp>
        <p:nvSpPr>
          <p:cNvPr id="21" name="Shape 19"/>
          <p:cNvSpPr/>
          <p:nvPr/>
        </p:nvSpPr>
        <p:spPr>
          <a:xfrm>
            <a:off x="60960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24600" y="21717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23241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자동으로 받습니다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8915400" y="21526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21717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늦게 오는 문제, 뽑는 방법에 따라 값이 다른 문제가 또 있었습니다. 32회분을 양쪽으로 뽑아 맞는 쪽을 정했습니다.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318135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325" y="31908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4671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5325" y="31908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7250" y="32575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1085850" y="325755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763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73380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보게 했습니다. 이 검사를 도구에 넣어 시험이 쌓일 때마다 다시 돌립니다.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60960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4600" y="356235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371475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검사합니다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915400" y="35433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pic>
        <p:nvPicPr>
          <p:cNvPr id="38" name="Image 0" descr="/home/user/Narae-AI/docs/ppt/assets/tool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792" y="3524250"/>
            <a:ext cx="1624216" cy="8382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9427267" y="3514725"/>
            <a:ext cx="1643266" cy="8572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44000" y="4381500"/>
            <a:ext cx="22098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도구에 넣은 그 검사 화면입니다.</a:t>
            </a:r>
            <a:endParaRPr lang="en-US" sz="788" dirty="0"/>
          </a:p>
        </p:txBody>
      </p:sp>
      <p:sp>
        <p:nvSpPr>
          <p:cNvPr id="41" name="Shape 38"/>
          <p:cNvSpPr/>
          <p:nvPr/>
        </p:nvSpPr>
        <p:spPr>
          <a:xfrm>
            <a:off x="685800" y="4572000"/>
            <a:ext cx="10820400" cy="12954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5325" y="45815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3" name="Shape 40"/>
          <p:cNvSpPr/>
          <p:nvPr/>
        </p:nvSpPr>
        <p:spPr>
          <a:xfrm>
            <a:off x="685800" y="48577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95325" y="45815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57250" y="46482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1085850" y="4648200"/>
            <a:ext cx="10287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1013" dirty="0"/>
          </a:p>
        </p:txBody>
      </p:sp>
      <p:sp>
        <p:nvSpPr>
          <p:cNvPr id="47" name="Text 44"/>
          <p:cNvSpPr txBox="1"/>
          <p:nvPr/>
        </p:nvSpPr>
        <p:spPr>
          <a:xfrm>
            <a:off x="8763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825" dirty="0"/>
          </a:p>
        </p:txBody>
      </p:sp>
      <p:sp>
        <p:nvSpPr>
          <p:cNvPr id="48" name="Text 45"/>
          <p:cNvSpPr txBox="1"/>
          <p:nvPr/>
        </p:nvSpPr>
        <p:spPr>
          <a:xfrm>
            <a:off x="876300" y="5124450"/>
            <a:ext cx="4953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하나씩 맞춰 봤습니다. 다르면 왜 다른지 찾았습니다.</a:t>
            </a:r>
            <a:endParaRPr lang="en-US" sz="938" dirty="0"/>
          </a:p>
        </p:txBody>
      </p:sp>
      <p:sp>
        <p:nvSpPr>
          <p:cNvPr id="49" name="Shape 46"/>
          <p:cNvSpPr/>
          <p:nvPr/>
        </p:nvSpPr>
        <p:spPr>
          <a:xfrm>
            <a:off x="60960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24600" y="4953000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6324600" y="5105400"/>
            <a:ext cx="23812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군데를 고쳤습니다</a:t>
            </a:r>
            <a:endParaRPr lang="en-US" sz="1125" dirty="0"/>
          </a:p>
        </p:txBody>
      </p:sp>
      <p:sp>
        <p:nvSpPr>
          <p:cNvPr id="52" name="Shape 49"/>
          <p:cNvSpPr/>
          <p:nvPr/>
        </p:nvSpPr>
        <p:spPr>
          <a:xfrm>
            <a:off x="8915400" y="493395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144000" y="4953000"/>
            <a:ext cx="2209800" cy="95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만한 정도를 잘못 계산한 것, 비교 기준이 틀린 것, 파일이 어떤 모양에서 깨지는 것 등입니다. 우리 지적이 오독이었던 것도 찾아 고쳤습니다.</a:t>
            </a:r>
            <a:endParaRPr lang="en-US" sz="863" dirty="0"/>
          </a:p>
        </p:txBody>
      </p:sp>
      <p:sp>
        <p:nvSpPr>
          <p:cNvPr id="54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자리마다 도구에 검사를 하나씩 심어 두었습니다.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관리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쌓이면 스스로 갱신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계산하지 않습니다. 시험 결과를 넣으면 곡선이 스스로 다시 배웁니다.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028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회차가 도는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입력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한다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36004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38671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넣는다</a:t>
            </a:r>
            <a:endParaRPr lang="en-US" sz="1088" dirty="0"/>
          </a:p>
        </p:txBody>
      </p:sp>
      <p:sp>
        <p:nvSpPr>
          <p:cNvPr id="25" name="Text 23"/>
          <p:cNvSpPr txBox="1"/>
          <p:nvPr/>
        </p:nvSpPr>
        <p:spPr>
          <a:xfrm>
            <a:off x="588645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62865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65532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다시 배운다</a:t>
            </a:r>
            <a:endParaRPr lang="en-US" sz="1088" dirty="0"/>
          </a:p>
        </p:txBody>
      </p:sp>
      <p:sp>
        <p:nvSpPr>
          <p:cNvPr id="28" name="Text 26"/>
          <p:cNvSpPr txBox="1"/>
          <p:nvPr/>
        </p:nvSpPr>
        <p:spPr>
          <a:xfrm>
            <a:off x="85725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89725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2392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숫자에 쓰인다</a:t>
            </a:r>
            <a:endParaRPr lang="en-US" sz="1088" dirty="0"/>
          </a:p>
        </p:txBody>
      </p:sp>
      <p:sp>
        <p:nvSpPr>
          <p:cNvPr id="31" name="Shape 29"/>
          <p:cNvSpPr/>
          <p:nvPr/>
        </p:nvSpPr>
        <p:spPr>
          <a:xfrm>
            <a:off x="685800" y="2914650"/>
            <a:ext cx="6667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5325" y="2924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3200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53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72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6" name="Text 34"/>
          <p:cNvSpPr txBox="1"/>
          <p:nvPr/>
        </p:nvSpPr>
        <p:spPr>
          <a:xfrm>
            <a:off x="1085850" y="2990850"/>
            <a:ext cx="47910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5876925" y="3000375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쌓인 상태</a:t>
            </a:r>
            <a:endParaRPr lang="en-US" sz="825" dirty="0"/>
          </a:p>
        </p:txBody>
      </p:sp>
      <p:pic>
        <p:nvPicPr>
          <p:cNvPr id="3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5048" y="3276600"/>
            <a:ext cx="3289005" cy="22098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2365523" y="3267075"/>
            <a:ext cx="3308055" cy="22288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6300" y="5581650"/>
            <a:ext cx="6286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넣고 실행하면 61개 온도의 숫자가 한 번에 나옵니다.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505700" y="2914650"/>
            <a:ext cx="4000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5225" y="2924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3" name="Shape 40"/>
          <p:cNvSpPr/>
          <p:nvPr/>
        </p:nvSpPr>
        <p:spPr>
          <a:xfrm>
            <a:off x="7505700" y="3200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5152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6771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7905750" y="2990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회차를 걸러냅니다</a:t>
            </a:r>
            <a:endParaRPr lang="en-US" sz="1013" dirty="0"/>
          </a:p>
        </p:txBody>
      </p:sp>
      <p:sp>
        <p:nvSpPr>
          <p:cNvPr id="47" name="Shape 44"/>
          <p:cNvSpPr/>
          <p:nvPr/>
        </p:nvSpPr>
        <p:spPr>
          <a:xfrm>
            <a:off x="7696200" y="33337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886700" y="33147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975" dirty="0"/>
          </a:p>
        </p:txBody>
      </p:sp>
      <p:sp>
        <p:nvSpPr>
          <p:cNvPr id="49" name="Text 46"/>
          <p:cNvSpPr txBox="1"/>
          <p:nvPr/>
        </p:nvSpPr>
        <p:spPr>
          <a:xfrm>
            <a:off x="7886700" y="35242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아예 쓰지 않습니다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7886700" y="37528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결론을 뒤집게 만든 그 회차입니다.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7696200" y="41719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86700" y="41529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975" dirty="0"/>
          </a:p>
        </p:txBody>
      </p:sp>
      <p:sp>
        <p:nvSpPr>
          <p:cNvPr id="53" name="Text 50"/>
          <p:cNvSpPr txBox="1"/>
          <p:nvPr/>
        </p:nvSpPr>
        <p:spPr>
          <a:xfrm>
            <a:off x="7886700" y="43624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끝값을 그대로 씁니다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7886700" y="45910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구간을 멋대로 늘려 쓰지 않습니다.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7696200" y="50101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886700" y="49911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회차만 골라 만든 관계</a:t>
            </a:r>
            <a:endParaRPr lang="en-US" sz="975" dirty="0"/>
          </a:p>
        </p:txBody>
      </p:sp>
      <p:sp>
        <p:nvSpPr>
          <p:cNvPr id="57" name="Text 54"/>
          <p:cNvSpPr txBox="1"/>
          <p:nvPr/>
        </p:nvSpPr>
        <p:spPr>
          <a:xfrm>
            <a:off x="7886700" y="52006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검사가 걸러냅니다</a:t>
            </a:r>
            <a:endParaRPr lang="en-US" sz="1125" dirty="0"/>
          </a:p>
        </p:txBody>
      </p:sp>
      <p:sp>
        <p:nvSpPr>
          <p:cNvPr id="58" name="Text 55"/>
          <p:cNvSpPr txBox="1"/>
          <p:nvPr/>
        </p:nvSpPr>
        <p:spPr>
          <a:xfrm>
            <a:off x="7886700" y="54292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59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놓칠 수 있는 자리를 도구가 대신 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계속합니다. 회차가 쌓이면 예측은 더 정확해집니다. 이미 그러고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514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나아지고 있습니다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600575" y="1857375"/>
            <a:ext cx="2619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순서대로 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333500" y="3133725"/>
            <a:ext cx="1219200" cy="18192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3350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14650" y="3133725"/>
            <a:ext cx="1219200" cy="18192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1465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29146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5800" y="4229100"/>
            <a:ext cx="1219200" cy="7239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005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76950" y="4000500"/>
            <a:ext cx="1219200" cy="9525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76950" y="37719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60769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43000" y="49530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857500"/>
            <a:ext cx="4381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  MW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5334000"/>
            <a:ext cx="6286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구간 2.26 에서 1.19 로 47% 줄었습니다. 시험이 늘어난 것 말고 바뀐 것은 없습니다.</a:t>
            </a:r>
            <a:endParaRPr lang="en-US" sz="975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5695950"/>
            <a:ext cx="6286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그 앞보다 조금 올라간 것은 겨울 회차가 적게 섞인 탓입니다. 있는 대로 적었습니다.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7505700" y="1771650"/>
            <a:ext cx="4000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905750" y="1847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일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7696200" y="22098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7696200" y="24003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96200" y="26670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그 결과를 도구에 넣습니다. 회차가 쌓이는 만큼 곡선이 좋아집니다.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7696200" y="32385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96200" y="34290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7696200" y="36195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696200" y="38862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손대지 않았으니 그대로 옮겨 쓸 수 있습니다. 그 사업소의 시험 결과만 따로 쌓으면 됩니다.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7696200" y="44577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96200" y="46482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48387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51054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넣고 숫자를 내는 순서를 사업소 표준으로 정리합니다.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아니라, 쓸수록 나아지는 도구입니다.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2324100"/>
            <a:ext cx="10820400" cy="3009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325" y="2333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609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5325" y="2333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7250" y="2400300"/>
            <a:ext cx="88106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667875" y="2409825"/>
            <a:ext cx="17049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흰 점은 실제 시험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85800" y="62293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743700" y="62484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2026-09-16T10:59:50Z</dcterms:created>
  <dcterms:modified xsi:type="dcterms:W3CDTF">2026-09-16T10:59:50Z</dcterms:modified>
</cp:coreProperties>
</file>