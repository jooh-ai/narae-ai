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3400"/>
            <a:ext cx="2133600" cy="60007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Narae-AI/docs/ppt/assets/ci_nar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0" y="657225"/>
            <a:ext cx="1866900" cy="3524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5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프로파일 생성 절차 통합과 누적 40회 실적 기반 보정 곡선 적용</a:t>
            </a:r>
            <a:endParaRPr lang="en-US" sz="1275" dirty="0"/>
          </a:p>
        </p:txBody>
      </p:sp>
      <p:sp>
        <p:nvSpPr>
          <p:cNvPr id="10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2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5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8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1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3055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2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4780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문제에서 시작해 개선효과와 확산까지 하나로 잇습니다.</a:t>
            </a:r>
            <a:endParaRPr lang="en-US" sz="127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526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57300" y="19145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48050" y="19621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8058150" y="19716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개요 및 추진 배경</a:t>
            </a:r>
            <a:endParaRPr lang="en-US" sz="825" dirty="0"/>
          </a:p>
        </p:txBody>
      </p:sp>
      <p:sp>
        <p:nvSpPr>
          <p:cNvPr id="10" name="Text 8"/>
          <p:cNvSpPr txBox="1"/>
          <p:nvPr/>
        </p:nvSpPr>
        <p:spPr>
          <a:xfrm>
            <a:off x="10972800" y="19526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22383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3526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257300" y="23145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48050" y="23622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1013" dirty="0"/>
          </a:p>
        </p:txBody>
      </p:sp>
      <p:sp>
        <p:nvSpPr>
          <p:cNvPr id="15" name="Text 13"/>
          <p:cNvSpPr txBox="1"/>
          <p:nvPr/>
        </p:nvSpPr>
        <p:spPr>
          <a:xfrm>
            <a:off x="8058150" y="23717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현황 파악 및 문제정의</a:t>
            </a:r>
            <a:endParaRPr lang="en-US" sz="825" dirty="0"/>
          </a:p>
        </p:txBody>
      </p:sp>
      <p:sp>
        <p:nvSpPr>
          <p:cNvPr id="16" name="Text 14"/>
          <p:cNvSpPr txBox="1"/>
          <p:nvPr/>
        </p:nvSpPr>
        <p:spPr>
          <a:xfrm>
            <a:off x="10972800" y="23526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26384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27527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57300" y="27146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448050" y="27622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1013" dirty="0"/>
          </a:p>
        </p:txBody>
      </p:sp>
      <p:sp>
        <p:nvSpPr>
          <p:cNvPr id="21" name="Text 19"/>
          <p:cNvSpPr txBox="1"/>
          <p:nvPr/>
        </p:nvSpPr>
        <p:spPr>
          <a:xfrm>
            <a:off x="8058150" y="27717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데이터 분석 및 원인 규명</a:t>
            </a:r>
            <a:endParaRPr lang="en-US" sz="825" dirty="0"/>
          </a:p>
        </p:txBody>
      </p:sp>
      <p:sp>
        <p:nvSpPr>
          <p:cNvPr id="22" name="Text 20"/>
          <p:cNvSpPr txBox="1"/>
          <p:nvPr/>
        </p:nvSpPr>
        <p:spPr>
          <a:xfrm>
            <a:off x="10972800" y="27527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5800" y="30384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1527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257300" y="31146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448050" y="31623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</a:t>
            </a:r>
            <a:endParaRPr lang="en-US" sz="1013" dirty="0"/>
          </a:p>
        </p:txBody>
      </p:sp>
      <p:sp>
        <p:nvSpPr>
          <p:cNvPr id="27" name="Text 25"/>
          <p:cNvSpPr txBox="1"/>
          <p:nvPr/>
        </p:nvSpPr>
        <p:spPr>
          <a:xfrm>
            <a:off x="8058150" y="31718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해결방안 도출</a:t>
            </a:r>
            <a:endParaRPr lang="en-US" sz="825" dirty="0"/>
          </a:p>
        </p:txBody>
      </p:sp>
      <p:sp>
        <p:nvSpPr>
          <p:cNvPr id="28" name="Text 26"/>
          <p:cNvSpPr txBox="1"/>
          <p:nvPr/>
        </p:nvSpPr>
        <p:spPr>
          <a:xfrm>
            <a:off x="10972800" y="31527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34385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57300" y="35147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3448050" y="35623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· 보정 모델 개발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8058150" y="35718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예측/보정 모델 개발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35528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85800" y="38385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39528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257300" y="39147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3448050" y="39624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 확인하는 구조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8058150" y="39719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향후 추이 분석</a:t>
            </a:r>
            <a:endParaRPr lang="en-US" sz="825" dirty="0"/>
          </a:p>
        </p:txBody>
      </p:sp>
      <p:sp>
        <p:nvSpPr>
          <p:cNvPr id="39" name="Text 37"/>
          <p:cNvSpPr txBox="1"/>
          <p:nvPr/>
        </p:nvSpPr>
        <p:spPr>
          <a:xfrm>
            <a:off x="10972800" y="39528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85800" y="42386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43529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257300" y="43148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3448050" y="43624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— 시간 · 정확도 · 요금</a:t>
            </a:r>
            <a:endParaRPr lang="en-US" sz="1013" dirty="0"/>
          </a:p>
        </p:txBody>
      </p:sp>
      <p:sp>
        <p:nvSpPr>
          <p:cNvPr id="44" name="Text 42"/>
          <p:cNvSpPr txBox="1"/>
          <p:nvPr/>
        </p:nvSpPr>
        <p:spPr>
          <a:xfrm>
            <a:off x="8058150" y="43719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(정량)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10972800" y="43529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85800" y="46386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257300" y="47148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3448050" y="47625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정성 — 일하는 방식</a:t>
            </a:r>
            <a:endParaRPr lang="en-US" sz="1013" dirty="0"/>
          </a:p>
        </p:txBody>
      </p:sp>
      <p:sp>
        <p:nvSpPr>
          <p:cNvPr id="49" name="Text 47"/>
          <p:cNvSpPr txBox="1"/>
          <p:nvPr/>
        </p:nvSpPr>
        <p:spPr>
          <a:xfrm>
            <a:off x="8058150" y="47720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(정성)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10972800" y="47529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85800" y="50387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85800" y="51530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257300" y="51149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3448050" y="51625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향상과 수평 전개</a:t>
            </a:r>
            <a:endParaRPr lang="en-US" sz="1013" dirty="0"/>
          </a:p>
        </p:txBody>
      </p:sp>
      <p:sp>
        <p:nvSpPr>
          <p:cNvPr id="55" name="Text 53"/>
          <p:cNvSpPr txBox="1"/>
          <p:nvPr/>
        </p:nvSpPr>
        <p:spPr>
          <a:xfrm>
            <a:off x="8058150" y="51720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향후계획 및 수평전개</a:t>
            </a:r>
            <a:endParaRPr lang="en-US" sz="825" dirty="0"/>
          </a:p>
        </p:txBody>
      </p:sp>
      <p:sp>
        <p:nvSpPr>
          <p:cNvPr id="56" name="Text 54"/>
          <p:cNvSpPr txBox="1"/>
          <p:nvPr/>
        </p:nvSpPr>
        <p:spPr>
          <a:xfrm>
            <a:off x="10972800" y="51530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85800" y="54387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85800" y="5600700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참고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1257300" y="5562600"/>
            <a:ext cx="20002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1275" dirty="0"/>
          </a:p>
        </p:txBody>
      </p:sp>
      <p:sp>
        <p:nvSpPr>
          <p:cNvPr id="60" name="Text 58"/>
          <p:cNvSpPr txBox="1"/>
          <p:nvPr/>
        </p:nvSpPr>
        <p:spPr>
          <a:xfrm>
            <a:off x="3448050" y="5610225"/>
            <a:ext cx="4191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 · 막혔던 곳 · 역할 분담</a:t>
            </a:r>
            <a:endParaRPr lang="en-US" sz="975" dirty="0"/>
          </a:p>
        </p:txBody>
      </p:sp>
      <p:sp>
        <p:nvSpPr>
          <p:cNvPr id="61" name="Text 59"/>
          <p:cNvSpPr txBox="1"/>
          <p:nvPr/>
        </p:nvSpPr>
        <p:spPr>
          <a:xfrm>
            <a:off x="10972800" y="560070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작은 글씨는 권장 발표 구성 항목입니다.</a:t>
            </a:r>
            <a:endParaRPr lang="en-US" sz="9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전기를 팔기 전에 얼마나 낼 수 있는지 미리 신고해야 합니다. 그 숫자를 만드는 일입니다.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800225"/>
            <a:ext cx="10820400" cy="13430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7640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33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3355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신고하는 숫자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248775" y="1866900"/>
            <a:ext cx="2143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발전운영팀 업무 · 우리는 정비기술팀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383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신고 출력(MW) · 가로 외기온도(℃) · 추우면 많이, 더우면 적게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162050" y="2952750"/>
            <a:ext cx="31242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2050" y="2209800"/>
            <a:ext cx="0" cy="74295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219200" y="2323855"/>
            <a:ext cx="118110" cy="77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337310" y="2317815"/>
            <a:ext cx="118110" cy="60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1455420" y="2313706"/>
            <a:ext cx="118110" cy="410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1573530" y="2301129"/>
            <a:ext cx="118110" cy="125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1691640" y="2286000"/>
            <a:ext cx="118110" cy="1512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09750" y="2286000"/>
            <a:ext cx="118110" cy="104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27860" y="2296460"/>
            <a:ext cx="118110" cy="113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45970" y="2307854"/>
            <a:ext cx="118110" cy="1276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64080" y="2320617"/>
            <a:ext cx="118110" cy="1450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82190" y="2335124"/>
            <a:ext cx="118110" cy="15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00300" y="2351063"/>
            <a:ext cx="118110" cy="176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18410" y="2368683"/>
            <a:ext cx="118110" cy="236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36520" y="2392342"/>
            <a:ext cx="118110" cy="258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54630" y="2418180"/>
            <a:ext cx="118110" cy="272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72740" y="2445388"/>
            <a:ext cx="118110" cy="2963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90850" y="2475025"/>
            <a:ext cx="118110" cy="3225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108960" y="2507276"/>
            <a:ext cx="118110" cy="348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27070" y="2542080"/>
            <a:ext cx="118110" cy="2808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45180" y="2570160"/>
            <a:ext cx="118110" cy="3916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63290" y="2609322"/>
            <a:ext cx="118110" cy="423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81400" y="2651659"/>
            <a:ext cx="118110" cy="4675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699510" y="2698417"/>
            <a:ext cx="118110" cy="504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17620" y="2748911"/>
            <a:ext cx="118110" cy="528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935730" y="2801771"/>
            <a:ext cx="118110" cy="537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053840" y="2855564"/>
            <a:ext cx="118110" cy="5908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04850" y="2228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 MW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704850" y="285750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359 MW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100965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−10℃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16002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52" name="Text 50"/>
          <p:cNvSpPr txBox="1"/>
          <p:nvPr/>
        </p:nvSpPr>
        <p:spPr>
          <a:xfrm>
            <a:off x="27813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53" name="Text 51"/>
          <p:cNvSpPr txBox="1"/>
          <p:nvPr/>
        </p:nvSpPr>
        <p:spPr>
          <a:xfrm>
            <a:off x="39624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40℃</a:t>
            </a:r>
            <a:endParaRPr lang="en-US" sz="713" dirty="0"/>
          </a:p>
        </p:txBody>
      </p:sp>
      <p:sp>
        <p:nvSpPr>
          <p:cNvPr id="54" name="Text 52"/>
          <p:cNvSpPr txBox="1"/>
          <p:nvPr/>
        </p:nvSpPr>
        <p:spPr>
          <a:xfrm>
            <a:off x="2152650" y="2190750"/>
            <a:ext cx="14287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계산값 곡선</a:t>
            </a:r>
            <a:endParaRPr lang="en-US" sz="788" dirty="0"/>
          </a:p>
        </p:txBody>
      </p:sp>
      <p:sp>
        <p:nvSpPr>
          <p:cNvPr id="55" name="Shape 53"/>
          <p:cNvSpPr/>
          <p:nvPr/>
        </p:nvSpPr>
        <p:spPr>
          <a:xfrm>
            <a:off x="459105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857750" y="2038350"/>
            <a:ext cx="314325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 때와 더울 때 낼 수 있는 양이 다릅니다.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4857750" y="2457450"/>
            <a:ext cx="31432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영하 20도 ~ 40도까지 온도 61개 숫자를 따로 신고합니다.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30580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3450" y="2038350"/>
            <a:ext cx="2762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숫자가 어긋나면</a:t>
            </a:r>
            <a:endParaRPr lang="en-US" sz="825" dirty="0"/>
          </a:p>
        </p:txBody>
      </p:sp>
      <p:sp>
        <p:nvSpPr>
          <p:cNvPr id="60" name="Text 58"/>
          <p:cNvSpPr txBox="1"/>
          <p:nvPr/>
        </p:nvSpPr>
        <p:spPr>
          <a:xfrm>
            <a:off x="8553450" y="226695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신고하고 출력을 못 내면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8553450" y="243840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패널티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8553450" y="270510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 신고하면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8553450" y="287655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차이만큼 CP 용량요금 손실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685800" y="3381375"/>
            <a:ext cx="52959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5800" y="3257550"/>
            <a:ext cx="15240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8191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7" name="Text 65"/>
          <p:cNvSpPr txBox="1"/>
          <p:nvPr/>
        </p:nvSpPr>
        <p:spPr>
          <a:xfrm>
            <a:off x="1009650" y="3314700"/>
            <a:ext cx="1085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선정 이유</a:t>
            </a:r>
            <a:endParaRPr lang="en-US" sz="1013" dirty="0"/>
          </a:p>
        </p:txBody>
      </p:sp>
      <p:sp>
        <p:nvSpPr>
          <p:cNvPr id="68" name="Text 66"/>
          <p:cNvSpPr txBox="1"/>
          <p:nvPr/>
        </p:nvSpPr>
        <p:spPr>
          <a:xfrm>
            <a:off x="4714875" y="3448050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 두 사람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876300" y="36195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직접 풀어 보고 싶었습니다.</a:t>
            </a:r>
            <a:endParaRPr lang="en-US" sz="1125" dirty="0"/>
          </a:p>
        </p:txBody>
      </p:sp>
      <p:sp>
        <p:nvSpPr>
          <p:cNvPr id="70" name="Text 68"/>
          <p:cNvSpPr txBox="1"/>
          <p:nvPr/>
        </p:nvSpPr>
        <p:spPr>
          <a:xfrm>
            <a:off x="876300" y="3848100"/>
            <a:ext cx="4914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남의 팀 업무인데도 과제로 잡은 이유가 셋 있습니다.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76300" y="4229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028700" y="4210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1238250" y="4191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로 새 분야를 경험하고 싶었다</a:t>
            </a:r>
            <a:endParaRPr lang="en-US" sz="1088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4400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모델은 해 본 적이 없었습니다. AI 를 길잡이로 삼아 직접 공부하고 풀어내는 성취감을 맛보고 싶었습니다.</a:t>
            </a:r>
            <a:endParaRPr lang="en-US" sz="863" dirty="0"/>
          </a:p>
        </p:txBody>
      </p:sp>
      <p:sp>
        <p:nvSpPr>
          <p:cNvPr id="75" name="Shape 73"/>
          <p:cNvSpPr/>
          <p:nvPr/>
        </p:nvSpPr>
        <p:spPr>
          <a:xfrm>
            <a:off x="876300" y="48006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8700" y="47815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1238250" y="47625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비효율이 눈에 먼저 보였다</a:t>
            </a:r>
            <a:endParaRPr lang="en-US" sz="1088" dirty="0"/>
          </a:p>
        </p:txBody>
      </p:sp>
      <p:sp>
        <p:nvSpPr>
          <p:cNvPr id="78" name="Text 76"/>
          <p:cNvSpPr txBox="1"/>
          <p:nvPr/>
        </p:nvSpPr>
        <p:spPr>
          <a:xfrm>
            <a:off x="1238250" y="49720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테스트는 발전운영팀 업무입니다. 곁에서 보니 엑셀 파일 네 개를 오가는 일이 번거로워 보였습니다.</a:t>
            </a:r>
            <a:endParaRPr lang="en-US" sz="863" dirty="0"/>
          </a:p>
        </p:txBody>
      </p:sp>
      <p:sp>
        <p:nvSpPr>
          <p:cNvPr id="79" name="Shape 77"/>
          <p:cNvSpPr/>
          <p:nvPr/>
        </p:nvSpPr>
        <p:spPr>
          <a:xfrm>
            <a:off x="876300" y="5372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1028700" y="5353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1238250" y="5334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수익으로 이어진다</a:t>
            </a:r>
            <a:endParaRPr lang="en-US" sz="1088" dirty="0"/>
          </a:p>
        </p:txBody>
      </p:sp>
      <p:sp>
        <p:nvSpPr>
          <p:cNvPr id="82" name="Text 80"/>
          <p:cNvSpPr txBox="1"/>
          <p:nvPr/>
        </p:nvSpPr>
        <p:spPr>
          <a:xfrm>
            <a:off x="1238250" y="5543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숫자가 정확해지면 CP 용량요금 손실이 그만큼 줄어듭니다.</a:t>
            </a:r>
            <a:endParaRPr lang="en-US" sz="863" dirty="0"/>
          </a:p>
        </p:txBody>
      </p:sp>
      <p:sp>
        <p:nvSpPr>
          <p:cNvPr id="83" name="Shape 81"/>
          <p:cNvSpPr/>
          <p:nvPr/>
        </p:nvSpPr>
        <p:spPr>
          <a:xfrm>
            <a:off x="6134100" y="3381375"/>
            <a:ext cx="53721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134100" y="32575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2674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86" name="Text 84"/>
          <p:cNvSpPr txBox="1"/>
          <p:nvPr/>
        </p:nvSpPr>
        <p:spPr>
          <a:xfrm>
            <a:off x="6457950" y="33147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절차</a:t>
            </a:r>
            <a:endParaRPr lang="en-US" sz="1013" dirty="0"/>
          </a:p>
        </p:txBody>
      </p:sp>
      <p:sp>
        <p:nvSpPr>
          <p:cNvPr id="87" name="Text 85"/>
          <p:cNvSpPr txBox="1"/>
          <p:nvPr/>
        </p:nvSpPr>
        <p:spPr>
          <a:xfrm>
            <a:off x="9572625" y="3448050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 · 한 회에 1시간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63246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계측값 받아오기</a:t>
            </a:r>
            <a:endParaRPr lang="en-US" sz="938" dirty="0"/>
          </a:p>
        </p:txBody>
      </p:sp>
      <p:sp>
        <p:nvSpPr>
          <p:cNvPr id="89" name="Shape 87"/>
          <p:cNvSpPr/>
          <p:nvPr/>
        </p:nvSpPr>
        <p:spPr>
          <a:xfrm>
            <a:off x="63246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0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148" y="3848100"/>
            <a:ext cx="1882154" cy="609600"/>
          </a:xfrm>
          <a:prstGeom prst="rect">
            <a:avLst/>
          </a:prstGeom>
        </p:spPr>
      </p:pic>
      <p:sp>
        <p:nvSpPr>
          <p:cNvPr id="91" name="Shape 88"/>
          <p:cNvSpPr/>
          <p:nvPr/>
        </p:nvSpPr>
        <p:spPr>
          <a:xfrm>
            <a:off x="6564623" y="3838575"/>
            <a:ext cx="1901204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89154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온도별로 계산</a:t>
            </a:r>
            <a:endParaRPr lang="en-US" sz="938" dirty="0"/>
          </a:p>
        </p:txBody>
      </p:sp>
      <p:sp>
        <p:nvSpPr>
          <p:cNvPr id="93" name="Shape 90"/>
          <p:cNvSpPr/>
          <p:nvPr/>
        </p:nvSpPr>
        <p:spPr>
          <a:xfrm>
            <a:off x="89154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4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6042" y="3848100"/>
            <a:ext cx="719966" cy="609600"/>
          </a:xfrm>
          <a:prstGeom prst="rect">
            <a:avLst/>
          </a:prstGeom>
        </p:spPr>
      </p:pic>
      <p:sp>
        <p:nvSpPr>
          <p:cNvPr id="95" name="Shape 91"/>
          <p:cNvSpPr/>
          <p:nvPr/>
        </p:nvSpPr>
        <p:spPr>
          <a:xfrm>
            <a:off x="9736517" y="3838575"/>
            <a:ext cx="739016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63246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차이를 더하기</a:t>
            </a:r>
            <a:endParaRPr lang="en-US" sz="938" dirty="0"/>
          </a:p>
        </p:txBody>
      </p:sp>
      <p:sp>
        <p:nvSpPr>
          <p:cNvPr id="97" name="Shape 93"/>
          <p:cNvSpPr/>
          <p:nvPr/>
        </p:nvSpPr>
        <p:spPr>
          <a:xfrm>
            <a:off x="63246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8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225" y="4995559"/>
            <a:ext cx="2286000" cy="486383"/>
          </a:xfrm>
          <a:prstGeom prst="rect">
            <a:avLst/>
          </a:prstGeom>
        </p:spPr>
      </p:pic>
      <p:sp>
        <p:nvSpPr>
          <p:cNvPr id="99" name="Shape 94"/>
          <p:cNvSpPr/>
          <p:nvPr/>
        </p:nvSpPr>
        <p:spPr>
          <a:xfrm>
            <a:off x="6362700" y="4986034"/>
            <a:ext cx="2305050" cy="505433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0" name="Text 95"/>
          <p:cNvSpPr txBox="1"/>
          <p:nvPr/>
        </p:nvSpPr>
        <p:spPr>
          <a:xfrm>
            <a:off x="89154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표 완성</a:t>
            </a:r>
            <a:endParaRPr lang="en-US" sz="938" dirty="0"/>
          </a:p>
        </p:txBody>
      </p:sp>
      <p:sp>
        <p:nvSpPr>
          <p:cNvPr id="101" name="Shape 96"/>
          <p:cNvSpPr/>
          <p:nvPr/>
        </p:nvSpPr>
        <p:spPr>
          <a:xfrm>
            <a:off x="89154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102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1675" y="4933950"/>
            <a:ext cx="1028700" cy="609600"/>
          </a:xfrm>
          <a:prstGeom prst="rect">
            <a:avLst/>
          </a:prstGeom>
        </p:spPr>
      </p:pic>
      <p:sp>
        <p:nvSpPr>
          <p:cNvPr id="103" name="Shape 97"/>
          <p:cNvSpPr/>
          <p:nvPr/>
        </p:nvSpPr>
        <p:spPr>
          <a:xfrm>
            <a:off x="9582150" y="4924425"/>
            <a:ext cx="1047750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4" name="Text 98"/>
          <p:cNvSpPr txBox="1"/>
          <p:nvPr/>
        </p:nvSpPr>
        <p:spPr>
          <a:xfrm>
            <a:off x="6324600" y="5772150"/>
            <a:ext cx="4991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손으로 옮겼습니다. 옮겨 적는 값이 61개였습니다.</a:t>
            </a:r>
            <a:endParaRPr lang="en-US" sz="863" dirty="0"/>
          </a:p>
        </p:txBody>
      </p:sp>
      <p:sp>
        <p:nvSpPr>
          <p:cNvPr id="105" name="Shape 9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07" name="Text 10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08" name="Text 10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배워 보고 싶은 분야와, 곁에서 보이던 낭비가 같은 자리에 있었습니다.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번거로웠고, 더하는 값은 하나로 정해 두고 그대로 썼습니다. 그래서 신고한 숫자가 어긋났습니다.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번거로운 절차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000625" y="1847850"/>
            <a:ext cx="8667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회에 1시간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8763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11144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238125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3365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옮긴 값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2533650" y="2190750"/>
            <a:ext cx="361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2933700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7" name="Shape 25"/>
          <p:cNvSpPr/>
          <p:nvPr/>
        </p:nvSpPr>
        <p:spPr>
          <a:xfrm>
            <a:off x="403860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910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되는 것</a:t>
            </a:r>
            <a:endParaRPr lang="en-US" sz="863" dirty="0"/>
          </a:p>
        </p:txBody>
      </p:sp>
      <p:sp>
        <p:nvSpPr>
          <p:cNvPr id="29" name="Text 27"/>
          <p:cNvSpPr txBox="1"/>
          <p:nvPr/>
        </p:nvSpPr>
        <p:spPr>
          <a:xfrm>
            <a:off x="41910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100" dirty="0"/>
          </a:p>
        </p:txBody>
      </p:sp>
      <p:sp>
        <p:nvSpPr>
          <p:cNvPr id="30" name="Text 28"/>
          <p:cNvSpPr txBox="1"/>
          <p:nvPr/>
        </p:nvSpPr>
        <p:spPr>
          <a:xfrm>
            <a:off x="44291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6134100" y="1781175"/>
            <a:ext cx="53721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목표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296525" y="1847850"/>
            <a:ext cx="10953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두 가지만 한다</a:t>
            </a:r>
            <a:endParaRPr lang="en-US" sz="825" dirty="0"/>
          </a:p>
        </p:txBody>
      </p:sp>
      <p:sp>
        <p:nvSpPr>
          <p:cNvPr id="36" name="Shape 34"/>
          <p:cNvSpPr/>
          <p:nvPr/>
        </p:nvSpPr>
        <p:spPr>
          <a:xfrm>
            <a:off x="63246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770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 합치기</a:t>
            </a:r>
            <a:endParaRPr lang="en-US" sz="1163" dirty="0"/>
          </a:p>
        </p:txBody>
      </p:sp>
      <p:sp>
        <p:nvSpPr>
          <p:cNvPr id="38" name="Text 36"/>
          <p:cNvSpPr txBox="1"/>
          <p:nvPr/>
        </p:nvSpPr>
        <p:spPr>
          <a:xfrm>
            <a:off x="64770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4개로 하던 일을 도구 하나로 합친다.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9154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0678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</a:t>
            </a:r>
            <a:endParaRPr lang="en-US" sz="1163" dirty="0"/>
          </a:p>
        </p:txBody>
      </p:sp>
      <p:sp>
        <p:nvSpPr>
          <p:cNvPr id="41" name="Text 39"/>
          <p:cNvSpPr txBox="1"/>
          <p:nvPr/>
        </p:nvSpPr>
        <p:spPr>
          <a:xfrm>
            <a:off x="90678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실적을 쌓아, 더하는 값을 온도마다 다르게 만든다.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3038475"/>
            <a:ext cx="10820400" cy="3057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14650"/>
            <a:ext cx="3467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71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71800"/>
            <a:ext cx="3028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값은 하나, 실제 차이는 매번 달랐다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9096375" y="3105150"/>
            <a:ext cx="2295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기존 실적 7일 · 오른쪽 누적 40회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76600"/>
            <a:ext cx="3810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실적 시트 · 단위 MW · 데이터 취득 16~17시</a:t>
            </a:r>
            <a:endParaRPr lang="en-US" sz="825" dirty="0"/>
          </a:p>
        </p:txBody>
      </p:sp>
      <p:sp>
        <p:nvSpPr>
          <p:cNvPr id="48" name="Shape 46"/>
          <p:cNvSpPr/>
          <p:nvPr/>
        </p:nvSpPr>
        <p:spPr>
          <a:xfrm>
            <a:off x="876300" y="3448050"/>
            <a:ext cx="3810000" cy="2095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62025" y="35242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49542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231457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3133725" y="35242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4067175" y="35242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938" dirty="0"/>
          </a:p>
        </p:txBody>
      </p:sp>
      <p:sp>
        <p:nvSpPr>
          <p:cNvPr id="54" name="Shape 52"/>
          <p:cNvSpPr/>
          <p:nvPr/>
        </p:nvSpPr>
        <p:spPr>
          <a:xfrm>
            <a:off x="876300" y="38195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62025" y="36671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49542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439.8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231457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448.5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3133725" y="36671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+8.7</a:t>
            </a:r>
            <a:endParaRPr lang="en-US" sz="825" dirty="0"/>
          </a:p>
        </p:txBody>
      </p:sp>
      <p:sp>
        <p:nvSpPr>
          <p:cNvPr id="59" name="Text 57"/>
          <p:cNvSpPr txBox="1"/>
          <p:nvPr/>
        </p:nvSpPr>
        <p:spPr>
          <a:xfrm>
            <a:off x="4067175" y="36671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0" name="Shape 58"/>
          <p:cNvSpPr/>
          <p:nvPr/>
        </p:nvSpPr>
        <p:spPr>
          <a:xfrm>
            <a:off x="876300" y="38195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61" name="Shape 59"/>
          <p:cNvSpPr/>
          <p:nvPr/>
        </p:nvSpPr>
        <p:spPr>
          <a:xfrm>
            <a:off x="876300" y="39814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62025" y="38290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49542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231457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430.8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3133725" y="38290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+6.0</a:t>
            </a:r>
            <a:endParaRPr lang="en-US" sz="825" dirty="0"/>
          </a:p>
        </p:txBody>
      </p:sp>
      <p:sp>
        <p:nvSpPr>
          <p:cNvPr id="66" name="Text 64"/>
          <p:cNvSpPr txBox="1"/>
          <p:nvPr/>
        </p:nvSpPr>
        <p:spPr>
          <a:xfrm>
            <a:off x="4067175" y="38290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876300" y="41433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62025" y="39909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9" name="Text 67"/>
          <p:cNvSpPr txBox="1"/>
          <p:nvPr/>
        </p:nvSpPr>
        <p:spPr>
          <a:xfrm>
            <a:off x="149542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432.1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231457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440.1</a:t>
            </a:r>
            <a:endParaRPr lang="en-US" sz="825" dirty="0"/>
          </a:p>
        </p:txBody>
      </p:sp>
      <p:sp>
        <p:nvSpPr>
          <p:cNvPr id="71" name="Text 69"/>
          <p:cNvSpPr txBox="1"/>
          <p:nvPr/>
        </p:nvSpPr>
        <p:spPr>
          <a:xfrm>
            <a:off x="3133725" y="39909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+8.0</a:t>
            </a:r>
            <a:endParaRPr lang="en-US" sz="825" dirty="0"/>
          </a:p>
        </p:txBody>
      </p:sp>
      <p:sp>
        <p:nvSpPr>
          <p:cNvPr id="72" name="Text 70"/>
          <p:cNvSpPr txBox="1"/>
          <p:nvPr/>
        </p:nvSpPr>
        <p:spPr>
          <a:xfrm>
            <a:off x="4067175" y="39909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73" name="Shape 71"/>
          <p:cNvSpPr/>
          <p:nvPr/>
        </p:nvSpPr>
        <p:spPr>
          <a:xfrm>
            <a:off x="876300" y="414337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4" name="Shape 72"/>
          <p:cNvSpPr/>
          <p:nvPr/>
        </p:nvSpPr>
        <p:spPr>
          <a:xfrm>
            <a:off x="876300" y="430530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62025" y="415290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149542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431.7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231457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438.6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3133725" y="415290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+6.9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4067175" y="415290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876300" y="44672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62025" y="43148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2" name="Text 80"/>
          <p:cNvSpPr txBox="1"/>
          <p:nvPr/>
        </p:nvSpPr>
        <p:spPr>
          <a:xfrm>
            <a:off x="149542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421.0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231457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84" name="Text 82"/>
          <p:cNvSpPr txBox="1"/>
          <p:nvPr/>
        </p:nvSpPr>
        <p:spPr>
          <a:xfrm>
            <a:off x="3133725" y="43148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+3.8</a:t>
            </a:r>
            <a:endParaRPr lang="en-US" sz="825" dirty="0"/>
          </a:p>
        </p:txBody>
      </p:sp>
      <p:sp>
        <p:nvSpPr>
          <p:cNvPr id="85" name="Text 83"/>
          <p:cNvSpPr txBox="1"/>
          <p:nvPr/>
        </p:nvSpPr>
        <p:spPr>
          <a:xfrm>
            <a:off x="4067175" y="43148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6" name="Shape 84"/>
          <p:cNvSpPr/>
          <p:nvPr/>
        </p:nvSpPr>
        <p:spPr>
          <a:xfrm>
            <a:off x="876300" y="44672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7" name="Shape 85"/>
          <p:cNvSpPr/>
          <p:nvPr/>
        </p:nvSpPr>
        <p:spPr>
          <a:xfrm>
            <a:off x="876300" y="46291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962025" y="44767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149542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419.2</a:t>
            </a:r>
            <a:endParaRPr lang="en-US" sz="825" dirty="0"/>
          </a:p>
        </p:txBody>
      </p:sp>
      <p:sp>
        <p:nvSpPr>
          <p:cNvPr id="90" name="Text 88"/>
          <p:cNvSpPr txBox="1"/>
          <p:nvPr/>
        </p:nvSpPr>
        <p:spPr>
          <a:xfrm>
            <a:off x="231457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423.8</a:t>
            </a:r>
            <a:endParaRPr lang="en-US" sz="825" dirty="0"/>
          </a:p>
        </p:txBody>
      </p:sp>
      <p:sp>
        <p:nvSpPr>
          <p:cNvPr id="91" name="Text 89"/>
          <p:cNvSpPr txBox="1"/>
          <p:nvPr/>
        </p:nvSpPr>
        <p:spPr>
          <a:xfrm>
            <a:off x="3133725" y="44767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+4.6</a:t>
            </a:r>
            <a:endParaRPr lang="en-US" sz="825" dirty="0"/>
          </a:p>
        </p:txBody>
      </p:sp>
      <p:sp>
        <p:nvSpPr>
          <p:cNvPr id="92" name="Text 90"/>
          <p:cNvSpPr txBox="1"/>
          <p:nvPr/>
        </p:nvSpPr>
        <p:spPr>
          <a:xfrm>
            <a:off x="4067175" y="44767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825" dirty="0"/>
          </a:p>
        </p:txBody>
      </p:sp>
      <p:sp>
        <p:nvSpPr>
          <p:cNvPr id="93" name="Shape 91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962025" y="46386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95" name="Text 93"/>
          <p:cNvSpPr txBox="1"/>
          <p:nvPr/>
        </p:nvSpPr>
        <p:spPr>
          <a:xfrm>
            <a:off x="149542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398.1</a:t>
            </a:r>
            <a:endParaRPr lang="en-US" sz="825" dirty="0"/>
          </a:p>
        </p:txBody>
      </p:sp>
      <p:sp>
        <p:nvSpPr>
          <p:cNvPr id="96" name="Text 94"/>
          <p:cNvSpPr txBox="1"/>
          <p:nvPr/>
        </p:nvSpPr>
        <p:spPr>
          <a:xfrm>
            <a:off x="231457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393.5</a:t>
            </a:r>
            <a:endParaRPr lang="en-US" sz="825" dirty="0"/>
          </a:p>
        </p:txBody>
      </p:sp>
      <p:sp>
        <p:nvSpPr>
          <p:cNvPr id="97" name="Text 95"/>
          <p:cNvSpPr txBox="1"/>
          <p:nvPr/>
        </p:nvSpPr>
        <p:spPr>
          <a:xfrm>
            <a:off x="3133725" y="46386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</a:t>
            </a:r>
            <a:endParaRPr lang="en-US" sz="825" dirty="0"/>
          </a:p>
        </p:txBody>
      </p:sp>
      <p:sp>
        <p:nvSpPr>
          <p:cNvPr id="98" name="Text 96"/>
          <p:cNvSpPr txBox="1"/>
          <p:nvPr/>
        </p:nvSpPr>
        <p:spPr>
          <a:xfrm>
            <a:off x="4067175" y="46386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825" dirty="0"/>
          </a:p>
        </p:txBody>
      </p:sp>
      <p:sp>
        <p:nvSpPr>
          <p:cNvPr id="99" name="Shape 97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5240">
            <a:solidFill>
              <a:srgbClr val="C9D0D8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962025" y="48196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938" dirty="0"/>
          </a:p>
        </p:txBody>
      </p:sp>
      <p:sp>
        <p:nvSpPr>
          <p:cNvPr id="101" name="Text 99"/>
          <p:cNvSpPr txBox="1"/>
          <p:nvPr/>
        </p:nvSpPr>
        <p:spPr>
          <a:xfrm>
            <a:off x="149542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2" name="Text 100"/>
          <p:cNvSpPr txBox="1"/>
          <p:nvPr/>
        </p:nvSpPr>
        <p:spPr>
          <a:xfrm>
            <a:off x="231457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3" name="Text 101"/>
          <p:cNvSpPr txBox="1"/>
          <p:nvPr/>
        </p:nvSpPr>
        <p:spPr>
          <a:xfrm>
            <a:off x="3133725" y="4819650"/>
            <a:ext cx="762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 ~ +8.7</a:t>
            </a:r>
            <a:endParaRPr lang="en-US" sz="788" dirty="0"/>
          </a:p>
        </p:txBody>
      </p:sp>
      <p:sp>
        <p:nvSpPr>
          <p:cNvPr id="104" name="Text 102"/>
          <p:cNvSpPr txBox="1"/>
          <p:nvPr/>
        </p:nvSpPr>
        <p:spPr>
          <a:xfrm>
            <a:off x="4067175" y="4819650"/>
            <a:ext cx="5334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 ~ +5</a:t>
            </a:r>
            <a:endParaRPr lang="en-US" sz="788" dirty="0"/>
          </a:p>
        </p:txBody>
      </p:sp>
      <p:sp>
        <p:nvSpPr>
          <p:cNvPr id="105" name="Text 103"/>
          <p:cNvSpPr txBox="1"/>
          <p:nvPr/>
        </p:nvSpPr>
        <p:spPr>
          <a:xfrm>
            <a:off x="876300" y="5200650"/>
            <a:ext cx="381000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그날 온도·대기압·습도로 계산한 값, </a:t>
            </a:r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시험에서 실제로 낸 값입니다. 차이는 날마다 −4.6 ~ +8.7 로 흔들리는데, 더한 값은 시즌 내내 거의 하나였습니다.</a:t>
            </a:r>
            <a:endParaRPr lang="en-US" sz="825" dirty="0"/>
          </a:p>
        </p:txBody>
      </p:sp>
      <p:sp>
        <p:nvSpPr>
          <p:cNvPr id="106" name="Shape 104"/>
          <p:cNvSpPr/>
          <p:nvPr/>
        </p:nvSpPr>
        <p:spPr>
          <a:xfrm>
            <a:off x="5219700" y="363283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219700" y="391477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9700" y="419671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9700" y="476059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9700" y="4478655"/>
            <a:ext cx="5867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4838700" y="356616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112" name="Text 110"/>
          <p:cNvSpPr txBox="1"/>
          <p:nvPr/>
        </p:nvSpPr>
        <p:spPr>
          <a:xfrm>
            <a:off x="4838700" y="384810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13" name="Text 111"/>
          <p:cNvSpPr txBox="1"/>
          <p:nvPr/>
        </p:nvSpPr>
        <p:spPr>
          <a:xfrm>
            <a:off x="4838700" y="413004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114" name="Text 112"/>
          <p:cNvSpPr txBox="1"/>
          <p:nvPr/>
        </p:nvSpPr>
        <p:spPr>
          <a:xfrm>
            <a:off x="4838700" y="441198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15" name="Text 113"/>
          <p:cNvSpPr txBox="1"/>
          <p:nvPr/>
        </p:nvSpPr>
        <p:spPr>
          <a:xfrm>
            <a:off x="4838700" y="469392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16" name="Text 114"/>
          <p:cNvSpPr txBox="1"/>
          <p:nvPr/>
        </p:nvSpPr>
        <p:spPr>
          <a:xfrm>
            <a:off x="5562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17" name="Text 115"/>
          <p:cNvSpPr txBox="1"/>
          <p:nvPr/>
        </p:nvSpPr>
        <p:spPr>
          <a:xfrm>
            <a:off x="6896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18" name="Text 116"/>
          <p:cNvSpPr txBox="1"/>
          <p:nvPr/>
        </p:nvSpPr>
        <p:spPr>
          <a:xfrm>
            <a:off x="8229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19" name="Text 117"/>
          <p:cNvSpPr txBox="1"/>
          <p:nvPr/>
        </p:nvSpPr>
        <p:spPr>
          <a:xfrm>
            <a:off x="9563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20" name="Text 118"/>
          <p:cNvSpPr txBox="1"/>
          <p:nvPr/>
        </p:nvSpPr>
        <p:spPr>
          <a:xfrm>
            <a:off x="10896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5219700" y="4305614"/>
            <a:ext cx="5867400" cy="0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122" name="Text 120"/>
          <p:cNvSpPr txBox="1"/>
          <p:nvPr/>
        </p:nvSpPr>
        <p:spPr>
          <a:xfrm>
            <a:off x="9753600" y="4143689"/>
            <a:ext cx="16002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 (늘 하나)</a:t>
            </a:r>
            <a:endParaRPr lang="en-US" sz="825" dirty="0"/>
          </a:p>
        </p:txBody>
      </p:sp>
      <p:sp>
        <p:nvSpPr>
          <p:cNvPr id="123" name="Shape 121"/>
          <p:cNvSpPr/>
          <p:nvPr/>
        </p:nvSpPr>
        <p:spPr>
          <a:xfrm>
            <a:off x="5473065" y="353955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533073" y="35728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979795" y="38329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46495" y="40493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26530" y="406897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59880" y="410118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793230" y="41310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913245" y="401222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993255" y="41942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219950" y="408941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419975" y="411126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459980" y="39639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499985" y="39953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646670" y="393385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660005" y="402830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40015" y="40581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940040" y="407376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953375" y="405000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566785" y="426738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073515" y="460063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100185" y="468345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113520" y="44927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153525" y="450132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380220" y="46403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7" name="Shape 145"/>
          <p:cNvSpPr/>
          <p:nvPr/>
        </p:nvSpPr>
        <p:spPr>
          <a:xfrm>
            <a:off x="9553575" y="479419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753600" y="45651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753600" y="44857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820275" y="469508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846945" y="469135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2" name="Shape 150"/>
          <p:cNvSpPr/>
          <p:nvPr/>
        </p:nvSpPr>
        <p:spPr>
          <a:xfrm>
            <a:off x="9953625" y="451351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046970" y="449568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086975" y="463108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100310" y="430319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100310" y="435394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100310" y="456003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206990" y="44041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233660" y="46160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340340" y="439989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540365" y="43039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780395" y="435161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4838700" y="5111115"/>
            <a:ext cx="6419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· 세로 실제 차이 MW · 점 하나가 시험 한 번(누적 40회) · 채점 39회(까닭은 9장 각주)</a:t>
            </a:r>
            <a:endParaRPr lang="en-US" sz="788" dirty="0"/>
          </a:p>
        </p:txBody>
      </p:sp>
      <p:sp>
        <p:nvSpPr>
          <p:cNvPr id="164" name="Shape 162"/>
          <p:cNvSpPr/>
          <p:nvPr/>
        </p:nvSpPr>
        <p:spPr>
          <a:xfrm>
            <a:off x="4838700" y="5295900"/>
            <a:ext cx="38100" cy="7239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5010150" y="5295900"/>
            <a:ext cx="6248400" cy="19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겨울에는 적게 신고하고, 여름에는 못 내는데 많이 신고하게 됩니다.</a:t>
            </a:r>
            <a:endParaRPr lang="en-US" sz="1088" dirty="0"/>
          </a:p>
        </p:txBody>
      </p:sp>
      <p:sp>
        <p:nvSpPr>
          <p:cNvPr id="166" name="Text 164"/>
          <p:cNvSpPr txBox="1"/>
          <p:nvPr/>
        </p:nvSpPr>
        <p:spPr>
          <a:xfrm>
            <a:off x="5010150" y="5543550"/>
            <a:ext cx="62484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 39회 가운데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15회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신고한 만큼 못 냈습니다. 가장 크게 어긋난 회차는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10.8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</a:t>
            </a:r>
            <a:endParaRPr lang="en-US" sz="938" dirty="0"/>
          </a:p>
        </p:txBody>
      </p:sp>
      <p:sp>
        <p:nvSpPr>
          <p:cNvPr id="167" name="Shape 165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70" name="Text 168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값을 잘못 고른 것이 아니라, 하나로 끝내는 구조가 문제였습니다.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출력에 영향을 줄 수 있는 값 네 개를 후보로 놓고, 하나씩 넣어 보며 확인했습니다.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10820400" cy="2124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9621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524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 본 것과 남은 것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639300" y="1847850"/>
            <a:ext cx="1752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방법 · 입력만 바꿔 채점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019300"/>
            <a:ext cx="10382250" cy="2476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2025" y="2095500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넣은 값</a:t>
            </a:r>
            <a:endParaRPr lang="en-US" sz="938" dirty="0"/>
          </a:p>
        </p:txBody>
      </p:sp>
      <p:sp>
        <p:nvSpPr>
          <p:cNvPr id="22" name="Text 20"/>
          <p:cNvSpPr txBox="1"/>
          <p:nvPr/>
        </p:nvSpPr>
        <p:spPr>
          <a:xfrm>
            <a:off x="2638425" y="2095500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3476625" y="2095500"/>
            <a:ext cx="8763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기준과 차이</a:t>
            </a:r>
            <a:endParaRPr lang="en-US" sz="938" dirty="0"/>
          </a:p>
        </p:txBody>
      </p:sp>
      <p:sp>
        <p:nvSpPr>
          <p:cNvPr id="24" name="Text 22"/>
          <p:cNvSpPr txBox="1"/>
          <p:nvPr/>
        </p:nvSpPr>
        <p:spPr>
          <a:xfrm>
            <a:off x="4524375" y="20955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938" dirty="0"/>
          </a:p>
        </p:txBody>
      </p:sp>
      <p:sp>
        <p:nvSpPr>
          <p:cNvPr id="25" name="Text 23"/>
          <p:cNvSpPr txBox="1"/>
          <p:nvPr/>
        </p:nvSpPr>
        <p:spPr>
          <a:xfrm>
            <a:off x="5267325" y="2095500"/>
            <a:ext cx="5905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까닭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876300" y="2266950"/>
            <a:ext cx="10382250" cy="22860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27" name="Shape 25"/>
          <p:cNvSpPr/>
          <p:nvPr/>
        </p:nvSpPr>
        <p:spPr>
          <a:xfrm>
            <a:off x="876300" y="2495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2025" y="23098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온도만</a:t>
            </a:r>
            <a:endParaRPr lang="en-US" sz="938" dirty="0"/>
          </a:p>
        </p:txBody>
      </p:sp>
      <p:sp>
        <p:nvSpPr>
          <p:cNvPr id="29" name="Text 27"/>
          <p:cNvSpPr txBox="1"/>
          <p:nvPr/>
        </p:nvSpPr>
        <p:spPr>
          <a:xfrm>
            <a:off x="2638425" y="23098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938" dirty="0"/>
          </a:p>
        </p:txBody>
      </p:sp>
      <p:sp>
        <p:nvSpPr>
          <p:cNvPr id="30" name="Text 28"/>
          <p:cNvSpPr txBox="1"/>
          <p:nvPr/>
        </p:nvSpPr>
        <p:spPr>
          <a:xfrm>
            <a:off x="3476625" y="23098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4524375" y="23098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5267325" y="23098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</a:t>
            </a:r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85%</a:t>
            </a:r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이것만으로 설명합니다</a:t>
            </a:r>
            <a:endParaRPr lang="en-US" sz="863" dirty="0"/>
          </a:p>
        </p:txBody>
      </p:sp>
      <p:sp>
        <p:nvSpPr>
          <p:cNvPr id="33" name="Shape 31"/>
          <p:cNvSpPr/>
          <p:nvPr/>
        </p:nvSpPr>
        <p:spPr>
          <a:xfrm>
            <a:off x="876300" y="24955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4" name="Shape 32"/>
          <p:cNvSpPr/>
          <p:nvPr/>
        </p:nvSpPr>
        <p:spPr>
          <a:xfrm>
            <a:off x="876300" y="2724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2025" y="25384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상대습도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2638425" y="25384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3476625" y="25384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−0.01</a:t>
            </a:r>
            <a:endParaRPr lang="en-US" sz="825" dirty="0"/>
          </a:p>
        </p:txBody>
      </p:sp>
      <p:sp>
        <p:nvSpPr>
          <p:cNvPr id="38" name="Text 36"/>
          <p:cNvSpPr txBox="1"/>
          <p:nvPr/>
        </p:nvSpPr>
        <p:spPr>
          <a:xfrm>
            <a:off x="4524375" y="25384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39" name="Text 37"/>
          <p:cNvSpPr txBox="1"/>
          <p:nvPr/>
        </p:nvSpPr>
        <p:spPr>
          <a:xfrm>
            <a:off x="5267325" y="25384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0.01 나아졌지만 흔들림 ±0.08 보다 작습니다</a:t>
            </a:r>
            <a:endParaRPr lang="en-US" sz="863" dirty="0"/>
          </a:p>
        </p:txBody>
      </p:sp>
      <p:sp>
        <p:nvSpPr>
          <p:cNvPr id="40" name="Shape 38"/>
          <p:cNvSpPr/>
          <p:nvPr/>
        </p:nvSpPr>
        <p:spPr>
          <a:xfrm>
            <a:off x="876300" y="29527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2025" y="27670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대기압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2638425" y="27670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1.33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476625" y="27670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+0.03</a:t>
            </a:r>
            <a:endParaRPr lang="en-US" sz="825" dirty="0"/>
          </a:p>
        </p:txBody>
      </p:sp>
      <p:sp>
        <p:nvSpPr>
          <p:cNvPr id="44" name="Text 42"/>
          <p:cNvSpPr txBox="1"/>
          <p:nvPr/>
        </p:nvSpPr>
        <p:spPr>
          <a:xfrm>
            <a:off x="4524375" y="27670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5267325" y="27670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계산식이 이미 쓰고 있습니다 (두 번 반영)</a:t>
            </a:r>
            <a:endParaRPr lang="en-US" sz="863" dirty="0"/>
          </a:p>
        </p:txBody>
      </p:sp>
      <p:sp>
        <p:nvSpPr>
          <p:cNvPr id="46" name="Shape 44"/>
          <p:cNvSpPr/>
          <p:nvPr/>
        </p:nvSpPr>
        <p:spPr>
          <a:xfrm>
            <a:off x="876300" y="29527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47" name="Shape 45"/>
          <p:cNvSpPr/>
          <p:nvPr/>
        </p:nvSpPr>
        <p:spPr>
          <a:xfrm>
            <a:off x="876300" y="31813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62025" y="29956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복수기 진공도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2638425" y="29956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3476625" y="29956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+0.10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4524375" y="29956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5267325" y="29956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거의 같이 움직입니다 (0.95)</a:t>
            </a:r>
            <a:endParaRPr lang="en-US" sz="863" dirty="0"/>
          </a:p>
        </p:txBody>
      </p:sp>
      <p:sp>
        <p:nvSpPr>
          <p:cNvPr id="53" name="Shape 51"/>
          <p:cNvSpPr/>
          <p:nvPr/>
        </p:nvSpPr>
        <p:spPr>
          <a:xfrm>
            <a:off x="876300" y="34099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62025" y="32242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네 개 전부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2638425" y="32242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3476625" y="32242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+0.14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4524375" y="32242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8" name="Text 56"/>
          <p:cNvSpPr txBox="1"/>
          <p:nvPr/>
        </p:nvSpPr>
        <p:spPr>
          <a:xfrm>
            <a:off x="5267325" y="32242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넣을수록 나빠졌습니다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876300" y="350520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작을수록 잘 맞힌 것입니다. 회차마다 흔들리는 폭이 ±0.08 이므로 그보다 작은 차이는 차이로 볼 수 없습니다. 한 회를 가리고 나머지로 그 회를 맞혀 보는 방식으로 채점했습니다.</a:t>
            </a:r>
            <a:endParaRPr lang="en-US" sz="788" dirty="0"/>
          </a:p>
        </p:txBody>
      </p:sp>
      <p:sp>
        <p:nvSpPr>
          <p:cNvPr id="60" name="Shape 58"/>
          <p:cNvSpPr/>
          <p:nvPr/>
        </p:nvSpPr>
        <p:spPr>
          <a:xfrm>
            <a:off x="685800" y="4143375"/>
            <a:ext cx="52959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85800" y="401955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191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009650" y="407670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온도가 남은 이유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876300" y="4400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28700" y="4381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1238250" y="4362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혼자서 대부분을 설명한다</a:t>
            </a:r>
            <a:endParaRPr lang="en-US" sz="1125" dirty="0"/>
          </a:p>
        </p:txBody>
      </p:sp>
      <p:sp>
        <p:nvSpPr>
          <p:cNvPr id="67" name="Text 65"/>
          <p:cNvSpPr txBox="1"/>
          <p:nvPr/>
        </p:nvSpPr>
        <p:spPr>
          <a:xfrm>
            <a:off x="1238250" y="4572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85% 가 온도로 설명됩니다. 추우면 커지고 더우면 작아집니다.</a:t>
            </a:r>
            <a:endParaRPr lang="en-US" sz="863" dirty="0"/>
          </a:p>
        </p:txBody>
      </p:sp>
      <p:sp>
        <p:nvSpPr>
          <p:cNvPr id="68" name="Shape 66"/>
          <p:cNvSpPr/>
          <p:nvPr/>
        </p:nvSpPr>
        <p:spPr>
          <a:xfrm>
            <a:off x="876300" y="49720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28700" y="49530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1238250" y="49339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방향이 분명하다</a:t>
            </a:r>
            <a:endParaRPr lang="en-US" sz="1125" dirty="0"/>
          </a:p>
        </p:txBody>
      </p:sp>
      <p:sp>
        <p:nvSpPr>
          <p:cNvPr id="71" name="Text 69"/>
          <p:cNvSpPr txBox="1"/>
          <p:nvPr/>
        </p:nvSpPr>
        <p:spPr>
          <a:xfrm>
            <a:off x="1238250" y="51435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오르면 차이가 내려갑니다 (반대 방향 0.84). 네 후보 가운데 가장 뚜렷합니다.</a:t>
            </a:r>
            <a:endParaRPr lang="en-US" sz="863" dirty="0"/>
          </a:p>
        </p:txBody>
      </p:sp>
      <p:sp>
        <p:nvSpPr>
          <p:cNvPr id="72" name="Shape 70"/>
          <p:cNvSpPr/>
          <p:nvPr/>
        </p:nvSpPr>
        <p:spPr>
          <a:xfrm>
            <a:off x="876300" y="5543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8700" y="5524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5505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알 수 있는 값이다</a:t>
            </a:r>
            <a:endParaRPr lang="en-US" sz="1125" dirty="0"/>
          </a:p>
        </p:txBody>
      </p:sp>
      <p:sp>
        <p:nvSpPr>
          <p:cNvPr id="75" name="Text 73"/>
          <p:cNvSpPr txBox="1"/>
          <p:nvPr/>
        </p:nvSpPr>
        <p:spPr>
          <a:xfrm>
            <a:off x="1238250" y="5715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신고는 영하 20도부터 40도까지 온도마다 내야 합니다. 입력이 온도여야 표를 만들 수 있습니다.</a:t>
            </a:r>
            <a:endParaRPr lang="en-US" sz="863" dirty="0"/>
          </a:p>
        </p:txBody>
      </p:sp>
      <p:sp>
        <p:nvSpPr>
          <p:cNvPr id="76" name="Shape 74"/>
          <p:cNvSpPr/>
          <p:nvPr/>
        </p:nvSpPr>
        <p:spPr>
          <a:xfrm>
            <a:off x="6134100" y="4143375"/>
            <a:ext cx="53721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34100" y="4019550"/>
            <a:ext cx="26098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2674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79" name="Text 77"/>
          <p:cNvSpPr txBox="1"/>
          <p:nvPr/>
        </p:nvSpPr>
        <p:spPr>
          <a:xfrm>
            <a:off x="6457950" y="4076700"/>
            <a:ext cx="2171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 · 결론을 뒤집었다</a:t>
            </a:r>
            <a:endParaRPr lang="en-US" sz="1013" dirty="0"/>
          </a:p>
        </p:txBody>
      </p:sp>
      <p:sp>
        <p:nvSpPr>
          <p:cNvPr id="80" name="Text 78"/>
          <p:cNvSpPr txBox="1"/>
          <p:nvPr/>
        </p:nvSpPr>
        <p:spPr>
          <a:xfrm>
            <a:off x="6324600" y="4381500"/>
            <a:ext cx="4991100" cy="359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봄 시험 몇 회가 유별나게 낮았습니다. 설비가 늙었다고 보고 문서까지 썼습니다.</a:t>
            </a:r>
            <a:endParaRPr lang="en-US" sz="975" dirty="0"/>
          </a:p>
        </p:txBody>
      </p:sp>
      <p:sp>
        <p:nvSpPr>
          <p:cNvPr id="81" name="Shape 79"/>
          <p:cNvSpPr/>
          <p:nvPr/>
        </p:nvSpPr>
        <p:spPr>
          <a:xfrm>
            <a:off x="6324600" y="4819650"/>
            <a:ext cx="38100" cy="9144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15100" y="4800600"/>
            <a:ext cx="48006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문제가 아니었습니다.</a:t>
            </a:r>
            <a:endParaRPr lang="en-US" sz="1163" dirty="0"/>
          </a:p>
        </p:txBody>
      </p:sp>
      <p:sp>
        <p:nvSpPr>
          <p:cNvPr id="83" name="Text 81"/>
          <p:cNvSpPr txBox="1"/>
          <p:nvPr/>
        </p:nvSpPr>
        <p:spPr>
          <a:xfrm>
            <a:off x="6515100" y="5029200"/>
            <a:ext cx="48006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시험은 </a:t>
            </a:r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출력을 끝까지 올린 상태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해야 합니다. 가스터빈 입구 날개를 더 여는 조작입니다(IGV turn-up). 그 조작을 하지 않고 측정한 날이었습니다. 덜 올린 채로 쟀으니 낮게 나온 것입니다.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6324600" y="5810250"/>
            <a:ext cx="49911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결론을 거뒀습니다. 지금은 그런 날의 시험을 도구가 걸러냅니다.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후보를 하나씩 접고 나니 외기 온도만 남았습니다.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목표가 둘이었습니다. 각각 무엇으로 풀지 정했습니다.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5295900" cy="19335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① 절차를 하나로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4429125" y="1790700"/>
            <a:ext cx="1438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도구를 새로 만들었나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1981200"/>
            <a:ext cx="38100" cy="3429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47750" y="1962150"/>
            <a:ext cx="47434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4개는 손으로 이어야 한다</a:t>
            </a:r>
            <a:endParaRPr lang="en-US" sz="975" dirty="0"/>
          </a:p>
        </p:txBody>
      </p:sp>
      <p:sp>
        <p:nvSpPr>
          <p:cNvPr id="22" name="Text 20"/>
          <p:cNvSpPr txBox="1"/>
          <p:nvPr/>
        </p:nvSpPr>
        <p:spPr>
          <a:xfrm>
            <a:off x="1047750" y="2133600"/>
            <a:ext cx="47434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사이를 사람이 값으로 잇습니다. 한곳에 넣으면 옮겨 적을 일이 없어집니다.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876300" y="2438400"/>
            <a:ext cx="38100" cy="3429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47750" y="2419350"/>
            <a:ext cx="47434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곡선을 배우는 계산은 수식으로 어렵다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1047750" y="2590800"/>
            <a:ext cx="47434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곡선을 찾는 계산은 엑셀 수식으로 짜기 어렵습니다.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876300" y="2895600"/>
            <a:ext cx="38100" cy="3429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47750" y="2876550"/>
            <a:ext cx="47434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실적을 쌓아 다시 배우려면 저장소가 필요하다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1047750" y="3048000"/>
            <a:ext cx="4743450" cy="270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회차를 쌓아 두고 늘 때마다 다시 배워야 합니다. 파일로는 관리가 되지 않습니다.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876300" y="3371850"/>
            <a:ext cx="4914900" cy="14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엑셀을 고치는 대신 </a:t>
            </a:r>
            <a:pPr algn="l" indent="0" marL="0">
              <a:lnSpc>
                <a:spcPts val="1164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하나로 합쳤습니다</a:t>
            </a:r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863" dirty="0"/>
          </a:p>
        </p:txBody>
      </p:sp>
      <p:sp>
        <p:nvSpPr>
          <p:cNvPr id="30" name="Text 28"/>
          <p:cNvSpPr txBox="1"/>
          <p:nvPr/>
        </p:nvSpPr>
        <p:spPr>
          <a:xfrm>
            <a:off x="876300" y="3524250"/>
            <a:ext cx="49149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계산식과 RiMS 취득 방식은 기존 엑셀 것을 그대로 옮겼습니다.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6134100" y="1724025"/>
            <a:ext cx="5372100" cy="19335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41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674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② 온도별 보정값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344150" y="1790700"/>
            <a:ext cx="10477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→ 곡선 → 표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6324600" y="1962150"/>
            <a:ext cx="15811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점을 모은다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6324600" y="2171700"/>
            <a:ext cx="1428750" cy="4762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81750" y="2489835"/>
            <a:ext cx="13144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29375" y="221852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0" name="Shape 38"/>
          <p:cNvSpPr/>
          <p:nvPr/>
        </p:nvSpPr>
        <p:spPr>
          <a:xfrm>
            <a:off x="6442234" y="222798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1" name="Shape 39"/>
          <p:cNvSpPr/>
          <p:nvPr/>
        </p:nvSpPr>
        <p:spPr>
          <a:xfrm>
            <a:off x="6537960" y="230177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2" name="Shape 40"/>
          <p:cNvSpPr/>
          <p:nvPr/>
        </p:nvSpPr>
        <p:spPr>
          <a:xfrm>
            <a:off x="6595110" y="236317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3" name="Shape 41"/>
          <p:cNvSpPr/>
          <p:nvPr/>
        </p:nvSpPr>
        <p:spPr>
          <a:xfrm>
            <a:off x="6655118" y="236875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4" name="Shape 42"/>
          <p:cNvSpPr/>
          <p:nvPr/>
        </p:nvSpPr>
        <p:spPr>
          <a:xfrm>
            <a:off x="6683693" y="237790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5" name="Shape 43"/>
          <p:cNvSpPr/>
          <p:nvPr/>
        </p:nvSpPr>
        <p:spPr>
          <a:xfrm>
            <a:off x="6712268" y="238638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6" name="Shape 44"/>
          <p:cNvSpPr/>
          <p:nvPr/>
        </p:nvSpPr>
        <p:spPr>
          <a:xfrm>
            <a:off x="6737985" y="235265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7" name="Shape 45"/>
          <p:cNvSpPr/>
          <p:nvPr/>
        </p:nvSpPr>
        <p:spPr>
          <a:xfrm>
            <a:off x="6755130" y="2404303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8" name="Shape 46"/>
          <p:cNvSpPr/>
          <p:nvPr/>
        </p:nvSpPr>
        <p:spPr>
          <a:xfrm>
            <a:off x="6803708" y="237456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49" name="Shape 47"/>
          <p:cNvSpPr/>
          <p:nvPr/>
        </p:nvSpPr>
        <p:spPr>
          <a:xfrm>
            <a:off x="6846570" y="2380760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0" name="Shape 48"/>
          <p:cNvSpPr/>
          <p:nvPr/>
        </p:nvSpPr>
        <p:spPr>
          <a:xfrm>
            <a:off x="6855143" y="2338955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1" name="Shape 49"/>
          <p:cNvSpPr/>
          <p:nvPr/>
        </p:nvSpPr>
        <p:spPr>
          <a:xfrm>
            <a:off x="6863715" y="2347856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2" name="Shape 50"/>
          <p:cNvSpPr/>
          <p:nvPr/>
        </p:nvSpPr>
        <p:spPr>
          <a:xfrm>
            <a:off x="6895148" y="233041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3" name="Shape 51"/>
          <p:cNvSpPr/>
          <p:nvPr/>
        </p:nvSpPr>
        <p:spPr>
          <a:xfrm>
            <a:off x="6898005" y="235721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4" name="Shape 52"/>
          <p:cNvSpPr/>
          <p:nvPr/>
        </p:nvSpPr>
        <p:spPr>
          <a:xfrm>
            <a:off x="6915150" y="236567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5" name="Shape 53"/>
          <p:cNvSpPr/>
          <p:nvPr/>
        </p:nvSpPr>
        <p:spPr>
          <a:xfrm>
            <a:off x="6958013" y="237011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6" name="Shape 54"/>
          <p:cNvSpPr/>
          <p:nvPr/>
        </p:nvSpPr>
        <p:spPr>
          <a:xfrm>
            <a:off x="6960870" y="236337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7" name="Shape 55"/>
          <p:cNvSpPr/>
          <p:nvPr/>
        </p:nvSpPr>
        <p:spPr>
          <a:xfrm>
            <a:off x="7092315" y="2425066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8" name="Shape 56"/>
          <p:cNvSpPr/>
          <p:nvPr/>
        </p:nvSpPr>
        <p:spPr>
          <a:xfrm>
            <a:off x="7200900" y="251963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59" name="Shape 57"/>
          <p:cNvSpPr/>
          <p:nvPr/>
        </p:nvSpPr>
        <p:spPr>
          <a:xfrm>
            <a:off x="7206615" y="254314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0" name="Shape 58"/>
          <p:cNvSpPr/>
          <p:nvPr/>
        </p:nvSpPr>
        <p:spPr>
          <a:xfrm>
            <a:off x="7209473" y="248903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1" name="Shape 59"/>
          <p:cNvSpPr/>
          <p:nvPr/>
        </p:nvSpPr>
        <p:spPr>
          <a:xfrm>
            <a:off x="7218045" y="249145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2" name="Shape 60"/>
          <p:cNvSpPr/>
          <p:nvPr/>
        </p:nvSpPr>
        <p:spPr>
          <a:xfrm>
            <a:off x="7266623" y="253089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3" name="Shape 61"/>
          <p:cNvSpPr/>
          <p:nvPr/>
        </p:nvSpPr>
        <p:spPr>
          <a:xfrm>
            <a:off x="7303770" y="2574565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4" name="Shape 62"/>
          <p:cNvSpPr/>
          <p:nvPr/>
        </p:nvSpPr>
        <p:spPr>
          <a:xfrm>
            <a:off x="7346633" y="250955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5" name="Shape 63"/>
          <p:cNvSpPr/>
          <p:nvPr/>
        </p:nvSpPr>
        <p:spPr>
          <a:xfrm>
            <a:off x="7346633" y="248703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6" name="Shape 64"/>
          <p:cNvSpPr/>
          <p:nvPr/>
        </p:nvSpPr>
        <p:spPr>
          <a:xfrm>
            <a:off x="7360920" y="254644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7" name="Shape 65"/>
          <p:cNvSpPr/>
          <p:nvPr/>
        </p:nvSpPr>
        <p:spPr>
          <a:xfrm>
            <a:off x="7366635" y="254538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8" name="Shape 66"/>
          <p:cNvSpPr/>
          <p:nvPr/>
        </p:nvSpPr>
        <p:spPr>
          <a:xfrm>
            <a:off x="7389495" y="2494915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69" name="Shape 67"/>
          <p:cNvSpPr/>
          <p:nvPr/>
        </p:nvSpPr>
        <p:spPr>
          <a:xfrm>
            <a:off x="7409498" y="2489854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0" name="Shape 68"/>
          <p:cNvSpPr/>
          <p:nvPr/>
        </p:nvSpPr>
        <p:spPr>
          <a:xfrm>
            <a:off x="7418070" y="252827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1" name="Shape 69"/>
          <p:cNvSpPr/>
          <p:nvPr/>
        </p:nvSpPr>
        <p:spPr>
          <a:xfrm>
            <a:off x="7420928" y="243522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2" name="Shape 70"/>
          <p:cNvSpPr/>
          <p:nvPr/>
        </p:nvSpPr>
        <p:spPr>
          <a:xfrm>
            <a:off x="7420928" y="244962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3" name="Shape 71"/>
          <p:cNvSpPr/>
          <p:nvPr/>
        </p:nvSpPr>
        <p:spPr>
          <a:xfrm>
            <a:off x="7420928" y="2508116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4" name="Shape 72"/>
          <p:cNvSpPr/>
          <p:nvPr/>
        </p:nvSpPr>
        <p:spPr>
          <a:xfrm>
            <a:off x="7443788" y="246389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5" name="Shape 73"/>
          <p:cNvSpPr/>
          <p:nvPr/>
        </p:nvSpPr>
        <p:spPr>
          <a:xfrm>
            <a:off x="7449503" y="2523998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6" name="Shape 74"/>
          <p:cNvSpPr/>
          <p:nvPr/>
        </p:nvSpPr>
        <p:spPr>
          <a:xfrm>
            <a:off x="7472363" y="2462671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7" name="Shape 75"/>
          <p:cNvSpPr/>
          <p:nvPr/>
        </p:nvSpPr>
        <p:spPr>
          <a:xfrm>
            <a:off x="7515225" y="2435447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8" name="Shape 76"/>
          <p:cNvSpPr/>
          <p:nvPr/>
        </p:nvSpPr>
        <p:spPr>
          <a:xfrm>
            <a:off x="7566660" y="2448969"/>
            <a:ext cx="24765" cy="24765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324600" y="2705100"/>
            <a:ext cx="1581150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시험마다 점 하나가 생깁니다. 가로는 그날 외기온도, 세로는 실제와 계산값의 차이입니다.</a:t>
            </a:r>
            <a:endParaRPr lang="en-US" sz="788" dirty="0"/>
          </a:p>
        </p:txBody>
      </p:sp>
      <p:sp>
        <p:nvSpPr>
          <p:cNvPr id="80" name="Text 78"/>
          <p:cNvSpPr txBox="1"/>
          <p:nvPr/>
        </p:nvSpPr>
        <p:spPr>
          <a:xfrm>
            <a:off x="7791450" y="2343150"/>
            <a:ext cx="228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81" name="Text 79"/>
          <p:cNvSpPr txBox="1"/>
          <p:nvPr/>
        </p:nvSpPr>
        <p:spPr>
          <a:xfrm>
            <a:off x="8058150" y="1962150"/>
            <a:ext cx="15811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곡선을 배운다</a:t>
            </a:r>
            <a:endParaRPr lang="en-US" sz="938" dirty="0"/>
          </a:p>
        </p:txBody>
      </p:sp>
      <p:sp>
        <p:nvSpPr>
          <p:cNvPr id="82" name="Shape 80"/>
          <p:cNvSpPr/>
          <p:nvPr/>
        </p:nvSpPr>
        <p:spPr>
          <a:xfrm>
            <a:off x="8058150" y="2171700"/>
            <a:ext cx="1428750" cy="4762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115300" y="2489835"/>
            <a:ext cx="13144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229600" y="2340216"/>
            <a:ext cx="57150" cy="10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286750" y="2341216"/>
            <a:ext cx="57150" cy="222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343900" y="2363419"/>
            <a:ext cx="57150" cy="178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401050" y="2381221"/>
            <a:ext cx="57150" cy="80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8458200" y="2386422"/>
            <a:ext cx="57150" cy="28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8515350" y="2377021"/>
            <a:ext cx="57150" cy="94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8572500" y="2369220"/>
            <a:ext cx="57150" cy="78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629650" y="2369220"/>
            <a:ext cx="57150" cy="220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686800" y="2371420"/>
            <a:ext cx="57150" cy="174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743950" y="2388822"/>
            <a:ext cx="57150" cy="324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801100" y="2421226"/>
            <a:ext cx="57150" cy="4140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858250" y="2462632"/>
            <a:ext cx="57150" cy="4020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915400" y="2502837"/>
            <a:ext cx="57150" cy="290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972550" y="2531840"/>
            <a:ext cx="57150" cy="112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9029700" y="2535641"/>
            <a:ext cx="57150" cy="740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9086850" y="2514638"/>
            <a:ext cx="57150" cy="210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 flipV="1">
            <a:off x="9144000" y="2487635"/>
            <a:ext cx="57150" cy="270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 flipV="1">
            <a:off x="9201150" y="2463432"/>
            <a:ext cx="57150" cy="242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 flipV="1">
            <a:off x="9258300" y="2447630"/>
            <a:ext cx="57150" cy="1580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315450" y="2447630"/>
            <a:ext cx="57150" cy="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162925" y="221852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8175784" y="222798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271510" y="230177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328660" y="236317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388668" y="236875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417243" y="237790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445818" y="238638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471535" y="235265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488680" y="2404303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537258" y="237456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580120" y="2380760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8588693" y="2338955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8597265" y="2347856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8628698" y="233041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8631555" y="235721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648700" y="236567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691563" y="237011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694420" y="236337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825865" y="2425066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934450" y="251963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940165" y="254314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943023" y="248903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951595" y="249145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9000173" y="253089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037320" y="2574565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80183" y="250955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80183" y="248703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094470" y="254644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100185" y="254538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9123045" y="2494915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143048" y="2489854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9151620" y="252827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9154478" y="243522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154478" y="244962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54478" y="2508116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177338" y="246389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9183053" y="2523998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9205913" y="2462671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248775" y="2435447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300210" y="2448969"/>
            <a:ext cx="24765" cy="24765"/>
          </a:xfrm>
          <a:prstGeom prst="ellipse">
            <a:avLst/>
          </a:prstGeom>
          <a:solidFill>
            <a:srgbClr val="6E7780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8058150" y="2705100"/>
            <a:ext cx="1581150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점을 가장 잘 지나는 곡선을 찾습니다. 점이 없는 온도의 값도 이 곡선이 메웁니다.</a:t>
            </a:r>
            <a:endParaRPr lang="en-US" sz="788" dirty="0"/>
          </a:p>
        </p:txBody>
      </p:sp>
      <p:sp>
        <p:nvSpPr>
          <p:cNvPr id="145" name="Text 143"/>
          <p:cNvSpPr txBox="1"/>
          <p:nvPr/>
        </p:nvSpPr>
        <p:spPr>
          <a:xfrm>
            <a:off x="9525000" y="2343150"/>
            <a:ext cx="2286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146" name="Text 144"/>
          <p:cNvSpPr txBox="1"/>
          <p:nvPr/>
        </p:nvSpPr>
        <p:spPr>
          <a:xfrm>
            <a:off x="9791700" y="1962150"/>
            <a:ext cx="15811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표를 만든다</a:t>
            </a:r>
            <a:endParaRPr lang="en-US" sz="938" dirty="0"/>
          </a:p>
        </p:txBody>
      </p:sp>
      <p:sp>
        <p:nvSpPr>
          <p:cNvPr id="147" name="Shape 145"/>
          <p:cNvSpPr/>
          <p:nvPr/>
        </p:nvSpPr>
        <p:spPr>
          <a:xfrm>
            <a:off x="9791700" y="2171700"/>
            <a:ext cx="1428750" cy="47625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0287000" y="2209800"/>
            <a:ext cx="0" cy="40005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886950" y="2247900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0344150" y="2247900"/>
            <a:ext cx="800100" cy="0"/>
          </a:xfrm>
          <a:prstGeom prst="line">
            <a:avLst/>
          </a:prstGeom>
          <a:noFill/>
          <a:ln w="12700">
            <a:solidFill>
              <a:srgbClr val="EA002C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886950" y="2314575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44150" y="2314575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9886950" y="2381250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10344150" y="2381250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886950" y="2447925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344150" y="2447925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9886950" y="2514600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10344150" y="2514600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886950" y="2581275"/>
            <a:ext cx="36195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10344150" y="2581275"/>
            <a:ext cx="800100" cy="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9791700" y="2705100"/>
            <a:ext cx="1581150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곡선에서 영하 20도부터 40도까지 61개 값을 읽어 신고 표를 만듭니다.</a:t>
            </a:r>
            <a:endParaRPr lang="en-US" sz="788" dirty="0"/>
          </a:p>
        </p:txBody>
      </p:sp>
      <p:sp>
        <p:nvSpPr>
          <p:cNvPr id="162" name="Text 160"/>
          <p:cNvSpPr txBox="1"/>
          <p:nvPr/>
        </p:nvSpPr>
        <p:spPr>
          <a:xfrm>
            <a:off x="6324600" y="3200400"/>
            <a:ext cx="499110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곡선을 쓸지는 여기서 정하지 않았습니다 — 후보 회귀 모델 7가지를 겨루게 한 결과가 다음 장입니다.</a:t>
            </a:r>
            <a:endParaRPr lang="en-US" sz="863" dirty="0"/>
          </a:p>
        </p:txBody>
      </p:sp>
      <p:sp>
        <p:nvSpPr>
          <p:cNvPr id="163" name="Shape 161"/>
          <p:cNvSpPr/>
          <p:nvPr/>
        </p:nvSpPr>
        <p:spPr>
          <a:xfrm>
            <a:off x="685800" y="3895725"/>
            <a:ext cx="10820400" cy="22002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85800" y="3771900"/>
            <a:ext cx="26098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819150" y="38290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166" name="Text 164"/>
          <p:cNvSpPr txBox="1"/>
          <p:nvPr/>
        </p:nvSpPr>
        <p:spPr>
          <a:xfrm>
            <a:off x="1009650" y="3829050"/>
            <a:ext cx="2171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공급가능용량 산정</a:t>
            </a:r>
            <a:endParaRPr lang="en-US" sz="1013" dirty="0"/>
          </a:p>
        </p:txBody>
      </p:sp>
      <p:sp>
        <p:nvSpPr>
          <p:cNvPr id="167" name="Text 165"/>
          <p:cNvSpPr txBox="1"/>
          <p:nvPr/>
        </p:nvSpPr>
        <p:spPr>
          <a:xfrm>
            <a:off x="9658350" y="3962400"/>
            <a:ext cx="1733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시각만 넣고 누른 결과</a:t>
            </a:r>
            <a:endParaRPr lang="en-US" sz="825" dirty="0"/>
          </a:p>
        </p:txBody>
      </p:sp>
      <p:pic>
        <p:nvPicPr>
          <p:cNvPr id="168" name="Image 0" descr="/home/user/Narae-AI/docs/ppt/assets/tool_win_run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4133850"/>
            <a:ext cx="6791325" cy="1962150"/>
          </a:xfrm>
          <a:prstGeom prst="rect">
            <a:avLst/>
          </a:prstGeom>
        </p:spPr>
      </p:pic>
      <p:sp>
        <p:nvSpPr>
          <p:cNvPr id="169" name="Shape 166"/>
          <p:cNvSpPr/>
          <p:nvPr/>
        </p:nvSpPr>
        <p:spPr>
          <a:xfrm>
            <a:off x="866775" y="4124325"/>
            <a:ext cx="6810375" cy="19812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70" name="Text 167"/>
          <p:cNvSpPr txBox="1"/>
          <p:nvPr/>
        </p:nvSpPr>
        <p:spPr>
          <a:xfrm>
            <a:off x="7858125" y="4133850"/>
            <a:ext cx="34004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</a:t>
            </a:r>
            <a:endParaRPr lang="en-US" sz="863" dirty="0"/>
          </a:p>
        </p:txBody>
      </p:sp>
      <p:sp>
        <p:nvSpPr>
          <p:cNvPr id="171" name="Text 168"/>
          <p:cNvSpPr txBox="1"/>
          <p:nvPr/>
        </p:nvSpPr>
        <p:spPr>
          <a:xfrm>
            <a:off x="7858125" y="4305300"/>
            <a:ext cx="34004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오가던 일이 이 화면 하나로 끝납니다.</a:t>
            </a:r>
            <a:endParaRPr lang="en-US" sz="825" dirty="0"/>
          </a:p>
        </p:txBody>
      </p:sp>
      <p:sp>
        <p:nvSpPr>
          <p:cNvPr id="172" name="Text 169"/>
          <p:cNvSpPr txBox="1"/>
          <p:nvPr/>
        </p:nvSpPr>
        <p:spPr>
          <a:xfrm>
            <a:off x="7858125" y="4800600"/>
            <a:ext cx="34004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· 보정값 · 현실화</a:t>
            </a:r>
            <a:endParaRPr lang="en-US" sz="863" dirty="0"/>
          </a:p>
        </p:txBody>
      </p:sp>
      <p:sp>
        <p:nvSpPr>
          <p:cNvPr id="173" name="Text 170"/>
          <p:cNvSpPr txBox="1"/>
          <p:nvPr/>
        </p:nvSpPr>
        <p:spPr>
          <a:xfrm>
            <a:off x="7858125" y="4972050"/>
            <a:ext cx="34004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계산식으로 낸 값, 온도마다 다른 더하는 값, 실제로 신고하는 값.</a:t>
            </a:r>
            <a:endParaRPr lang="en-US" sz="825" dirty="0"/>
          </a:p>
        </p:txBody>
      </p:sp>
      <p:sp>
        <p:nvSpPr>
          <p:cNvPr id="174" name="Text 171"/>
          <p:cNvSpPr txBox="1"/>
          <p:nvPr/>
        </p:nvSpPr>
        <p:spPr>
          <a:xfrm>
            <a:off x="7858125" y="5467350"/>
            <a:ext cx="34004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61구간</a:t>
            </a:r>
            <a:endParaRPr lang="en-US" sz="863" dirty="0"/>
          </a:p>
        </p:txBody>
      </p:sp>
      <p:sp>
        <p:nvSpPr>
          <p:cNvPr id="175" name="Text 172"/>
          <p:cNvSpPr txBox="1"/>
          <p:nvPr/>
        </p:nvSpPr>
        <p:spPr>
          <a:xfrm>
            <a:off x="7858125" y="5638800"/>
            <a:ext cx="34004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표를 그대로 입찰에 씁니다. 손으로 옮기는 값은 없습니다.</a:t>
            </a:r>
            <a:endParaRPr lang="en-US" sz="825" dirty="0"/>
          </a:p>
        </p:txBody>
      </p:sp>
      <p:sp>
        <p:nvSpPr>
          <p:cNvPr id="176" name="Shape 17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78" name="Text 17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79" name="Text 17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절차는 도구 하나로 합치고, 보정값은 온도별 곡선으로 내기로 정했습니다.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· 보정 모델 개발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어떤 회귀 모델로 그릴지 정했습니다. 후보 7가지를 같은 데이터로 겨루게 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685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6002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1620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 성적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324975" y="1790700"/>
            <a:ext cx="2066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채점 · 단위 MW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2495550" y="1981200"/>
            <a:ext cx="0" cy="106680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6300" y="19812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825" dirty="0"/>
          </a:p>
        </p:txBody>
      </p:sp>
      <p:sp>
        <p:nvSpPr>
          <p:cNvPr id="22" name="Shape 20"/>
          <p:cNvSpPr/>
          <p:nvPr/>
        </p:nvSpPr>
        <p:spPr>
          <a:xfrm>
            <a:off x="2495550" y="2000250"/>
            <a:ext cx="47625" cy="857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0" y="19812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6115050" y="19812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6838950" y="19812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 · 가장 부드러운 곡선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876300" y="21336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RQ</a:t>
            </a:r>
            <a:endParaRPr lang="en-US" sz="825" dirty="0"/>
          </a:p>
        </p:txBody>
      </p:sp>
      <p:sp>
        <p:nvSpPr>
          <p:cNvPr id="27" name="Shape 25"/>
          <p:cNvSpPr/>
          <p:nvPr/>
        </p:nvSpPr>
        <p:spPr>
          <a:xfrm>
            <a:off x="2505075" y="2162175"/>
            <a:ext cx="666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0" y="21336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6115050" y="21336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+0.004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6838950" y="21336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완만한 물결과 급한 물결을 섞은 곡선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876300" y="22860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5/2</a:t>
            </a:r>
            <a:endParaRPr lang="en-US" sz="825" dirty="0"/>
          </a:p>
        </p:txBody>
      </p:sp>
      <p:sp>
        <p:nvSpPr>
          <p:cNvPr id="32" name="Shape 30"/>
          <p:cNvSpPr/>
          <p:nvPr/>
        </p:nvSpPr>
        <p:spPr>
          <a:xfrm>
            <a:off x="2505075" y="2314575"/>
            <a:ext cx="1524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22860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6115050" y="22860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+0.009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6838950" y="22860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거의 부드러운 곡선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876300" y="24384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3/2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2505075" y="2466975"/>
            <a:ext cx="3429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0" y="24384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6115050" y="24384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+0.021</a:t>
            </a:r>
            <a:endParaRPr lang="en-US" sz="788" dirty="0"/>
          </a:p>
        </p:txBody>
      </p:sp>
      <p:sp>
        <p:nvSpPr>
          <p:cNvPr id="40" name="Text 38"/>
          <p:cNvSpPr txBox="1"/>
          <p:nvPr/>
        </p:nvSpPr>
        <p:spPr>
          <a:xfrm>
            <a:off x="6838950" y="24384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살짝 각이 지는 곡선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876300" y="25908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지수</a:t>
            </a:r>
            <a:endParaRPr lang="en-US" sz="825" dirty="0"/>
          </a:p>
        </p:txBody>
      </p:sp>
      <p:sp>
        <p:nvSpPr>
          <p:cNvPr id="42" name="Shape 40"/>
          <p:cNvSpPr/>
          <p:nvPr/>
        </p:nvSpPr>
        <p:spPr>
          <a:xfrm>
            <a:off x="2505075" y="2619375"/>
            <a:ext cx="104775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0" y="25908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788" dirty="0"/>
          </a:p>
        </p:txBody>
      </p:sp>
      <p:sp>
        <p:nvSpPr>
          <p:cNvPr id="44" name="Text 42"/>
          <p:cNvSpPr txBox="1"/>
          <p:nvPr/>
        </p:nvSpPr>
        <p:spPr>
          <a:xfrm>
            <a:off x="6115050" y="25908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+0.064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6838950" y="25908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꺾임을 허용하는 곡선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876300" y="27432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</a:t>
            </a:r>
            <a:endParaRPr lang="en-US" sz="825" dirty="0"/>
          </a:p>
        </p:txBody>
      </p:sp>
      <p:sp>
        <p:nvSpPr>
          <p:cNvPr id="47" name="Shape 45"/>
          <p:cNvSpPr/>
          <p:nvPr/>
        </p:nvSpPr>
        <p:spPr>
          <a:xfrm>
            <a:off x="2505075" y="2771775"/>
            <a:ext cx="19335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86400" y="27432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788" dirty="0"/>
          </a:p>
        </p:txBody>
      </p:sp>
      <p:sp>
        <p:nvSpPr>
          <p:cNvPr id="49" name="Text 47"/>
          <p:cNvSpPr txBox="1"/>
          <p:nvPr/>
        </p:nvSpPr>
        <p:spPr>
          <a:xfrm>
            <a:off x="6115050" y="27432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+0.118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38950" y="27432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시험에 무게를 더 주는 평균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876300" y="2895600"/>
            <a:ext cx="15049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</a:t>
            </a:r>
            <a:endParaRPr lang="en-US" sz="825" dirty="0"/>
          </a:p>
        </p:txBody>
      </p:sp>
      <p:sp>
        <p:nvSpPr>
          <p:cNvPr id="52" name="Shape 50"/>
          <p:cNvSpPr/>
          <p:nvPr/>
        </p:nvSpPr>
        <p:spPr>
          <a:xfrm>
            <a:off x="2505075" y="2924175"/>
            <a:ext cx="28575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486400" y="2895600"/>
            <a:ext cx="5524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788" dirty="0"/>
          </a:p>
        </p:txBody>
      </p:sp>
      <p:sp>
        <p:nvSpPr>
          <p:cNvPr id="54" name="Text 52"/>
          <p:cNvSpPr txBox="1"/>
          <p:nvPr/>
        </p:nvSpPr>
        <p:spPr>
          <a:xfrm>
            <a:off x="6115050" y="2895600"/>
            <a:ext cx="5905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+0.174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6838950" y="2895600"/>
            <a:ext cx="4419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구간별 평균 — 가장 단순한 방법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876300" y="308610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막대는 1등과의 차이 · 가운데 숫자가 평균 오차 · 한 회씩 가려 맞혀 보는 방식으로 누적 40회 가운데 39회를 썼습니다(한 회차는 구간평균이 답을 못 내 빠집니다).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876300" y="321945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GP = 가우시안 프로세스 — 값 하나가 아니라 곡선 전체를 후보로 두고 실적에 가장 잘 맞는 곡선을 고릅니다. 뒤에 붙은 이름은 곡선이 얼마나 부드러운지를 정하는 설정입니다.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85800" y="3648075"/>
            <a:ext cx="10820400" cy="2447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85800" y="3524250"/>
            <a:ext cx="2324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19150" y="35814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1" name="Text 59"/>
          <p:cNvSpPr txBox="1"/>
          <p:nvPr/>
        </p:nvSpPr>
        <p:spPr>
          <a:xfrm>
            <a:off x="1009650" y="3581400"/>
            <a:ext cx="1885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출력곡선 비교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10020300" y="3714750"/>
            <a:ext cx="1371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로 그린 결과</a:t>
            </a:r>
            <a:endParaRPr lang="en-US" sz="825" dirty="0"/>
          </a:p>
        </p:txBody>
      </p:sp>
      <p:pic>
        <p:nvPicPr>
          <p:cNvPr id="63" name="Image 0" descr="/home/user/Narae-AI/docs/ppt/assets/tool_win_curve_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886200"/>
            <a:ext cx="6296025" cy="2209800"/>
          </a:xfrm>
          <a:prstGeom prst="rect">
            <a:avLst/>
          </a:prstGeom>
        </p:spPr>
      </p:pic>
      <p:sp>
        <p:nvSpPr>
          <p:cNvPr id="64" name="Shape 61"/>
          <p:cNvSpPr/>
          <p:nvPr/>
        </p:nvSpPr>
        <p:spPr>
          <a:xfrm>
            <a:off x="866775" y="3876675"/>
            <a:ext cx="6315075" cy="22288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7362825" y="3886200"/>
            <a:ext cx="38957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칸</a:t>
            </a:r>
            <a:endParaRPr lang="en-US" sz="863" dirty="0"/>
          </a:p>
        </p:txBody>
      </p:sp>
      <p:sp>
        <p:nvSpPr>
          <p:cNvPr id="66" name="Text 63"/>
          <p:cNvSpPr txBox="1"/>
          <p:nvPr/>
        </p:nvSpPr>
        <p:spPr>
          <a:xfrm>
            <a:off x="7362825" y="4057650"/>
            <a:ext cx="38957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이론값(점선)과 도구가 신고하는 값(빨간 선). 두 선이 벌어진 만큼이 그 온도에서 더하는 값입니다.</a:t>
            </a:r>
            <a:endParaRPr lang="en-US" sz="825" dirty="0"/>
          </a:p>
        </p:txBody>
      </p:sp>
      <p:sp>
        <p:nvSpPr>
          <p:cNvPr id="67" name="Text 64"/>
          <p:cNvSpPr txBox="1"/>
          <p:nvPr/>
        </p:nvSpPr>
        <p:spPr>
          <a:xfrm>
            <a:off x="7362825" y="4629150"/>
            <a:ext cx="38957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칸</a:t>
            </a:r>
            <a:endParaRPr lang="en-US" sz="863" dirty="0"/>
          </a:p>
        </p:txBody>
      </p:sp>
      <p:sp>
        <p:nvSpPr>
          <p:cNvPr id="68" name="Text 65"/>
          <p:cNvSpPr txBox="1"/>
          <p:nvPr/>
        </p:nvSpPr>
        <p:spPr>
          <a:xfrm>
            <a:off x="7362825" y="4800600"/>
            <a:ext cx="38957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더하는 값과 시험 실적 점. 연한 띠는 도구가 함께 내는 90% 범위입니다.</a:t>
            </a:r>
            <a:endParaRPr lang="en-US" sz="825" dirty="0"/>
          </a:p>
        </p:txBody>
      </p:sp>
      <p:sp>
        <p:nvSpPr>
          <p:cNvPr id="69" name="Text 66"/>
          <p:cNvSpPr txBox="1"/>
          <p:nvPr/>
        </p:nvSpPr>
        <p:spPr>
          <a:xfrm>
            <a:off x="7362825" y="5372100"/>
            <a:ext cx="3895725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점이 없는 온도</a:t>
            </a:r>
            <a:endParaRPr lang="en-US" sz="863" dirty="0"/>
          </a:p>
        </p:txBody>
      </p:sp>
      <p:sp>
        <p:nvSpPr>
          <p:cNvPr id="70" name="Text 67"/>
          <p:cNvSpPr txBox="1"/>
          <p:nvPr/>
        </p:nvSpPr>
        <p:spPr>
          <a:xfrm>
            <a:off x="7362825" y="5543550"/>
            <a:ext cx="3895725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곡선이 메웁니다. 다만 시험한 범위를 벗어나면 끝값을 그대로 씁니다.</a:t>
            </a:r>
            <a:endParaRPr lang="en-US" sz="825" dirty="0"/>
          </a:p>
        </p:txBody>
      </p:sp>
      <p:sp>
        <p:nvSpPr>
          <p:cNvPr id="71" name="Shape 6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74" name="Text 7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고른 것이 아니라 성적이 골랐습니다. 그 곡선이 신고 숫자를 만듭니다.</a:t>
            </a:r>
            <a:endParaRPr lang="en-US" sz="116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계속 확인하는 구조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끝나지 않습니다. 돌리고 · 대 보고 · 다시 채점하는 순서를 만들어 두었습니다.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 순서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639425" y="1790700"/>
            <a:ext cx="7524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2주에 한 번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10858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시험한다</a:t>
            </a:r>
            <a:endParaRPr lang="en-US" sz="1013" dirty="0"/>
          </a:p>
        </p:txBody>
      </p:sp>
      <p:sp>
        <p:nvSpPr>
          <p:cNvPr id="22" name="Text 20"/>
          <p:cNvSpPr txBox="1"/>
          <p:nvPr/>
        </p:nvSpPr>
        <p:spPr>
          <a:xfrm>
            <a:off x="10858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테스트를 합니다.</a:t>
            </a:r>
            <a:endParaRPr lang="en-US" sz="825" dirty="0"/>
          </a:p>
        </p:txBody>
      </p:sp>
      <p:sp>
        <p:nvSpPr>
          <p:cNvPr id="23" name="Text 21"/>
          <p:cNvSpPr txBox="1"/>
          <p:nvPr/>
        </p:nvSpPr>
        <p:spPr>
          <a:xfrm>
            <a:off x="27813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9908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날짜·시각을 넣는다</a:t>
            </a:r>
            <a:endParaRPr lang="en-US" sz="1013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도구가 받아옵니다.</a:t>
            </a:r>
            <a:endParaRPr lang="en-US" sz="825" dirty="0"/>
          </a:p>
        </p:txBody>
      </p:sp>
      <p:sp>
        <p:nvSpPr>
          <p:cNvPr id="27" name="Text 25"/>
          <p:cNvSpPr txBox="1"/>
          <p:nvPr/>
        </p:nvSpPr>
        <p:spPr>
          <a:xfrm>
            <a:off x="48958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1054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29" name="Text 27"/>
          <p:cNvSpPr txBox="1"/>
          <p:nvPr/>
        </p:nvSpPr>
        <p:spPr>
          <a:xfrm>
            <a:off x="53149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차이가 쌓인다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53149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− 계산 = 점 하나가 늘어납니다.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70104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2199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74295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곡선을 다시 그린다</a:t>
            </a:r>
            <a:endParaRPr lang="en-US" sz="1013" dirty="0"/>
          </a:p>
        </p:txBody>
      </p:sp>
      <p:sp>
        <p:nvSpPr>
          <p:cNvPr id="34" name="Text 32"/>
          <p:cNvSpPr txBox="1"/>
          <p:nvPr/>
        </p:nvSpPr>
        <p:spPr>
          <a:xfrm>
            <a:off x="74295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점 전부로 곡선을 다시 그립니다.</a:t>
            </a:r>
            <a:endParaRPr lang="en-US" sz="825" dirty="0"/>
          </a:p>
        </p:txBody>
      </p:sp>
      <p:sp>
        <p:nvSpPr>
          <p:cNvPr id="35" name="Text 33"/>
          <p:cNvSpPr txBox="1"/>
          <p:nvPr/>
        </p:nvSpPr>
        <p:spPr>
          <a:xfrm>
            <a:off x="91249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3345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95440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신고에 쓴다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95440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61개 표를 새로 만듭니다.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876300" y="255270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76300" y="26289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운전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1809750" y="2628900"/>
            <a:ext cx="9448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2026-04-15 ~ 2026-08-26 에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9회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평균 어긋난 폭은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1.23 MW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치우침은 −0.04 MW 로 한쪽으로 쏠리지 않았습니다.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685800" y="3057525"/>
            <a:ext cx="10820400" cy="303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33700"/>
            <a:ext cx="2305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908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90850"/>
            <a:ext cx="1866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실적이 늘면 다시 채점한다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10048875" y="3124200"/>
            <a:ext cx="13430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모델 선정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95650"/>
            <a:ext cx="10382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다시 채점하나 — 시험이 40회뿐입니다. 표본이 적으면 한 번 고른 곡선을 계속 믿을 수 없고, 실적이 늘면 성적이 바뀔 수 있습니다.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876300" y="3486150"/>
            <a:ext cx="10382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채점하나 — 한 회를 가리고 나머지로 그 회를 맞혀 보는 채점을 후보 7가지에 모두 다시 돌려 성적을 새로 매깁니다. 앞서는 모델이 바뀌면 그때 바꿉니다.</a:t>
            </a:r>
            <a:endParaRPr lang="en-US" sz="938" dirty="0"/>
          </a:p>
        </p:txBody>
      </p:sp>
      <p:pic>
        <p:nvPicPr>
          <p:cNvPr id="49" name="Image 0" descr="/home/user/Narae-AI/docs/ppt/assets/tool_win_sel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733800"/>
            <a:ext cx="7924800" cy="2305050"/>
          </a:xfrm>
          <a:prstGeom prst="rect">
            <a:avLst/>
          </a:prstGeom>
        </p:spPr>
      </p:pic>
      <p:sp>
        <p:nvSpPr>
          <p:cNvPr id="50" name="Shape 47"/>
          <p:cNvSpPr/>
          <p:nvPr/>
        </p:nvSpPr>
        <p:spPr>
          <a:xfrm>
            <a:off x="866775" y="3724275"/>
            <a:ext cx="7943850" cy="23241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010650" y="37719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25" dirty="0"/>
          </a:p>
        </p:txBody>
      </p:sp>
      <p:sp>
        <p:nvSpPr>
          <p:cNvPr id="52" name="Text 49"/>
          <p:cNvSpPr txBox="1"/>
          <p:nvPr/>
        </p:nvSpPr>
        <p:spPr>
          <a:xfrm>
            <a:off x="9010650" y="39243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성적이 가장 좋은 모델에 도구가 표시합니다.</a:t>
            </a:r>
            <a:endParaRPr lang="en-US" sz="788" dirty="0"/>
          </a:p>
        </p:txBody>
      </p:sp>
      <p:sp>
        <p:nvSpPr>
          <p:cNvPr id="53" name="Text 50"/>
          <p:cNvSpPr txBox="1"/>
          <p:nvPr/>
        </p:nvSpPr>
        <p:spPr>
          <a:xfrm>
            <a:off x="9010650" y="45339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열</a:t>
            </a:r>
            <a:endParaRPr lang="en-US" sz="825" dirty="0"/>
          </a:p>
        </p:txBody>
      </p:sp>
      <p:sp>
        <p:nvSpPr>
          <p:cNvPr id="54" name="Text 51"/>
          <p:cNvSpPr txBox="1"/>
          <p:nvPr/>
        </p:nvSpPr>
        <p:spPr>
          <a:xfrm>
            <a:off x="9010650" y="46863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MAE · RMSE · R² · 편차 · 과대 신고 건수를 한자리에서 봅니다.</a:t>
            </a:r>
            <a:endParaRPr lang="en-US" sz="788" dirty="0"/>
          </a:p>
        </p:txBody>
      </p:sp>
      <p:sp>
        <p:nvSpPr>
          <p:cNvPr id="55" name="Text 52"/>
          <p:cNvSpPr txBox="1"/>
          <p:nvPr/>
        </p:nvSpPr>
        <p:spPr>
          <a:xfrm>
            <a:off x="9010650" y="5295900"/>
            <a:ext cx="22479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</a:t>
            </a:r>
            <a:endParaRPr lang="en-US" sz="825" dirty="0"/>
          </a:p>
        </p:txBody>
      </p:sp>
      <p:sp>
        <p:nvSpPr>
          <p:cNvPr id="56" name="Text 53"/>
          <p:cNvSpPr txBox="1"/>
          <p:nvPr/>
        </p:nvSpPr>
        <p:spPr>
          <a:xfrm>
            <a:off x="9010650" y="5448300"/>
            <a:ext cx="22479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가 앞섭니다. 이 표가 다음 회차에 다시 계산됩니다.</a:t>
            </a:r>
            <a:endParaRPr lang="en-US" sz="788" dirty="0"/>
          </a:p>
        </p:txBody>
      </p:sp>
      <p:sp>
        <p:nvSpPr>
          <p:cNvPr id="57" name="Shape 5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0" name="Text 5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달을 나란히 돌려 확인했고, 실적이 늘 때마다 도구가 스스로 다시 채점합니다.</a:t>
            </a:r>
            <a:endParaRPr lang="en-US" sz="116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정량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시험 39회에 예전 방법과 새 방법을 각각 써서 채점했습니다.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 시간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181600" y="1847850"/>
            <a:ext cx="6858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 기준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95500"/>
            <a:ext cx="125730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2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1시간</a:t>
            </a:r>
            <a:endParaRPr lang="en-US" sz="2250" dirty="0"/>
          </a:p>
        </p:txBody>
      </p:sp>
      <p:sp>
        <p:nvSpPr>
          <p:cNvPr id="21" name="Text 19"/>
          <p:cNvSpPr txBox="1"/>
          <p:nvPr/>
        </p:nvSpPr>
        <p:spPr>
          <a:xfrm>
            <a:off x="2228850" y="21907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2628900" y="2019300"/>
            <a:ext cx="9906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5분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2286000"/>
            <a:ext cx="571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안팎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91050" y="20383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2076450"/>
            <a:ext cx="85725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92%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343150"/>
            <a:ext cx="952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줄었습니다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876300" y="2895600"/>
            <a:ext cx="49149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오가던 일이 날짜·시각 입력으로 바뀌었습니다.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6134100" y="1781175"/>
            <a:ext cx="53721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341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64579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정확도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163050" y="1847850"/>
            <a:ext cx="2228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39회 · 왼쪽 종전 → 오른쪽 도구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20478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2038350"/>
            <a:ext cx="304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8629650" y="20574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858250" y="2019300"/>
            <a:ext cx="40957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9305925" y="20764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38" name="Text 36"/>
          <p:cNvSpPr txBox="1"/>
          <p:nvPr/>
        </p:nvSpPr>
        <p:spPr>
          <a:xfrm>
            <a:off x="10668000" y="20478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938" dirty="0"/>
          </a:p>
        </p:txBody>
      </p:sp>
      <p:sp>
        <p:nvSpPr>
          <p:cNvPr id="39" name="Shape 37"/>
          <p:cNvSpPr/>
          <p:nvPr/>
        </p:nvSpPr>
        <p:spPr>
          <a:xfrm>
            <a:off x="6324600" y="23050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24600" y="23907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만큼 못 낸 횟수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8267700" y="23812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8543925" y="24003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8772525" y="23622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8972550" y="24193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10668000" y="23907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6324600" y="26479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24600" y="27336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신고한 양 합계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8267700" y="27241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125" dirty="0"/>
          </a:p>
        </p:txBody>
      </p:sp>
      <p:sp>
        <p:nvSpPr>
          <p:cNvPr id="49" name="Text 47"/>
          <p:cNvSpPr txBox="1"/>
          <p:nvPr/>
        </p:nvSpPr>
        <p:spPr>
          <a:xfrm>
            <a:off x="8543925" y="2743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8772525" y="27051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8972550" y="27622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10668000" y="27336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685800" y="3267075"/>
            <a:ext cx="10820400" cy="10572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" y="3143250"/>
            <a:ext cx="1943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19150" y="32004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009650" y="3200400"/>
            <a:ext cx="1504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정확도를 어떻게 쟀나</a:t>
            </a:r>
            <a:endParaRPr lang="en-US" sz="1013" dirty="0"/>
          </a:p>
        </p:txBody>
      </p:sp>
      <p:sp>
        <p:nvSpPr>
          <p:cNvPr id="57" name="Text 55"/>
          <p:cNvSpPr txBox="1"/>
          <p:nvPr/>
        </p:nvSpPr>
        <p:spPr>
          <a:xfrm>
            <a:off x="8486775" y="3333750"/>
            <a:ext cx="2905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신고한 기록이 아니라 되돌려 본 채점입니다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8763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0668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가린다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10668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한 회를 빼 둡니다.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32956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35052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36957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나머지로 맞혀 본다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36957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가린 회차의 온도만 주고 보정값을 예측하게 합니다.</a:t>
            </a:r>
            <a:endParaRPr lang="en-US" sz="788" dirty="0"/>
          </a:p>
        </p:txBody>
      </p:sp>
      <p:sp>
        <p:nvSpPr>
          <p:cNvPr id="65" name="Text 63"/>
          <p:cNvSpPr txBox="1"/>
          <p:nvPr/>
        </p:nvSpPr>
        <p:spPr>
          <a:xfrm>
            <a:off x="59245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61341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63246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실제와 견준다</a:t>
            </a:r>
            <a:endParaRPr lang="en-US" sz="975" dirty="0"/>
          </a:p>
        </p:txBody>
      </p:sp>
      <p:sp>
        <p:nvSpPr>
          <p:cNvPr id="68" name="Text 66"/>
          <p:cNvSpPr txBox="1"/>
          <p:nvPr/>
        </p:nvSpPr>
        <p:spPr>
          <a:xfrm>
            <a:off x="63246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예측한 값과 그날 실제 값의 차이를 적습니다.</a:t>
            </a:r>
            <a:endParaRPr lang="en-US" sz="788" dirty="0"/>
          </a:p>
        </p:txBody>
      </p:sp>
      <p:sp>
        <p:nvSpPr>
          <p:cNvPr id="69" name="Text 67"/>
          <p:cNvSpPr txBox="1"/>
          <p:nvPr/>
        </p:nvSpPr>
        <p:spPr>
          <a:xfrm>
            <a:off x="8553450" y="35052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8763000" y="350520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953500" y="348615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돌아가며 반복</a:t>
            </a:r>
            <a:endParaRPr lang="en-US" sz="975" dirty="0"/>
          </a:p>
        </p:txBody>
      </p:sp>
      <p:sp>
        <p:nvSpPr>
          <p:cNvPr id="72" name="Text 70"/>
          <p:cNvSpPr txBox="1"/>
          <p:nvPr/>
        </p:nvSpPr>
        <p:spPr>
          <a:xfrm>
            <a:off x="8953500" y="367665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번씩 다 가려 보고 평균을 냅니다.</a:t>
            </a:r>
            <a:endParaRPr lang="en-US" sz="788" dirty="0"/>
          </a:p>
        </p:txBody>
      </p:sp>
      <p:sp>
        <p:nvSpPr>
          <p:cNvPr id="73" name="Text 71"/>
          <p:cNvSpPr txBox="1"/>
          <p:nvPr/>
        </p:nvSpPr>
        <p:spPr>
          <a:xfrm>
            <a:off x="876300" y="4057650"/>
            <a:ext cx="10382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방식도 같은 회차에 「늘 같은 값 하나」를 더해 똑같이 채점했습니다. 그래서 두 값을 나란히 견줄 수 있습니다. 40회 가운데 39회를 썼습니다 — 한 회차는 그 온도 구간에 시험이 그것뿐이어서 가리면 비교 대상 방식 하나가 답을 못 냅니다.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685800" y="4562475"/>
            <a:ext cx="10820400" cy="1533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5800" y="44386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19150" y="4495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1009650" y="44958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돈으로 보면</a:t>
            </a:r>
            <a:endParaRPr lang="en-US" sz="1013" dirty="0"/>
          </a:p>
        </p:txBody>
      </p:sp>
      <p:sp>
        <p:nvSpPr>
          <p:cNvPr id="78" name="Text 76"/>
          <p:cNvSpPr txBox="1"/>
          <p:nvPr/>
        </p:nvSpPr>
        <p:spPr>
          <a:xfrm>
            <a:off x="10534650" y="462915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기준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876300" y="4800600"/>
            <a:ext cx="400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신고해서 못 받던 용량요금 (한 해)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876300" y="4991100"/>
            <a:ext cx="171450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9,702만원</a:t>
            </a:r>
            <a:endParaRPr lang="en-US" sz="1650" dirty="0"/>
          </a:p>
        </p:txBody>
      </p:sp>
      <p:sp>
        <p:nvSpPr>
          <p:cNvPr id="81" name="Text 79"/>
          <p:cNvSpPr txBox="1"/>
          <p:nvPr/>
        </p:nvSpPr>
        <p:spPr>
          <a:xfrm>
            <a:off x="2647950" y="5067300"/>
            <a:ext cx="2667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82" name="Text 80"/>
          <p:cNvSpPr txBox="1"/>
          <p:nvPr/>
        </p:nvSpPr>
        <p:spPr>
          <a:xfrm>
            <a:off x="2990850" y="4953000"/>
            <a:ext cx="209550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3,943만원</a:t>
            </a:r>
            <a:endParaRPr lang="en-US" sz="2100" dirty="0"/>
          </a:p>
        </p:txBody>
      </p:sp>
      <p:sp>
        <p:nvSpPr>
          <p:cNvPr id="83" name="Shape 81"/>
          <p:cNvSpPr/>
          <p:nvPr/>
        </p:nvSpPr>
        <p:spPr>
          <a:xfrm>
            <a:off x="876300" y="53911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47750" y="5372100"/>
            <a:ext cx="41910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 5,759만원을 되찾습니다</a:t>
            </a:r>
            <a:endParaRPr lang="en-US" sz="1425" dirty="0"/>
          </a:p>
        </p:txBody>
      </p:sp>
      <p:sp>
        <p:nvSpPr>
          <p:cNvPr id="85" name="Text 83"/>
          <p:cNvSpPr txBox="1"/>
          <p:nvPr/>
        </p:nvSpPr>
        <p:spPr>
          <a:xfrm>
            <a:off x="1047750" y="5638800"/>
            <a:ext cx="4191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신고한 양이 줄어든 만큼입니다.</a:t>
            </a:r>
            <a:endParaRPr lang="en-US" sz="863" dirty="0"/>
          </a:p>
        </p:txBody>
      </p:sp>
      <p:sp>
        <p:nvSpPr>
          <p:cNvPr id="86" name="Shape 84"/>
          <p:cNvSpPr/>
          <p:nvPr/>
        </p:nvSpPr>
        <p:spPr>
          <a:xfrm>
            <a:off x="5772150" y="4781550"/>
            <a:ext cx="0" cy="11430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6096000" y="48006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단가</a:t>
            </a:r>
            <a:endParaRPr lang="en-US" sz="863" dirty="0"/>
          </a:p>
        </p:txBody>
      </p:sp>
      <p:sp>
        <p:nvSpPr>
          <p:cNvPr id="88" name="Text 86"/>
          <p:cNvSpPr txBox="1"/>
          <p:nvPr/>
        </p:nvSpPr>
        <p:spPr>
          <a:xfrm>
            <a:off x="7905750" y="48006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 원/kW·일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6096000" y="50482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날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7905750" y="50482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335 일 (정비 30일 제외)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6096000" y="52959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</a:t>
            </a:r>
            <a:endParaRPr lang="en-US" sz="863" dirty="0"/>
          </a:p>
        </p:txBody>
      </p:sp>
      <p:sp>
        <p:nvSpPr>
          <p:cNvPr id="92" name="Text 90"/>
          <p:cNvSpPr txBox="1"/>
          <p:nvPr/>
        </p:nvSpPr>
        <p:spPr>
          <a:xfrm>
            <a:off x="7905750" y="52959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회</a:t>
            </a:r>
            <a:endParaRPr lang="en-US" sz="900" dirty="0"/>
          </a:p>
        </p:txBody>
      </p:sp>
      <p:sp>
        <p:nvSpPr>
          <p:cNvPr id="93" name="Text 91"/>
          <p:cNvSpPr txBox="1"/>
          <p:nvPr/>
        </p:nvSpPr>
        <p:spPr>
          <a:xfrm>
            <a:off x="6096000" y="55435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넣지 않은 것</a:t>
            </a:r>
            <a:endParaRPr lang="en-US" sz="863" dirty="0"/>
          </a:p>
        </p:txBody>
      </p:sp>
      <p:sp>
        <p:nvSpPr>
          <p:cNvPr id="94" name="Text 92"/>
          <p:cNvSpPr txBox="1"/>
          <p:nvPr/>
        </p:nvSpPr>
        <p:spPr>
          <a:xfrm>
            <a:off x="7905750" y="55435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판매 수익 · 벌칙금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6096000" y="5848350"/>
            <a:ext cx="52197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단가는 담당자에게 확인 중인 계획값입니다. 확정되면 다시 계산합니다.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99" name="Text 9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줄고 숫자는 정확해졌습니다. 처음에 세운 목표 두 가지입니다.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정성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적기 어렵지만 일하는 방식에서 달라진 것들입니다.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3495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1717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7335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가늠한다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705975" y="1790700"/>
            <a:ext cx="1685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 시뮬레이션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43100"/>
            <a:ext cx="89535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대기압을 넣으면 그 조건의 이론값 · 더하는 값 · 신고값이 한 번에 나옵니다.</a:t>
            </a:r>
            <a:endParaRPr lang="en-US" sz="900" dirty="0"/>
          </a:p>
        </p:txBody>
      </p:sp>
      <p:pic>
        <p:nvPicPr>
          <p:cNvPr id="21" name="Image 0" descr="/home/user/Narae-AI/docs/ppt/assets/tool_win_s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171700"/>
            <a:ext cx="8953500" cy="2962275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66775" y="2162175"/>
            <a:ext cx="8972550" cy="2981325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3150" y="19621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전에는</a:t>
            </a:r>
            <a:endParaRPr lang="en-US" sz="863" dirty="0"/>
          </a:p>
        </p:txBody>
      </p:sp>
      <p:sp>
        <p:nvSpPr>
          <p:cNvPr id="24" name="Text 21"/>
          <p:cNvSpPr txBox="1"/>
          <p:nvPr/>
        </p:nvSpPr>
        <p:spPr>
          <a:xfrm>
            <a:off x="9963150" y="21336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끝나야 그날 숫자를 알았습니다.</a:t>
            </a:r>
            <a:endParaRPr lang="en-US" sz="825" dirty="0"/>
          </a:p>
        </p:txBody>
      </p:sp>
      <p:sp>
        <p:nvSpPr>
          <p:cNvPr id="25" name="Text 22"/>
          <p:cNvSpPr txBox="1"/>
          <p:nvPr/>
        </p:nvSpPr>
        <p:spPr>
          <a:xfrm>
            <a:off x="9963150" y="29527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</a:t>
            </a:r>
            <a:endParaRPr lang="en-US" sz="863" dirty="0"/>
          </a:p>
        </p:txBody>
      </p:sp>
      <p:sp>
        <p:nvSpPr>
          <p:cNvPr id="26" name="Text 23"/>
          <p:cNvSpPr txBox="1"/>
          <p:nvPr/>
        </p:nvSpPr>
        <p:spPr>
          <a:xfrm>
            <a:off x="9963150" y="31242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계산해 봅니다.</a:t>
            </a:r>
            <a:endParaRPr lang="en-US" sz="825" dirty="0"/>
          </a:p>
        </p:txBody>
      </p:sp>
      <p:sp>
        <p:nvSpPr>
          <p:cNvPr id="27" name="Text 24"/>
          <p:cNvSpPr txBox="1"/>
          <p:nvPr/>
        </p:nvSpPr>
        <p:spPr>
          <a:xfrm>
            <a:off x="9963150" y="39433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때</a:t>
            </a:r>
            <a:endParaRPr lang="en-US" sz="863" dirty="0"/>
          </a:p>
        </p:txBody>
      </p:sp>
      <p:sp>
        <p:nvSpPr>
          <p:cNvPr id="28" name="Text 25"/>
          <p:cNvSpPr txBox="1"/>
          <p:nvPr/>
        </p:nvSpPr>
        <p:spPr>
          <a:xfrm>
            <a:off x="9963150" y="41148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계획을 세울 때, 그리고 결과가 이상할 때.</a:t>
            </a:r>
            <a:endParaRPr lang="en-US" sz="825" dirty="0"/>
          </a:p>
        </p:txBody>
      </p:sp>
      <p:sp>
        <p:nvSpPr>
          <p:cNvPr id="29" name="Shape 26"/>
          <p:cNvSpPr/>
          <p:nvPr/>
        </p:nvSpPr>
        <p:spPr>
          <a:xfrm>
            <a:off x="685800" y="5457825"/>
            <a:ext cx="10820400" cy="638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5800" y="5334000"/>
            <a:ext cx="17430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19150" y="53911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2" name="Text 29"/>
          <p:cNvSpPr txBox="1"/>
          <p:nvPr/>
        </p:nvSpPr>
        <p:spPr>
          <a:xfrm>
            <a:off x="1009650" y="5391150"/>
            <a:ext cx="1304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밖에 달라진 것</a:t>
            </a:r>
            <a:endParaRPr lang="en-US" sz="1013" dirty="0"/>
          </a:p>
        </p:txBody>
      </p:sp>
      <p:sp>
        <p:nvSpPr>
          <p:cNvPr id="33" name="Shape 30"/>
          <p:cNvSpPr/>
          <p:nvPr/>
        </p:nvSpPr>
        <p:spPr>
          <a:xfrm>
            <a:off x="8763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0287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놓치던 것을 도구가 본다</a:t>
            </a:r>
            <a:endParaRPr lang="en-US" sz="1013" dirty="0"/>
          </a:p>
        </p:txBody>
      </p:sp>
      <p:sp>
        <p:nvSpPr>
          <p:cNvPr id="35" name="Text 32"/>
          <p:cNvSpPr txBox="1"/>
          <p:nvPr/>
        </p:nvSpPr>
        <p:spPr>
          <a:xfrm>
            <a:off x="10287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시험 세 가지를 도구가 걸러냅니다.</a:t>
            </a:r>
            <a:endParaRPr lang="en-US" sz="825" dirty="0"/>
          </a:p>
        </p:txBody>
      </p:sp>
      <p:sp>
        <p:nvSpPr>
          <p:cNvPr id="36" name="Shape 33"/>
          <p:cNvSpPr/>
          <p:nvPr/>
        </p:nvSpPr>
        <p:spPr>
          <a:xfrm>
            <a:off x="42291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3815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339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근거가 남는다</a:t>
            </a:r>
            <a:endParaRPr lang="en-US" sz="1013" dirty="0"/>
          </a:p>
        </p:txBody>
      </p:sp>
      <p:sp>
        <p:nvSpPr>
          <p:cNvPr id="39" name="Text 36"/>
          <p:cNvSpPr txBox="1"/>
          <p:nvPr/>
        </p:nvSpPr>
        <p:spPr>
          <a:xfrm>
            <a:off x="45339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회차가 어떻게 쓰였는지 화면에 남습니다.</a:t>
            </a:r>
            <a:endParaRPr lang="en-US" sz="825" dirty="0"/>
          </a:p>
        </p:txBody>
      </p:sp>
      <p:sp>
        <p:nvSpPr>
          <p:cNvPr id="40" name="Shape 37"/>
          <p:cNvSpPr/>
          <p:nvPr/>
        </p:nvSpPr>
        <p:spPr>
          <a:xfrm>
            <a:off x="77343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8867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0391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같다</a:t>
            </a:r>
            <a:endParaRPr lang="en-US" sz="1013" dirty="0"/>
          </a:p>
        </p:txBody>
      </p:sp>
      <p:sp>
        <p:nvSpPr>
          <p:cNvPr id="43" name="Text 40"/>
          <p:cNvSpPr txBox="1"/>
          <p:nvPr/>
        </p:nvSpPr>
        <p:spPr>
          <a:xfrm>
            <a:off x="80391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도구 안에 들어 있습니다.</a:t>
            </a:r>
            <a:endParaRPr lang="en-US" sz="825" dirty="0"/>
          </a:p>
        </p:txBody>
      </p:sp>
      <p:sp>
        <p:nvSpPr>
          <p:cNvPr id="44" name="Shape 41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47" name="Text 44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말고도, 일하는 방식이 사람 손에서 도구 쪽으로 옮겨 왔습니다.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실적을 쌓아 더 정확하게 만들고, 입찰을 하는 다른 사업소로 넓힙니다.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362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어디가 비어 있나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515475" y="1790700"/>
            <a:ext cx="18764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 · 온도대별 시험 횟수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7051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76350" y="2638425"/>
            <a:ext cx="419100" cy="66675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76300" y="2457450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2회</a:t>
            </a:r>
            <a:endParaRPr lang="en-US" sz="1088" dirty="0"/>
          </a:p>
        </p:txBody>
      </p:sp>
      <p:sp>
        <p:nvSpPr>
          <p:cNvPr id="23" name="Text 21"/>
          <p:cNvSpPr txBox="1"/>
          <p:nvPr/>
        </p:nvSpPr>
        <p:spPr>
          <a:xfrm>
            <a:off x="8763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이하</a:t>
            </a:r>
            <a:endParaRPr lang="en-US" sz="788" dirty="0"/>
          </a:p>
        </p:txBody>
      </p:sp>
      <p:sp>
        <p:nvSpPr>
          <p:cNvPr id="24" name="Shape 22"/>
          <p:cNvSpPr/>
          <p:nvPr/>
        </p:nvSpPr>
        <p:spPr>
          <a:xfrm>
            <a:off x="20955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62250" y="2457450"/>
            <a:ext cx="419100" cy="2476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362200" y="22764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7회</a:t>
            </a:r>
            <a:endParaRPr lang="en-US" sz="1088" dirty="0"/>
          </a:p>
        </p:txBody>
      </p:sp>
      <p:sp>
        <p:nvSpPr>
          <p:cNvPr id="27" name="Text 25"/>
          <p:cNvSpPr txBox="1"/>
          <p:nvPr/>
        </p:nvSpPr>
        <p:spPr>
          <a:xfrm>
            <a:off x="23622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~ 10℃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35814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48150" y="2495550"/>
            <a:ext cx="419100" cy="209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848100" y="23145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6회</a:t>
            </a:r>
            <a:endParaRPr lang="en-US" sz="1088" dirty="0"/>
          </a:p>
        </p:txBody>
      </p:sp>
      <p:sp>
        <p:nvSpPr>
          <p:cNvPr id="31" name="Text 29"/>
          <p:cNvSpPr txBox="1"/>
          <p:nvPr/>
        </p:nvSpPr>
        <p:spPr>
          <a:xfrm>
            <a:off x="38481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~ 15℃</a:t>
            </a:r>
            <a:endParaRPr lang="en-US" sz="788" dirty="0"/>
          </a:p>
        </p:txBody>
      </p:sp>
      <p:sp>
        <p:nvSpPr>
          <p:cNvPr id="32" name="Shape 30"/>
          <p:cNvSpPr/>
          <p:nvPr/>
        </p:nvSpPr>
        <p:spPr>
          <a:xfrm>
            <a:off x="50673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34050" y="2600325"/>
            <a:ext cx="419100" cy="104775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334000" y="2419350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3회</a:t>
            </a:r>
            <a:endParaRPr lang="en-US" sz="1088" dirty="0"/>
          </a:p>
        </p:txBody>
      </p:sp>
      <p:sp>
        <p:nvSpPr>
          <p:cNvPr id="35" name="Text 33"/>
          <p:cNvSpPr txBox="1"/>
          <p:nvPr/>
        </p:nvSpPr>
        <p:spPr>
          <a:xfrm>
            <a:off x="53340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~ 20℃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65532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19950" y="2667000"/>
            <a:ext cx="419100" cy="381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819900" y="248602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1회</a:t>
            </a:r>
            <a:endParaRPr lang="en-US" sz="1088" dirty="0"/>
          </a:p>
        </p:txBody>
      </p:sp>
      <p:sp>
        <p:nvSpPr>
          <p:cNvPr id="39" name="Text 37"/>
          <p:cNvSpPr txBox="1"/>
          <p:nvPr/>
        </p:nvSpPr>
        <p:spPr>
          <a:xfrm>
            <a:off x="68199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25℃</a:t>
            </a:r>
            <a:endParaRPr lang="en-US" sz="788" dirty="0"/>
          </a:p>
        </p:txBody>
      </p:sp>
      <p:sp>
        <p:nvSpPr>
          <p:cNvPr id="40" name="Shape 38"/>
          <p:cNvSpPr/>
          <p:nvPr/>
        </p:nvSpPr>
        <p:spPr>
          <a:xfrm>
            <a:off x="80391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705850" y="2495550"/>
            <a:ext cx="419100" cy="2095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305800" y="231457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6회</a:t>
            </a:r>
            <a:endParaRPr lang="en-US" sz="1088" dirty="0"/>
          </a:p>
        </p:txBody>
      </p:sp>
      <p:sp>
        <p:nvSpPr>
          <p:cNvPr id="43" name="Text 41"/>
          <p:cNvSpPr txBox="1"/>
          <p:nvPr/>
        </p:nvSpPr>
        <p:spPr>
          <a:xfrm>
            <a:off x="83058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~ 30℃</a:t>
            </a:r>
            <a:endParaRPr lang="en-US" sz="788" dirty="0"/>
          </a:p>
        </p:txBody>
      </p:sp>
      <p:sp>
        <p:nvSpPr>
          <p:cNvPr id="44" name="Shape 42"/>
          <p:cNvSpPr/>
          <p:nvPr/>
        </p:nvSpPr>
        <p:spPr>
          <a:xfrm>
            <a:off x="9525000" y="2114550"/>
            <a:ext cx="0" cy="571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191750" y="2171700"/>
            <a:ext cx="419100" cy="5334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791700" y="1990725"/>
            <a:ext cx="1219200" cy="165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5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15회</a:t>
            </a:r>
            <a:endParaRPr lang="en-US" sz="1088" dirty="0"/>
          </a:p>
        </p:txBody>
      </p:sp>
      <p:sp>
        <p:nvSpPr>
          <p:cNvPr id="47" name="Text 45"/>
          <p:cNvSpPr txBox="1"/>
          <p:nvPr/>
        </p:nvSpPr>
        <p:spPr>
          <a:xfrm>
            <a:off x="9791700" y="2781300"/>
            <a:ext cx="1219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~ 41℃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876300" y="295275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주황은 3회 이하 — 더 쌓아야 하는 온도대입니다. 신고는 −20 ~ 40℃ 전부인데 실적은 −1.9 ~ 37.9℃ 뿐이라, 그 밖은 끝값을 그대로 씁니다.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85800" y="3324225"/>
            <a:ext cx="10820400" cy="27717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85800" y="320040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19150" y="3257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1009650" y="325755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계획</a:t>
            </a:r>
            <a:endParaRPr lang="en-US" sz="1013" dirty="0"/>
          </a:p>
        </p:txBody>
      </p:sp>
      <p:sp>
        <p:nvSpPr>
          <p:cNvPr id="53" name="Text 51"/>
          <p:cNvSpPr txBox="1"/>
          <p:nvPr/>
        </p:nvSpPr>
        <p:spPr>
          <a:xfrm>
            <a:off x="10134600" y="3390900"/>
            <a:ext cx="1257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하반기 → 2028</a:t>
            </a:r>
            <a:endParaRPr lang="en-US" sz="825" dirty="0"/>
          </a:p>
        </p:txBody>
      </p:sp>
      <p:sp>
        <p:nvSpPr>
          <p:cNvPr id="54" name="Shape 52"/>
          <p:cNvSpPr/>
          <p:nvPr/>
        </p:nvSpPr>
        <p:spPr>
          <a:xfrm>
            <a:off x="2076450" y="3600450"/>
            <a:ext cx="0" cy="24384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76300" y="35814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 하반기</a:t>
            </a:r>
            <a:endParaRPr lang="en-US" sz="863" dirty="0"/>
          </a:p>
        </p:txBody>
      </p:sp>
      <p:sp>
        <p:nvSpPr>
          <p:cNvPr id="56" name="Shape 54"/>
          <p:cNvSpPr/>
          <p:nvPr/>
        </p:nvSpPr>
        <p:spPr>
          <a:xfrm>
            <a:off x="2033588" y="36052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2286000" y="35623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 정착 · 빈 온도대 채우기</a:t>
            </a:r>
            <a:endParaRPr lang="en-US" sz="1088" dirty="0"/>
          </a:p>
        </p:txBody>
      </p:sp>
      <p:sp>
        <p:nvSpPr>
          <p:cNvPr id="58" name="Text 56"/>
          <p:cNvSpPr txBox="1"/>
          <p:nvPr/>
        </p:nvSpPr>
        <p:spPr>
          <a:xfrm>
            <a:off x="2286000" y="375285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시험하고 결과를 도구에 넣습니다. 20~25℃ 1회, 15~20℃ 3회처럼 얇은 온도대부터 채웁니다.</a:t>
            </a:r>
            <a:endParaRPr lang="en-US" sz="825" dirty="0"/>
          </a:p>
        </p:txBody>
      </p:sp>
      <p:sp>
        <p:nvSpPr>
          <p:cNvPr id="59" name="Shape 57"/>
          <p:cNvSpPr/>
          <p:nvPr/>
        </p:nvSpPr>
        <p:spPr>
          <a:xfrm>
            <a:off x="2047875" y="3981450"/>
            <a:ext cx="57150" cy="57150"/>
          </a:xfrm>
          <a:prstGeom prst="ellipse">
            <a:avLst/>
          </a:prstGeom>
          <a:solidFill>
            <a:srgbClr val="C4CAD1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286000" y="39243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예보 자동 취득</a:t>
            </a:r>
            <a:endParaRPr lang="en-US" sz="1088" dirty="0"/>
          </a:p>
        </p:txBody>
      </p:sp>
      <p:sp>
        <p:nvSpPr>
          <p:cNvPr id="61" name="Text 59"/>
          <p:cNvSpPr txBox="1"/>
          <p:nvPr/>
        </p:nvSpPr>
        <p:spPr>
          <a:xfrm>
            <a:off x="2286000" y="411480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예보 파일을 손으로 올립니다. 이 한 단계를 자동화하면 날짜만 넣으면 끝입니다.</a:t>
            </a:r>
            <a:endParaRPr lang="en-US" sz="825" dirty="0"/>
          </a:p>
        </p:txBody>
      </p:sp>
      <p:sp>
        <p:nvSpPr>
          <p:cNvPr id="62" name="Shape 60"/>
          <p:cNvSpPr/>
          <p:nvPr/>
        </p:nvSpPr>
        <p:spPr>
          <a:xfrm>
            <a:off x="2286000" y="421005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76300" y="43053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상반기</a:t>
            </a:r>
            <a:endParaRPr lang="en-US" sz="863" dirty="0"/>
          </a:p>
        </p:txBody>
      </p:sp>
      <p:sp>
        <p:nvSpPr>
          <p:cNvPr id="64" name="Shape 62"/>
          <p:cNvSpPr/>
          <p:nvPr/>
        </p:nvSpPr>
        <p:spPr>
          <a:xfrm>
            <a:off x="2033588" y="43291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2286000" y="42862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구간 전체 실적 확보 · 회귀 모델 재선정</a:t>
            </a:r>
            <a:endParaRPr lang="en-US" sz="1088" dirty="0"/>
          </a:p>
        </p:txBody>
      </p:sp>
      <p:sp>
        <p:nvSpPr>
          <p:cNvPr id="66" name="Text 64"/>
          <p:cNvSpPr txBox="1"/>
          <p:nvPr/>
        </p:nvSpPr>
        <p:spPr>
          <a:xfrm>
            <a:off x="2286000" y="4476750"/>
            <a:ext cx="8972550" cy="303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한 번 더 지나면 신고 구간 전체에 실적이 붙습니다. 그 데이터로 후보 7가지를 다시 채점(LOOCV)해 최적 회귀 모델을 다시 고릅니다 — 지금 1등이 계속 1등이라는 보장은 없습니다.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2286000" y="472440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76300" y="481965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하반기</a:t>
            </a:r>
            <a:endParaRPr lang="en-US" sz="863" dirty="0"/>
          </a:p>
        </p:txBody>
      </p:sp>
      <p:sp>
        <p:nvSpPr>
          <p:cNvPr id="69" name="Shape 67"/>
          <p:cNvSpPr/>
          <p:nvPr/>
        </p:nvSpPr>
        <p:spPr>
          <a:xfrm>
            <a:off x="2033588" y="484346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2286000" y="48006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다른 사업소로 · 파주 · 여주 · 하남</a:t>
            </a:r>
            <a:endParaRPr lang="en-US" sz="1088" dirty="0"/>
          </a:p>
        </p:txBody>
      </p:sp>
      <p:sp>
        <p:nvSpPr>
          <p:cNvPr id="71" name="Text 69"/>
          <p:cNvSpPr txBox="1"/>
          <p:nvPr/>
        </p:nvSpPr>
        <p:spPr>
          <a:xfrm>
            <a:off x="2286000" y="4991100"/>
            <a:ext cx="8972550" cy="303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절차는 그대로 옮기고 특성 곡선표만 그 사업소 것으로 바꿔 넣습니다 — 곡선은 코드가 아니라 온도 61줄 표 파일로 읽습니다. 보정 곡선은 그 사업소 실적으로 새로 쌓습니다.</a:t>
            </a:r>
            <a:endParaRPr lang="en-US" sz="825" dirty="0"/>
          </a:p>
        </p:txBody>
      </p:sp>
      <p:sp>
        <p:nvSpPr>
          <p:cNvPr id="72" name="Shape 70"/>
          <p:cNvSpPr/>
          <p:nvPr/>
        </p:nvSpPr>
        <p:spPr>
          <a:xfrm>
            <a:off x="2286000" y="5238750"/>
            <a:ext cx="89725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76300" y="5334000"/>
            <a:ext cx="1047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2028</a:t>
            </a:r>
            <a:endParaRPr lang="en-US" sz="863" dirty="0"/>
          </a:p>
        </p:txBody>
      </p:sp>
      <p:sp>
        <p:nvSpPr>
          <p:cNvPr id="74" name="Shape 72"/>
          <p:cNvSpPr/>
          <p:nvPr/>
        </p:nvSpPr>
        <p:spPr>
          <a:xfrm>
            <a:off x="2033588" y="5357813"/>
            <a:ext cx="85725" cy="85725"/>
          </a:xfrm>
          <a:prstGeom prst="ellipse">
            <a:avLst/>
          </a:prstGeom>
          <a:solidFill>
            <a:srgbClr val="EA002C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286000" y="531495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대정비 전후 구분</a:t>
            </a:r>
            <a:endParaRPr lang="en-US" sz="1088" dirty="0"/>
          </a:p>
        </p:txBody>
      </p:sp>
      <p:sp>
        <p:nvSpPr>
          <p:cNvPr id="76" name="Text 74"/>
          <p:cNvSpPr txBox="1"/>
          <p:nvPr/>
        </p:nvSpPr>
        <p:spPr>
          <a:xfrm>
            <a:off x="2286000" y="550545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대정비를 하면 출력 특성이 달라집니다. 정비 이력을 회차에 표시해 두고 정비 뒤 실적으로 곡선을 다시 세웁니다.</a:t>
            </a:r>
            <a:endParaRPr lang="en-US" sz="825" dirty="0"/>
          </a:p>
        </p:txBody>
      </p:sp>
      <p:sp>
        <p:nvSpPr>
          <p:cNvPr id="77" name="Shape 75"/>
          <p:cNvSpPr/>
          <p:nvPr/>
        </p:nvSpPr>
        <p:spPr>
          <a:xfrm>
            <a:off x="2047875" y="5734050"/>
            <a:ext cx="57150" cy="57150"/>
          </a:xfrm>
          <a:prstGeom prst="ellipse">
            <a:avLst/>
          </a:prstGeom>
          <a:solidFill>
            <a:srgbClr val="C4CAD1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286000" y="5676900"/>
            <a:ext cx="89725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 표준 절차로</a:t>
            </a:r>
            <a:endParaRPr lang="en-US" sz="1088" dirty="0"/>
          </a:p>
        </p:txBody>
      </p:sp>
      <p:sp>
        <p:nvSpPr>
          <p:cNvPr id="79" name="Text 77"/>
          <p:cNvSpPr txBox="1"/>
          <p:nvPr/>
        </p:nvSpPr>
        <p:spPr>
          <a:xfrm>
            <a:off x="2286000" y="5867400"/>
            <a:ext cx="8972550" cy="151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6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시험부터 신고까지의 순서를 표준 절차서로 정리합니다. 담당자가 바뀌어도 같은 숫자가 나오게 합니다.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도구가 아닙니다. 쌓일수록 촘촘해지고, 다른 사업소로 넓힐 수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돌아보면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24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일이었습니다. 막히는 데가 많았고, 하나씩 뚫으면서 배웠습니다.</a:t>
            </a:r>
            <a:endParaRPr lang="en-US" sz="1275" dirty="0"/>
          </a:p>
        </p:txBody>
      </p:sp>
      <p:sp>
        <p:nvSpPr>
          <p:cNvPr id="8" name="Shape 6"/>
          <p:cNvSpPr/>
          <p:nvPr/>
        </p:nvSpPr>
        <p:spPr>
          <a:xfrm>
            <a:off x="685800" y="1781175"/>
            <a:ext cx="52959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1" name="Text 9"/>
          <p:cNvSpPr txBox="1"/>
          <p:nvPr/>
        </p:nvSpPr>
        <p:spPr>
          <a:xfrm>
            <a:off x="10096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20193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분야를 공부해서 직접 풀어 보고 싶었습니다.</a:t>
            </a:r>
            <a:endParaRPr lang="en-US" sz="1125" dirty="0"/>
          </a:p>
        </p:txBody>
      </p:sp>
      <p:sp>
        <p:nvSpPr>
          <p:cNvPr id="13" name="Text 11"/>
          <p:cNvSpPr txBox="1"/>
          <p:nvPr/>
        </p:nvSpPr>
        <p:spPr>
          <a:xfrm>
            <a:off x="876300" y="2247900"/>
            <a:ext cx="4914900" cy="635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1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줄이는 것만 생각했다면 엑셀을 손보고 끝냈을 것입니다. AI 를 써서 해 본 적 없는 분야를 공부하고 스스로 풀어내는 성취감을 맛보고 싶었습니다. 그 마음이 끝까지 가게 한 힘이었습니다.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6134100" y="1781175"/>
            <a:ext cx="53721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17" name="Text 15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013" dirty="0"/>
          </a:p>
        </p:txBody>
      </p:sp>
      <p:sp>
        <p:nvSpPr>
          <p:cNvPr id="18" name="Text 16"/>
          <p:cNvSpPr txBox="1"/>
          <p:nvPr/>
        </p:nvSpPr>
        <p:spPr>
          <a:xfrm>
            <a:off x="10887075" y="1847850"/>
            <a:ext cx="504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</a:t>
            </a:r>
            <a:endParaRPr lang="en-US" sz="825" dirty="0"/>
          </a:p>
        </p:txBody>
      </p:sp>
      <p:sp>
        <p:nvSpPr>
          <p:cNvPr id="19" name="Shape 17"/>
          <p:cNvSpPr/>
          <p:nvPr/>
        </p:nvSpPr>
        <p:spPr>
          <a:xfrm>
            <a:off x="6324600" y="2038350"/>
            <a:ext cx="38100" cy="190500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700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정상우M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47700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취합 · 분석</a:t>
            </a:r>
            <a:endParaRPr lang="en-US" sz="863" dirty="0"/>
          </a:p>
        </p:txBody>
      </p:sp>
      <p:sp>
        <p:nvSpPr>
          <p:cNvPr id="22" name="Text 20"/>
          <p:cNvSpPr txBox="1"/>
          <p:nvPr/>
        </p:nvSpPr>
        <p:spPr>
          <a:xfrm>
            <a:off x="6477000" y="2400300"/>
            <a:ext cx="22479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모아 정리하고, 병행운전에서 문제점과 개선사항을 찾아 넘겼습니다.</a:t>
            </a:r>
            <a:endParaRPr lang="en-US" sz="825" dirty="0"/>
          </a:p>
        </p:txBody>
      </p:sp>
      <p:sp>
        <p:nvSpPr>
          <p:cNvPr id="23" name="Shape 21"/>
          <p:cNvSpPr/>
          <p:nvPr/>
        </p:nvSpPr>
        <p:spPr>
          <a:xfrm>
            <a:off x="8782050" y="20002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34450" y="2038350"/>
            <a:ext cx="38100" cy="1905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08685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</a:t>
            </a:r>
            <a:endParaRPr lang="en-US" sz="1125" dirty="0"/>
          </a:p>
        </p:txBody>
      </p:sp>
      <p:sp>
        <p:nvSpPr>
          <p:cNvPr id="26" name="Text 24"/>
          <p:cNvSpPr txBox="1"/>
          <p:nvPr/>
        </p:nvSpPr>
        <p:spPr>
          <a:xfrm>
            <a:off x="908685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개발 · 반영</a:t>
            </a:r>
            <a:endParaRPr lang="en-US" sz="863" dirty="0"/>
          </a:p>
        </p:txBody>
      </p:sp>
      <p:sp>
        <p:nvSpPr>
          <p:cNvPr id="27" name="Text 25"/>
          <p:cNvSpPr txBox="1"/>
          <p:nvPr/>
        </p:nvSpPr>
        <p:spPr>
          <a:xfrm>
            <a:off x="9086850" y="2400300"/>
            <a:ext cx="22479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문제점과 개선사항을 도구에 고쳐 넣었습니다. 시운전에서 드러난 것도 그때그때 반영했습니다.</a:t>
            </a:r>
            <a:endParaRPr lang="en-US" sz="825" dirty="0"/>
          </a:p>
        </p:txBody>
      </p:sp>
      <p:sp>
        <p:nvSpPr>
          <p:cNvPr id="28" name="Shape 26"/>
          <p:cNvSpPr/>
          <p:nvPr/>
        </p:nvSpPr>
        <p:spPr>
          <a:xfrm>
            <a:off x="685800" y="3114675"/>
            <a:ext cx="10820400" cy="29813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2990850"/>
            <a:ext cx="18859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9150" y="30480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1009650" y="3048000"/>
            <a:ext cx="14478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곳 다섯 군데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582150" y="3181350"/>
            <a:ext cx="18097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것 → 한 일 → 남은 것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876300" y="3352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막혔던 것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3848100" y="33528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일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63000" y="3352800"/>
            <a:ext cx="24955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남은 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76300" y="35052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6300" y="36004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분야였다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3848100" y="36004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모델도, 공급가능용량 테스트 절차도 우리 일이 아니었습니다. AI 를 길잡이로 삼아 공부하고, 담당자에게 자문을 구하고, 시험을 직접 해 봤습니다.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763000" y="36195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915400" y="36004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절차를 우리 말로 설명할 수 있게 됐습니다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76300" y="4019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6300" y="40957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값을 어떻게 받아오나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848100" y="40957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엑셀에 붙어 있던 기능을 뜯어 봤습니다. 같은 방식으로 붙이고 값이 오가는지 먼저 시험했습니다.</a:t>
            </a:r>
            <a:endParaRPr lang="en-US" sz="863" dirty="0"/>
          </a:p>
        </p:txBody>
      </p:sp>
      <p:sp>
        <p:nvSpPr>
          <p:cNvPr id="44" name="Shape 42"/>
          <p:cNvSpPr/>
          <p:nvPr/>
        </p:nvSpPr>
        <p:spPr>
          <a:xfrm>
            <a:off x="8763000" y="41148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915400" y="40957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계측값을 RiMS 에서 자동으로 받습니다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76300" y="45148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76300" y="45910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회귀 모델을 써야 하나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3848100" y="45910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7가지를 놓고 같은 데이터로 겨루게 했습니다. 사람이 아니라 성적이 골랐습니다.</a:t>
            </a:r>
            <a:endParaRPr lang="en-US" sz="863" dirty="0"/>
          </a:p>
        </p:txBody>
      </p:sp>
      <p:sp>
        <p:nvSpPr>
          <p:cNvPr id="49" name="Shape 47"/>
          <p:cNvSpPr/>
          <p:nvPr/>
        </p:nvSpPr>
        <p:spPr>
          <a:xfrm>
            <a:off x="8763000" y="46101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915400" y="45910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성적으로 고른 회귀 모델 하나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876300" y="5010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76300" y="50863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적어서 곡선을 믿을 수 있나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3848100" y="50863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보는 검사를 도구 안에 넣었습니다.</a:t>
            </a:r>
            <a:endParaRPr lang="en-US" sz="863" dirty="0"/>
          </a:p>
        </p:txBody>
      </p:sp>
      <p:sp>
        <p:nvSpPr>
          <p:cNvPr id="54" name="Shape 52"/>
          <p:cNvSpPr/>
          <p:nvPr/>
        </p:nvSpPr>
        <p:spPr>
          <a:xfrm>
            <a:off x="8763000" y="51054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915400" y="50863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실적이 늘 때마다 다시 검사합니다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76300" y="55054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76300" y="55816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만든 계산이 맞는지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3848100" y="55816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엑셀과 답이 같은지 온도마다 하나씩 맞춰 봤습니다. 어긋난 여섯 군데를 찾아 고쳤습니다.</a:t>
            </a:r>
            <a:endParaRPr lang="en-US" sz="863" dirty="0"/>
          </a:p>
        </p:txBody>
      </p:sp>
      <p:sp>
        <p:nvSpPr>
          <p:cNvPr id="59" name="Shape 57"/>
          <p:cNvSpPr/>
          <p:nvPr/>
        </p:nvSpPr>
        <p:spPr>
          <a:xfrm>
            <a:off x="8763000" y="56007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915400" y="55816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엑셀과 같은 답을 냅니다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도구 하나로 풀어냈습니다. 그 과정이 이 과제의 절반입니다.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42900"/>
            <a:ext cx="6667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   ·   2026. 09.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09650"/>
            <a:ext cx="666750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92"/>
              </a:lnSpc>
              <a:buNone/>
            </a:pPr>
            <a:r>
              <a:rPr lang="en-US" sz="4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09750"/>
            <a:ext cx="85725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40회가 만든 곡선입니다.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685800" y="2447925"/>
            <a:ext cx="10820400" cy="2886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324100"/>
            <a:ext cx="17145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19150" y="2381250"/>
            <a:ext cx="1466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외기온도별 신고 출력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9277350" y="2514600"/>
            <a:ext cx="2114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검은 점이 실제 시험 결과</a:t>
            </a:r>
            <a:endParaRPr lang="en-US" sz="825" dirty="0"/>
          </a:p>
        </p:txBody>
      </p:sp>
      <p:sp>
        <p:nvSpPr>
          <p:cNvPr id="10" name="Shape 8"/>
          <p:cNvSpPr/>
          <p:nvPr/>
        </p:nvSpPr>
        <p:spPr>
          <a:xfrm>
            <a:off x="1676400" y="4953000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488632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350</a:t>
            </a:r>
            <a:endParaRPr lang="en-US" sz="788" dirty="0"/>
          </a:p>
        </p:txBody>
      </p:sp>
      <p:sp>
        <p:nvSpPr>
          <p:cNvPr id="12" name="Shape 10"/>
          <p:cNvSpPr/>
          <p:nvPr/>
        </p:nvSpPr>
        <p:spPr>
          <a:xfrm>
            <a:off x="1676400" y="4516438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449763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375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1676400" y="4079875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013200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88" dirty="0"/>
          </a:p>
        </p:txBody>
      </p:sp>
      <p:sp>
        <p:nvSpPr>
          <p:cNvPr id="16" name="Shape 14"/>
          <p:cNvSpPr/>
          <p:nvPr/>
        </p:nvSpPr>
        <p:spPr>
          <a:xfrm>
            <a:off x="1676400" y="3643313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3576638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425</a:t>
            </a:r>
            <a:endParaRPr lang="en-US" sz="788" dirty="0"/>
          </a:p>
        </p:txBody>
      </p:sp>
      <p:sp>
        <p:nvSpPr>
          <p:cNvPr id="18" name="Shape 16"/>
          <p:cNvSpPr/>
          <p:nvPr/>
        </p:nvSpPr>
        <p:spPr>
          <a:xfrm>
            <a:off x="1676400" y="3206750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43000" y="314007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450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33718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52578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71437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90297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109156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 flipV="1">
            <a:off x="1714500" y="3131487"/>
            <a:ext cx="377190" cy="21653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flipV="1">
            <a:off x="1714500" y="2978166"/>
            <a:ext cx="377190" cy="2165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2091690" y="3114548"/>
            <a:ext cx="377190" cy="1693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2091690" y="2961227"/>
            <a:ext cx="377190" cy="16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468880" y="3103023"/>
            <a:ext cx="377190" cy="1152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2468880" y="2949702"/>
            <a:ext cx="377190" cy="1152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846070" y="3067749"/>
            <a:ext cx="377190" cy="3527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 flipV="1">
            <a:off x="2846070" y="2914428"/>
            <a:ext cx="377190" cy="3527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3223260" y="3025315"/>
            <a:ext cx="377190" cy="4243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 flipV="1">
            <a:off x="3223260" y="2894695"/>
            <a:ext cx="377190" cy="1973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00450" y="3025315"/>
            <a:ext cx="377190" cy="2933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600450" y="2894695"/>
            <a:ext cx="377190" cy="3038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77640" y="3054652"/>
            <a:ext cx="377190" cy="319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3977640" y="2925080"/>
            <a:ext cx="377190" cy="5116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354830" y="3086608"/>
            <a:ext cx="377190" cy="35798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354830" y="2976245"/>
            <a:ext cx="377190" cy="5134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32020" y="3122406"/>
            <a:ext cx="377190" cy="40688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732020" y="3027585"/>
            <a:ext cx="377190" cy="4767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109210" y="3163094"/>
            <a:ext cx="377190" cy="4470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5109210" y="3075257"/>
            <a:ext cx="377190" cy="422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0" y="3207798"/>
            <a:ext cx="377190" cy="4941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5486400" y="3117517"/>
            <a:ext cx="377190" cy="4121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863590" y="3257217"/>
            <a:ext cx="377190" cy="6635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863590" y="3158728"/>
            <a:ext cx="377190" cy="5954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40780" y="3323574"/>
            <a:ext cx="377190" cy="7246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6240780" y="3218275"/>
            <a:ext cx="377190" cy="7421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617970" y="3396043"/>
            <a:ext cx="377190" cy="76311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6617970" y="3292491"/>
            <a:ext cx="377190" cy="915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995160" y="3472355"/>
            <a:ext cx="377190" cy="83122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6995160" y="3383994"/>
            <a:ext cx="377190" cy="11158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372350" y="3555476"/>
            <a:ext cx="377190" cy="904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7372350" y="3495580"/>
            <a:ext cx="377190" cy="12642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49540" y="3645932"/>
            <a:ext cx="377190" cy="9761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7749540" y="3622008"/>
            <a:ext cx="377190" cy="13289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126730" y="3743547"/>
            <a:ext cx="377190" cy="787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8126730" y="3754898"/>
            <a:ext cx="377190" cy="1040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03920" y="3822303"/>
            <a:ext cx="377190" cy="10983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8503920" y="3858974"/>
            <a:ext cx="377190" cy="11961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881110" y="3932142"/>
            <a:ext cx="377190" cy="11874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8881110" y="3978592"/>
            <a:ext cx="377190" cy="11228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58300" y="4050887"/>
            <a:ext cx="377190" cy="131143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9258300" y="4090876"/>
            <a:ext cx="377190" cy="1128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635490" y="4182031"/>
            <a:ext cx="377190" cy="141621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9635490" y="4203684"/>
            <a:ext cx="377190" cy="11822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012680" y="4323652"/>
            <a:ext cx="377190" cy="14825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0012680" y="4321905"/>
            <a:ext cx="377190" cy="12677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389870" y="4471908"/>
            <a:ext cx="377190" cy="15087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0389870" y="4448683"/>
            <a:ext cx="377190" cy="13743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767060" y="4622784"/>
            <a:ext cx="377190" cy="16571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0767060" y="4586113"/>
            <a:ext cx="377190" cy="16554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211640" y="281121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6" name="Shape 74"/>
          <p:cNvSpPr/>
          <p:nvPr/>
        </p:nvSpPr>
        <p:spPr>
          <a:xfrm>
            <a:off x="3296507" y="281947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7" name="Shape 75"/>
          <p:cNvSpPr/>
          <p:nvPr/>
        </p:nvSpPr>
        <p:spPr>
          <a:xfrm>
            <a:off x="3928301" y="287079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8" name="Shape 76"/>
          <p:cNvSpPr/>
          <p:nvPr/>
        </p:nvSpPr>
        <p:spPr>
          <a:xfrm>
            <a:off x="4305491" y="295636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9" name="Shape 77"/>
          <p:cNvSpPr/>
          <p:nvPr/>
        </p:nvSpPr>
        <p:spPr>
          <a:xfrm>
            <a:off x="4701540" y="29970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0" name="Shape 78"/>
          <p:cNvSpPr/>
          <p:nvPr/>
        </p:nvSpPr>
        <p:spPr>
          <a:xfrm>
            <a:off x="4890135" y="300501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1" name="Shape 79"/>
          <p:cNvSpPr/>
          <p:nvPr/>
        </p:nvSpPr>
        <p:spPr>
          <a:xfrm>
            <a:off x="5078730" y="305310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2" name="Shape 80"/>
          <p:cNvSpPr/>
          <p:nvPr/>
        </p:nvSpPr>
        <p:spPr>
          <a:xfrm>
            <a:off x="5248466" y="302366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3" name="Shape 81"/>
          <p:cNvSpPr/>
          <p:nvPr/>
        </p:nvSpPr>
        <p:spPr>
          <a:xfrm>
            <a:off x="5361623" y="311345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4" name="Shape 82"/>
          <p:cNvSpPr/>
          <p:nvPr/>
        </p:nvSpPr>
        <p:spPr>
          <a:xfrm>
            <a:off x="5682234" y="313691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5" name="Shape 83"/>
          <p:cNvSpPr/>
          <p:nvPr/>
        </p:nvSpPr>
        <p:spPr>
          <a:xfrm>
            <a:off x="5965127" y="314232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6" name="Shape 84"/>
          <p:cNvSpPr/>
          <p:nvPr/>
        </p:nvSpPr>
        <p:spPr>
          <a:xfrm>
            <a:off x="6021705" y="310582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7" name="Shape 85"/>
          <p:cNvSpPr/>
          <p:nvPr/>
        </p:nvSpPr>
        <p:spPr>
          <a:xfrm>
            <a:off x="6078284" y="317995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8" name="Shape 86"/>
          <p:cNvSpPr/>
          <p:nvPr/>
        </p:nvSpPr>
        <p:spPr>
          <a:xfrm>
            <a:off x="6285738" y="316472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9" name="Shape 87"/>
          <p:cNvSpPr/>
          <p:nvPr/>
        </p:nvSpPr>
        <p:spPr>
          <a:xfrm>
            <a:off x="6304598" y="318812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0" name="Shape 88"/>
          <p:cNvSpPr/>
          <p:nvPr/>
        </p:nvSpPr>
        <p:spPr>
          <a:xfrm>
            <a:off x="6417755" y="326798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1" name="Shape 89"/>
          <p:cNvSpPr/>
          <p:nvPr/>
        </p:nvSpPr>
        <p:spPr>
          <a:xfrm>
            <a:off x="6700647" y="327186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2" name="Shape 90"/>
          <p:cNvSpPr/>
          <p:nvPr/>
        </p:nvSpPr>
        <p:spPr>
          <a:xfrm>
            <a:off x="6719506" y="326597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3" name="Shape 91"/>
          <p:cNvSpPr/>
          <p:nvPr/>
        </p:nvSpPr>
        <p:spPr>
          <a:xfrm>
            <a:off x="7587044" y="356971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4" name="Shape 92"/>
          <p:cNvSpPr/>
          <p:nvPr/>
        </p:nvSpPr>
        <p:spPr>
          <a:xfrm>
            <a:off x="8303704" y="382865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5" name="Shape 93"/>
          <p:cNvSpPr/>
          <p:nvPr/>
        </p:nvSpPr>
        <p:spPr>
          <a:xfrm>
            <a:off x="8341423" y="384917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6" name="Shape 94"/>
          <p:cNvSpPr/>
          <p:nvPr/>
        </p:nvSpPr>
        <p:spPr>
          <a:xfrm>
            <a:off x="8360283" y="3801934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7" name="Shape 95"/>
          <p:cNvSpPr/>
          <p:nvPr/>
        </p:nvSpPr>
        <p:spPr>
          <a:xfrm>
            <a:off x="8416862" y="380404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8" name="Shape 96"/>
          <p:cNvSpPr/>
          <p:nvPr/>
        </p:nvSpPr>
        <p:spPr>
          <a:xfrm>
            <a:off x="8737473" y="394832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9" name="Shape 97"/>
          <p:cNvSpPr/>
          <p:nvPr/>
        </p:nvSpPr>
        <p:spPr>
          <a:xfrm>
            <a:off x="8982647" y="398644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0" name="Shape 98"/>
          <p:cNvSpPr/>
          <p:nvPr/>
        </p:nvSpPr>
        <p:spPr>
          <a:xfrm>
            <a:off x="9265539" y="40484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1" name="Shape 99"/>
          <p:cNvSpPr/>
          <p:nvPr/>
        </p:nvSpPr>
        <p:spPr>
          <a:xfrm>
            <a:off x="9265539" y="402877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359837" y="40806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397556" y="407971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548432" y="416679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680448" y="416237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737027" y="419592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7" name="Shape 105"/>
          <p:cNvSpPr/>
          <p:nvPr/>
        </p:nvSpPr>
        <p:spPr>
          <a:xfrm>
            <a:off x="9755886" y="411468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755886" y="412726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755886" y="4178321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906762" y="428133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944481" y="433380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0095357" y="428026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0378250" y="440475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4" name="Shape 112"/>
          <p:cNvSpPr/>
          <p:nvPr/>
        </p:nvSpPr>
        <p:spPr>
          <a:xfrm>
            <a:off x="10717721" y="456743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866900" y="2628900"/>
            <a:ext cx="171450" cy="28575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114550" y="2562225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2952750" y="2628900"/>
            <a:ext cx="1714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200400" y="2562225"/>
            <a:ext cx="1905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신고하는 값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85800" y="6305550"/>
            <a:ext cx="57150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 ·   정상우M</a:t>
            </a:r>
            <a:endParaRPr lang="en-US" sz="1050" dirty="0"/>
          </a:p>
        </p:txBody>
      </p:sp>
      <p:sp>
        <p:nvSpPr>
          <p:cNvPr id="121" name="Text 119"/>
          <p:cNvSpPr txBox="1"/>
          <p:nvPr/>
        </p:nvSpPr>
        <p:spPr>
          <a:xfrm>
            <a:off x="6743700" y="6324600"/>
            <a:ext cx="4762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2026-09-18T07:02:01Z</dcterms:created>
  <dcterms:modified xsi:type="dcterms:W3CDTF">2026-09-18T07:02:01Z</dcterms:modified>
</cp:coreProperties>
</file>