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3055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시작해 개선효과와 확산까지 하나로 잇습니다.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26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57300" y="19145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48050" y="19621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8058150" y="19716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10" name="Text 8"/>
          <p:cNvSpPr txBox="1"/>
          <p:nvPr/>
        </p:nvSpPr>
        <p:spPr>
          <a:xfrm>
            <a:off x="10972800" y="19526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2383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3526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57300" y="23145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48050" y="23622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8058150" y="23717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23526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6384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7527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57300" y="27146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48050" y="27622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058150" y="27717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2" name="Text 20"/>
          <p:cNvSpPr txBox="1"/>
          <p:nvPr/>
        </p:nvSpPr>
        <p:spPr>
          <a:xfrm>
            <a:off x="10972800" y="27527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30384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152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57300" y="3114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48050" y="3162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</a:t>
            </a:r>
            <a:endParaRPr lang="en-US" sz="1013" dirty="0"/>
          </a:p>
        </p:txBody>
      </p:sp>
      <p:sp>
        <p:nvSpPr>
          <p:cNvPr id="27" name="Text 25"/>
          <p:cNvSpPr txBox="1"/>
          <p:nvPr/>
        </p:nvSpPr>
        <p:spPr>
          <a:xfrm>
            <a:off x="8058150" y="3171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도출</a:t>
            </a:r>
            <a:endParaRPr lang="en-US" sz="825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3152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34385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14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448050" y="3562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· 보정 모델 개발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8058150" y="3571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예측/보정 모델 개발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3552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85800" y="38385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9528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257300" y="39147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3448050" y="39624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확인하는 구조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8058150" y="39719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10972800" y="39528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85800" y="42386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43529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257300" y="43148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3448050" y="43624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 · 정확도 · 요금</a:t>
            </a:r>
            <a:endParaRPr lang="en-US" sz="1013" dirty="0"/>
          </a:p>
        </p:txBody>
      </p:sp>
      <p:sp>
        <p:nvSpPr>
          <p:cNvPr id="44" name="Text 42"/>
          <p:cNvSpPr txBox="1"/>
          <p:nvPr/>
        </p:nvSpPr>
        <p:spPr>
          <a:xfrm>
            <a:off x="8058150" y="43719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10972800" y="43529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85800" y="46386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257300" y="47148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3448050" y="47625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49" name="Text 47"/>
          <p:cNvSpPr txBox="1"/>
          <p:nvPr/>
        </p:nvSpPr>
        <p:spPr>
          <a:xfrm>
            <a:off x="8058150" y="47720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10972800" y="47529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85800" y="50387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51530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257300" y="51149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3448050" y="51625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향상과 수평 전개</a:t>
            </a:r>
            <a:endParaRPr lang="en-US" sz="1013" dirty="0"/>
          </a:p>
        </p:txBody>
      </p:sp>
      <p:sp>
        <p:nvSpPr>
          <p:cNvPr id="55" name="Text 53"/>
          <p:cNvSpPr txBox="1"/>
          <p:nvPr/>
        </p:nvSpPr>
        <p:spPr>
          <a:xfrm>
            <a:off x="8058150" y="51720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10972800" y="51530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85800" y="54387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5800" y="560070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1257300" y="5562600"/>
            <a:ext cx="2000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275" dirty="0"/>
          </a:p>
        </p:txBody>
      </p:sp>
      <p:sp>
        <p:nvSpPr>
          <p:cNvPr id="60" name="Text 58"/>
          <p:cNvSpPr txBox="1"/>
          <p:nvPr/>
        </p:nvSpPr>
        <p:spPr>
          <a:xfrm>
            <a:off x="3448050" y="561022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 · 막혔던 곳 · 역할 분담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10972800" y="56007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신고해야 합니다. 그 숫자를 만드는 일입니다.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0022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7640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33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3355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248775" y="1866900"/>
            <a:ext cx="2143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발전운영팀 업무 · 우리는 정비기술팀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383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신고 출력(MW) · 가로 외기온도(℃) · 추우면 많이, 더우면 적게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2050" y="2952750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2209800"/>
            <a:ext cx="0" cy="74295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9200" y="2323855"/>
            <a:ext cx="118110" cy="77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37310" y="2317815"/>
            <a:ext cx="118110" cy="60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55420" y="2313706"/>
            <a:ext cx="118110" cy="410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73530" y="2301129"/>
            <a:ext cx="118110" cy="125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691640" y="2286000"/>
            <a:ext cx="118110" cy="1512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09750" y="2286000"/>
            <a:ext cx="118110" cy="104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27860" y="2296460"/>
            <a:ext cx="118110" cy="113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45970" y="2307854"/>
            <a:ext cx="118110" cy="1276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64080" y="2320617"/>
            <a:ext cx="118110" cy="1450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82190" y="2335124"/>
            <a:ext cx="118110" cy="15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00300" y="2351063"/>
            <a:ext cx="118110" cy="176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18410" y="2368683"/>
            <a:ext cx="118110" cy="236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6520" y="2392342"/>
            <a:ext cx="118110" cy="258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54630" y="2418180"/>
            <a:ext cx="118110" cy="272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2740" y="2445388"/>
            <a:ext cx="118110" cy="2963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90850" y="2475025"/>
            <a:ext cx="118110" cy="3225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0" y="2507276"/>
            <a:ext cx="118110" cy="348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27070" y="2542080"/>
            <a:ext cx="118110" cy="2808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45180" y="2570160"/>
            <a:ext cx="118110" cy="3916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3290" y="2609322"/>
            <a:ext cx="118110" cy="423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1400" y="2651659"/>
            <a:ext cx="118110" cy="4675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99510" y="2698417"/>
            <a:ext cx="118110" cy="504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17620" y="2748911"/>
            <a:ext cx="118110" cy="528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5730" y="2801771"/>
            <a:ext cx="118110" cy="537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53840" y="2855564"/>
            <a:ext cx="118110" cy="5908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04850" y="2228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MW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704850" y="285750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 MW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100965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−10℃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16002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52" name="Text 50"/>
          <p:cNvSpPr txBox="1"/>
          <p:nvPr/>
        </p:nvSpPr>
        <p:spPr>
          <a:xfrm>
            <a:off x="27813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53" name="Text 51"/>
          <p:cNvSpPr txBox="1"/>
          <p:nvPr/>
        </p:nvSpPr>
        <p:spPr>
          <a:xfrm>
            <a:off x="39624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54" name="Text 52"/>
          <p:cNvSpPr txBox="1"/>
          <p:nvPr/>
        </p:nvSpPr>
        <p:spPr>
          <a:xfrm>
            <a:off x="2152650" y="2190750"/>
            <a:ext cx="14287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계산값 곡선</a:t>
            </a:r>
            <a:endParaRPr lang="en-US" sz="788" dirty="0"/>
          </a:p>
        </p:txBody>
      </p:sp>
      <p:sp>
        <p:nvSpPr>
          <p:cNvPr id="55" name="Shape 53"/>
          <p:cNvSpPr/>
          <p:nvPr/>
        </p:nvSpPr>
        <p:spPr>
          <a:xfrm>
            <a:off x="459105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57750" y="2038350"/>
            <a:ext cx="31432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4857750" y="2457450"/>
            <a:ext cx="31432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20도 ~ 40도까지 온도 61개 숫자를 따로 신고합니다.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30580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3450" y="2038350"/>
            <a:ext cx="2762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숫자가 어긋나면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553450" y="226695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신고하고 출력을 못 내면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553450" y="243840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패널티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553450" y="270510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신고하면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8553450" y="287655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차이만큼 CP 용량요금 손실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685800" y="3381375"/>
            <a:ext cx="52959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32575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191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009650" y="33147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 이유</a:t>
            </a:r>
            <a:endParaRPr lang="en-US" sz="1013" dirty="0"/>
          </a:p>
        </p:txBody>
      </p:sp>
      <p:sp>
        <p:nvSpPr>
          <p:cNvPr id="68" name="Text 66"/>
          <p:cNvSpPr txBox="1"/>
          <p:nvPr/>
        </p:nvSpPr>
        <p:spPr>
          <a:xfrm>
            <a:off x="4714875" y="3448050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 두 사람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876300" y="36195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직접 풀어 보고 싶었습니다.</a:t>
            </a:r>
            <a:endParaRPr lang="en-US" sz="1125" dirty="0"/>
          </a:p>
        </p:txBody>
      </p:sp>
      <p:sp>
        <p:nvSpPr>
          <p:cNvPr id="70" name="Text 68"/>
          <p:cNvSpPr txBox="1"/>
          <p:nvPr/>
        </p:nvSpPr>
        <p:spPr>
          <a:xfrm>
            <a:off x="876300" y="3848100"/>
            <a:ext cx="4914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팀 업무인데도 과제로 잡은 이유가 셋 있습니다.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6300" y="4229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28700" y="4210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4191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 새 분야를 경험하고 싶었다</a:t>
            </a:r>
            <a:endParaRPr lang="en-US" sz="1088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4400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모델은 해 본 적이 없었습니다. AI 를 길잡이로 삼아 직접 공부하고 풀어내는 성취감을 맛보고 싶었습니다.</a:t>
            </a:r>
            <a:endParaRPr lang="en-US" sz="863" dirty="0"/>
          </a:p>
        </p:txBody>
      </p:sp>
      <p:sp>
        <p:nvSpPr>
          <p:cNvPr id="75" name="Shape 73"/>
          <p:cNvSpPr/>
          <p:nvPr/>
        </p:nvSpPr>
        <p:spPr>
          <a:xfrm>
            <a:off x="876300" y="48006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8700" y="47815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238250" y="47625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비효율이 눈에 먼저 보였다</a:t>
            </a:r>
            <a:endParaRPr lang="en-US" sz="1088" dirty="0"/>
          </a:p>
        </p:txBody>
      </p:sp>
      <p:sp>
        <p:nvSpPr>
          <p:cNvPr id="78" name="Text 76"/>
          <p:cNvSpPr txBox="1"/>
          <p:nvPr/>
        </p:nvSpPr>
        <p:spPr>
          <a:xfrm>
            <a:off x="1238250" y="49720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곁에서 보니 엑셀 파일 네 개를 오가는 일이 번거로워 보였습니다.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876300" y="5372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28700" y="5353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238250" y="5334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088" dirty="0"/>
          </a:p>
        </p:txBody>
      </p:sp>
      <p:sp>
        <p:nvSpPr>
          <p:cNvPr id="82" name="Text 80"/>
          <p:cNvSpPr txBox="1"/>
          <p:nvPr/>
        </p:nvSpPr>
        <p:spPr>
          <a:xfrm>
            <a:off x="1238250" y="5543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숫자가 정확해지면 CP 용량요금 손실이 그만큼 줄어듭니다.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6134100" y="3381375"/>
            <a:ext cx="53721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134100" y="32575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2674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86" name="Text 84"/>
          <p:cNvSpPr txBox="1"/>
          <p:nvPr/>
        </p:nvSpPr>
        <p:spPr>
          <a:xfrm>
            <a:off x="6457950" y="33147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절차</a:t>
            </a:r>
            <a:endParaRPr lang="en-US" sz="1013" dirty="0"/>
          </a:p>
        </p:txBody>
      </p:sp>
      <p:sp>
        <p:nvSpPr>
          <p:cNvPr id="87" name="Text 85"/>
          <p:cNvSpPr txBox="1"/>
          <p:nvPr/>
        </p:nvSpPr>
        <p:spPr>
          <a:xfrm>
            <a:off x="9572625" y="344805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63246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9" name="Shape 87"/>
          <p:cNvSpPr/>
          <p:nvPr/>
        </p:nvSpPr>
        <p:spPr>
          <a:xfrm>
            <a:off x="63246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0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148" y="3848100"/>
            <a:ext cx="1882154" cy="609600"/>
          </a:xfrm>
          <a:prstGeom prst="rect">
            <a:avLst/>
          </a:prstGeom>
        </p:spPr>
      </p:pic>
      <p:sp>
        <p:nvSpPr>
          <p:cNvPr id="91" name="Shape 88"/>
          <p:cNvSpPr/>
          <p:nvPr/>
        </p:nvSpPr>
        <p:spPr>
          <a:xfrm>
            <a:off x="6564623" y="3838575"/>
            <a:ext cx="1901204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9154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93" name="Shape 90"/>
          <p:cNvSpPr/>
          <p:nvPr/>
        </p:nvSpPr>
        <p:spPr>
          <a:xfrm>
            <a:off x="89154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4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6042" y="3848100"/>
            <a:ext cx="719966" cy="609600"/>
          </a:xfrm>
          <a:prstGeom prst="rect">
            <a:avLst/>
          </a:prstGeom>
        </p:spPr>
      </p:pic>
      <p:sp>
        <p:nvSpPr>
          <p:cNvPr id="95" name="Shape 91"/>
          <p:cNvSpPr/>
          <p:nvPr/>
        </p:nvSpPr>
        <p:spPr>
          <a:xfrm>
            <a:off x="9736517" y="3838575"/>
            <a:ext cx="739016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63246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97" name="Shape 93"/>
          <p:cNvSpPr/>
          <p:nvPr/>
        </p:nvSpPr>
        <p:spPr>
          <a:xfrm>
            <a:off x="63246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8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4995559"/>
            <a:ext cx="2286000" cy="486383"/>
          </a:xfrm>
          <a:prstGeom prst="rect">
            <a:avLst/>
          </a:prstGeom>
        </p:spPr>
      </p:pic>
      <p:sp>
        <p:nvSpPr>
          <p:cNvPr id="99" name="Shape 94"/>
          <p:cNvSpPr/>
          <p:nvPr/>
        </p:nvSpPr>
        <p:spPr>
          <a:xfrm>
            <a:off x="6362700" y="4986034"/>
            <a:ext cx="2305050" cy="505433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89154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101" name="Shape 96"/>
          <p:cNvSpPr/>
          <p:nvPr/>
        </p:nvSpPr>
        <p:spPr>
          <a:xfrm>
            <a:off x="89154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102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1675" y="4933950"/>
            <a:ext cx="1028700" cy="609600"/>
          </a:xfrm>
          <a:prstGeom prst="rect">
            <a:avLst/>
          </a:prstGeom>
        </p:spPr>
      </p:pic>
      <p:sp>
        <p:nvSpPr>
          <p:cNvPr id="103" name="Shape 97"/>
          <p:cNvSpPr/>
          <p:nvPr/>
        </p:nvSpPr>
        <p:spPr>
          <a:xfrm>
            <a:off x="9582150" y="4924425"/>
            <a:ext cx="1047750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6324600" y="5772150"/>
            <a:ext cx="4991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손으로 옮겼습니다. 옮겨 적는 값이 61개였습니다.</a:t>
            </a:r>
            <a:endParaRPr lang="en-US" sz="863" dirty="0"/>
          </a:p>
        </p:txBody>
      </p:sp>
      <p:sp>
        <p:nvSpPr>
          <p:cNvPr id="105" name="Shape 9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08" name="Text 10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배워 보고 싶은 분야와, 곁에서 보이던 낭비가 같은 자리에 있었습니다.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번거로웠고, 더하는 값은 하나로 정해 두고 그대로 썼습니다. 그래서 신고한 숫자가 어긋났습니다.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000625" y="1847850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144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38125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3365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옮긴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33650" y="2190750"/>
            <a:ext cx="361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2933700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03860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10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1910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44291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6134100" y="1781175"/>
            <a:ext cx="53721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296525" y="1847850"/>
            <a:ext cx="1095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가지만 한다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63246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합치기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64770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4개로 하던 일을 도구 하나로 합친다.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9154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678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</a:t>
            </a:r>
            <a:endParaRPr lang="en-US" sz="1163" dirty="0"/>
          </a:p>
        </p:txBody>
      </p:sp>
      <p:sp>
        <p:nvSpPr>
          <p:cNvPr id="41" name="Text 39"/>
          <p:cNvSpPr txBox="1"/>
          <p:nvPr/>
        </p:nvSpPr>
        <p:spPr>
          <a:xfrm>
            <a:off x="90678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실적을 쌓아, 더하는 값을 온도마다 다르게 만든다.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3038475"/>
            <a:ext cx="10820400" cy="305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14650"/>
            <a:ext cx="3467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71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71800"/>
            <a:ext cx="3028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하나, 실제 차이는 매번 달랐다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9096375" y="3105150"/>
            <a:ext cx="2295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기존 실적 7일 · 오른쪽 누적 40회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76600"/>
            <a:ext cx="3810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· 단위 MW · 데이터 취득 16~17시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876300" y="3448050"/>
            <a:ext cx="3810000" cy="2095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62025" y="35242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49542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31457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3133725" y="35242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4067175" y="35242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876300" y="38195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62025" y="36671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49542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439.8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231457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448.5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3133725" y="36671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+8.7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4067175" y="36671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876300" y="38195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1" name="Shape 59"/>
          <p:cNvSpPr/>
          <p:nvPr/>
        </p:nvSpPr>
        <p:spPr>
          <a:xfrm>
            <a:off x="876300" y="39814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62025" y="38290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49542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231457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430.8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3133725" y="38290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+6.0</a:t>
            </a:r>
            <a:endParaRPr lang="en-US" sz="825" dirty="0"/>
          </a:p>
        </p:txBody>
      </p:sp>
      <p:sp>
        <p:nvSpPr>
          <p:cNvPr id="66" name="Text 64"/>
          <p:cNvSpPr txBox="1"/>
          <p:nvPr/>
        </p:nvSpPr>
        <p:spPr>
          <a:xfrm>
            <a:off x="4067175" y="38290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876300" y="41433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2025" y="39909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49542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432.1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31457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440.1</a:t>
            </a:r>
            <a:endParaRPr lang="en-US" sz="825" dirty="0"/>
          </a:p>
        </p:txBody>
      </p:sp>
      <p:sp>
        <p:nvSpPr>
          <p:cNvPr id="71" name="Text 69"/>
          <p:cNvSpPr txBox="1"/>
          <p:nvPr/>
        </p:nvSpPr>
        <p:spPr>
          <a:xfrm>
            <a:off x="3133725" y="39909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+8.0</a:t>
            </a:r>
            <a:endParaRPr lang="en-US" sz="825" dirty="0"/>
          </a:p>
        </p:txBody>
      </p:sp>
      <p:sp>
        <p:nvSpPr>
          <p:cNvPr id="72" name="Text 70"/>
          <p:cNvSpPr txBox="1"/>
          <p:nvPr/>
        </p:nvSpPr>
        <p:spPr>
          <a:xfrm>
            <a:off x="4067175" y="39909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876300" y="414337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4" name="Shape 72"/>
          <p:cNvSpPr/>
          <p:nvPr/>
        </p:nvSpPr>
        <p:spPr>
          <a:xfrm>
            <a:off x="876300" y="430530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62025" y="415290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49542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431.7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231457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438.6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3133725" y="415290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+6.9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4067175" y="415290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76300" y="44672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62025" y="43148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49542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421.0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31457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84" name="Text 82"/>
          <p:cNvSpPr txBox="1"/>
          <p:nvPr/>
        </p:nvSpPr>
        <p:spPr>
          <a:xfrm>
            <a:off x="3133725" y="43148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+3.8</a:t>
            </a:r>
            <a:endParaRPr lang="en-US" sz="825" dirty="0"/>
          </a:p>
        </p:txBody>
      </p:sp>
      <p:sp>
        <p:nvSpPr>
          <p:cNvPr id="85" name="Text 83"/>
          <p:cNvSpPr txBox="1"/>
          <p:nvPr/>
        </p:nvSpPr>
        <p:spPr>
          <a:xfrm>
            <a:off x="4067175" y="43148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876300" y="44672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7" name="Shape 85"/>
          <p:cNvSpPr/>
          <p:nvPr/>
        </p:nvSpPr>
        <p:spPr>
          <a:xfrm>
            <a:off x="876300" y="46291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62025" y="44767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149542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419.2</a:t>
            </a:r>
            <a:endParaRPr lang="en-US" sz="825" dirty="0"/>
          </a:p>
        </p:txBody>
      </p:sp>
      <p:sp>
        <p:nvSpPr>
          <p:cNvPr id="90" name="Text 88"/>
          <p:cNvSpPr txBox="1"/>
          <p:nvPr/>
        </p:nvSpPr>
        <p:spPr>
          <a:xfrm>
            <a:off x="231457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423.8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3133725" y="44767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+4.6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4067175" y="44767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962025" y="46386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5" name="Text 93"/>
          <p:cNvSpPr txBox="1"/>
          <p:nvPr/>
        </p:nvSpPr>
        <p:spPr>
          <a:xfrm>
            <a:off x="149542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398.1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231457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393.5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3133725" y="46386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4067175" y="46386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825" dirty="0"/>
          </a:p>
        </p:txBody>
      </p:sp>
      <p:sp>
        <p:nvSpPr>
          <p:cNvPr id="99" name="Shape 97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5240">
            <a:solidFill>
              <a:srgbClr val="C9D0D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62025" y="48196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1" name="Text 99"/>
          <p:cNvSpPr txBox="1"/>
          <p:nvPr/>
        </p:nvSpPr>
        <p:spPr>
          <a:xfrm>
            <a:off x="149542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2" name="Text 100"/>
          <p:cNvSpPr txBox="1"/>
          <p:nvPr/>
        </p:nvSpPr>
        <p:spPr>
          <a:xfrm>
            <a:off x="231457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3133725" y="4819650"/>
            <a:ext cx="762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 ~ +8.7</a:t>
            </a:r>
            <a:endParaRPr lang="en-US" sz="788" dirty="0"/>
          </a:p>
        </p:txBody>
      </p:sp>
      <p:sp>
        <p:nvSpPr>
          <p:cNvPr id="104" name="Text 102"/>
          <p:cNvSpPr txBox="1"/>
          <p:nvPr/>
        </p:nvSpPr>
        <p:spPr>
          <a:xfrm>
            <a:off x="4067175" y="4819650"/>
            <a:ext cx="5334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 ~ +5</a:t>
            </a:r>
            <a:endParaRPr lang="en-US" sz="788" dirty="0"/>
          </a:p>
        </p:txBody>
      </p:sp>
      <p:sp>
        <p:nvSpPr>
          <p:cNvPr id="105" name="Text 103"/>
          <p:cNvSpPr txBox="1"/>
          <p:nvPr/>
        </p:nvSpPr>
        <p:spPr>
          <a:xfrm>
            <a:off x="876300" y="5200650"/>
            <a:ext cx="381000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그날 온도·대기압·습도로 계산한 값, </a:t>
            </a:r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시험에서 실제로 낸 값입니다. 차이는 날마다 −4.6 ~ +8.7 로 흔들리는데, 더한 값은 시즌 내내 거의 하나였습니다.</a:t>
            </a:r>
            <a:endParaRPr lang="en-US" sz="825" dirty="0"/>
          </a:p>
        </p:txBody>
      </p:sp>
      <p:sp>
        <p:nvSpPr>
          <p:cNvPr id="106" name="Shape 104"/>
          <p:cNvSpPr/>
          <p:nvPr/>
        </p:nvSpPr>
        <p:spPr>
          <a:xfrm>
            <a:off x="5219700" y="363283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9700" y="391477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9700" y="419671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9700" y="476059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9700" y="4478655"/>
            <a:ext cx="5867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838700" y="356616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4838700" y="384810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838700" y="413004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838700" y="441198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4838700" y="469392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562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896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8229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9563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10896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219700" y="4305614"/>
            <a:ext cx="5867400" cy="0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9753600" y="4143689"/>
            <a:ext cx="16002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 (늘 하나)</a:t>
            </a:r>
            <a:endParaRPr lang="en-US" sz="825" dirty="0"/>
          </a:p>
        </p:txBody>
      </p:sp>
      <p:sp>
        <p:nvSpPr>
          <p:cNvPr id="123" name="Shape 121"/>
          <p:cNvSpPr/>
          <p:nvPr/>
        </p:nvSpPr>
        <p:spPr>
          <a:xfrm>
            <a:off x="5473065" y="353955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533073" y="35728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79795" y="38329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46495" y="40493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26530" y="406897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59880" y="410118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793230" y="41310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913245" y="401222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993255" y="41942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219950" y="408941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19975" y="411126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59980" y="39639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499985" y="39953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46670" y="393385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660005" y="402830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40015" y="40581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940040" y="407376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53375" y="405000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566785" y="426738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073515" y="460063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100185" y="468345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113520" y="44927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153525" y="450132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380220" y="46403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553575" y="479419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753600" y="45651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53600" y="44857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820275" y="469508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846945" y="469135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53625" y="451351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046970" y="449568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086975" y="463108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100310" y="430319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00310" y="435394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100310" y="456003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06990" y="44041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3660" y="46160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340340" y="439989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540365" y="43039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0395" y="435161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4838700" y="5111115"/>
            <a:ext cx="6419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실제 차이 MW · 점 하나가 시험 한 번(누적 40회) · 채점 39회(까닭은 9장 각주)</a:t>
            </a:r>
            <a:endParaRPr lang="en-US" sz="788" dirty="0"/>
          </a:p>
        </p:txBody>
      </p:sp>
      <p:sp>
        <p:nvSpPr>
          <p:cNvPr id="164" name="Shape 162"/>
          <p:cNvSpPr/>
          <p:nvPr/>
        </p:nvSpPr>
        <p:spPr>
          <a:xfrm>
            <a:off x="4838700" y="5295900"/>
            <a:ext cx="38100" cy="7239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5010150" y="5295900"/>
            <a:ext cx="62484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적게 신고하고, 여름에는 못 내는데 많이 신고하게 됩니다.</a:t>
            </a:r>
            <a:endParaRPr lang="en-US" sz="1088" dirty="0"/>
          </a:p>
        </p:txBody>
      </p:sp>
      <p:sp>
        <p:nvSpPr>
          <p:cNvPr id="166" name="Text 164"/>
          <p:cNvSpPr txBox="1"/>
          <p:nvPr/>
        </p:nvSpPr>
        <p:spPr>
          <a:xfrm>
            <a:off x="5010150" y="5543550"/>
            <a:ext cx="62484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 39회 가운데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신고한 만큼 못 냈습니다. 가장 크게 어긋난 회차는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167" name="Shape 165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0" name="Text 168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잘못 고른 것이 아니라, 하나로 끝내는 구조가 문제였습니다.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출력에 영향을 줄 수 있는 값 네 개를 후보로 놓고, 하나씩 넣어 보며 확인했습니다.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124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9621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524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1847850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방법 · 입력만 바꿔 채점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019300"/>
            <a:ext cx="10382250" cy="2476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095500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넣은 값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2638425" y="2095500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3476625" y="209550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기준과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4524375" y="2095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938" dirty="0"/>
          </a:p>
        </p:txBody>
      </p:sp>
      <p:sp>
        <p:nvSpPr>
          <p:cNvPr id="25" name="Text 23"/>
          <p:cNvSpPr txBox="1"/>
          <p:nvPr/>
        </p:nvSpPr>
        <p:spPr>
          <a:xfrm>
            <a:off x="5267325" y="2095500"/>
            <a:ext cx="5905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876300" y="2266950"/>
            <a:ext cx="10382250" cy="22860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76300" y="2495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2025" y="23098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온도만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2638425" y="23098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3476625" y="23098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4524375" y="23098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5267325" y="23098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</a:t>
            </a:r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</a:t>
            </a:r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이것만으로 설명합니다</a:t>
            </a:r>
            <a:endParaRPr lang="en-US" sz="863" dirty="0"/>
          </a:p>
        </p:txBody>
      </p:sp>
      <p:sp>
        <p:nvSpPr>
          <p:cNvPr id="33" name="Shape 31"/>
          <p:cNvSpPr/>
          <p:nvPr/>
        </p:nvSpPr>
        <p:spPr>
          <a:xfrm>
            <a:off x="876300" y="24955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876300" y="2724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2025" y="25384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상대습도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2638425" y="25384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3476625" y="25384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−0.01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524375" y="25384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267325" y="25384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나아졌지만 흔들림 ±0.08 보다 작습니다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876300" y="29527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2025" y="27670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대기압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638425" y="27670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476625" y="27670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4524375" y="27670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5267325" y="27670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계산식이 이미 쓰고 있습니다 (두 번 반영)</a:t>
            </a:r>
            <a:endParaRPr lang="en-US" sz="863" dirty="0"/>
          </a:p>
        </p:txBody>
      </p:sp>
      <p:sp>
        <p:nvSpPr>
          <p:cNvPr id="46" name="Shape 44"/>
          <p:cNvSpPr/>
          <p:nvPr/>
        </p:nvSpPr>
        <p:spPr>
          <a:xfrm>
            <a:off x="876300" y="29527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47" name="Shape 45"/>
          <p:cNvSpPr/>
          <p:nvPr/>
        </p:nvSpPr>
        <p:spPr>
          <a:xfrm>
            <a:off x="876300" y="31813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2025" y="29956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복수기 진공도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2638425" y="29956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3476625" y="29956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4524375" y="29956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5267325" y="29956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거의 같이 움직입니다 (0.95)</a:t>
            </a:r>
            <a:endParaRPr lang="en-US" sz="863" dirty="0"/>
          </a:p>
        </p:txBody>
      </p:sp>
      <p:sp>
        <p:nvSpPr>
          <p:cNvPr id="53" name="Shape 51"/>
          <p:cNvSpPr/>
          <p:nvPr/>
        </p:nvSpPr>
        <p:spPr>
          <a:xfrm>
            <a:off x="876300" y="34099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2242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네 개 전부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638425" y="32242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3476625" y="32242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4524375" y="32242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8" name="Text 56"/>
          <p:cNvSpPr txBox="1"/>
          <p:nvPr/>
        </p:nvSpPr>
        <p:spPr>
          <a:xfrm>
            <a:off x="5267325" y="32242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넣을수록 나빠졌습니다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350520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작을수록 잘 맞힌 것입니다. 회차마다 흔들리는 폭이 ±0.08 이므로 그보다 작은 차이는 차이로 볼 수 없습니다. 한 회를 가리고 나머지로 그 회를 맞혀 보는 방식으로 채점했습니다.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685800" y="4143375"/>
            <a:ext cx="52959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5800" y="40195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191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009650" y="40767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온도가 남은 이유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876300" y="4400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28700" y="4381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1238250" y="4362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혼자서 대부분을 설명한다</a:t>
            </a:r>
            <a:endParaRPr lang="en-US" sz="1125" dirty="0"/>
          </a:p>
        </p:txBody>
      </p:sp>
      <p:sp>
        <p:nvSpPr>
          <p:cNvPr id="67" name="Text 65"/>
          <p:cNvSpPr txBox="1"/>
          <p:nvPr/>
        </p:nvSpPr>
        <p:spPr>
          <a:xfrm>
            <a:off x="1238250" y="4572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85% 가 온도로 설명됩니다. 추우면 커지고 더우면 작아집니다.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8700" y="49530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1238250" y="49339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분명하다</a:t>
            </a:r>
            <a:endParaRPr lang="en-US" sz="1125" dirty="0"/>
          </a:p>
        </p:txBody>
      </p:sp>
      <p:sp>
        <p:nvSpPr>
          <p:cNvPr id="71" name="Text 69"/>
          <p:cNvSpPr txBox="1"/>
          <p:nvPr/>
        </p:nvSpPr>
        <p:spPr>
          <a:xfrm>
            <a:off x="1238250" y="51435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오르면 차이가 내려갑니다 (반대 방향 0.84). 네 후보 가운데 가장 뚜렷합니다.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876300" y="5543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8700" y="5524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5505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 수 있는 값이다</a:t>
            </a:r>
            <a:endParaRPr lang="en-US" sz="1125" dirty="0"/>
          </a:p>
        </p:txBody>
      </p:sp>
      <p:sp>
        <p:nvSpPr>
          <p:cNvPr id="75" name="Text 73"/>
          <p:cNvSpPr txBox="1"/>
          <p:nvPr/>
        </p:nvSpPr>
        <p:spPr>
          <a:xfrm>
            <a:off x="1238250" y="5715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영하 20도부터 40도까지 온도마다 내야 합니다. 입력이 온도여야 표를 만들 수 있습니다.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6134100" y="4143375"/>
            <a:ext cx="53721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4100" y="401955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2674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9" name="Text 77"/>
          <p:cNvSpPr txBox="1"/>
          <p:nvPr/>
        </p:nvSpPr>
        <p:spPr>
          <a:xfrm>
            <a:off x="6457950" y="407670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 · 결론을 뒤집었다</a:t>
            </a:r>
            <a:endParaRPr lang="en-US" sz="1013" dirty="0"/>
          </a:p>
        </p:txBody>
      </p:sp>
      <p:sp>
        <p:nvSpPr>
          <p:cNvPr id="80" name="Text 78"/>
          <p:cNvSpPr txBox="1"/>
          <p:nvPr/>
        </p:nvSpPr>
        <p:spPr>
          <a:xfrm>
            <a:off x="6324600" y="4381500"/>
            <a:ext cx="499110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봄 시험 몇 회가 유별나게 낮았습니다. 설비가 늙었다고 보고 문서까지 썼습니다.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19650"/>
            <a:ext cx="38100" cy="9144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15100" y="4800600"/>
            <a:ext cx="48006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문제가 아니었습니다.</a:t>
            </a:r>
            <a:endParaRPr lang="en-US" sz="1163" dirty="0"/>
          </a:p>
        </p:txBody>
      </p:sp>
      <p:sp>
        <p:nvSpPr>
          <p:cNvPr id="83" name="Text 81"/>
          <p:cNvSpPr txBox="1"/>
          <p:nvPr/>
        </p:nvSpPr>
        <p:spPr>
          <a:xfrm>
            <a:off x="6515100" y="5029200"/>
            <a:ext cx="4800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시험은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올린 상태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해야 합니다. 가스터빈 입구 날개를 더 여는 조작입니다(IGV turn-up). 그 조작을 하지 않고 측정한 날이었습니다. 덜 올린 채로 쟀으니 낮게 나온 것입니다.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6324600" y="5810250"/>
            <a:ext cx="4991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결론을 거뒀습니다. 지금은 그런 날의 시험을 도구가 걸러냅니다.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하나씩 접고 나니 외기 온도만 남았습니다.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목표가 둘이었습니다. 각각 무엇으로 풀지 정했습니다.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5295900" cy="19335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① 절차를 하나로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429125" y="1790700"/>
            <a:ext cx="1438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도구를 새로 만들었나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19812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47750" y="19621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4개는 손으로 이어야 한다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1047750" y="21336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사이를 사람이 값으로 잇습니다. 한곳에 넣으면 옮겨 적을 일이 없어집니다.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876300" y="24384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47750" y="24193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배우는 계산은 수식으로 어렵다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1047750" y="25908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곡선을 찾는 계산은 엑셀 수식으로 짜기 어렵습니다.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876300" y="28956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47750" y="28765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다시 배우려면 저장소가 필요하다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1047750" y="30480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회차를 쌓아 두고 늘 때마다 다시 배워야 합니다. 파일로는 관리가 되지 않습니다.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876300" y="3371850"/>
            <a:ext cx="4914900" cy="14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엑셀을 고치는 대신 </a:t>
            </a:r>
            <a:pPr algn="l" indent="0" marL="0">
              <a:lnSpc>
                <a:spcPts val="1164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하나로 합쳤습니다</a:t>
            </a:r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863" dirty="0"/>
          </a:p>
        </p:txBody>
      </p:sp>
      <p:sp>
        <p:nvSpPr>
          <p:cNvPr id="30" name="Text 28"/>
          <p:cNvSpPr txBox="1"/>
          <p:nvPr/>
        </p:nvSpPr>
        <p:spPr>
          <a:xfrm>
            <a:off x="876300" y="3524250"/>
            <a:ext cx="49149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계산식과 RiMS 취득 방식은 기존 엑셀 것을 그대로 옮겼습니다.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6134100" y="1724025"/>
            <a:ext cx="5372100" cy="19335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② 온도별 보정값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344150" y="1790700"/>
            <a:ext cx="1047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→ 곡선 → 표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632460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점을 모은다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632460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81750" y="2489835"/>
            <a:ext cx="13144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29375" y="221852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0" name="Shape 38"/>
          <p:cNvSpPr/>
          <p:nvPr/>
        </p:nvSpPr>
        <p:spPr>
          <a:xfrm>
            <a:off x="6442234" y="22279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1" name="Shape 39"/>
          <p:cNvSpPr/>
          <p:nvPr/>
        </p:nvSpPr>
        <p:spPr>
          <a:xfrm>
            <a:off x="6537960" y="230177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2" name="Shape 40"/>
          <p:cNvSpPr/>
          <p:nvPr/>
        </p:nvSpPr>
        <p:spPr>
          <a:xfrm>
            <a:off x="6595110" y="236317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3" name="Shape 41"/>
          <p:cNvSpPr/>
          <p:nvPr/>
        </p:nvSpPr>
        <p:spPr>
          <a:xfrm>
            <a:off x="6655118" y="236875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4" name="Shape 42"/>
          <p:cNvSpPr/>
          <p:nvPr/>
        </p:nvSpPr>
        <p:spPr>
          <a:xfrm>
            <a:off x="6683693" y="237790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5" name="Shape 43"/>
          <p:cNvSpPr/>
          <p:nvPr/>
        </p:nvSpPr>
        <p:spPr>
          <a:xfrm>
            <a:off x="6712268" y="23863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6" name="Shape 44"/>
          <p:cNvSpPr/>
          <p:nvPr/>
        </p:nvSpPr>
        <p:spPr>
          <a:xfrm>
            <a:off x="6737985" y="235265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7" name="Shape 45"/>
          <p:cNvSpPr/>
          <p:nvPr/>
        </p:nvSpPr>
        <p:spPr>
          <a:xfrm>
            <a:off x="6755130" y="2404303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8" name="Shape 46"/>
          <p:cNvSpPr/>
          <p:nvPr/>
        </p:nvSpPr>
        <p:spPr>
          <a:xfrm>
            <a:off x="6803708" y="237456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9" name="Shape 47"/>
          <p:cNvSpPr/>
          <p:nvPr/>
        </p:nvSpPr>
        <p:spPr>
          <a:xfrm>
            <a:off x="6846570" y="238076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0" name="Shape 48"/>
          <p:cNvSpPr/>
          <p:nvPr/>
        </p:nvSpPr>
        <p:spPr>
          <a:xfrm>
            <a:off x="6855143" y="233895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1" name="Shape 49"/>
          <p:cNvSpPr/>
          <p:nvPr/>
        </p:nvSpPr>
        <p:spPr>
          <a:xfrm>
            <a:off x="6863715" y="234785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2" name="Shape 50"/>
          <p:cNvSpPr/>
          <p:nvPr/>
        </p:nvSpPr>
        <p:spPr>
          <a:xfrm>
            <a:off x="6895148" y="233041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3" name="Shape 51"/>
          <p:cNvSpPr/>
          <p:nvPr/>
        </p:nvSpPr>
        <p:spPr>
          <a:xfrm>
            <a:off x="6898005" y="235721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4" name="Shape 52"/>
          <p:cNvSpPr/>
          <p:nvPr/>
        </p:nvSpPr>
        <p:spPr>
          <a:xfrm>
            <a:off x="6915150" y="236567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5" name="Shape 53"/>
          <p:cNvSpPr/>
          <p:nvPr/>
        </p:nvSpPr>
        <p:spPr>
          <a:xfrm>
            <a:off x="6958013" y="237011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6" name="Shape 54"/>
          <p:cNvSpPr/>
          <p:nvPr/>
        </p:nvSpPr>
        <p:spPr>
          <a:xfrm>
            <a:off x="6960870" y="236337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7" name="Shape 55"/>
          <p:cNvSpPr/>
          <p:nvPr/>
        </p:nvSpPr>
        <p:spPr>
          <a:xfrm>
            <a:off x="7092315" y="242506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8" name="Shape 56"/>
          <p:cNvSpPr/>
          <p:nvPr/>
        </p:nvSpPr>
        <p:spPr>
          <a:xfrm>
            <a:off x="7200900" y="251963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9" name="Shape 57"/>
          <p:cNvSpPr/>
          <p:nvPr/>
        </p:nvSpPr>
        <p:spPr>
          <a:xfrm>
            <a:off x="7206615" y="254314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0" name="Shape 58"/>
          <p:cNvSpPr/>
          <p:nvPr/>
        </p:nvSpPr>
        <p:spPr>
          <a:xfrm>
            <a:off x="7209473" y="248903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1" name="Shape 59"/>
          <p:cNvSpPr/>
          <p:nvPr/>
        </p:nvSpPr>
        <p:spPr>
          <a:xfrm>
            <a:off x="7218045" y="249145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2" name="Shape 60"/>
          <p:cNvSpPr/>
          <p:nvPr/>
        </p:nvSpPr>
        <p:spPr>
          <a:xfrm>
            <a:off x="7266623" y="253089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3" name="Shape 61"/>
          <p:cNvSpPr/>
          <p:nvPr/>
        </p:nvSpPr>
        <p:spPr>
          <a:xfrm>
            <a:off x="7303770" y="257456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4" name="Shape 62"/>
          <p:cNvSpPr/>
          <p:nvPr/>
        </p:nvSpPr>
        <p:spPr>
          <a:xfrm>
            <a:off x="7346633" y="250955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5" name="Shape 63"/>
          <p:cNvSpPr/>
          <p:nvPr/>
        </p:nvSpPr>
        <p:spPr>
          <a:xfrm>
            <a:off x="7346633" y="248703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6" name="Shape 64"/>
          <p:cNvSpPr/>
          <p:nvPr/>
        </p:nvSpPr>
        <p:spPr>
          <a:xfrm>
            <a:off x="7360920" y="254644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7" name="Shape 65"/>
          <p:cNvSpPr/>
          <p:nvPr/>
        </p:nvSpPr>
        <p:spPr>
          <a:xfrm>
            <a:off x="7366635" y="25453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8" name="Shape 66"/>
          <p:cNvSpPr/>
          <p:nvPr/>
        </p:nvSpPr>
        <p:spPr>
          <a:xfrm>
            <a:off x="7389495" y="249491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9" name="Shape 67"/>
          <p:cNvSpPr/>
          <p:nvPr/>
        </p:nvSpPr>
        <p:spPr>
          <a:xfrm>
            <a:off x="7409498" y="248985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0" name="Shape 68"/>
          <p:cNvSpPr/>
          <p:nvPr/>
        </p:nvSpPr>
        <p:spPr>
          <a:xfrm>
            <a:off x="7418070" y="252827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1" name="Shape 69"/>
          <p:cNvSpPr/>
          <p:nvPr/>
        </p:nvSpPr>
        <p:spPr>
          <a:xfrm>
            <a:off x="7420928" y="243522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2" name="Shape 70"/>
          <p:cNvSpPr/>
          <p:nvPr/>
        </p:nvSpPr>
        <p:spPr>
          <a:xfrm>
            <a:off x="7420928" y="244962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3" name="Shape 71"/>
          <p:cNvSpPr/>
          <p:nvPr/>
        </p:nvSpPr>
        <p:spPr>
          <a:xfrm>
            <a:off x="7420928" y="250811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4" name="Shape 72"/>
          <p:cNvSpPr/>
          <p:nvPr/>
        </p:nvSpPr>
        <p:spPr>
          <a:xfrm>
            <a:off x="7443788" y="246389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5" name="Shape 73"/>
          <p:cNvSpPr/>
          <p:nvPr/>
        </p:nvSpPr>
        <p:spPr>
          <a:xfrm>
            <a:off x="7449503" y="252399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7472363" y="246267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7515225" y="243544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7566660" y="244896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32460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시험마다 점 하나가 생깁니다. 가로는 그날 외기온도, 세로는 실제와 계산값의 차이입니다.</a:t>
            </a:r>
            <a:endParaRPr lang="en-US" sz="788" dirty="0"/>
          </a:p>
        </p:txBody>
      </p:sp>
      <p:sp>
        <p:nvSpPr>
          <p:cNvPr id="80" name="Text 78"/>
          <p:cNvSpPr txBox="1"/>
          <p:nvPr/>
        </p:nvSpPr>
        <p:spPr>
          <a:xfrm>
            <a:off x="7791450" y="2343150"/>
            <a:ext cx="228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81" name="Text 79"/>
          <p:cNvSpPr txBox="1"/>
          <p:nvPr/>
        </p:nvSpPr>
        <p:spPr>
          <a:xfrm>
            <a:off x="805815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곡선을 배운다</a:t>
            </a:r>
            <a:endParaRPr lang="en-US" sz="938" dirty="0"/>
          </a:p>
        </p:txBody>
      </p:sp>
      <p:sp>
        <p:nvSpPr>
          <p:cNvPr id="82" name="Shape 80"/>
          <p:cNvSpPr/>
          <p:nvPr/>
        </p:nvSpPr>
        <p:spPr>
          <a:xfrm>
            <a:off x="805815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115300" y="2489835"/>
            <a:ext cx="13144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229600" y="2340216"/>
            <a:ext cx="57150" cy="10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286750" y="2341216"/>
            <a:ext cx="57150" cy="222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343900" y="2363419"/>
            <a:ext cx="57150" cy="178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401050" y="2381221"/>
            <a:ext cx="57150" cy="80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8458200" y="2386422"/>
            <a:ext cx="57150" cy="28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8515350" y="2377021"/>
            <a:ext cx="57150" cy="94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8572500" y="2369220"/>
            <a:ext cx="57150" cy="78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629650" y="2369220"/>
            <a:ext cx="57150" cy="22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686800" y="2371420"/>
            <a:ext cx="57150" cy="174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743950" y="2388822"/>
            <a:ext cx="57150" cy="324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801100" y="2421226"/>
            <a:ext cx="57150" cy="414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858250" y="2462632"/>
            <a:ext cx="57150" cy="402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915400" y="2502837"/>
            <a:ext cx="57150" cy="290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972550" y="2531840"/>
            <a:ext cx="57150" cy="112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9029700" y="2535641"/>
            <a:ext cx="57150" cy="74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9086850" y="2514638"/>
            <a:ext cx="57150" cy="210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V="1">
            <a:off x="9144000" y="2487635"/>
            <a:ext cx="57150" cy="270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 flipV="1">
            <a:off x="9201150" y="2463432"/>
            <a:ext cx="57150" cy="242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 flipV="1">
            <a:off x="9258300" y="2447630"/>
            <a:ext cx="57150" cy="158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315450" y="2447630"/>
            <a:ext cx="5715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162925" y="221852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8175784" y="22279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271510" y="230177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328660" y="236317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88668" y="236875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417243" y="237790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445818" y="23863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471535" y="235265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488680" y="2404303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537258" y="237456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580120" y="238076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8588693" y="233895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8597265" y="234785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8628698" y="233041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8631555" y="235721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648700" y="236567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691563" y="237011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694420" y="236337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825865" y="242506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934450" y="251963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940165" y="254314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943023" y="248903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951595" y="249145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000173" y="253089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037320" y="257456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80183" y="250955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80183" y="248703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094470" y="254644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100185" y="25453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9123045" y="249491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143048" y="248985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151620" y="252827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4478" y="243522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54478" y="244962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54478" y="250811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177338" y="246389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183053" y="252399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205913" y="246267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248775" y="243544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300210" y="244896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805815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점을 가장 잘 지나는 곡선을 찾습니다. 점이 없는 온도의 값도 이 곡선이 메웁니다.</a:t>
            </a:r>
            <a:endParaRPr lang="en-US" sz="788" dirty="0"/>
          </a:p>
        </p:txBody>
      </p:sp>
      <p:sp>
        <p:nvSpPr>
          <p:cNvPr id="145" name="Text 143"/>
          <p:cNvSpPr txBox="1"/>
          <p:nvPr/>
        </p:nvSpPr>
        <p:spPr>
          <a:xfrm>
            <a:off x="9525000" y="2343150"/>
            <a:ext cx="228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146" name="Text 144"/>
          <p:cNvSpPr txBox="1"/>
          <p:nvPr/>
        </p:nvSpPr>
        <p:spPr>
          <a:xfrm>
            <a:off x="979170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표를 만든다</a:t>
            </a:r>
            <a:endParaRPr lang="en-US" sz="938" dirty="0"/>
          </a:p>
        </p:txBody>
      </p:sp>
      <p:sp>
        <p:nvSpPr>
          <p:cNvPr id="147" name="Shape 145"/>
          <p:cNvSpPr/>
          <p:nvPr/>
        </p:nvSpPr>
        <p:spPr>
          <a:xfrm>
            <a:off x="979170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0287000" y="2209800"/>
            <a:ext cx="0" cy="4000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886950" y="224790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0344150" y="2247900"/>
            <a:ext cx="800100" cy="0"/>
          </a:xfrm>
          <a:prstGeom prst="line">
            <a:avLst/>
          </a:prstGeom>
          <a:noFill/>
          <a:ln w="12700">
            <a:solidFill>
              <a:srgbClr val="EA002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886950" y="231457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44150" y="231457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9886950" y="238125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10344150" y="2381250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886950" y="244792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44150" y="244792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886950" y="251460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10344150" y="2514600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886950" y="258127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0344150" y="258127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979170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곡선에서 영하 20도부터 40도까지 61개 값을 읽어 신고 표를 만듭니다.</a:t>
            </a:r>
            <a:endParaRPr lang="en-US" sz="788" dirty="0"/>
          </a:p>
        </p:txBody>
      </p:sp>
      <p:sp>
        <p:nvSpPr>
          <p:cNvPr id="162" name="Text 160"/>
          <p:cNvSpPr txBox="1"/>
          <p:nvPr/>
        </p:nvSpPr>
        <p:spPr>
          <a:xfrm>
            <a:off x="6324600" y="3200400"/>
            <a:ext cx="49911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곡선을 쓸지는 여기서 정하지 않았습니다 — 후보 회귀 모델 7가지를 겨루게 한 결과가 다음 장입니다.</a:t>
            </a:r>
            <a:endParaRPr lang="en-US" sz="863" dirty="0"/>
          </a:p>
        </p:txBody>
      </p:sp>
      <p:sp>
        <p:nvSpPr>
          <p:cNvPr id="163" name="Shape 161"/>
          <p:cNvSpPr/>
          <p:nvPr/>
        </p:nvSpPr>
        <p:spPr>
          <a:xfrm>
            <a:off x="685800" y="3895725"/>
            <a:ext cx="10820400" cy="2200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85800" y="377190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819150" y="38290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166" name="Text 164"/>
          <p:cNvSpPr txBox="1"/>
          <p:nvPr/>
        </p:nvSpPr>
        <p:spPr>
          <a:xfrm>
            <a:off x="1009650" y="382905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공급가능용량 산정</a:t>
            </a:r>
            <a:endParaRPr lang="en-US" sz="1013" dirty="0"/>
          </a:p>
        </p:txBody>
      </p:sp>
      <p:sp>
        <p:nvSpPr>
          <p:cNvPr id="167" name="Text 165"/>
          <p:cNvSpPr txBox="1"/>
          <p:nvPr/>
        </p:nvSpPr>
        <p:spPr>
          <a:xfrm>
            <a:off x="9658350" y="3962400"/>
            <a:ext cx="1733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넣고 누른 결과</a:t>
            </a:r>
            <a:endParaRPr lang="en-US" sz="825" dirty="0"/>
          </a:p>
        </p:txBody>
      </p:sp>
      <p:pic>
        <p:nvPicPr>
          <p:cNvPr id="168" name="Image 0" descr="/home/user/Narae-AI/docs/ppt/assets/tool_win_run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4133850"/>
            <a:ext cx="6791325" cy="1962150"/>
          </a:xfrm>
          <a:prstGeom prst="rect">
            <a:avLst/>
          </a:prstGeom>
        </p:spPr>
      </p:pic>
      <p:sp>
        <p:nvSpPr>
          <p:cNvPr id="169" name="Shape 166"/>
          <p:cNvSpPr/>
          <p:nvPr/>
        </p:nvSpPr>
        <p:spPr>
          <a:xfrm>
            <a:off x="866775" y="4124325"/>
            <a:ext cx="6810375" cy="19812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70" name="Text 167"/>
          <p:cNvSpPr txBox="1"/>
          <p:nvPr/>
        </p:nvSpPr>
        <p:spPr>
          <a:xfrm>
            <a:off x="7858125" y="413385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</a:t>
            </a:r>
            <a:endParaRPr lang="en-US" sz="863" dirty="0"/>
          </a:p>
        </p:txBody>
      </p:sp>
      <p:sp>
        <p:nvSpPr>
          <p:cNvPr id="171" name="Text 168"/>
          <p:cNvSpPr txBox="1"/>
          <p:nvPr/>
        </p:nvSpPr>
        <p:spPr>
          <a:xfrm>
            <a:off x="7858125" y="430530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이 화면 하나로 끝납니다.</a:t>
            </a:r>
            <a:endParaRPr lang="en-US" sz="825" dirty="0"/>
          </a:p>
        </p:txBody>
      </p:sp>
      <p:sp>
        <p:nvSpPr>
          <p:cNvPr id="172" name="Text 169"/>
          <p:cNvSpPr txBox="1"/>
          <p:nvPr/>
        </p:nvSpPr>
        <p:spPr>
          <a:xfrm>
            <a:off x="7858125" y="480060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· 보정값 · 현실화</a:t>
            </a:r>
            <a:endParaRPr lang="en-US" sz="863" dirty="0"/>
          </a:p>
        </p:txBody>
      </p:sp>
      <p:sp>
        <p:nvSpPr>
          <p:cNvPr id="173" name="Text 170"/>
          <p:cNvSpPr txBox="1"/>
          <p:nvPr/>
        </p:nvSpPr>
        <p:spPr>
          <a:xfrm>
            <a:off x="7858125" y="497205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계산식으로 낸 값, 온도마다 다른 더하는 값, 실제로 신고하는 값.</a:t>
            </a:r>
            <a:endParaRPr lang="en-US" sz="825" dirty="0"/>
          </a:p>
        </p:txBody>
      </p:sp>
      <p:sp>
        <p:nvSpPr>
          <p:cNvPr id="174" name="Text 171"/>
          <p:cNvSpPr txBox="1"/>
          <p:nvPr/>
        </p:nvSpPr>
        <p:spPr>
          <a:xfrm>
            <a:off x="7858125" y="546735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61구간</a:t>
            </a:r>
            <a:endParaRPr lang="en-US" sz="863" dirty="0"/>
          </a:p>
        </p:txBody>
      </p:sp>
      <p:sp>
        <p:nvSpPr>
          <p:cNvPr id="175" name="Text 172"/>
          <p:cNvSpPr txBox="1"/>
          <p:nvPr/>
        </p:nvSpPr>
        <p:spPr>
          <a:xfrm>
            <a:off x="7858125" y="563880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표를 그대로 입찰에 씁니다. 손으로 옮기는 값은 없습니다.</a:t>
            </a:r>
            <a:endParaRPr lang="en-US" sz="825" dirty="0"/>
          </a:p>
        </p:txBody>
      </p:sp>
      <p:sp>
        <p:nvSpPr>
          <p:cNvPr id="176" name="Shape 17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9" name="Text 17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절차는 도구 하나로 합치고, 보정값은 온도별 곡선으로 내기로 정했습니다.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· 보정 모델 개발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어떤 회귀 모델로 그릴지 정했습니다. 후보 7가지를 같은 데이터로 겨루게 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685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 성적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24975" y="1790700"/>
            <a:ext cx="2066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채점 · 단위 MW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2495550" y="1981200"/>
            <a:ext cx="0" cy="106680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19812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825" dirty="0"/>
          </a:p>
        </p:txBody>
      </p:sp>
      <p:sp>
        <p:nvSpPr>
          <p:cNvPr id="22" name="Shape 20"/>
          <p:cNvSpPr/>
          <p:nvPr/>
        </p:nvSpPr>
        <p:spPr>
          <a:xfrm>
            <a:off x="2495550" y="2000250"/>
            <a:ext cx="47625" cy="857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0" y="19812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6115050" y="19812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6838950" y="19812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 · 가장 부드러운 곡선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876300" y="21336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RQ</a:t>
            </a:r>
            <a:endParaRPr lang="en-US" sz="825" dirty="0"/>
          </a:p>
        </p:txBody>
      </p:sp>
      <p:sp>
        <p:nvSpPr>
          <p:cNvPr id="27" name="Shape 25"/>
          <p:cNvSpPr/>
          <p:nvPr/>
        </p:nvSpPr>
        <p:spPr>
          <a:xfrm>
            <a:off x="2505075" y="2162175"/>
            <a:ext cx="666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0" y="21336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115050" y="21336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+0.004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6838950" y="21336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완만한 물결과 급한 물결을 섞은 곡선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22860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2505075" y="2314575"/>
            <a:ext cx="1524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22860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115050" y="22860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+0.009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6838950" y="22860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거의 부드러운 곡선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24384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2505075" y="2466975"/>
            <a:ext cx="3429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0" y="24384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6115050" y="24384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+0.021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6838950" y="24384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살짝 각이 지는 곡선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876300" y="25908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</a:t>
            </a:r>
            <a:endParaRPr lang="en-US" sz="825" dirty="0"/>
          </a:p>
        </p:txBody>
      </p:sp>
      <p:sp>
        <p:nvSpPr>
          <p:cNvPr id="42" name="Shape 40"/>
          <p:cNvSpPr/>
          <p:nvPr/>
        </p:nvSpPr>
        <p:spPr>
          <a:xfrm>
            <a:off x="2505075" y="2619375"/>
            <a:ext cx="104775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0" y="25908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6115050" y="25908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+0.064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6838950" y="25908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꺾임을 허용하는 곡선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27432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2505075" y="2771775"/>
            <a:ext cx="19335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0" y="27432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788" dirty="0"/>
          </a:p>
        </p:txBody>
      </p:sp>
      <p:sp>
        <p:nvSpPr>
          <p:cNvPr id="49" name="Text 47"/>
          <p:cNvSpPr txBox="1"/>
          <p:nvPr/>
        </p:nvSpPr>
        <p:spPr>
          <a:xfrm>
            <a:off x="6115050" y="27432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+0.118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38950" y="27432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시험에 무게를 더 주는 평균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76300" y="28956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25" dirty="0"/>
          </a:p>
        </p:txBody>
      </p:sp>
      <p:sp>
        <p:nvSpPr>
          <p:cNvPr id="52" name="Shape 50"/>
          <p:cNvSpPr/>
          <p:nvPr/>
        </p:nvSpPr>
        <p:spPr>
          <a:xfrm>
            <a:off x="2505075" y="2924175"/>
            <a:ext cx="28575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86400" y="28956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6115050" y="28956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+0.174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6838950" y="28956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평균 — 가장 단순한 방법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876300" y="308610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막대는 1등과의 차이 · 가운데 숫자가 평균 오차 · 한 회씩 가려 맞혀 보는 방식으로 누적 40회 가운데 39회를 썼습니다(한 회차는 구간평균이 답을 못 내 빠집니다).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76300" y="321945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GP = 가우시안 프로세스 — 값 하나가 아니라 곡선 전체를 후보로 두고 실적에 가장 잘 맞는 곡선을 고릅니다. 뒤에 붙은 이름은 곡선이 얼마나 부드러운지를 정하는 설정입니다.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85800" y="3648075"/>
            <a:ext cx="10820400" cy="2447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5800" y="3524250"/>
            <a:ext cx="2324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19150" y="3581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1" name="Text 59"/>
          <p:cNvSpPr txBox="1"/>
          <p:nvPr/>
        </p:nvSpPr>
        <p:spPr>
          <a:xfrm>
            <a:off x="1009650" y="3581400"/>
            <a:ext cx="1885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출력곡선 비교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10020300" y="3714750"/>
            <a:ext cx="1371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로 그린 결과</a:t>
            </a:r>
            <a:endParaRPr lang="en-US" sz="825" dirty="0"/>
          </a:p>
        </p:txBody>
      </p:sp>
      <p:pic>
        <p:nvPicPr>
          <p:cNvPr id="63" name="Image 0" descr="/home/user/Narae-AI/docs/ppt/assets/tool_win_curve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886200"/>
            <a:ext cx="6296025" cy="2209800"/>
          </a:xfrm>
          <a:prstGeom prst="rect">
            <a:avLst/>
          </a:prstGeom>
        </p:spPr>
      </p:pic>
      <p:sp>
        <p:nvSpPr>
          <p:cNvPr id="64" name="Shape 61"/>
          <p:cNvSpPr/>
          <p:nvPr/>
        </p:nvSpPr>
        <p:spPr>
          <a:xfrm>
            <a:off x="866775" y="3876675"/>
            <a:ext cx="6315075" cy="22288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62825" y="388620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칸</a:t>
            </a:r>
            <a:endParaRPr lang="en-US" sz="863" dirty="0"/>
          </a:p>
        </p:txBody>
      </p:sp>
      <p:sp>
        <p:nvSpPr>
          <p:cNvPr id="66" name="Text 63"/>
          <p:cNvSpPr txBox="1"/>
          <p:nvPr/>
        </p:nvSpPr>
        <p:spPr>
          <a:xfrm>
            <a:off x="7362825" y="405765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이론값(점선)과 도구가 신고하는 값(빨간 선). 두 선이 벌어진 만큼이 그 온도에서 더하는 값입니다.</a:t>
            </a:r>
            <a:endParaRPr lang="en-US" sz="825" dirty="0"/>
          </a:p>
        </p:txBody>
      </p:sp>
      <p:sp>
        <p:nvSpPr>
          <p:cNvPr id="67" name="Text 64"/>
          <p:cNvSpPr txBox="1"/>
          <p:nvPr/>
        </p:nvSpPr>
        <p:spPr>
          <a:xfrm>
            <a:off x="7362825" y="462915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칸</a:t>
            </a:r>
            <a:endParaRPr lang="en-US" sz="863" dirty="0"/>
          </a:p>
        </p:txBody>
      </p:sp>
      <p:sp>
        <p:nvSpPr>
          <p:cNvPr id="68" name="Text 65"/>
          <p:cNvSpPr txBox="1"/>
          <p:nvPr/>
        </p:nvSpPr>
        <p:spPr>
          <a:xfrm>
            <a:off x="7362825" y="480060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더하는 값과 시험 실적 점. 연한 띠는 도구가 함께 내는 90% 범위입니다.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7362825" y="537210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점이 없는 온도</a:t>
            </a:r>
            <a:endParaRPr lang="en-US" sz="863" dirty="0"/>
          </a:p>
        </p:txBody>
      </p:sp>
      <p:sp>
        <p:nvSpPr>
          <p:cNvPr id="70" name="Text 67"/>
          <p:cNvSpPr txBox="1"/>
          <p:nvPr/>
        </p:nvSpPr>
        <p:spPr>
          <a:xfrm>
            <a:off x="7362825" y="554355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곡선이 메웁니다. 다만 시험한 범위를 벗어나면 끝값을 그대로 씁니다.</a:t>
            </a:r>
            <a:endParaRPr lang="en-US" sz="825" dirty="0"/>
          </a:p>
        </p:txBody>
      </p:sp>
      <p:sp>
        <p:nvSpPr>
          <p:cNvPr id="71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4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고른 것이 아니라 성적이 골랐습니다. 그 곡선이 신고 숫자를 만듭니다.</a:t>
            </a:r>
            <a:endParaRPr lang="en-US" sz="116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확인하는 구조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끝나지 않습니다. 돌리고 · 대 보고 · 다시 채점하는 순서를 만들어 두었습니다.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639425" y="1790700"/>
            <a:ext cx="7524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2주에 한 번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시험한다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테스트를 합니다.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27813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908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날짜·시각을 넣는다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도구가 받아옵니다.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48958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53149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차이가 쌓인다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53149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계산 = 점 하나가 늘어납니다.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70104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199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74295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다시 그린다</a:t>
            </a:r>
            <a:endParaRPr lang="en-US" sz="1013" dirty="0"/>
          </a:p>
        </p:txBody>
      </p:sp>
      <p:sp>
        <p:nvSpPr>
          <p:cNvPr id="34" name="Text 32"/>
          <p:cNvSpPr txBox="1"/>
          <p:nvPr/>
        </p:nvSpPr>
        <p:spPr>
          <a:xfrm>
            <a:off x="74295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 전부로 곡선을 다시 그립니다.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91249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3345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95440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쓴다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5440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 표를 새로 만듭니다.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876300" y="255270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26289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809750" y="2628900"/>
            <a:ext cx="9448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평균 어긋난 폭은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1.23 MW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치우침은 −0.04 MW 로 한쪽으로 쏠리지 않았습니다.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85800" y="3057525"/>
            <a:ext cx="10820400" cy="303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33700"/>
            <a:ext cx="2305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908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90850"/>
            <a:ext cx="1866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늘면 다시 채점한다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10048875" y="3124200"/>
            <a:ext cx="13430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모델 선정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956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다시 채점하나 — 시험이 40회뿐입니다. 표본이 적으면 한 번 고른 곡선을 계속 믿을 수 없고, 실적이 늘면 성적이 바뀔 수 있습니다.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34861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채점하나 — 한 회를 가리고 나머지로 그 회를 맞혀 보는 채점을 후보 7가지에 모두 다시 돌려 성적을 새로 매깁니다. 앞서는 모델이 바뀌면 그때 바꿉니다.</a:t>
            </a:r>
            <a:endParaRPr lang="en-US" sz="938" dirty="0"/>
          </a:p>
        </p:txBody>
      </p:sp>
      <p:pic>
        <p:nvPicPr>
          <p:cNvPr id="49" name="Image 0" descr="/home/user/Narae-AI/docs/ppt/assets/tool_win_sel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733800"/>
            <a:ext cx="7924800" cy="230505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866775" y="3724275"/>
            <a:ext cx="7943850" cy="23241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010650" y="3771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25" dirty="0"/>
          </a:p>
        </p:txBody>
      </p:sp>
      <p:sp>
        <p:nvSpPr>
          <p:cNvPr id="52" name="Text 49"/>
          <p:cNvSpPr txBox="1"/>
          <p:nvPr/>
        </p:nvSpPr>
        <p:spPr>
          <a:xfrm>
            <a:off x="9010650" y="3924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성적이 가장 좋은 모델에 도구가 표시합니다.</a:t>
            </a:r>
            <a:endParaRPr lang="en-US" sz="788" dirty="0"/>
          </a:p>
        </p:txBody>
      </p:sp>
      <p:sp>
        <p:nvSpPr>
          <p:cNvPr id="53" name="Text 50"/>
          <p:cNvSpPr txBox="1"/>
          <p:nvPr/>
        </p:nvSpPr>
        <p:spPr>
          <a:xfrm>
            <a:off x="9010650" y="4533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열</a:t>
            </a:r>
            <a:endParaRPr lang="en-US" sz="825" dirty="0"/>
          </a:p>
        </p:txBody>
      </p:sp>
      <p:sp>
        <p:nvSpPr>
          <p:cNvPr id="54" name="Text 51"/>
          <p:cNvSpPr txBox="1"/>
          <p:nvPr/>
        </p:nvSpPr>
        <p:spPr>
          <a:xfrm>
            <a:off x="9010650" y="4686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· RMSE · R² · 편차 · 과대 신고 건수를 한자리에서 봅니다.</a:t>
            </a:r>
            <a:endParaRPr lang="en-US" sz="788" dirty="0"/>
          </a:p>
        </p:txBody>
      </p:sp>
      <p:sp>
        <p:nvSpPr>
          <p:cNvPr id="55" name="Text 52"/>
          <p:cNvSpPr txBox="1"/>
          <p:nvPr/>
        </p:nvSpPr>
        <p:spPr>
          <a:xfrm>
            <a:off x="9010650" y="5295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endParaRPr lang="en-US" sz="825" dirty="0"/>
          </a:p>
        </p:txBody>
      </p:sp>
      <p:sp>
        <p:nvSpPr>
          <p:cNvPr id="56" name="Text 53"/>
          <p:cNvSpPr txBox="1"/>
          <p:nvPr/>
        </p:nvSpPr>
        <p:spPr>
          <a:xfrm>
            <a:off x="9010650" y="5448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가 앞섭니다. 이 표가 다음 회차에 다시 계산됩니다.</a:t>
            </a:r>
            <a:endParaRPr lang="en-US" sz="788" dirty="0"/>
          </a:p>
        </p:txBody>
      </p:sp>
      <p:sp>
        <p:nvSpPr>
          <p:cNvPr id="57" name="Shape 5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0" name="Text 5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달을 나란히 돌려 확인했고, 실적이 늘 때마다 도구가 스스로 다시 채점합니다.</a:t>
            </a:r>
            <a:endParaRPr lang="en-US" sz="116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정량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39회에 예전 방법과 새 방법을 각각 써서 채점했습니다.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81600" y="1847850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95500"/>
            <a:ext cx="12573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228850" y="21907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628900" y="20193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2286000"/>
            <a:ext cx="571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91050" y="20383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0764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3431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2895600"/>
            <a:ext cx="49149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날짜·시각 입력으로 바뀌었습니다.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6134100" y="1781175"/>
            <a:ext cx="53721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41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64579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163050" y="18478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39회 · 왼쪽 종전 → 오른쪽 도구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20478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20383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8629650" y="20574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858250" y="20193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9305925" y="20764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0668000" y="20478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39" name="Shape 37"/>
          <p:cNvSpPr/>
          <p:nvPr/>
        </p:nvSpPr>
        <p:spPr>
          <a:xfrm>
            <a:off x="6324600" y="23050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4600" y="23907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만큼 못 낸 횟수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67700" y="23812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8543925" y="24003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772525" y="23622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8972550" y="24193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668000" y="23907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6324600" y="26479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600" y="27336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신고한 양 합계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8267700" y="27241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49" name="Text 47"/>
          <p:cNvSpPr txBox="1"/>
          <p:nvPr/>
        </p:nvSpPr>
        <p:spPr>
          <a:xfrm>
            <a:off x="8543925" y="2743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772525" y="27051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8972550" y="27622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10668000" y="27336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3267075"/>
            <a:ext cx="10820400" cy="1057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" y="314325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9150" y="3200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009650" y="320040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어떻게 쟀나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486775" y="333375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신고한 기록이 아니라 되돌려 본 채점입니다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8763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668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가린다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10668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한 회를 빼 둡니다.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32956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5052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36957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나머지로 맞혀 본다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36957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가린 회차의 온도만 주고 보정값을 예측하게 합니다.</a:t>
            </a:r>
            <a:endParaRPr lang="en-US" sz="788" dirty="0"/>
          </a:p>
        </p:txBody>
      </p:sp>
      <p:sp>
        <p:nvSpPr>
          <p:cNvPr id="65" name="Text 63"/>
          <p:cNvSpPr txBox="1"/>
          <p:nvPr/>
        </p:nvSpPr>
        <p:spPr>
          <a:xfrm>
            <a:off x="59245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61341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3246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실제와 견준다</a:t>
            </a:r>
            <a:endParaRPr lang="en-US" sz="975" dirty="0"/>
          </a:p>
        </p:txBody>
      </p:sp>
      <p:sp>
        <p:nvSpPr>
          <p:cNvPr id="68" name="Text 66"/>
          <p:cNvSpPr txBox="1"/>
          <p:nvPr/>
        </p:nvSpPr>
        <p:spPr>
          <a:xfrm>
            <a:off x="63246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예측한 값과 그날 실제 값의 차이를 적습니다.</a:t>
            </a:r>
            <a:endParaRPr lang="en-US" sz="788" dirty="0"/>
          </a:p>
        </p:txBody>
      </p:sp>
      <p:sp>
        <p:nvSpPr>
          <p:cNvPr id="69" name="Text 67"/>
          <p:cNvSpPr txBox="1"/>
          <p:nvPr/>
        </p:nvSpPr>
        <p:spPr>
          <a:xfrm>
            <a:off x="85534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7630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9535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돌아가며 반복</a:t>
            </a:r>
            <a:endParaRPr lang="en-US" sz="975" dirty="0"/>
          </a:p>
        </p:txBody>
      </p:sp>
      <p:sp>
        <p:nvSpPr>
          <p:cNvPr id="72" name="Text 70"/>
          <p:cNvSpPr txBox="1"/>
          <p:nvPr/>
        </p:nvSpPr>
        <p:spPr>
          <a:xfrm>
            <a:off x="89535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번씩 다 가려 보고 평균을 냅니다.</a:t>
            </a:r>
            <a:endParaRPr lang="en-US" sz="788" dirty="0"/>
          </a:p>
        </p:txBody>
      </p:sp>
      <p:sp>
        <p:nvSpPr>
          <p:cNvPr id="73" name="Text 71"/>
          <p:cNvSpPr txBox="1"/>
          <p:nvPr/>
        </p:nvSpPr>
        <p:spPr>
          <a:xfrm>
            <a:off x="876300" y="40576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방식도 같은 회차에 「늘 같은 값 하나」를 더해 똑같이 채점했습니다. 그래서 두 값을 나란히 견줄 수 있습니다. 40회 가운데 39회를 썼습니다 — 한 회차는 그 온도 구간에 시험이 그것뿐이어서 가리면 비교 대상 방식 하나가 답을 못 냅니다.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85800" y="4562475"/>
            <a:ext cx="10820400" cy="1533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5800" y="44386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19150" y="4495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009650" y="44958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10534650" y="462915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876300" y="4800600"/>
            <a:ext cx="400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신고해서 못 받던 용량요금 (한 해)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76300" y="4991100"/>
            <a:ext cx="171450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650" dirty="0"/>
          </a:p>
        </p:txBody>
      </p:sp>
      <p:sp>
        <p:nvSpPr>
          <p:cNvPr id="81" name="Text 79"/>
          <p:cNvSpPr txBox="1"/>
          <p:nvPr/>
        </p:nvSpPr>
        <p:spPr>
          <a:xfrm>
            <a:off x="2647950" y="5067300"/>
            <a:ext cx="26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82" name="Text 80"/>
          <p:cNvSpPr txBox="1"/>
          <p:nvPr/>
        </p:nvSpPr>
        <p:spPr>
          <a:xfrm>
            <a:off x="2990850" y="4953000"/>
            <a:ext cx="20955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876300" y="53911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7750" y="5372100"/>
            <a:ext cx="41910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5,759만원을 되찾습니다</a:t>
            </a:r>
            <a:endParaRPr lang="en-US" sz="1425" dirty="0"/>
          </a:p>
        </p:txBody>
      </p:sp>
      <p:sp>
        <p:nvSpPr>
          <p:cNvPr id="85" name="Text 83"/>
          <p:cNvSpPr txBox="1"/>
          <p:nvPr/>
        </p:nvSpPr>
        <p:spPr>
          <a:xfrm>
            <a:off x="1047750" y="5638800"/>
            <a:ext cx="4191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신고한 양이 줄어든 만큼입니다.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5772150" y="4781550"/>
            <a:ext cx="0" cy="11430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096000" y="48006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863" dirty="0"/>
          </a:p>
        </p:txBody>
      </p:sp>
      <p:sp>
        <p:nvSpPr>
          <p:cNvPr id="88" name="Text 86"/>
          <p:cNvSpPr txBox="1"/>
          <p:nvPr/>
        </p:nvSpPr>
        <p:spPr>
          <a:xfrm>
            <a:off x="7905750" y="48006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096000" y="50482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7905750" y="50482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6096000" y="52959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863" dirty="0"/>
          </a:p>
        </p:txBody>
      </p:sp>
      <p:sp>
        <p:nvSpPr>
          <p:cNvPr id="92" name="Text 90"/>
          <p:cNvSpPr txBox="1"/>
          <p:nvPr/>
        </p:nvSpPr>
        <p:spPr>
          <a:xfrm>
            <a:off x="7905750" y="52959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6096000" y="55435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7905750" y="55435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벌칙금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6096000" y="584835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정확해졌습니다. 처음에 세운 목표 두 가지입니다.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정성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 어렵지만 일하는 방식에서 달라진 것들입니다.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가늠한다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705975" y="1790700"/>
            <a:ext cx="1685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 시뮬레이션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43100"/>
            <a:ext cx="8953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대기압을 넣으면 그 조건의 이론값 · 더하는 값 · 신고값이 한 번에 나옵니다.</a:t>
            </a:r>
            <a:endParaRPr lang="en-US" sz="900" dirty="0"/>
          </a:p>
        </p:txBody>
      </p:sp>
      <p:pic>
        <p:nvPicPr>
          <p:cNvPr id="21" name="Image 0" descr="/home/user/Narae-AI/docs/ppt/assets/tool_win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171700"/>
            <a:ext cx="8953500" cy="296227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66775" y="2162175"/>
            <a:ext cx="8972550" cy="2981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3150" y="19621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</a:t>
            </a:r>
            <a:endParaRPr lang="en-US" sz="863" dirty="0"/>
          </a:p>
        </p:txBody>
      </p:sp>
      <p:sp>
        <p:nvSpPr>
          <p:cNvPr id="24" name="Text 21"/>
          <p:cNvSpPr txBox="1"/>
          <p:nvPr/>
        </p:nvSpPr>
        <p:spPr>
          <a:xfrm>
            <a:off x="9963150" y="21336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끝나야 그날 숫자를 알았습니다.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9963150" y="29527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endParaRPr lang="en-US" sz="863" dirty="0"/>
          </a:p>
        </p:txBody>
      </p:sp>
      <p:sp>
        <p:nvSpPr>
          <p:cNvPr id="26" name="Text 23"/>
          <p:cNvSpPr txBox="1"/>
          <p:nvPr/>
        </p:nvSpPr>
        <p:spPr>
          <a:xfrm>
            <a:off x="9963150" y="31242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계산해 봅니다.</a:t>
            </a:r>
            <a:endParaRPr lang="en-US" sz="825" dirty="0"/>
          </a:p>
        </p:txBody>
      </p:sp>
      <p:sp>
        <p:nvSpPr>
          <p:cNvPr id="27" name="Text 24"/>
          <p:cNvSpPr txBox="1"/>
          <p:nvPr/>
        </p:nvSpPr>
        <p:spPr>
          <a:xfrm>
            <a:off x="9963150" y="39433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때</a:t>
            </a:r>
            <a:endParaRPr lang="en-US" sz="863" dirty="0"/>
          </a:p>
        </p:txBody>
      </p:sp>
      <p:sp>
        <p:nvSpPr>
          <p:cNvPr id="28" name="Text 25"/>
          <p:cNvSpPr txBox="1"/>
          <p:nvPr/>
        </p:nvSpPr>
        <p:spPr>
          <a:xfrm>
            <a:off x="9963150" y="41148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계획을 세울 때, 그리고 결과가 이상할 때.</a:t>
            </a:r>
            <a:endParaRPr lang="en-US" sz="825" dirty="0"/>
          </a:p>
        </p:txBody>
      </p:sp>
      <p:sp>
        <p:nvSpPr>
          <p:cNvPr id="29" name="Shape 26"/>
          <p:cNvSpPr/>
          <p:nvPr/>
        </p:nvSpPr>
        <p:spPr>
          <a:xfrm>
            <a:off x="685800" y="54578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340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19150" y="53911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2" name="Text 29"/>
          <p:cNvSpPr txBox="1"/>
          <p:nvPr/>
        </p:nvSpPr>
        <p:spPr>
          <a:xfrm>
            <a:off x="1009650" y="53911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달라진 것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8763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287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놓치던 것을 도구가 본다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0287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 세 가지를 도구가 걸러냅니다.</a:t>
            </a:r>
            <a:endParaRPr lang="en-US" sz="825" dirty="0"/>
          </a:p>
        </p:txBody>
      </p:sp>
      <p:sp>
        <p:nvSpPr>
          <p:cNvPr id="36" name="Shape 33"/>
          <p:cNvSpPr/>
          <p:nvPr/>
        </p:nvSpPr>
        <p:spPr>
          <a:xfrm>
            <a:off x="42291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3815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339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근거가 남는다</a:t>
            </a:r>
            <a:endParaRPr lang="en-US" sz="1013" dirty="0"/>
          </a:p>
        </p:txBody>
      </p:sp>
      <p:sp>
        <p:nvSpPr>
          <p:cNvPr id="39" name="Text 36"/>
          <p:cNvSpPr txBox="1"/>
          <p:nvPr/>
        </p:nvSpPr>
        <p:spPr>
          <a:xfrm>
            <a:off x="45339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회차가 어떻게 쓰였는지 화면에 남습니다.</a:t>
            </a:r>
            <a:endParaRPr lang="en-US" sz="825" dirty="0"/>
          </a:p>
        </p:txBody>
      </p:sp>
      <p:sp>
        <p:nvSpPr>
          <p:cNvPr id="40" name="Shape 37"/>
          <p:cNvSpPr/>
          <p:nvPr/>
        </p:nvSpPr>
        <p:spPr>
          <a:xfrm>
            <a:off x="77343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867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391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013" dirty="0"/>
          </a:p>
        </p:txBody>
      </p:sp>
      <p:sp>
        <p:nvSpPr>
          <p:cNvPr id="43" name="Text 40"/>
          <p:cNvSpPr txBox="1"/>
          <p:nvPr/>
        </p:nvSpPr>
        <p:spPr>
          <a:xfrm>
            <a:off x="80391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도구 안에 들어 있습니다.</a:t>
            </a:r>
            <a:endParaRPr lang="en-US" sz="825" dirty="0"/>
          </a:p>
        </p:txBody>
      </p:sp>
      <p:sp>
        <p:nvSpPr>
          <p:cNvPr id="44" name="Shape 41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7" name="Text 44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말고도, 일하는 방식이 사람 손에서 도구 쪽으로 옮겨 왔습니다.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더 정확하게 만들고, 입찰을 하는 다른 사업소로 넓힙니다.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362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어디가 비어 있나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515475" y="1790700"/>
            <a:ext cx="18764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 · 온도대별 시험 횟수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7051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76350" y="2638425"/>
            <a:ext cx="419100" cy="666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300" y="24574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2회</a:t>
            </a:r>
            <a:endParaRPr lang="en-US" sz="1088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이하</a:t>
            </a:r>
            <a:endParaRPr lang="en-US" sz="788" dirty="0"/>
          </a:p>
        </p:txBody>
      </p:sp>
      <p:sp>
        <p:nvSpPr>
          <p:cNvPr id="24" name="Shape 22"/>
          <p:cNvSpPr/>
          <p:nvPr/>
        </p:nvSpPr>
        <p:spPr>
          <a:xfrm>
            <a:off x="20955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2250" y="2457450"/>
            <a:ext cx="419100" cy="2476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362200" y="22764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7회</a:t>
            </a:r>
            <a:endParaRPr lang="en-US" sz="1088" dirty="0"/>
          </a:p>
        </p:txBody>
      </p:sp>
      <p:sp>
        <p:nvSpPr>
          <p:cNvPr id="27" name="Text 25"/>
          <p:cNvSpPr txBox="1"/>
          <p:nvPr/>
        </p:nvSpPr>
        <p:spPr>
          <a:xfrm>
            <a:off x="23622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10℃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35814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481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481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31" name="Text 29"/>
          <p:cNvSpPr txBox="1"/>
          <p:nvPr/>
        </p:nvSpPr>
        <p:spPr>
          <a:xfrm>
            <a:off x="38481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~ 15℃</a:t>
            </a:r>
            <a:endParaRPr lang="en-US" sz="788" dirty="0"/>
          </a:p>
        </p:txBody>
      </p:sp>
      <p:sp>
        <p:nvSpPr>
          <p:cNvPr id="32" name="Shape 30"/>
          <p:cNvSpPr/>
          <p:nvPr/>
        </p:nvSpPr>
        <p:spPr>
          <a:xfrm>
            <a:off x="50673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34050" y="2600325"/>
            <a:ext cx="419100" cy="1047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334000" y="24193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3회</a:t>
            </a:r>
            <a:endParaRPr lang="en-US" sz="1088" dirty="0"/>
          </a:p>
        </p:txBody>
      </p:sp>
      <p:sp>
        <p:nvSpPr>
          <p:cNvPr id="35" name="Text 33"/>
          <p:cNvSpPr txBox="1"/>
          <p:nvPr/>
        </p:nvSpPr>
        <p:spPr>
          <a:xfrm>
            <a:off x="53340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~ 20℃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5532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19950" y="2667000"/>
            <a:ext cx="419100" cy="381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19900" y="24860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1회</a:t>
            </a:r>
            <a:endParaRPr lang="en-US" sz="1088" dirty="0"/>
          </a:p>
        </p:txBody>
      </p:sp>
      <p:sp>
        <p:nvSpPr>
          <p:cNvPr id="39" name="Text 37"/>
          <p:cNvSpPr txBox="1"/>
          <p:nvPr/>
        </p:nvSpPr>
        <p:spPr>
          <a:xfrm>
            <a:off x="68199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80391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058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3058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43" name="Text 41"/>
          <p:cNvSpPr txBox="1"/>
          <p:nvPr/>
        </p:nvSpPr>
        <p:spPr>
          <a:xfrm>
            <a:off x="83058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~ 30℃</a:t>
            </a:r>
            <a:endParaRPr lang="en-US" sz="788" dirty="0"/>
          </a:p>
        </p:txBody>
      </p:sp>
      <p:sp>
        <p:nvSpPr>
          <p:cNvPr id="44" name="Shape 42"/>
          <p:cNvSpPr/>
          <p:nvPr/>
        </p:nvSpPr>
        <p:spPr>
          <a:xfrm>
            <a:off x="95250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1750" y="2171700"/>
            <a:ext cx="419100" cy="5334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91700" y="19907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15회</a:t>
            </a:r>
            <a:endParaRPr lang="en-US" sz="1088" dirty="0"/>
          </a:p>
        </p:txBody>
      </p:sp>
      <p:sp>
        <p:nvSpPr>
          <p:cNvPr id="47" name="Text 45"/>
          <p:cNvSpPr txBox="1"/>
          <p:nvPr/>
        </p:nvSpPr>
        <p:spPr>
          <a:xfrm>
            <a:off x="97917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~ 41℃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295275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주황은 3회 이하 — 더 쌓아야 하는 온도대입니다. 신고는 −20 ~ 40℃ 전부인데 실적은 −1.9 ~ 37.9℃ 뿐이라, 그 밖은 끝값을 그대로 씁니다.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85800" y="3324225"/>
            <a:ext cx="10820400" cy="27717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5800" y="32004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1009650" y="32575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계획</a:t>
            </a:r>
            <a:endParaRPr lang="en-US" sz="1013" dirty="0"/>
          </a:p>
        </p:txBody>
      </p:sp>
      <p:sp>
        <p:nvSpPr>
          <p:cNvPr id="53" name="Text 51"/>
          <p:cNvSpPr txBox="1"/>
          <p:nvPr/>
        </p:nvSpPr>
        <p:spPr>
          <a:xfrm>
            <a:off x="10134600" y="3390900"/>
            <a:ext cx="1257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→ 2028</a:t>
            </a:r>
            <a:endParaRPr lang="en-US" sz="825" dirty="0"/>
          </a:p>
        </p:txBody>
      </p:sp>
      <p:sp>
        <p:nvSpPr>
          <p:cNvPr id="54" name="Shape 52"/>
          <p:cNvSpPr/>
          <p:nvPr/>
        </p:nvSpPr>
        <p:spPr>
          <a:xfrm>
            <a:off x="2076450" y="3600450"/>
            <a:ext cx="0" cy="24384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76300" y="35814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 하반기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2033588" y="36052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286000" y="35623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 · 빈 온도대 채우기</a:t>
            </a:r>
            <a:endParaRPr lang="en-US" sz="1088" dirty="0"/>
          </a:p>
        </p:txBody>
      </p:sp>
      <p:sp>
        <p:nvSpPr>
          <p:cNvPr id="58" name="Text 56"/>
          <p:cNvSpPr txBox="1"/>
          <p:nvPr/>
        </p:nvSpPr>
        <p:spPr>
          <a:xfrm>
            <a:off x="2286000" y="37528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도구에 넣습니다. 20~25℃ 1회, 15~20℃ 3회처럼 얇은 온도대부터 채웁니다.</a:t>
            </a:r>
            <a:endParaRPr lang="en-US" sz="825" dirty="0"/>
          </a:p>
        </p:txBody>
      </p:sp>
      <p:sp>
        <p:nvSpPr>
          <p:cNvPr id="59" name="Shape 57"/>
          <p:cNvSpPr/>
          <p:nvPr/>
        </p:nvSpPr>
        <p:spPr>
          <a:xfrm>
            <a:off x="2047875" y="39814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286000" y="39243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예보 자동 취득</a:t>
            </a:r>
            <a:endParaRPr lang="en-US" sz="1088" dirty="0"/>
          </a:p>
        </p:txBody>
      </p:sp>
      <p:sp>
        <p:nvSpPr>
          <p:cNvPr id="61" name="Text 59"/>
          <p:cNvSpPr txBox="1"/>
          <p:nvPr/>
        </p:nvSpPr>
        <p:spPr>
          <a:xfrm>
            <a:off x="2286000" y="41148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예보 파일을 손으로 올립니다. 이 한 단계를 자동화하면 날짜만 넣으면 끝입니다.</a:t>
            </a:r>
            <a:endParaRPr lang="en-US" sz="825" dirty="0"/>
          </a:p>
        </p:txBody>
      </p:sp>
      <p:sp>
        <p:nvSpPr>
          <p:cNvPr id="62" name="Shape 60"/>
          <p:cNvSpPr/>
          <p:nvPr/>
        </p:nvSpPr>
        <p:spPr>
          <a:xfrm>
            <a:off x="2286000" y="42100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76300" y="43053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64" name="Shape 62"/>
          <p:cNvSpPr/>
          <p:nvPr/>
        </p:nvSpPr>
        <p:spPr>
          <a:xfrm>
            <a:off x="2033588" y="43291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286000" y="42862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구간 전체 실적 확보 · 회귀 모델 재선정</a:t>
            </a:r>
            <a:endParaRPr lang="en-US" sz="1088" dirty="0"/>
          </a:p>
        </p:txBody>
      </p:sp>
      <p:sp>
        <p:nvSpPr>
          <p:cNvPr id="66" name="Text 64"/>
          <p:cNvSpPr txBox="1"/>
          <p:nvPr/>
        </p:nvSpPr>
        <p:spPr>
          <a:xfrm>
            <a:off x="2286000" y="447675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한 번 더 지나면 신고 구간 전체에 실적이 붙습니다. 그 데이터로 후보 7가지를 다시 채점(LOOCV)해 최적 회귀 모델을 다시 고릅니다 — 지금 1등이 계속 1등이라는 보장은 없습니다.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2286000" y="472440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76300" y="481965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69" name="Shape 67"/>
          <p:cNvSpPr/>
          <p:nvPr/>
        </p:nvSpPr>
        <p:spPr>
          <a:xfrm>
            <a:off x="2033588" y="484346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2286000" y="48006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다른 사업소로 · 파주 · 여주 · 하남</a:t>
            </a:r>
            <a:endParaRPr lang="en-US" sz="1088" dirty="0"/>
          </a:p>
        </p:txBody>
      </p:sp>
      <p:sp>
        <p:nvSpPr>
          <p:cNvPr id="71" name="Text 69"/>
          <p:cNvSpPr txBox="1"/>
          <p:nvPr/>
        </p:nvSpPr>
        <p:spPr>
          <a:xfrm>
            <a:off x="2286000" y="499110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절차는 그대로 옮기고 특성 곡선표만 그 사업소 것으로 바꿔 넣습니다 — 곡선은 코드가 아니라 온도 61줄 표 파일로 읽습니다. 보정 곡선은 그 사업소 실적으로 새로 쌓습니다.</a:t>
            </a:r>
            <a:endParaRPr lang="en-US" sz="825" dirty="0"/>
          </a:p>
        </p:txBody>
      </p:sp>
      <p:sp>
        <p:nvSpPr>
          <p:cNvPr id="72" name="Shape 70"/>
          <p:cNvSpPr/>
          <p:nvPr/>
        </p:nvSpPr>
        <p:spPr>
          <a:xfrm>
            <a:off x="2286000" y="52387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76300" y="53340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2028</a:t>
            </a:r>
            <a:endParaRPr lang="en-US" sz="863" dirty="0"/>
          </a:p>
        </p:txBody>
      </p:sp>
      <p:sp>
        <p:nvSpPr>
          <p:cNvPr id="74" name="Shape 72"/>
          <p:cNvSpPr/>
          <p:nvPr/>
        </p:nvSpPr>
        <p:spPr>
          <a:xfrm>
            <a:off x="2033588" y="53578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286000" y="53149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 전후 구분</a:t>
            </a:r>
            <a:endParaRPr lang="en-US" sz="1088" dirty="0"/>
          </a:p>
        </p:txBody>
      </p:sp>
      <p:sp>
        <p:nvSpPr>
          <p:cNvPr id="76" name="Text 74"/>
          <p:cNvSpPr txBox="1"/>
          <p:nvPr/>
        </p:nvSpPr>
        <p:spPr>
          <a:xfrm>
            <a:off x="2286000" y="55054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대정비를 하면 출력 특성이 달라집니다. 정비 이력을 회차에 표시해 두고 정비 뒤 실적으로 곡선을 다시 세웁니다.</a:t>
            </a:r>
            <a:endParaRPr lang="en-US" sz="825" dirty="0"/>
          </a:p>
        </p:txBody>
      </p:sp>
      <p:sp>
        <p:nvSpPr>
          <p:cNvPr id="77" name="Shape 75"/>
          <p:cNvSpPr/>
          <p:nvPr/>
        </p:nvSpPr>
        <p:spPr>
          <a:xfrm>
            <a:off x="2047875" y="57340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286000" y="56769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 표준 절차로</a:t>
            </a:r>
            <a:endParaRPr lang="en-US" sz="1088" dirty="0"/>
          </a:p>
        </p:txBody>
      </p:sp>
      <p:sp>
        <p:nvSpPr>
          <p:cNvPr id="79" name="Text 77"/>
          <p:cNvSpPr txBox="1"/>
          <p:nvPr/>
        </p:nvSpPr>
        <p:spPr>
          <a:xfrm>
            <a:off x="2286000" y="58674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시험부터 신고까지의 순서를 표준 절차서로 정리합니다. 담당자가 바뀌어도 같은 숫자가 나오게 합니다.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쌓일수록 촘촘해지고, 다른 사업소로 넓힐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돌아보면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24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막히는 데가 많았고, 하나씩 뚫으면서 배웠습니다.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685800" y="1781175"/>
            <a:ext cx="52959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1" name="Text 9"/>
          <p:cNvSpPr txBox="1"/>
          <p:nvPr/>
        </p:nvSpPr>
        <p:spPr>
          <a:xfrm>
            <a:off x="10096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20193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분야를 공부해서 직접 풀어 보고 싶었습니다.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247900"/>
            <a:ext cx="4914900" cy="635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 AI 를 써서 해 본 적 없는 분야를 공부하고 스스로 풀어내는 성취감을 맛보고 싶었습니다. 그 마음이 끝까지 가게 한 힘이었습니다.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6134100" y="1781175"/>
            <a:ext cx="53721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7" name="Text 15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013" dirty="0"/>
          </a:p>
        </p:txBody>
      </p:sp>
      <p:sp>
        <p:nvSpPr>
          <p:cNvPr id="18" name="Text 16"/>
          <p:cNvSpPr txBox="1"/>
          <p:nvPr/>
        </p:nvSpPr>
        <p:spPr>
          <a:xfrm>
            <a:off x="10887075" y="1847850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6324600" y="2038350"/>
            <a:ext cx="38100" cy="190500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700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47700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 · 분석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647700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병행운전에서 문제점과 개선사항을 찾아 넘겼습니다.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8782050" y="20002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34450" y="2038350"/>
            <a:ext cx="38100" cy="1905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8685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08685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 · 반영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908685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685800" y="3114675"/>
            <a:ext cx="10820400" cy="29813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2990850"/>
            <a:ext cx="18859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9150" y="30480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009650" y="3048000"/>
            <a:ext cx="14478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곳 다섯 군데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582150" y="3181350"/>
            <a:ext cx="1809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 → 한 일 → 남은 것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352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막혔던 것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3848100" y="33528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일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63000" y="3352800"/>
            <a:ext cx="24955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76300" y="35052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6300" y="36004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분야였다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848100" y="36004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모델도, 공급가능용량 테스트 절차도 우리 일이 아니었습니다. AI 를 길잡이로 삼아 공부하고, 담당자에게 자문을 구하고, 시험을 직접 해 봤습니다.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763000" y="36195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15400" y="36004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절차를 우리 말로 설명할 수 있게 됐습니다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76300" y="4019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6300" y="40957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값을 어떻게 받아오나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848100" y="40957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붙이고 값이 오가는지 먼저 시험했습니다.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8763000" y="41148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915400" y="40957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계측값을 RiMS 에서 자동으로 받습니다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76300" y="45148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6300" y="45910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하나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3848100" y="45910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7가지를 놓고 같은 데이터로 겨루게 했습니다. 사람이 아니라 성적이 골랐습니다.</a:t>
            </a:r>
            <a:endParaRPr lang="en-US" sz="863" dirty="0"/>
          </a:p>
        </p:txBody>
      </p:sp>
      <p:sp>
        <p:nvSpPr>
          <p:cNvPr id="49" name="Shape 47"/>
          <p:cNvSpPr/>
          <p:nvPr/>
        </p:nvSpPr>
        <p:spPr>
          <a:xfrm>
            <a:off x="8763000" y="46101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915400" y="45910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성적으로 고른 회귀 모델 하나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6300" y="5010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6300" y="50863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3848100" y="50863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검사를 도구 안에 넣었습니다.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8763000" y="51054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15400" y="50863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 때마다 다시 검사합니다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6300" y="55054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6300" y="55816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3848100" y="55816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온도마다 하나씩 맞춰 봤습니다. 어긋난 여섯 군데를 찾아 고쳤습니다.</a:t>
            </a:r>
            <a:endParaRPr lang="en-US" sz="863" dirty="0"/>
          </a:p>
        </p:txBody>
      </p:sp>
      <p:sp>
        <p:nvSpPr>
          <p:cNvPr id="59" name="Shape 57"/>
          <p:cNvSpPr/>
          <p:nvPr/>
        </p:nvSpPr>
        <p:spPr>
          <a:xfrm>
            <a:off x="8763000" y="56007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15400" y="55816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도구 하나로 풀어냈습니다. 그 과정이 이 과제의 절반입니다.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42900"/>
            <a:ext cx="6667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   ·   2026. 09.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15265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419350"/>
            <a:ext cx="85725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20"/>
              </a:lnSpc>
              <a:buNone/>
            </a:pPr>
            <a:r>
              <a:rPr lang="en-US" sz="4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14700"/>
            <a:ext cx="3810000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90"/>
              </a:lnSpc>
              <a:buNone/>
            </a:pPr>
            <a:r>
              <a:rPr lang="en-US" sz="2325" b="1" spc="20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&amp; A</a:t>
            </a:r>
            <a:endParaRPr lang="en-US" sz="2325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90950"/>
            <a:ext cx="66675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주시면 해당 장을 띄워 설명하겠습니다.</a:t>
            </a:r>
            <a:endParaRPr lang="en-US" sz="1125" dirty="0"/>
          </a:p>
        </p:txBody>
      </p:sp>
      <p:pic>
        <p:nvPicPr>
          <p:cNvPr id="9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295900"/>
            <a:ext cx="1866900" cy="35242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63055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743700" y="63246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2026-09-18T07:05:53Z</dcterms:created>
  <dcterms:modified xsi:type="dcterms:W3CDTF">2026-09-18T07:05:53Z</dcterms:modified>
</cp:coreProperties>
</file>