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4295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4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산정 절차를 하나로 합치고, 누적 40회 실적으로 온도별 보정 곡선을 만들었습니다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1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→ 원인 → 해결 → 효과 → 확산 순서로 이어집니다.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4" name="Text 42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9" name="Text 47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5" name="Text 53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0" name="Text 58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이 과제는 그 신고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팀 업무인데도 과제로 잡은 이유가 셋 있습니다.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의 도움을 받아 직접 공부하고 풀어내는 성취감을 느껴 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사람이 손으로 옮겼습니다. 한 회에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 보고 싶은 분야였고, 줄일 수 있는 일도 눈에 보였습니다.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값은 늘 하나였습니다. 그래서 신고 숫자가 실제와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591800" y="1847850"/>
            <a:ext cx="8001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두 가지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합칩니다.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쌓아서 더하는 값을 온도마다 다르게 만듭니다.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6419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번(누적 40회) · 채점 39회(까닭은 9장 각주)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낼 수 있는데 적게 신고하고, 여름에는 못 낼 만큼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 39회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온도 하나로 설명됩니다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흔들리는 폭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쓰는 값입니다 (두 번 반영됩니다)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거의 같이 움직입니다 (0.95)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±0.08 은 그냥 흔들리는 폭이라, 그보다 작은 차이는 의미가 없습니다. 채점은 한 회를 가리고 나머지로 그 회를 맞혀 보는 방식입니다.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하나로 대부분이 설명된다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추우면 차이가 커지고, 더우면 작아집니다. 온도만 넣어도 대부분 맞습니다.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오르면 차이가 줄어듭니다 (반대 방향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해야 합니다. 입력도 온도여야 표가 나옵니다.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낡아서 그렇다고 보고서까지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조작(IGV turn-up)을 하지 않고 측정한 날이었습니다. 덜 올린 채로 쟀으니 낮게 나왔습니다.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보고서는 취소했습니다.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빼 보니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두 가지였습니다. 각 목표를 무엇으로 풀지 정했습니다.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52959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① 절차를 하나로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429125" y="1790700"/>
            <a:ext cx="1438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도구를 새로 만들었나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812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47750" y="19621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4개는 사람이 손으로 잇는다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1047750" y="21336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사이를 사람이 값으로 잇습니다. 한곳에 넣으면 옮겨 적을 일이 없어집니다.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876300" y="24384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7750" y="24193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계산은 엑셀 수식으로 어렵다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1047750" y="25908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곡선은 엑셀 수식으로 짜기 어렵습니다. 프로그램에서 계산해야 합니다.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876300" y="28956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47750" y="28765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둘 곳이 필요하다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1047750" y="30480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회차를 쌓아 두고, 늘 때마다 곡선을 다시 그려야 합니다. 파일로는 관리가 되지 않습니다.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876300" y="3371850"/>
            <a:ext cx="4914900" cy="14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엑셀을 고치는 대신 </a:t>
            </a:r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하나로 합쳤습니다</a:t>
            </a:r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63" dirty="0"/>
          </a:p>
        </p:txBody>
      </p:sp>
      <p:sp>
        <p:nvSpPr>
          <p:cNvPr id="30" name="Text 28"/>
          <p:cNvSpPr txBox="1"/>
          <p:nvPr/>
        </p:nvSpPr>
        <p:spPr>
          <a:xfrm>
            <a:off x="876300" y="3524250"/>
            <a:ext cx="49149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계산식과 RiMS 취득 방식은 기존 엑셀에 있던 것을 그대로 옮겼습니다.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6134100" y="1724025"/>
            <a:ext cx="53721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② 온도별 보정값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344150" y="1790700"/>
            <a:ext cx="1047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→ 곡선 → 표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점을 모은다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63246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8175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29375" y="221852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2234" y="22279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1" name="Shape 39"/>
          <p:cNvSpPr/>
          <p:nvPr/>
        </p:nvSpPr>
        <p:spPr>
          <a:xfrm>
            <a:off x="6537960" y="23017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2" name="Shape 40"/>
          <p:cNvSpPr/>
          <p:nvPr/>
        </p:nvSpPr>
        <p:spPr>
          <a:xfrm>
            <a:off x="6595110" y="23631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6655118" y="236875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4" name="Shape 42"/>
          <p:cNvSpPr/>
          <p:nvPr/>
        </p:nvSpPr>
        <p:spPr>
          <a:xfrm>
            <a:off x="6683693" y="237790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5" name="Shape 43"/>
          <p:cNvSpPr/>
          <p:nvPr/>
        </p:nvSpPr>
        <p:spPr>
          <a:xfrm>
            <a:off x="6712268" y="2386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6" name="Shape 44"/>
          <p:cNvSpPr/>
          <p:nvPr/>
        </p:nvSpPr>
        <p:spPr>
          <a:xfrm>
            <a:off x="6737985" y="23526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7" name="Shape 45"/>
          <p:cNvSpPr/>
          <p:nvPr/>
        </p:nvSpPr>
        <p:spPr>
          <a:xfrm>
            <a:off x="6755130" y="2404303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8" name="Shape 46"/>
          <p:cNvSpPr/>
          <p:nvPr/>
        </p:nvSpPr>
        <p:spPr>
          <a:xfrm>
            <a:off x="6803708" y="23745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9" name="Shape 47"/>
          <p:cNvSpPr/>
          <p:nvPr/>
        </p:nvSpPr>
        <p:spPr>
          <a:xfrm>
            <a:off x="6846570" y="23807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0" name="Shape 48"/>
          <p:cNvSpPr/>
          <p:nvPr/>
        </p:nvSpPr>
        <p:spPr>
          <a:xfrm>
            <a:off x="6855143" y="233895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1" name="Shape 49"/>
          <p:cNvSpPr/>
          <p:nvPr/>
        </p:nvSpPr>
        <p:spPr>
          <a:xfrm>
            <a:off x="6863715" y="234785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2" name="Shape 50"/>
          <p:cNvSpPr/>
          <p:nvPr/>
        </p:nvSpPr>
        <p:spPr>
          <a:xfrm>
            <a:off x="6895148" y="233041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3" name="Shape 51"/>
          <p:cNvSpPr/>
          <p:nvPr/>
        </p:nvSpPr>
        <p:spPr>
          <a:xfrm>
            <a:off x="6898005" y="235721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4" name="Shape 52"/>
          <p:cNvSpPr/>
          <p:nvPr/>
        </p:nvSpPr>
        <p:spPr>
          <a:xfrm>
            <a:off x="6915150" y="23656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5" name="Shape 53"/>
          <p:cNvSpPr/>
          <p:nvPr/>
        </p:nvSpPr>
        <p:spPr>
          <a:xfrm>
            <a:off x="6958013" y="237011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6" name="Shape 54"/>
          <p:cNvSpPr/>
          <p:nvPr/>
        </p:nvSpPr>
        <p:spPr>
          <a:xfrm>
            <a:off x="6960870" y="23633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7" name="Shape 55"/>
          <p:cNvSpPr/>
          <p:nvPr/>
        </p:nvSpPr>
        <p:spPr>
          <a:xfrm>
            <a:off x="7092315" y="242506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8" name="Shape 56"/>
          <p:cNvSpPr/>
          <p:nvPr/>
        </p:nvSpPr>
        <p:spPr>
          <a:xfrm>
            <a:off x="7200900" y="251963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9" name="Shape 57"/>
          <p:cNvSpPr/>
          <p:nvPr/>
        </p:nvSpPr>
        <p:spPr>
          <a:xfrm>
            <a:off x="7206615" y="25431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0" name="Shape 58"/>
          <p:cNvSpPr/>
          <p:nvPr/>
        </p:nvSpPr>
        <p:spPr>
          <a:xfrm>
            <a:off x="7209473" y="2489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1" name="Shape 59"/>
          <p:cNvSpPr/>
          <p:nvPr/>
        </p:nvSpPr>
        <p:spPr>
          <a:xfrm>
            <a:off x="7218045" y="24914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2" name="Shape 60"/>
          <p:cNvSpPr/>
          <p:nvPr/>
        </p:nvSpPr>
        <p:spPr>
          <a:xfrm>
            <a:off x="7266623" y="253089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3" name="Shape 61"/>
          <p:cNvSpPr/>
          <p:nvPr/>
        </p:nvSpPr>
        <p:spPr>
          <a:xfrm>
            <a:off x="7303770" y="257456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4" name="Shape 62"/>
          <p:cNvSpPr/>
          <p:nvPr/>
        </p:nvSpPr>
        <p:spPr>
          <a:xfrm>
            <a:off x="7346633" y="25095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5" name="Shape 63"/>
          <p:cNvSpPr/>
          <p:nvPr/>
        </p:nvSpPr>
        <p:spPr>
          <a:xfrm>
            <a:off x="7346633" y="2487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6" name="Shape 64"/>
          <p:cNvSpPr/>
          <p:nvPr/>
        </p:nvSpPr>
        <p:spPr>
          <a:xfrm>
            <a:off x="7360920" y="25464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7" name="Shape 65"/>
          <p:cNvSpPr/>
          <p:nvPr/>
        </p:nvSpPr>
        <p:spPr>
          <a:xfrm>
            <a:off x="7366635" y="2545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8" name="Shape 66"/>
          <p:cNvSpPr/>
          <p:nvPr/>
        </p:nvSpPr>
        <p:spPr>
          <a:xfrm>
            <a:off x="7389495" y="249491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9" name="Shape 67"/>
          <p:cNvSpPr/>
          <p:nvPr/>
        </p:nvSpPr>
        <p:spPr>
          <a:xfrm>
            <a:off x="7409498" y="24898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0" name="Shape 68"/>
          <p:cNvSpPr/>
          <p:nvPr/>
        </p:nvSpPr>
        <p:spPr>
          <a:xfrm>
            <a:off x="7418070" y="25282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1" name="Shape 69"/>
          <p:cNvSpPr/>
          <p:nvPr/>
        </p:nvSpPr>
        <p:spPr>
          <a:xfrm>
            <a:off x="7420928" y="243522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2" name="Shape 70"/>
          <p:cNvSpPr/>
          <p:nvPr/>
        </p:nvSpPr>
        <p:spPr>
          <a:xfrm>
            <a:off x="7420928" y="244962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3" name="Shape 71"/>
          <p:cNvSpPr/>
          <p:nvPr/>
        </p:nvSpPr>
        <p:spPr>
          <a:xfrm>
            <a:off x="7420928" y="250811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4" name="Shape 72"/>
          <p:cNvSpPr/>
          <p:nvPr/>
        </p:nvSpPr>
        <p:spPr>
          <a:xfrm>
            <a:off x="7443788" y="246389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5" name="Shape 73"/>
          <p:cNvSpPr/>
          <p:nvPr/>
        </p:nvSpPr>
        <p:spPr>
          <a:xfrm>
            <a:off x="7449503" y="252399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7472363" y="24626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7515225" y="243544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7566660" y="244896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3246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시험마다 점 하나가 생깁니다. 가로는 그날 외기온도, 세로는 실제와 계산값의 차이입니다.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779145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805815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곡선을 그린다</a:t>
            </a:r>
            <a:endParaRPr lang="en-US" sz="938" dirty="0"/>
          </a:p>
        </p:txBody>
      </p:sp>
      <p:sp>
        <p:nvSpPr>
          <p:cNvPr id="82" name="Shape 80"/>
          <p:cNvSpPr/>
          <p:nvPr/>
        </p:nvSpPr>
        <p:spPr>
          <a:xfrm>
            <a:off x="805815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1530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229600" y="2340216"/>
            <a:ext cx="57150" cy="10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86750" y="2341216"/>
            <a:ext cx="57150" cy="22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343900" y="2363419"/>
            <a:ext cx="57150" cy="17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01050" y="2381221"/>
            <a:ext cx="57150" cy="80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8458200" y="2386422"/>
            <a:ext cx="57150" cy="28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8515350" y="2377021"/>
            <a:ext cx="57150" cy="9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8572500" y="2369220"/>
            <a:ext cx="57150" cy="78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629650" y="2369220"/>
            <a:ext cx="57150" cy="22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686800" y="2371420"/>
            <a:ext cx="57150" cy="174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43950" y="2388822"/>
            <a:ext cx="57150" cy="324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801100" y="2421226"/>
            <a:ext cx="57150" cy="414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858250" y="2462632"/>
            <a:ext cx="57150" cy="402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915400" y="2502837"/>
            <a:ext cx="57150" cy="290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972550" y="2531840"/>
            <a:ext cx="57150" cy="112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9029700" y="2535641"/>
            <a:ext cx="57150" cy="7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9086850" y="2514638"/>
            <a:ext cx="57150" cy="21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9144000" y="2487635"/>
            <a:ext cx="57150" cy="27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9201150" y="2463432"/>
            <a:ext cx="57150" cy="24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9258300" y="2447630"/>
            <a:ext cx="57150" cy="15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315450" y="2447630"/>
            <a:ext cx="5715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162925" y="221852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175784" y="22279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271510" y="23017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328660" y="23631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88668" y="236875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417243" y="237790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445818" y="2386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471535" y="23526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488680" y="2404303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537258" y="23745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580120" y="23807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588693" y="233895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597265" y="234785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8628698" y="233041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631555" y="235721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648700" y="23656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691563" y="237011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694420" y="23633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825865" y="242506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934450" y="251963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940165" y="25431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943023" y="2489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951595" y="24914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000173" y="253089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037320" y="257456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80183" y="25095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80183" y="2487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094470" y="25464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100185" y="2545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123045" y="249491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143048" y="24898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151620" y="25282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4478" y="243522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54478" y="244962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54478" y="250811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177338" y="246389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183053" y="252399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205913" y="24626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248775" y="243544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300210" y="244896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05815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점을 가장 잘 지나는 곡선을 찾습니다. 점이 없는 온도의 값도 이 곡선이 메웁니다.</a:t>
            </a:r>
            <a:endParaRPr lang="en-US" sz="788" dirty="0"/>
          </a:p>
        </p:txBody>
      </p:sp>
      <p:sp>
        <p:nvSpPr>
          <p:cNvPr id="145" name="Text 143"/>
          <p:cNvSpPr txBox="1"/>
          <p:nvPr/>
        </p:nvSpPr>
        <p:spPr>
          <a:xfrm>
            <a:off x="952500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46" name="Text 144"/>
          <p:cNvSpPr txBox="1"/>
          <p:nvPr/>
        </p:nvSpPr>
        <p:spPr>
          <a:xfrm>
            <a:off x="97917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표를 만든다</a:t>
            </a:r>
            <a:endParaRPr lang="en-US" sz="938" dirty="0"/>
          </a:p>
        </p:txBody>
      </p:sp>
      <p:sp>
        <p:nvSpPr>
          <p:cNvPr id="147" name="Shape 145"/>
          <p:cNvSpPr/>
          <p:nvPr/>
        </p:nvSpPr>
        <p:spPr>
          <a:xfrm>
            <a:off x="97917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0287000" y="2209800"/>
            <a:ext cx="0" cy="4000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886950" y="22479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344150" y="2247900"/>
            <a:ext cx="800100" cy="0"/>
          </a:xfrm>
          <a:prstGeom prst="line">
            <a:avLst/>
          </a:prstGeom>
          <a:noFill/>
          <a:ln w="12700">
            <a:solidFill>
              <a:srgbClr val="EA002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886950" y="23145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44150" y="23145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886950" y="238125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344150" y="238125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886950" y="244792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44150" y="244792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886950" y="25146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10344150" y="251460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886950" y="25812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0344150" y="25812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97917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곡선에서 영하 20도부터 40도까지 61개 값을 읽어 신고 표를 만듭니다.</a:t>
            </a:r>
            <a:endParaRPr lang="en-US" sz="788" dirty="0"/>
          </a:p>
        </p:txBody>
      </p:sp>
      <p:sp>
        <p:nvSpPr>
          <p:cNvPr id="162" name="Text 160"/>
          <p:cNvSpPr txBox="1"/>
          <p:nvPr/>
        </p:nvSpPr>
        <p:spPr>
          <a:xfrm>
            <a:off x="6324600" y="3200400"/>
            <a:ext cx="49911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곡선을 쓸지는 다음 장에서 정합니다. 후보 회귀 모델 7가지를 같은 데이터로 시험했습니다.</a:t>
            </a:r>
            <a:endParaRPr lang="en-US" sz="863" dirty="0"/>
          </a:p>
        </p:txBody>
      </p:sp>
      <p:sp>
        <p:nvSpPr>
          <p:cNvPr id="163" name="Shape 161"/>
          <p:cNvSpPr/>
          <p:nvPr/>
        </p:nvSpPr>
        <p:spPr>
          <a:xfrm>
            <a:off x="685800" y="3895725"/>
            <a:ext cx="10820400" cy="2200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85800" y="377190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819150" y="38290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166" name="Text 164"/>
          <p:cNvSpPr txBox="1"/>
          <p:nvPr/>
        </p:nvSpPr>
        <p:spPr>
          <a:xfrm>
            <a:off x="1009650" y="382905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공급가능용량 산정</a:t>
            </a:r>
            <a:endParaRPr lang="en-US" sz="1013" dirty="0"/>
          </a:p>
        </p:txBody>
      </p:sp>
      <p:sp>
        <p:nvSpPr>
          <p:cNvPr id="167" name="Text 165"/>
          <p:cNvSpPr txBox="1"/>
          <p:nvPr/>
        </p:nvSpPr>
        <p:spPr>
          <a:xfrm>
            <a:off x="9658350" y="3962400"/>
            <a:ext cx="1733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넣고 누른 결과</a:t>
            </a:r>
            <a:endParaRPr lang="en-US" sz="825" dirty="0"/>
          </a:p>
        </p:txBody>
      </p:sp>
      <p:pic>
        <p:nvPicPr>
          <p:cNvPr id="168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4133850"/>
            <a:ext cx="6791325" cy="1962150"/>
          </a:xfrm>
          <a:prstGeom prst="rect">
            <a:avLst/>
          </a:prstGeom>
        </p:spPr>
      </p:pic>
      <p:sp>
        <p:nvSpPr>
          <p:cNvPr id="169" name="Shape 166"/>
          <p:cNvSpPr/>
          <p:nvPr/>
        </p:nvSpPr>
        <p:spPr>
          <a:xfrm>
            <a:off x="866775" y="4124325"/>
            <a:ext cx="6810375" cy="19812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70" name="Text 167"/>
          <p:cNvSpPr txBox="1"/>
          <p:nvPr/>
        </p:nvSpPr>
        <p:spPr>
          <a:xfrm>
            <a:off x="7858125" y="41338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</a:t>
            </a:r>
            <a:endParaRPr lang="en-US" sz="863" dirty="0"/>
          </a:p>
        </p:txBody>
      </p:sp>
      <p:sp>
        <p:nvSpPr>
          <p:cNvPr id="171" name="Text 168"/>
          <p:cNvSpPr txBox="1"/>
          <p:nvPr/>
        </p:nvSpPr>
        <p:spPr>
          <a:xfrm>
            <a:off x="7858125" y="43053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이 화면 하나로 끝납니다.</a:t>
            </a:r>
            <a:endParaRPr lang="en-US" sz="825" dirty="0"/>
          </a:p>
        </p:txBody>
      </p:sp>
      <p:sp>
        <p:nvSpPr>
          <p:cNvPr id="172" name="Text 169"/>
          <p:cNvSpPr txBox="1"/>
          <p:nvPr/>
        </p:nvSpPr>
        <p:spPr>
          <a:xfrm>
            <a:off x="7858125" y="480060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· 보정값 · 현실화</a:t>
            </a:r>
            <a:endParaRPr lang="en-US" sz="863" dirty="0"/>
          </a:p>
        </p:txBody>
      </p:sp>
      <p:sp>
        <p:nvSpPr>
          <p:cNvPr id="173" name="Text 170"/>
          <p:cNvSpPr txBox="1"/>
          <p:nvPr/>
        </p:nvSpPr>
        <p:spPr>
          <a:xfrm>
            <a:off x="7858125" y="497205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값, 온도마다 다른 더하는 값, 실제로 신고하는 값.</a:t>
            </a:r>
            <a:endParaRPr lang="en-US" sz="825" dirty="0"/>
          </a:p>
        </p:txBody>
      </p:sp>
      <p:sp>
        <p:nvSpPr>
          <p:cNvPr id="174" name="Text 171"/>
          <p:cNvSpPr txBox="1"/>
          <p:nvPr/>
        </p:nvSpPr>
        <p:spPr>
          <a:xfrm>
            <a:off x="7858125" y="54673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</a:t>
            </a:r>
            <a:endParaRPr lang="en-US" sz="863" dirty="0"/>
          </a:p>
        </p:txBody>
      </p:sp>
      <p:sp>
        <p:nvSpPr>
          <p:cNvPr id="175" name="Text 172"/>
          <p:cNvSpPr txBox="1"/>
          <p:nvPr/>
        </p:nvSpPr>
        <p:spPr>
          <a:xfrm>
            <a:off x="7858125" y="56388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그대로 입찰에 씁니다. 손으로 옮기는 값은 없습니다.</a:t>
            </a:r>
            <a:endParaRPr lang="en-US" sz="825" dirty="0"/>
          </a:p>
        </p:txBody>
      </p:sp>
      <p:sp>
        <p:nvSpPr>
          <p:cNvPr id="176" name="Shape 17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9" name="Text 17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절차는 도구 하나로 합치고, 보정값은 온도별 곡선으로 내기로 정했습니다.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어떤 회귀 모델로 그릴지 정했습니다. 후보 7가지를 같은 데이터로 시험했습니다.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685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066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1981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495550" y="2000250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1981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1981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6838950" y="1981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 · 가장 부드러운 곡선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33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25" dirty="0"/>
          </a:p>
        </p:txBody>
      </p:sp>
      <p:sp>
        <p:nvSpPr>
          <p:cNvPr id="27" name="Shape 25"/>
          <p:cNvSpPr/>
          <p:nvPr/>
        </p:nvSpPr>
        <p:spPr>
          <a:xfrm>
            <a:off x="2505075" y="2162175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33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33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6838950" y="2133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물결과 급한 물결을 섞은 곡선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2860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505075" y="2314575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2860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2860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6838950" y="22860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부드러운 곡선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4384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505075" y="2466975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4384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4384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6838950" y="24384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살짝 각이 지는 곡선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5908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2505075" y="2619375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5908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5908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6838950" y="25908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꺾이는 곳을 따라가는 곡선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743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2505075" y="2771775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743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743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38950" y="2743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시험을 더 많이 반영한 평균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2895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2505075" y="2924175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2895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2895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6838950" y="2895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평균 — 가장 단순한 방법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0861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막대는 1등과의 차이 · 가운데 숫자는 평균 오차 · 한 회씩 가려 맞혀 보는 방식으로 누적 40회 가운데 39회를 썼습니다(한 회차는 구간평균이 답을 못 내 빠집니다).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2194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프로세스. 선을 하나만 긋지 않습니다. 점을 지나는 선을 여러 개 그리고 그 평균을 답으로 냅니다. 뒤에 붙은 이름은 곡선을 얼마나 부드럽게 그을지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648075"/>
            <a:ext cx="10820400" cy="2447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52425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581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58140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10020300" y="3714750"/>
            <a:ext cx="1371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로 그린 결과</a:t>
            </a:r>
            <a:endParaRPr lang="en-US" sz="825" dirty="0"/>
          </a:p>
        </p:txBody>
      </p:sp>
      <p:pic>
        <p:nvPicPr>
          <p:cNvPr id="63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886200"/>
            <a:ext cx="6296025" cy="220980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876675"/>
            <a:ext cx="6315075" cy="22288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62825" y="38862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7362825" y="40576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선). 두 선이 벌어진 만큼이 그 온도에서 더하는 값입니다.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7362825" y="462915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7362825" y="480060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더하는 값과 시험 실적 점. 연한 띠는 도구가 함께 내는 90% 범위입니다.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7362825" y="53721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점이 없는 온도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7362825" y="55435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메웁니다. 다만 시험한 범위를 벗어나면 끝값을 그대로 씁니다.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곡선이 신고 숫자를 만듭니다.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끝내지 않습니다. 2주마다 실적을 넣고, 곡선을 다시 그리고, 모델을 다시 채점합니다.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어긋난 폭은 평균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였고, 한쪽으로 쏠리지도 않았습니다 (치우침 −0.04 MW).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2305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866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늘면 다시 채점한다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10048875" y="3124200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모델 선정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956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채점하나 — 시험이 아직 40회뿐입니다. 실적이 늘면 성적이 바뀔 수 있습니다.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34861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채점하나 — 한 회를 가리고 나머지로 맞혀 보는 채점을 후보 7가지에 다시 돌립니다. 1등이 바뀌면 쓰는 모델을 바꿉니다.</a:t>
            </a:r>
            <a:endParaRPr lang="en-US" sz="938" dirty="0"/>
          </a:p>
        </p:txBody>
      </p:sp>
      <p:pic>
        <p:nvPicPr>
          <p:cNvPr id="49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733800"/>
            <a:ext cx="7924800" cy="230505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866775" y="3724275"/>
            <a:ext cx="7943850" cy="23241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010650" y="3771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52" name="Text 49"/>
          <p:cNvSpPr txBox="1"/>
          <p:nvPr/>
        </p:nvSpPr>
        <p:spPr>
          <a:xfrm>
            <a:off x="9010650" y="3924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성적이 가장 좋은 모델을 도구가 표시해 줍니다.</a:t>
            </a:r>
            <a:endParaRPr lang="en-US" sz="788" dirty="0"/>
          </a:p>
        </p:txBody>
      </p:sp>
      <p:sp>
        <p:nvSpPr>
          <p:cNvPr id="53" name="Text 50"/>
          <p:cNvSpPr txBox="1"/>
          <p:nvPr/>
        </p:nvSpPr>
        <p:spPr>
          <a:xfrm>
            <a:off x="9010650" y="4533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열</a:t>
            </a:r>
            <a:endParaRPr lang="en-US" sz="825" dirty="0"/>
          </a:p>
        </p:txBody>
      </p:sp>
      <p:sp>
        <p:nvSpPr>
          <p:cNvPr id="54" name="Text 51"/>
          <p:cNvSpPr txBox="1"/>
          <p:nvPr/>
        </p:nvSpPr>
        <p:spPr>
          <a:xfrm>
            <a:off x="9010650" y="4686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· RMSE · R² · 편차 · 과대 신고 건수를 한 화면에서 봅니다.</a:t>
            </a:r>
            <a:endParaRPr lang="en-US" sz="788" dirty="0"/>
          </a:p>
        </p:txBody>
      </p:sp>
      <p:sp>
        <p:nvSpPr>
          <p:cNvPr id="55" name="Text 52"/>
          <p:cNvSpPr txBox="1"/>
          <p:nvPr/>
        </p:nvSpPr>
        <p:spPr>
          <a:xfrm>
            <a:off x="9010650" y="5295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825" dirty="0"/>
          </a:p>
        </p:txBody>
      </p:sp>
      <p:sp>
        <p:nvSpPr>
          <p:cNvPr id="56" name="Text 53"/>
          <p:cNvSpPr txBox="1"/>
          <p:nvPr/>
        </p:nvSpPr>
        <p:spPr>
          <a:xfrm>
            <a:off x="9010650" y="5448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가 1등입니다. 다음 회차에 이 표를 다시 계산합니다.</a:t>
            </a:r>
            <a:endParaRPr lang="en-US" sz="788" dirty="0"/>
          </a:p>
        </p:txBody>
      </p:sp>
      <p:sp>
        <p:nvSpPr>
          <p:cNvPr id="57" name="Shape 5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동안 기존 방식과 나란히 돌려 확인했습니다. 실적이 늘 때마다 도구가 다시 채점합니다.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895600"/>
            <a:ext cx="49149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날짜·시각 입력으로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267075"/>
            <a:ext cx="10820400" cy="1057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14325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00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0040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3375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모델이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576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하나뿐이라, 가리면 종전 방식이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62475"/>
            <a:ext cx="10820400" cy="1533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4386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95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958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62915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80060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9110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6730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95300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911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7210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63880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8155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8006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8006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50482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50482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959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959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5435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5435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84835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정확해졌습니다. 처음에 세운 목표 두 가지를 다 이뤘습니다.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적기는 어렵지만, 일하는 방식이 이렇게 달라졌습니다.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더하는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계산해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숫자뿐 아니라 일하는 방식도 사람 손에서 도구로 넘어왔습니다.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 만들고, 입찰하는 다른 사업소로 넓힙니다.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362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어디가 비어 있나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515475" y="1790700"/>
            <a:ext cx="18764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· 온도대별 시험 횟수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7051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6350" y="2638425"/>
            <a:ext cx="419100" cy="666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300" y="24574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2회</a:t>
            </a:r>
            <a:endParaRPr lang="en-US" sz="1088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이하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20955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2457450"/>
            <a:ext cx="419100" cy="2476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2200" y="22764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7회</a:t>
            </a:r>
            <a:endParaRPr lang="en-US" sz="1088" dirty="0"/>
          </a:p>
        </p:txBody>
      </p:sp>
      <p:sp>
        <p:nvSpPr>
          <p:cNvPr id="27" name="Text 25"/>
          <p:cNvSpPr txBox="1"/>
          <p:nvPr/>
        </p:nvSpPr>
        <p:spPr>
          <a:xfrm>
            <a:off x="23622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10℃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35814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481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481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31" name="Text 29"/>
          <p:cNvSpPr txBox="1"/>
          <p:nvPr/>
        </p:nvSpPr>
        <p:spPr>
          <a:xfrm>
            <a:off x="38481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15℃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0673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4050" y="2600325"/>
            <a:ext cx="419100" cy="1047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34000" y="24193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3회</a:t>
            </a:r>
            <a:endParaRPr lang="en-US" sz="1088" dirty="0"/>
          </a:p>
        </p:txBody>
      </p:sp>
      <p:sp>
        <p:nvSpPr>
          <p:cNvPr id="35" name="Text 33"/>
          <p:cNvSpPr txBox="1"/>
          <p:nvPr/>
        </p:nvSpPr>
        <p:spPr>
          <a:xfrm>
            <a:off x="53340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~ 20℃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5532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19950" y="2667000"/>
            <a:ext cx="419100" cy="381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9900" y="24860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1회</a:t>
            </a:r>
            <a:endParaRPr lang="en-US" sz="1088" dirty="0"/>
          </a:p>
        </p:txBody>
      </p:sp>
      <p:sp>
        <p:nvSpPr>
          <p:cNvPr id="39" name="Text 37"/>
          <p:cNvSpPr txBox="1"/>
          <p:nvPr/>
        </p:nvSpPr>
        <p:spPr>
          <a:xfrm>
            <a:off x="68199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80391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58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058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43" name="Text 41"/>
          <p:cNvSpPr txBox="1"/>
          <p:nvPr/>
        </p:nvSpPr>
        <p:spPr>
          <a:xfrm>
            <a:off x="83058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~ 30℃</a:t>
            </a:r>
            <a:endParaRPr lang="en-US" sz="788" dirty="0"/>
          </a:p>
        </p:txBody>
      </p:sp>
      <p:sp>
        <p:nvSpPr>
          <p:cNvPr id="44" name="Shape 42"/>
          <p:cNvSpPr/>
          <p:nvPr/>
        </p:nvSpPr>
        <p:spPr>
          <a:xfrm>
            <a:off x="95250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1750" y="2171700"/>
            <a:ext cx="419100" cy="5334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91700" y="19907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15회</a:t>
            </a:r>
            <a:endParaRPr lang="en-US" sz="1088" dirty="0"/>
          </a:p>
        </p:txBody>
      </p:sp>
      <p:sp>
        <p:nvSpPr>
          <p:cNvPr id="47" name="Text 45"/>
          <p:cNvSpPr txBox="1"/>
          <p:nvPr/>
        </p:nvSpPr>
        <p:spPr>
          <a:xfrm>
            <a:off x="97917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~ 41℃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295275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주황은 3회 이하 — 더 쌓아야 하는 온도대입니다. 신고는 −20 ~ 40℃ 전부인데 실적은 −1.9 ~ 37.9℃ 뿐이라, 그 밖은 끝값을 그대로 씁니다.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85800" y="3324225"/>
            <a:ext cx="10820400" cy="2771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32004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1009650" y="32575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계획</a:t>
            </a:r>
            <a:endParaRPr lang="en-US" sz="1013" dirty="0"/>
          </a:p>
        </p:txBody>
      </p:sp>
      <p:sp>
        <p:nvSpPr>
          <p:cNvPr id="53" name="Text 51"/>
          <p:cNvSpPr txBox="1"/>
          <p:nvPr/>
        </p:nvSpPr>
        <p:spPr>
          <a:xfrm>
            <a:off x="10134600" y="3390900"/>
            <a:ext cx="1257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→ 2028</a:t>
            </a:r>
            <a:endParaRPr lang="en-US" sz="825" dirty="0"/>
          </a:p>
        </p:txBody>
      </p:sp>
      <p:sp>
        <p:nvSpPr>
          <p:cNvPr id="54" name="Shape 52"/>
          <p:cNvSpPr/>
          <p:nvPr/>
        </p:nvSpPr>
        <p:spPr>
          <a:xfrm>
            <a:off x="2076450" y="3600450"/>
            <a:ext cx="0" cy="24384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6300" y="35814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하반기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2033588" y="36052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86000" y="35623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 · 빈 온도대 채우기</a:t>
            </a:r>
            <a:endParaRPr lang="en-US" sz="1088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7528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 20~25℃ 1회, 15~20℃ 3회처럼 시험이 적은 온도대부터 채웁니다.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2047875" y="39814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286000" y="39243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예보 자동 취득</a:t>
            </a:r>
            <a:endParaRPr lang="en-US" sz="1088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41148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예보 파일을 손으로 올립니다. 이 한 단계를 자동화하면 날짜만 넣으면 끝입니다.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2286000" y="42100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6300" y="43053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2033588" y="43291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86000" y="42862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구간 전체 실적 확보 · 회귀 모델 재선정</a:t>
            </a:r>
            <a:endParaRPr lang="en-US" sz="1088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447675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한 번 더 지나면 신고 구간 전체에 실적이 생깁니다. 그 데이터로 후보 7가지를 다시 채점(LOOCV)해 가장 성적이 좋은 모델을 다시 고릅니다 — 지금 1등이 계속 1등이라는 보장은 없습니다.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2286000" y="472440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6300" y="481965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2033588" y="484346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286000" y="48006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다른 사업소로 · 파주 · 여주 · 하남</a:t>
            </a:r>
            <a:endParaRPr lang="en-US" sz="1088" dirty="0"/>
          </a:p>
        </p:txBody>
      </p:sp>
      <p:sp>
        <p:nvSpPr>
          <p:cNvPr id="71" name="Text 69"/>
          <p:cNvSpPr txBox="1"/>
          <p:nvPr/>
        </p:nvSpPr>
        <p:spPr>
          <a:xfrm>
            <a:off x="2286000" y="499110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절차는 그대로 옮기고 특성 곡선표만 그 사업소 것으로 바꿔 넣습니다 — 도구는 곡선을 표 파일(온도 61줄)로 읽습니다. 보정 곡선은 그 사업소 실적으로 새로 쌓습니다.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2286000" y="52387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6300" y="53340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2028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2033588" y="53578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286000" y="53149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 전후 구분</a:t>
            </a:r>
            <a:endParaRPr lang="en-US" sz="1088" dirty="0"/>
          </a:p>
        </p:txBody>
      </p:sp>
      <p:sp>
        <p:nvSpPr>
          <p:cNvPr id="76" name="Text 74"/>
          <p:cNvSpPr txBox="1"/>
          <p:nvPr/>
        </p:nvSpPr>
        <p:spPr>
          <a:xfrm>
            <a:off x="2286000" y="55054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대정비를 하면 출력 특성이 달라집니다. 정비 이력을 회차에 표시해 두고 정비 뒤 실적으로 곡선을 다시 세웁니다.</a:t>
            </a:r>
            <a:endParaRPr lang="en-US" sz="825" dirty="0"/>
          </a:p>
        </p:txBody>
      </p:sp>
      <p:sp>
        <p:nvSpPr>
          <p:cNvPr id="77" name="Shape 75"/>
          <p:cNvSpPr/>
          <p:nvPr/>
        </p:nvSpPr>
        <p:spPr>
          <a:xfrm>
            <a:off x="2047875" y="57340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286000" y="56769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 표준 절차로</a:t>
            </a:r>
            <a:endParaRPr lang="en-US" sz="1088" dirty="0"/>
          </a:p>
        </p:txBody>
      </p:sp>
      <p:sp>
        <p:nvSpPr>
          <p:cNvPr id="79" name="Text 77"/>
          <p:cNvSpPr txBox="1"/>
          <p:nvPr/>
        </p:nvSpPr>
        <p:spPr>
          <a:xfrm>
            <a:off x="2286000" y="58674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시험부터 신고까지의 순서를 표준 절차서로 정리합니다. 담당자가 바뀌어도 같은 숫자가 나오게 합니다.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실적이 쌓일수록 촘촘해지고, 다른 사업소로 넓힐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느껴 보고 싶었습니다. 그 마음으로 끝까지 왔습니다.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넘겨받은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582150" y="3181350"/>
            <a:ext cx="1809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의 도움을 받아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같은 데이터로 시험했습니다.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962275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3228975"/>
            <a:ext cx="85725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0"/>
              </a:lnSpc>
              <a:buNone/>
            </a:pPr>
            <a:r>
              <a:rPr lang="en-US" sz="4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124325"/>
            <a:ext cx="38100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0"/>
              </a:lnSpc>
              <a:buNone/>
            </a:pPr>
            <a:r>
              <a:rPr lang="en-US" sz="2325" b="1" spc="20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&amp; A</a:t>
            </a:r>
            <a:endParaRPr lang="en-US" sz="2325" dirty="0"/>
          </a:p>
        </p:txBody>
      </p:sp>
      <p:sp>
        <p:nvSpPr>
          <p:cNvPr id="8" name="Shape 6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2026-09-22T14:24:26Z</dcterms:created>
  <dcterms:modified xsi:type="dcterms:W3CDTF">2026-09-22T14:24:26Z</dcterms:modified>
</cp:coreProperties>
</file>