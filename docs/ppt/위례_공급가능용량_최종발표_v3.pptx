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공급가능용량 산정 방식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엑셀 네 개에 차례로 옮겨 담아 신고할 숫자를 만들었습니다.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10820400" cy="22860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94202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산정 절차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506075" y="1857375"/>
            <a:ext cx="8667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38200" y="2171700"/>
            <a:ext cx="24574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시험 결과 받아오기</a:t>
            </a:r>
            <a:endParaRPr lang="en-US" sz="1013" dirty="0"/>
          </a:p>
        </p:txBody>
      </p:sp>
      <p:sp>
        <p:nvSpPr>
          <p:cNvPr id="21" name="Shape 19"/>
          <p:cNvSpPr/>
          <p:nvPr/>
        </p:nvSpPr>
        <p:spPr>
          <a:xfrm>
            <a:off x="838200" y="2381250"/>
            <a:ext cx="2457450" cy="100965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22" name="Image 0" descr="/home/user/Narae-AI/docs/ppt/assets/엑셀1-1_날짜, 시간 입력 후(RiMS 데이터 가져오기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506620"/>
            <a:ext cx="2343150" cy="758909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885825" y="2497095"/>
            <a:ext cx="2362200" cy="777959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38200" y="3467100"/>
            <a:ext cx="2457450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시각을 넣으면 계측값 14개를 시스템에서 끌어옵니다.</a:t>
            </a:r>
            <a:endParaRPr lang="en-US" sz="863" dirty="0"/>
          </a:p>
        </p:txBody>
      </p:sp>
      <p:sp>
        <p:nvSpPr>
          <p:cNvPr id="25" name="Text 22"/>
          <p:cNvSpPr txBox="1"/>
          <p:nvPr/>
        </p:nvSpPr>
        <p:spPr>
          <a:xfrm>
            <a:off x="3305175" y="28098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Text 23"/>
          <p:cNvSpPr txBox="1"/>
          <p:nvPr/>
        </p:nvSpPr>
        <p:spPr>
          <a:xfrm>
            <a:off x="3486150" y="2171700"/>
            <a:ext cx="24574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온도별 이론값 계산</a:t>
            </a:r>
            <a:endParaRPr lang="en-US" sz="1013" dirty="0"/>
          </a:p>
        </p:txBody>
      </p:sp>
      <p:sp>
        <p:nvSpPr>
          <p:cNvPr id="27" name="Shape 24"/>
          <p:cNvSpPr/>
          <p:nvPr/>
        </p:nvSpPr>
        <p:spPr>
          <a:xfrm>
            <a:off x="3486150" y="2381250"/>
            <a:ext cx="2457450" cy="100965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28" name="Image 1" descr="/home/user/Narae-AI/docs/ppt/assets/엑셀2-1_G열 대기압 입력 후 온도별 이론값 생성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4900" y="2428875"/>
            <a:ext cx="1079949" cy="91440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165375" y="2419350"/>
            <a:ext cx="1098999" cy="9334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486150" y="3467100"/>
            <a:ext cx="2457450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대기압을 넣으면 영하 20도부터 40도까지 61개 값이 나옵니다.</a:t>
            </a:r>
            <a:endParaRPr lang="en-US" sz="863" dirty="0"/>
          </a:p>
        </p:txBody>
      </p:sp>
      <p:sp>
        <p:nvSpPr>
          <p:cNvPr id="31" name="Text 27"/>
          <p:cNvSpPr txBox="1"/>
          <p:nvPr/>
        </p:nvSpPr>
        <p:spPr>
          <a:xfrm>
            <a:off x="5953125" y="28098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32" name="Text 28"/>
          <p:cNvSpPr txBox="1"/>
          <p:nvPr/>
        </p:nvSpPr>
        <p:spPr>
          <a:xfrm>
            <a:off x="6134100" y="2171700"/>
            <a:ext cx="24574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보정값 더하기</a:t>
            </a:r>
            <a:endParaRPr lang="en-US" sz="1013" dirty="0"/>
          </a:p>
        </p:txBody>
      </p:sp>
      <p:sp>
        <p:nvSpPr>
          <p:cNvPr id="33" name="Shape 29"/>
          <p:cNvSpPr/>
          <p:nvPr/>
        </p:nvSpPr>
        <p:spPr>
          <a:xfrm>
            <a:off x="6134100" y="2381250"/>
            <a:ext cx="2457450" cy="100965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34" name="Image 2" descr="/home/user/Narae-AI/docs/ppt/assets/엑셀2-2_IGV Turn up 적용 및, 테스트 온도 지점의 실제 출력과 이론값 비교하여 BTL(보정값) 적용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2636804"/>
            <a:ext cx="2343150" cy="498543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6181725" y="2627279"/>
            <a:ext cx="2362200" cy="517593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34100" y="3467100"/>
            <a:ext cx="2457450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 온도에서 생긴 차이를 61개 값에 모두 더합니다.</a:t>
            </a:r>
            <a:endParaRPr lang="en-US" sz="863" dirty="0"/>
          </a:p>
        </p:txBody>
      </p:sp>
      <p:sp>
        <p:nvSpPr>
          <p:cNvPr id="37" name="Text 32"/>
          <p:cNvSpPr txBox="1"/>
          <p:nvPr/>
        </p:nvSpPr>
        <p:spPr>
          <a:xfrm>
            <a:off x="8601075" y="28098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38" name="Text 33"/>
          <p:cNvSpPr txBox="1"/>
          <p:nvPr/>
        </p:nvSpPr>
        <p:spPr>
          <a:xfrm>
            <a:off x="8782050" y="2171700"/>
            <a:ext cx="24574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온도 프로파일 완성</a:t>
            </a:r>
            <a:endParaRPr lang="en-US" sz="1013" dirty="0"/>
          </a:p>
        </p:txBody>
      </p:sp>
      <p:sp>
        <p:nvSpPr>
          <p:cNvPr id="39" name="Shape 34"/>
          <p:cNvSpPr/>
          <p:nvPr/>
        </p:nvSpPr>
        <p:spPr>
          <a:xfrm>
            <a:off x="8782050" y="2381250"/>
            <a:ext cx="2457450" cy="100965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40" name="Image 3" descr="/home/user/Narae-AI/docs/ppt/assets/xl_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0" y="2428875"/>
            <a:ext cx="1543050" cy="914400"/>
          </a:xfrm>
          <a:prstGeom prst="rect">
            <a:avLst/>
          </a:prstGeom>
        </p:spPr>
      </p:pic>
      <p:sp>
        <p:nvSpPr>
          <p:cNvPr id="41" name="Shape 35"/>
          <p:cNvSpPr/>
          <p:nvPr/>
        </p:nvSpPr>
        <p:spPr>
          <a:xfrm>
            <a:off x="9229725" y="2419350"/>
            <a:ext cx="1562100" cy="9334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8782050" y="3467100"/>
            <a:ext cx="2457450" cy="492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표를 그대로 옮겨 붙이면 그날 신고할 숫자가 됩니다.</a:t>
            </a:r>
            <a:endParaRPr lang="en-US" sz="863" dirty="0"/>
          </a:p>
        </p:txBody>
      </p:sp>
      <p:sp>
        <p:nvSpPr>
          <p:cNvPr id="43" name="Shape 37"/>
          <p:cNvSpPr/>
          <p:nvPr/>
        </p:nvSpPr>
        <p:spPr>
          <a:xfrm>
            <a:off x="685800" y="4171950"/>
            <a:ext cx="10820400" cy="17716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695325" y="41814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45" name="Shape 39"/>
          <p:cNvSpPr/>
          <p:nvPr/>
        </p:nvSpPr>
        <p:spPr>
          <a:xfrm>
            <a:off x="685800" y="44577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695325" y="41814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857250" y="4248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48" name="Text 42"/>
          <p:cNvSpPr txBox="1"/>
          <p:nvPr/>
        </p:nvSpPr>
        <p:spPr>
          <a:xfrm>
            <a:off x="1085850" y="4248150"/>
            <a:ext cx="89344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보정값을 정하는 방법</a:t>
            </a:r>
            <a:endParaRPr lang="en-US" sz="1013" dirty="0"/>
          </a:p>
        </p:txBody>
      </p:sp>
      <p:sp>
        <p:nvSpPr>
          <p:cNvPr id="49" name="Text 43"/>
          <p:cNvSpPr txBox="1"/>
          <p:nvPr/>
        </p:nvSpPr>
        <p:spPr>
          <a:xfrm>
            <a:off x="10020300" y="4257675"/>
            <a:ext cx="1352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1곳 → 61개 온도</a:t>
            </a:r>
            <a:endParaRPr lang="en-US" sz="825" dirty="0"/>
          </a:p>
        </p:txBody>
      </p:sp>
      <p:sp>
        <p:nvSpPr>
          <p:cNvPr id="50" name="Text 44"/>
          <p:cNvSpPr txBox="1"/>
          <p:nvPr/>
        </p:nvSpPr>
        <p:spPr>
          <a:xfrm>
            <a:off x="914400" y="4572000"/>
            <a:ext cx="103632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시험은 하루에 한 곳에서만 합니다. 그 한 곳에서 나온 차이를 나머지 60개 온도에도 똑같이 더했습니다.</a:t>
            </a:r>
            <a:endParaRPr lang="en-US" sz="975" dirty="0"/>
          </a:p>
        </p:txBody>
      </p:sp>
      <p:sp>
        <p:nvSpPr>
          <p:cNvPr id="51" name="Shape 45"/>
          <p:cNvSpPr/>
          <p:nvPr/>
        </p:nvSpPr>
        <p:spPr>
          <a:xfrm>
            <a:off x="19050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2" name="Shape 46"/>
          <p:cNvSpPr/>
          <p:nvPr/>
        </p:nvSpPr>
        <p:spPr>
          <a:xfrm>
            <a:off x="20510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21971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23431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24892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6" name="Shape 50"/>
          <p:cNvSpPr/>
          <p:nvPr/>
        </p:nvSpPr>
        <p:spPr>
          <a:xfrm>
            <a:off x="26352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7" name="Shape 51"/>
          <p:cNvSpPr/>
          <p:nvPr/>
        </p:nvSpPr>
        <p:spPr>
          <a:xfrm>
            <a:off x="27813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8" name="Shape 52"/>
          <p:cNvSpPr/>
          <p:nvPr/>
        </p:nvSpPr>
        <p:spPr>
          <a:xfrm>
            <a:off x="29273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9" name="Shape 53"/>
          <p:cNvSpPr/>
          <p:nvPr/>
        </p:nvSpPr>
        <p:spPr>
          <a:xfrm>
            <a:off x="30734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Shape 54"/>
          <p:cNvSpPr/>
          <p:nvPr/>
        </p:nvSpPr>
        <p:spPr>
          <a:xfrm>
            <a:off x="32194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1" name="Shape 55"/>
          <p:cNvSpPr/>
          <p:nvPr/>
        </p:nvSpPr>
        <p:spPr>
          <a:xfrm>
            <a:off x="33655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2" name="Shape 56"/>
          <p:cNvSpPr/>
          <p:nvPr/>
        </p:nvSpPr>
        <p:spPr>
          <a:xfrm>
            <a:off x="35115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3" name="Shape 57"/>
          <p:cNvSpPr/>
          <p:nvPr/>
        </p:nvSpPr>
        <p:spPr>
          <a:xfrm>
            <a:off x="36576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4" name="Shape 58"/>
          <p:cNvSpPr/>
          <p:nvPr/>
        </p:nvSpPr>
        <p:spPr>
          <a:xfrm>
            <a:off x="38036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5" name="Shape 59"/>
          <p:cNvSpPr/>
          <p:nvPr/>
        </p:nvSpPr>
        <p:spPr>
          <a:xfrm>
            <a:off x="39497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6" name="Shape 60"/>
          <p:cNvSpPr/>
          <p:nvPr/>
        </p:nvSpPr>
        <p:spPr>
          <a:xfrm>
            <a:off x="40957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7" name="Shape 61"/>
          <p:cNvSpPr/>
          <p:nvPr/>
        </p:nvSpPr>
        <p:spPr>
          <a:xfrm>
            <a:off x="42418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8" name="Shape 62"/>
          <p:cNvSpPr/>
          <p:nvPr/>
        </p:nvSpPr>
        <p:spPr>
          <a:xfrm>
            <a:off x="43878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9" name="Shape 63"/>
          <p:cNvSpPr/>
          <p:nvPr/>
        </p:nvSpPr>
        <p:spPr>
          <a:xfrm>
            <a:off x="45339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0" name="Shape 64"/>
          <p:cNvSpPr/>
          <p:nvPr/>
        </p:nvSpPr>
        <p:spPr>
          <a:xfrm>
            <a:off x="46799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1" name="Shape 65"/>
          <p:cNvSpPr/>
          <p:nvPr/>
        </p:nvSpPr>
        <p:spPr>
          <a:xfrm>
            <a:off x="48260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2" name="Shape 66"/>
          <p:cNvSpPr/>
          <p:nvPr/>
        </p:nvSpPr>
        <p:spPr>
          <a:xfrm>
            <a:off x="49720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3" name="Shape 67"/>
          <p:cNvSpPr/>
          <p:nvPr/>
        </p:nvSpPr>
        <p:spPr>
          <a:xfrm>
            <a:off x="51181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4" name="Shape 68"/>
          <p:cNvSpPr/>
          <p:nvPr/>
        </p:nvSpPr>
        <p:spPr>
          <a:xfrm>
            <a:off x="52641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5" name="Shape 69"/>
          <p:cNvSpPr/>
          <p:nvPr/>
        </p:nvSpPr>
        <p:spPr>
          <a:xfrm>
            <a:off x="54102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6" name="Shape 70"/>
          <p:cNvSpPr/>
          <p:nvPr/>
        </p:nvSpPr>
        <p:spPr>
          <a:xfrm>
            <a:off x="55562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7" name="Shape 71"/>
          <p:cNvSpPr/>
          <p:nvPr/>
        </p:nvSpPr>
        <p:spPr>
          <a:xfrm>
            <a:off x="57023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8" name="Shape 72"/>
          <p:cNvSpPr/>
          <p:nvPr/>
        </p:nvSpPr>
        <p:spPr>
          <a:xfrm>
            <a:off x="58483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9" name="Shape 73"/>
          <p:cNvSpPr/>
          <p:nvPr/>
        </p:nvSpPr>
        <p:spPr>
          <a:xfrm>
            <a:off x="59944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0" name="Shape 74"/>
          <p:cNvSpPr/>
          <p:nvPr/>
        </p:nvSpPr>
        <p:spPr>
          <a:xfrm>
            <a:off x="61404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1" name="Shape 75"/>
          <p:cNvSpPr/>
          <p:nvPr/>
        </p:nvSpPr>
        <p:spPr>
          <a:xfrm>
            <a:off x="62865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2" name="Shape 76"/>
          <p:cNvSpPr/>
          <p:nvPr/>
        </p:nvSpPr>
        <p:spPr>
          <a:xfrm>
            <a:off x="64325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3" name="Shape 77"/>
          <p:cNvSpPr/>
          <p:nvPr/>
        </p:nvSpPr>
        <p:spPr>
          <a:xfrm>
            <a:off x="65786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4" name="Shape 78"/>
          <p:cNvSpPr/>
          <p:nvPr/>
        </p:nvSpPr>
        <p:spPr>
          <a:xfrm>
            <a:off x="67246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5" name="Shape 79"/>
          <p:cNvSpPr/>
          <p:nvPr/>
        </p:nvSpPr>
        <p:spPr>
          <a:xfrm>
            <a:off x="68707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6" name="Shape 80"/>
          <p:cNvSpPr/>
          <p:nvPr/>
        </p:nvSpPr>
        <p:spPr>
          <a:xfrm>
            <a:off x="70167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7" name="Shape 81"/>
          <p:cNvSpPr/>
          <p:nvPr/>
        </p:nvSpPr>
        <p:spPr>
          <a:xfrm>
            <a:off x="71628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8" name="Shape 82"/>
          <p:cNvSpPr/>
          <p:nvPr/>
        </p:nvSpPr>
        <p:spPr>
          <a:xfrm>
            <a:off x="73088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9" name="Shape 83"/>
          <p:cNvSpPr/>
          <p:nvPr/>
        </p:nvSpPr>
        <p:spPr>
          <a:xfrm>
            <a:off x="74549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0" name="Shape 84"/>
          <p:cNvSpPr/>
          <p:nvPr/>
        </p:nvSpPr>
        <p:spPr>
          <a:xfrm>
            <a:off x="76009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1" name="Shape 85"/>
          <p:cNvSpPr/>
          <p:nvPr/>
        </p:nvSpPr>
        <p:spPr>
          <a:xfrm>
            <a:off x="77470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2" name="Shape 86"/>
          <p:cNvSpPr/>
          <p:nvPr/>
        </p:nvSpPr>
        <p:spPr>
          <a:xfrm>
            <a:off x="78930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3" name="Shape 87"/>
          <p:cNvSpPr/>
          <p:nvPr/>
        </p:nvSpPr>
        <p:spPr>
          <a:xfrm>
            <a:off x="80391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4" name="Shape 88"/>
          <p:cNvSpPr/>
          <p:nvPr/>
        </p:nvSpPr>
        <p:spPr>
          <a:xfrm>
            <a:off x="81851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5" name="Shape 89"/>
          <p:cNvSpPr/>
          <p:nvPr/>
        </p:nvSpPr>
        <p:spPr>
          <a:xfrm>
            <a:off x="83312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6" name="Shape 90"/>
          <p:cNvSpPr/>
          <p:nvPr/>
        </p:nvSpPr>
        <p:spPr>
          <a:xfrm>
            <a:off x="8477250" y="5600700"/>
            <a:ext cx="0" cy="133350"/>
          </a:xfrm>
          <a:prstGeom prst="line">
            <a:avLst/>
          </a:prstGeom>
          <a:noFill/>
          <a:ln w="25400">
            <a:solidFill>
              <a:srgbClr val="EFB13C"/>
            </a:solidFill>
            <a:prstDash val="solid"/>
          </a:ln>
        </p:spPr>
      </p:sp>
      <p:sp>
        <p:nvSpPr>
          <p:cNvPr id="97" name="Shape 91"/>
          <p:cNvSpPr/>
          <p:nvPr/>
        </p:nvSpPr>
        <p:spPr>
          <a:xfrm>
            <a:off x="86233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8" name="Shape 92"/>
          <p:cNvSpPr/>
          <p:nvPr/>
        </p:nvSpPr>
        <p:spPr>
          <a:xfrm>
            <a:off x="87693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9" name="Shape 93"/>
          <p:cNvSpPr/>
          <p:nvPr/>
        </p:nvSpPr>
        <p:spPr>
          <a:xfrm>
            <a:off x="89154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00" name="Shape 94"/>
          <p:cNvSpPr/>
          <p:nvPr/>
        </p:nvSpPr>
        <p:spPr>
          <a:xfrm>
            <a:off x="90614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01" name="Shape 95"/>
          <p:cNvSpPr/>
          <p:nvPr/>
        </p:nvSpPr>
        <p:spPr>
          <a:xfrm>
            <a:off x="92075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02" name="Shape 96"/>
          <p:cNvSpPr/>
          <p:nvPr/>
        </p:nvSpPr>
        <p:spPr>
          <a:xfrm>
            <a:off x="93535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03" name="Shape 97"/>
          <p:cNvSpPr/>
          <p:nvPr/>
        </p:nvSpPr>
        <p:spPr>
          <a:xfrm>
            <a:off x="94996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04" name="Shape 98"/>
          <p:cNvSpPr/>
          <p:nvPr/>
        </p:nvSpPr>
        <p:spPr>
          <a:xfrm>
            <a:off x="96456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05" name="Shape 99"/>
          <p:cNvSpPr/>
          <p:nvPr/>
        </p:nvSpPr>
        <p:spPr>
          <a:xfrm>
            <a:off x="97917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06" name="Shape 100"/>
          <p:cNvSpPr/>
          <p:nvPr/>
        </p:nvSpPr>
        <p:spPr>
          <a:xfrm>
            <a:off x="99377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07" name="Shape 101"/>
          <p:cNvSpPr/>
          <p:nvPr/>
        </p:nvSpPr>
        <p:spPr>
          <a:xfrm>
            <a:off x="100838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08" name="Shape 102"/>
          <p:cNvSpPr/>
          <p:nvPr/>
        </p:nvSpPr>
        <p:spPr>
          <a:xfrm>
            <a:off x="102298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09" name="Shape 103"/>
          <p:cNvSpPr/>
          <p:nvPr/>
        </p:nvSpPr>
        <p:spPr>
          <a:xfrm>
            <a:off x="103759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0" name="Shape 104"/>
          <p:cNvSpPr/>
          <p:nvPr/>
        </p:nvSpPr>
        <p:spPr>
          <a:xfrm>
            <a:off x="1052195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1" name="Shape 105"/>
          <p:cNvSpPr/>
          <p:nvPr/>
        </p:nvSpPr>
        <p:spPr>
          <a:xfrm>
            <a:off x="10668000" y="5676900"/>
            <a:ext cx="0" cy="571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2" name="Shape 106"/>
          <p:cNvSpPr/>
          <p:nvPr/>
        </p:nvSpPr>
        <p:spPr>
          <a:xfrm>
            <a:off x="1828800" y="5734050"/>
            <a:ext cx="8915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3" name="Text 107"/>
          <p:cNvSpPr txBox="1"/>
          <p:nvPr/>
        </p:nvSpPr>
        <p:spPr>
          <a:xfrm>
            <a:off x="1676400" y="5800725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-20</a:t>
            </a:r>
            <a:endParaRPr lang="en-US" sz="788" dirty="0"/>
          </a:p>
        </p:txBody>
      </p:sp>
      <p:sp>
        <p:nvSpPr>
          <p:cNvPr id="114" name="Text 108"/>
          <p:cNvSpPr txBox="1"/>
          <p:nvPr/>
        </p:nvSpPr>
        <p:spPr>
          <a:xfrm>
            <a:off x="3136900" y="5800725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</a:t>
            </a:r>
            <a:endParaRPr lang="en-US" sz="788" dirty="0"/>
          </a:p>
        </p:txBody>
      </p:sp>
      <p:sp>
        <p:nvSpPr>
          <p:cNvPr id="115" name="Text 109"/>
          <p:cNvSpPr txBox="1"/>
          <p:nvPr/>
        </p:nvSpPr>
        <p:spPr>
          <a:xfrm>
            <a:off x="4597400" y="5800725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88" dirty="0"/>
          </a:p>
        </p:txBody>
      </p:sp>
      <p:sp>
        <p:nvSpPr>
          <p:cNvPr id="116" name="Text 110"/>
          <p:cNvSpPr txBox="1"/>
          <p:nvPr/>
        </p:nvSpPr>
        <p:spPr>
          <a:xfrm>
            <a:off x="6057900" y="5800725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+10</a:t>
            </a:r>
            <a:endParaRPr lang="en-US" sz="788" dirty="0"/>
          </a:p>
        </p:txBody>
      </p:sp>
      <p:sp>
        <p:nvSpPr>
          <p:cNvPr id="117" name="Text 111"/>
          <p:cNvSpPr txBox="1"/>
          <p:nvPr/>
        </p:nvSpPr>
        <p:spPr>
          <a:xfrm>
            <a:off x="7518400" y="5800725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+20</a:t>
            </a:r>
            <a:endParaRPr lang="en-US" sz="788" dirty="0"/>
          </a:p>
        </p:txBody>
      </p:sp>
      <p:sp>
        <p:nvSpPr>
          <p:cNvPr id="118" name="Text 112"/>
          <p:cNvSpPr txBox="1"/>
          <p:nvPr/>
        </p:nvSpPr>
        <p:spPr>
          <a:xfrm>
            <a:off x="8978900" y="5800725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+30</a:t>
            </a:r>
            <a:endParaRPr lang="en-US" sz="788" dirty="0"/>
          </a:p>
        </p:txBody>
      </p:sp>
      <p:sp>
        <p:nvSpPr>
          <p:cNvPr id="119" name="Text 113"/>
          <p:cNvSpPr txBox="1"/>
          <p:nvPr/>
        </p:nvSpPr>
        <p:spPr>
          <a:xfrm>
            <a:off x="10439400" y="5800725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+40</a:t>
            </a:r>
            <a:endParaRPr lang="en-US" sz="788" dirty="0"/>
          </a:p>
        </p:txBody>
      </p:sp>
      <p:sp>
        <p:nvSpPr>
          <p:cNvPr id="120" name="Text 114"/>
          <p:cNvSpPr txBox="1"/>
          <p:nvPr/>
        </p:nvSpPr>
        <p:spPr>
          <a:xfrm>
            <a:off x="10915650" y="5800725"/>
            <a:ext cx="228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℃</a:t>
            </a:r>
            <a:endParaRPr lang="en-US" sz="788" dirty="0"/>
          </a:p>
        </p:txBody>
      </p:sp>
      <p:sp>
        <p:nvSpPr>
          <p:cNvPr id="121" name="Shape 115"/>
          <p:cNvSpPr/>
          <p:nvPr/>
        </p:nvSpPr>
        <p:spPr>
          <a:xfrm>
            <a:off x="1905000" y="5200650"/>
            <a:ext cx="8763000" cy="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22" name="Shape 116"/>
          <p:cNvSpPr/>
          <p:nvPr/>
        </p:nvSpPr>
        <p:spPr>
          <a:xfrm>
            <a:off x="8410575" y="5133975"/>
            <a:ext cx="133350" cy="133350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123" name="Shape 117"/>
          <p:cNvSpPr/>
          <p:nvPr/>
        </p:nvSpPr>
        <p:spPr>
          <a:xfrm>
            <a:off x="8477250" y="5276850"/>
            <a:ext cx="0" cy="323850"/>
          </a:xfrm>
          <a:prstGeom prst="line">
            <a:avLst/>
          </a:prstGeom>
          <a:noFill/>
          <a:ln w="12700">
            <a:solidFill>
              <a:srgbClr val="EFB13C"/>
            </a:solidFill>
            <a:prstDash val="dash"/>
          </a:ln>
        </p:spPr>
      </p:sp>
      <p:sp>
        <p:nvSpPr>
          <p:cNvPr id="124" name="Text 118"/>
          <p:cNvSpPr txBox="1"/>
          <p:nvPr/>
        </p:nvSpPr>
        <p:spPr>
          <a:xfrm>
            <a:off x="7048500" y="4933950"/>
            <a:ext cx="2857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 온도 1곳</a:t>
            </a:r>
            <a:endParaRPr lang="en-US" sz="1013" dirty="0"/>
          </a:p>
        </p:txBody>
      </p:sp>
      <p:sp>
        <p:nvSpPr>
          <p:cNvPr id="125" name="Text 119"/>
          <p:cNvSpPr txBox="1"/>
          <p:nvPr/>
        </p:nvSpPr>
        <p:spPr>
          <a:xfrm>
            <a:off x="914400" y="5067300"/>
            <a:ext cx="914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범위</a:t>
            </a:r>
            <a:endParaRPr lang="en-US" sz="900" dirty="0"/>
          </a:p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61개 온도</a:t>
            </a:r>
            <a:endParaRPr lang="en-US" sz="900" dirty="0"/>
          </a:p>
        </p:txBody>
      </p:sp>
      <p:sp>
        <p:nvSpPr>
          <p:cNvPr id="126" name="Shape 12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7" name="Text 12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28" name="Text 12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해보지 않은 온도는 알 방법이 없었으니, 그때는 이게 최선이었습니다.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결과는 회차마다 달랐지만, 더해 주는 보정값은 거의 하나로 고정돼 있었습니다.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4476750" cy="41719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445770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447675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29908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실적 시트 기록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4076700" y="1857375"/>
            <a:ext cx="952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2월 ~ 4월 13회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952500" y="2209800"/>
            <a:ext cx="3276600" cy="2476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21" name="Shape 19"/>
          <p:cNvSpPr/>
          <p:nvPr/>
        </p:nvSpPr>
        <p:spPr>
          <a:xfrm>
            <a:off x="952500" y="2457450"/>
            <a:ext cx="32766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38225" y="228600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1743075" y="2286000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실제 차이</a:t>
            </a:r>
            <a:endParaRPr lang="en-US" sz="938" dirty="0"/>
          </a:p>
        </p:txBody>
      </p:sp>
      <p:sp>
        <p:nvSpPr>
          <p:cNvPr id="24" name="Text 22"/>
          <p:cNvSpPr txBox="1"/>
          <p:nvPr/>
        </p:nvSpPr>
        <p:spPr>
          <a:xfrm>
            <a:off x="2905125" y="2286000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적용한 보정값</a:t>
            </a:r>
            <a:endParaRPr lang="en-US" sz="938" dirty="0"/>
          </a:p>
        </p:txBody>
      </p:sp>
      <p:sp>
        <p:nvSpPr>
          <p:cNvPr id="25" name="Shape 23"/>
          <p:cNvSpPr/>
          <p:nvPr/>
        </p:nvSpPr>
        <p:spPr>
          <a:xfrm>
            <a:off x="952500" y="266700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38225" y="2490788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2/24</a:t>
            </a:r>
            <a:endParaRPr lang="en-US" sz="938" dirty="0"/>
          </a:p>
        </p:txBody>
      </p:sp>
      <p:sp>
        <p:nvSpPr>
          <p:cNvPr id="27" name="Text 25"/>
          <p:cNvSpPr txBox="1"/>
          <p:nvPr/>
        </p:nvSpPr>
        <p:spPr>
          <a:xfrm>
            <a:off x="1743075" y="2490788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11.3</a:t>
            </a:r>
            <a:endParaRPr lang="en-US" sz="938" dirty="0"/>
          </a:p>
        </p:txBody>
      </p:sp>
      <p:sp>
        <p:nvSpPr>
          <p:cNvPr id="28" name="Text 26"/>
          <p:cNvSpPr txBox="1"/>
          <p:nvPr/>
        </p:nvSpPr>
        <p:spPr>
          <a:xfrm>
            <a:off x="2905125" y="2490788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29" name="Shape 27"/>
          <p:cNvSpPr/>
          <p:nvPr/>
        </p:nvSpPr>
        <p:spPr>
          <a:xfrm>
            <a:off x="952500" y="2667000"/>
            <a:ext cx="3276600" cy="209550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952500" y="287655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38225" y="2700338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32" name="Text 30"/>
          <p:cNvSpPr txBox="1"/>
          <p:nvPr/>
        </p:nvSpPr>
        <p:spPr>
          <a:xfrm>
            <a:off x="1743075" y="2700338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2905125" y="2700338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34" name="Shape 32"/>
          <p:cNvSpPr/>
          <p:nvPr/>
        </p:nvSpPr>
        <p:spPr>
          <a:xfrm>
            <a:off x="952500" y="308610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38225" y="2909888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1743075" y="2909888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11.0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2905125" y="2909888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38" name="Shape 36"/>
          <p:cNvSpPr/>
          <p:nvPr/>
        </p:nvSpPr>
        <p:spPr>
          <a:xfrm>
            <a:off x="952500" y="3086100"/>
            <a:ext cx="3276600" cy="209550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952500" y="329565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038225" y="3119438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41" name="Text 39"/>
          <p:cNvSpPr txBox="1"/>
          <p:nvPr/>
        </p:nvSpPr>
        <p:spPr>
          <a:xfrm>
            <a:off x="1743075" y="3119438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8.0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2905125" y="3119438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43" name="Shape 41"/>
          <p:cNvSpPr/>
          <p:nvPr/>
        </p:nvSpPr>
        <p:spPr>
          <a:xfrm>
            <a:off x="952500" y="350520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38225" y="3328988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743075" y="3328988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11.5</a:t>
            </a:r>
            <a:endParaRPr lang="en-US" sz="938" dirty="0"/>
          </a:p>
        </p:txBody>
      </p:sp>
      <p:sp>
        <p:nvSpPr>
          <p:cNvPr id="46" name="Text 44"/>
          <p:cNvSpPr txBox="1"/>
          <p:nvPr/>
        </p:nvSpPr>
        <p:spPr>
          <a:xfrm>
            <a:off x="2905125" y="3328988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47" name="Shape 45"/>
          <p:cNvSpPr/>
          <p:nvPr/>
        </p:nvSpPr>
        <p:spPr>
          <a:xfrm>
            <a:off x="952500" y="3505200"/>
            <a:ext cx="3276600" cy="209550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952500" y="371475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1038225" y="3538538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743075" y="3538538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6.9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2905125" y="3538538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52" name="Shape 50"/>
          <p:cNvSpPr/>
          <p:nvPr/>
        </p:nvSpPr>
        <p:spPr>
          <a:xfrm>
            <a:off x="952500" y="392430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038225" y="3748087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54" name="Text 52"/>
          <p:cNvSpPr txBox="1"/>
          <p:nvPr/>
        </p:nvSpPr>
        <p:spPr>
          <a:xfrm>
            <a:off x="1743075" y="3748087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9.5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2905125" y="3748087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56" name="Shape 54"/>
          <p:cNvSpPr/>
          <p:nvPr/>
        </p:nvSpPr>
        <p:spPr>
          <a:xfrm>
            <a:off x="952500" y="3924300"/>
            <a:ext cx="3276600" cy="209550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952500" y="413385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038225" y="3957638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59" name="Text 57"/>
          <p:cNvSpPr txBox="1"/>
          <p:nvPr/>
        </p:nvSpPr>
        <p:spPr>
          <a:xfrm>
            <a:off x="1743075" y="3957638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</a:t>
            </a:r>
            <a:endParaRPr lang="en-US" sz="938" dirty="0"/>
          </a:p>
        </p:txBody>
      </p:sp>
      <p:sp>
        <p:nvSpPr>
          <p:cNvPr id="60" name="Text 58"/>
          <p:cNvSpPr txBox="1"/>
          <p:nvPr/>
        </p:nvSpPr>
        <p:spPr>
          <a:xfrm>
            <a:off x="2905125" y="3957638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61" name="Shape 59"/>
          <p:cNvSpPr/>
          <p:nvPr/>
        </p:nvSpPr>
        <p:spPr>
          <a:xfrm>
            <a:off x="952500" y="434340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38225" y="4167188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743075" y="4167188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9.7</a:t>
            </a:r>
            <a:endParaRPr lang="en-US" sz="938" dirty="0"/>
          </a:p>
        </p:txBody>
      </p:sp>
      <p:sp>
        <p:nvSpPr>
          <p:cNvPr id="64" name="Text 62"/>
          <p:cNvSpPr txBox="1"/>
          <p:nvPr/>
        </p:nvSpPr>
        <p:spPr>
          <a:xfrm>
            <a:off x="2905125" y="4167188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65" name="Shape 63"/>
          <p:cNvSpPr/>
          <p:nvPr/>
        </p:nvSpPr>
        <p:spPr>
          <a:xfrm>
            <a:off x="952500" y="4343400"/>
            <a:ext cx="3276600" cy="209550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52500" y="455295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1038225" y="4376738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68" name="Text 66"/>
          <p:cNvSpPr txBox="1"/>
          <p:nvPr/>
        </p:nvSpPr>
        <p:spPr>
          <a:xfrm>
            <a:off x="1743075" y="4376738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4.6</a:t>
            </a:r>
            <a:endParaRPr lang="en-US" sz="938" dirty="0"/>
          </a:p>
        </p:txBody>
      </p:sp>
      <p:sp>
        <p:nvSpPr>
          <p:cNvPr id="69" name="Text 67"/>
          <p:cNvSpPr txBox="1"/>
          <p:nvPr/>
        </p:nvSpPr>
        <p:spPr>
          <a:xfrm>
            <a:off x="2905125" y="4376738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38" dirty="0"/>
          </a:p>
        </p:txBody>
      </p:sp>
      <p:sp>
        <p:nvSpPr>
          <p:cNvPr id="70" name="Shape 68"/>
          <p:cNvSpPr/>
          <p:nvPr/>
        </p:nvSpPr>
        <p:spPr>
          <a:xfrm>
            <a:off x="952500" y="476250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038225" y="4586288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72" name="Text 70"/>
          <p:cNvSpPr txBox="1"/>
          <p:nvPr/>
        </p:nvSpPr>
        <p:spPr>
          <a:xfrm>
            <a:off x="1743075" y="4586288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10.2</a:t>
            </a:r>
            <a:endParaRPr lang="en-US" sz="938" dirty="0"/>
          </a:p>
        </p:txBody>
      </p:sp>
      <p:sp>
        <p:nvSpPr>
          <p:cNvPr id="73" name="Text 71"/>
          <p:cNvSpPr txBox="1"/>
          <p:nvPr/>
        </p:nvSpPr>
        <p:spPr>
          <a:xfrm>
            <a:off x="2905125" y="4586288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38" dirty="0"/>
          </a:p>
        </p:txBody>
      </p:sp>
      <p:sp>
        <p:nvSpPr>
          <p:cNvPr id="74" name="Shape 72"/>
          <p:cNvSpPr/>
          <p:nvPr/>
        </p:nvSpPr>
        <p:spPr>
          <a:xfrm>
            <a:off x="952500" y="4762500"/>
            <a:ext cx="3276600" cy="209550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952500" y="497205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1038225" y="4795838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77" name="Text 75"/>
          <p:cNvSpPr txBox="1"/>
          <p:nvPr/>
        </p:nvSpPr>
        <p:spPr>
          <a:xfrm>
            <a:off x="1743075" y="4795838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-4.6</a:t>
            </a:r>
            <a:endParaRPr lang="en-US" sz="938" dirty="0"/>
          </a:p>
        </p:txBody>
      </p:sp>
      <p:sp>
        <p:nvSpPr>
          <p:cNvPr id="78" name="Text 76"/>
          <p:cNvSpPr txBox="1"/>
          <p:nvPr/>
        </p:nvSpPr>
        <p:spPr>
          <a:xfrm>
            <a:off x="2905125" y="4795838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79" name="Shape 77"/>
          <p:cNvSpPr/>
          <p:nvPr/>
        </p:nvSpPr>
        <p:spPr>
          <a:xfrm>
            <a:off x="952500" y="5181600"/>
            <a:ext cx="32766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1038225" y="5005388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81" name="Text 79"/>
          <p:cNvSpPr txBox="1"/>
          <p:nvPr/>
        </p:nvSpPr>
        <p:spPr>
          <a:xfrm>
            <a:off x="1743075" y="5005388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3.2</a:t>
            </a:r>
            <a:endParaRPr lang="en-US" sz="938" dirty="0"/>
          </a:p>
        </p:txBody>
      </p:sp>
      <p:sp>
        <p:nvSpPr>
          <p:cNvPr id="82" name="Text 80"/>
          <p:cNvSpPr txBox="1"/>
          <p:nvPr/>
        </p:nvSpPr>
        <p:spPr>
          <a:xfrm>
            <a:off x="2905125" y="5005388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83" name="Shape 81"/>
          <p:cNvSpPr/>
          <p:nvPr/>
        </p:nvSpPr>
        <p:spPr>
          <a:xfrm>
            <a:off x="952500" y="5181600"/>
            <a:ext cx="32766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1038225" y="5233988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938" dirty="0"/>
          </a:p>
        </p:txBody>
      </p:sp>
      <p:sp>
        <p:nvSpPr>
          <p:cNvPr id="85" name="Text 83"/>
          <p:cNvSpPr txBox="1"/>
          <p:nvPr/>
        </p:nvSpPr>
        <p:spPr>
          <a:xfrm>
            <a:off x="1743075" y="5233988"/>
            <a:ext cx="9906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-4.6 ~ 11.5</a:t>
            </a:r>
            <a:endParaRPr lang="en-US" sz="938" dirty="0"/>
          </a:p>
        </p:txBody>
      </p:sp>
      <p:sp>
        <p:nvSpPr>
          <p:cNvPr id="86" name="Text 84"/>
          <p:cNvSpPr txBox="1"/>
          <p:nvPr/>
        </p:nvSpPr>
        <p:spPr>
          <a:xfrm>
            <a:off x="2905125" y="5233988"/>
            <a:ext cx="1238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~ 5</a:t>
            </a:r>
            <a:endParaRPr lang="en-US" sz="938" dirty="0"/>
          </a:p>
        </p:txBody>
      </p:sp>
      <p:sp>
        <p:nvSpPr>
          <p:cNvPr id="87" name="Text 85"/>
          <p:cNvSpPr txBox="1"/>
          <p:nvPr/>
        </p:nvSpPr>
        <p:spPr>
          <a:xfrm>
            <a:off x="952500" y="5695950"/>
            <a:ext cx="3276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MW. 기존 실적 시트에서 옮겨 적었습니다.</a:t>
            </a:r>
            <a:endParaRPr lang="en-US" sz="788" dirty="0"/>
          </a:p>
        </p:txBody>
      </p:sp>
      <p:sp>
        <p:nvSpPr>
          <p:cNvPr id="88" name="Shape 86"/>
          <p:cNvSpPr/>
          <p:nvPr/>
        </p:nvSpPr>
        <p:spPr>
          <a:xfrm>
            <a:off x="5314950" y="1771650"/>
            <a:ext cx="6191250" cy="22288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324475" y="1781175"/>
            <a:ext cx="617220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90" name="Shape 88"/>
          <p:cNvSpPr/>
          <p:nvPr/>
        </p:nvSpPr>
        <p:spPr>
          <a:xfrm>
            <a:off x="5314950" y="2057400"/>
            <a:ext cx="619125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32447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548640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93" name="Text 91"/>
          <p:cNvSpPr txBox="1"/>
          <p:nvPr/>
        </p:nvSpPr>
        <p:spPr>
          <a:xfrm>
            <a:off x="5715000" y="1847850"/>
            <a:ext cx="3429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전체</a:t>
            </a:r>
            <a:endParaRPr lang="en-US" sz="1013" dirty="0"/>
          </a:p>
        </p:txBody>
      </p:sp>
      <p:sp>
        <p:nvSpPr>
          <p:cNvPr id="94" name="Text 92"/>
          <p:cNvSpPr txBox="1"/>
          <p:nvPr/>
        </p:nvSpPr>
        <p:spPr>
          <a:xfrm>
            <a:off x="9144000" y="1857375"/>
            <a:ext cx="2228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외기온도 ℃ / 세로 실제 차이 MW</a:t>
            </a:r>
            <a:endParaRPr lang="en-US" sz="825" dirty="0"/>
          </a:p>
        </p:txBody>
      </p:sp>
      <p:sp>
        <p:nvSpPr>
          <p:cNvPr id="95" name="Shape 93"/>
          <p:cNvSpPr/>
          <p:nvPr/>
        </p:nvSpPr>
        <p:spPr>
          <a:xfrm>
            <a:off x="5924550" y="2426970"/>
            <a:ext cx="53149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924550" y="2708910"/>
            <a:ext cx="53149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924550" y="2990850"/>
            <a:ext cx="53149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5924550" y="3554730"/>
            <a:ext cx="53149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5924550" y="3272790"/>
            <a:ext cx="53149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5486400" y="2360295"/>
            <a:ext cx="342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101" name="Text 99"/>
          <p:cNvSpPr txBox="1"/>
          <p:nvPr/>
        </p:nvSpPr>
        <p:spPr>
          <a:xfrm>
            <a:off x="5486400" y="2642235"/>
            <a:ext cx="342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02" name="Text 100"/>
          <p:cNvSpPr txBox="1"/>
          <p:nvPr/>
        </p:nvSpPr>
        <p:spPr>
          <a:xfrm>
            <a:off x="5486400" y="2924175"/>
            <a:ext cx="342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103" name="Text 101"/>
          <p:cNvSpPr txBox="1"/>
          <p:nvPr/>
        </p:nvSpPr>
        <p:spPr>
          <a:xfrm>
            <a:off x="5486400" y="3206115"/>
            <a:ext cx="342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04" name="Text 102"/>
          <p:cNvSpPr txBox="1"/>
          <p:nvPr/>
        </p:nvSpPr>
        <p:spPr>
          <a:xfrm>
            <a:off x="5486400" y="3488055"/>
            <a:ext cx="3429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6313170" y="3695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6103620" y="37719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7608570" y="3695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08" name="Text 106"/>
          <p:cNvSpPr txBox="1"/>
          <p:nvPr/>
        </p:nvSpPr>
        <p:spPr>
          <a:xfrm>
            <a:off x="7399020" y="37719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109" name="Shape 107"/>
          <p:cNvSpPr/>
          <p:nvPr/>
        </p:nvSpPr>
        <p:spPr>
          <a:xfrm>
            <a:off x="8903970" y="3695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8694420" y="37719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111" name="Shape 109"/>
          <p:cNvSpPr/>
          <p:nvPr/>
        </p:nvSpPr>
        <p:spPr>
          <a:xfrm>
            <a:off x="10199370" y="3695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9989820" y="37719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5924550" y="3099749"/>
            <a:ext cx="5314950" cy="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14" name="Text 112"/>
          <p:cNvSpPr txBox="1"/>
          <p:nvPr/>
        </p:nvSpPr>
        <p:spPr>
          <a:xfrm>
            <a:off x="8903970" y="2918774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적용한 보정값</a:t>
            </a:r>
            <a:endParaRPr lang="en-US" sz="863" dirty="0"/>
          </a:p>
        </p:txBody>
      </p:sp>
      <p:sp>
        <p:nvSpPr>
          <p:cNvPr id="115" name="Shape 113"/>
          <p:cNvSpPr/>
          <p:nvPr/>
        </p:nvSpPr>
        <p:spPr>
          <a:xfrm>
            <a:off x="6035612" y="2328929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093905" y="2362269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527864" y="2622288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786944" y="2838677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058978" y="2858342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88518" y="2890554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318058" y="2920439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434644" y="2801602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512368" y="2983594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732586" y="2878783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926896" y="2900633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965758" y="2753319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004620" y="2784685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147114" y="2723222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9" name="Shape 127"/>
          <p:cNvSpPr/>
          <p:nvPr/>
        </p:nvSpPr>
        <p:spPr>
          <a:xfrm>
            <a:off x="8160068" y="2817672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0" name="Shape 128"/>
          <p:cNvSpPr/>
          <p:nvPr/>
        </p:nvSpPr>
        <p:spPr>
          <a:xfrm>
            <a:off x="8237792" y="2847487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1" name="Shape 129"/>
          <p:cNvSpPr/>
          <p:nvPr/>
        </p:nvSpPr>
        <p:spPr>
          <a:xfrm>
            <a:off x="8432102" y="2863135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8445056" y="2839382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9040940" y="3056757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533192" y="3390010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5" name="Shape 133"/>
          <p:cNvSpPr/>
          <p:nvPr/>
        </p:nvSpPr>
        <p:spPr>
          <a:xfrm>
            <a:off x="9559100" y="3472830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6" name="Shape 134"/>
          <p:cNvSpPr/>
          <p:nvPr/>
        </p:nvSpPr>
        <p:spPr>
          <a:xfrm>
            <a:off x="9572054" y="3282168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9610916" y="3290697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831134" y="3429693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9" name="Shape 137"/>
          <p:cNvSpPr/>
          <p:nvPr/>
        </p:nvSpPr>
        <p:spPr>
          <a:xfrm>
            <a:off x="9999536" y="3583562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0" name="Shape 138"/>
          <p:cNvSpPr/>
          <p:nvPr/>
        </p:nvSpPr>
        <p:spPr>
          <a:xfrm>
            <a:off x="10193846" y="3354486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1" name="Shape 139"/>
          <p:cNvSpPr/>
          <p:nvPr/>
        </p:nvSpPr>
        <p:spPr>
          <a:xfrm>
            <a:off x="10193846" y="3275120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2" name="Shape 140"/>
          <p:cNvSpPr/>
          <p:nvPr/>
        </p:nvSpPr>
        <p:spPr>
          <a:xfrm>
            <a:off x="10258616" y="3484460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10284524" y="3480725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4" name="Shape 142"/>
          <p:cNvSpPr/>
          <p:nvPr/>
        </p:nvSpPr>
        <p:spPr>
          <a:xfrm>
            <a:off x="10388156" y="3302891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5" name="Shape 143"/>
          <p:cNvSpPr/>
          <p:nvPr/>
        </p:nvSpPr>
        <p:spPr>
          <a:xfrm>
            <a:off x="10478834" y="3285058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6" name="Shape 144"/>
          <p:cNvSpPr/>
          <p:nvPr/>
        </p:nvSpPr>
        <p:spPr>
          <a:xfrm>
            <a:off x="10517696" y="3420460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7" name="Shape 145"/>
          <p:cNvSpPr/>
          <p:nvPr/>
        </p:nvSpPr>
        <p:spPr>
          <a:xfrm>
            <a:off x="10530650" y="3092564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8" name="Shape 146"/>
          <p:cNvSpPr/>
          <p:nvPr/>
        </p:nvSpPr>
        <p:spPr>
          <a:xfrm>
            <a:off x="10530650" y="3143313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0530650" y="3349411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0" name="Shape 148"/>
          <p:cNvSpPr/>
          <p:nvPr/>
        </p:nvSpPr>
        <p:spPr>
          <a:xfrm>
            <a:off x="10634282" y="3193569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0660190" y="3405376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2" name="Shape 150"/>
          <p:cNvSpPr/>
          <p:nvPr/>
        </p:nvSpPr>
        <p:spPr>
          <a:xfrm>
            <a:off x="10763822" y="3189269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958132" y="3093339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1191304" y="3140987"/>
            <a:ext cx="62865" cy="62865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314950" y="4114800"/>
            <a:ext cx="6191250" cy="18288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324475" y="4124325"/>
            <a:ext cx="617220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314950" y="4400550"/>
            <a:ext cx="619125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324475" y="41243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5486400" y="419100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160" name="Text 158"/>
          <p:cNvSpPr txBox="1"/>
          <p:nvPr/>
        </p:nvSpPr>
        <p:spPr>
          <a:xfrm>
            <a:off x="5715000" y="4191000"/>
            <a:ext cx="5019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문제인가</a:t>
            </a:r>
            <a:endParaRPr lang="en-US" sz="1013" dirty="0"/>
          </a:p>
        </p:txBody>
      </p:sp>
      <p:sp>
        <p:nvSpPr>
          <p:cNvPr id="161" name="Text 159"/>
          <p:cNvSpPr txBox="1"/>
          <p:nvPr/>
        </p:nvSpPr>
        <p:spPr>
          <a:xfrm>
            <a:off x="10734675" y="4200525"/>
            <a:ext cx="6381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미달 15회</a:t>
            </a:r>
            <a:endParaRPr lang="en-US" sz="825" dirty="0"/>
          </a:p>
        </p:txBody>
      </p:sp>
      <p:sp>
        <p:nvSpPr>
          <p:cNvPr id="162" name="Shape 160"/>
          <p:cNvSpPr/>
          <p:nvPr/>
        </p:nvSpPr>
        <p:spPr>
          <a:xfrm>
            <a:off x="5505450" y="4505325"/>
            <a:ext cx="38100" cy="247650"/>
          </a:xfrm>
          <a:prstGeom prst="rect">
            <a:avLst/>
          </a:prstGeom>
          <a:solidFill>
            <a:srgbClr val="A8BCD1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5638800" y="4476750"/>
            <a:ext cx="5143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</a:t>
            </a:r>
            <a:endParaRPr lang="en-US" sz="1125" dirty="0"/>
          </a:p>
        </p:txBody>
      </p:sp>
      <p:sp>
        <p:nvSpPr>
          <p:cNvPr id="164" name="Text 162"/>
          <p:cNvSpPr txBox="1"/>
          <p:nvPr/>
        </p:nvSpPr>
        <p:spPr>
          <a:xfrm>
            <a:off x="6229350" y="4486275"/>
            <a:ext cx="4895850" cy="359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낼 수 있는데 적게 신고했습니다. 팔 수 있는 양을 못 팔았습니다.</a:t>
            </a:r>
            <a:endParaRPr lang="en-US" sz="975" dirty="0"/>
          </a:p>
        </p:txBody>
      </p:sp>
      <p:sp>
        <p:nvSpPr>
          <p:cNvPr id="165" name="Shape 163"/>
          <p:cNvSpPr/>
          <p:nvPr/>
        </p:nvSpPr>
        <p:spPr>
          <a:xfrm>
            <a:off x="5505450" y="4981575"/>
            <a:ext cx="38100" cy="2476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638800" y="4953000"/>
            <a:ext cx="5143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</a:t>
            </a:r>
            <a:endParaRPr lang="en-US" sz="1125" dirty="0"/>
          </a:p>
        </p:txBody>
      </p:sp>
      <p:sp>
        <p:nvSpPr>
          <p:cNvPr id="167" name="Text 165"/>
          <p:cNvSpPr txBox="1"/>
          <p:nvPr/>
        </p:nvSpPr>
        <p:spPr>
          <a:xfrm>
            <a:off x="6229350" y="4962525"/>
            <a:ext cx="4895850" cy="359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내는데 많이 신고했습니다. 신고값을 못 채우면 정산에서 불이익을 받습니다.</a:t>
            </a:r>
            <a:endParaRPr lang="en-US" sz="975" dirty="0"/>
          </a:p>
        </p:txBody>
      </p:sp>
      <p:sp>
        <p:nvSpPr>
          <p:cNvPr id="168" name="Shape 166"/>
          <p:cNvSpPr/>
          <p:nvPr/>
        </p:nvSpPr>
        <p:spPr>
          <a:xfrm>
            <a:off x="5505450" y="5457825"/>
            <a:ext cx="38100" cy="2476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5638800" y="5429250"/>
            <a:ext cx="5143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25" dirty="0"/>
          </a:p>
        </p:txBody>
      </p:sp>
      <p:sp>
        <p:nvSpPr>
          <p:cNvPr id="170" name="Text 168"/>
          <p:cNvSpPr txBox="1"/>
          <p:nvPr/>
        </p:nvSpPr>
        <p:spPr>
          <a:xfrm>
            <a:off x="6229350" y="5438775"/>
            <a:ext cx="4895850" cy="359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15회가 신고값을 못 채웠고, 가장 크게 어긋난 날은 10.8 MW 였습니다.</a:t>
            </a:r>
            <a:endParaRPr lang="en-US" sz="975" dirty="0"/>
          </a:p>
        </p:txBody>
      </p:sp>
      <p:sp>
        <p:nvSpPr>
          <p:cNvPr id="171" name="Shape 169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73" name="Text 171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다른 것을 하나로 맞추려니 맞을 수가 없었습니다.</a:t>
            </a:r>
            <a:endParaRPr lang="en-US" sz="123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2026-09-16T07:40:26Z</dcterms:created>
  <dcterms:modified xsi:type="dcterms:W3CDTF">2026-09-16T07:40:26Z</dcterms:modified>
</cp:coreProperties>
</file>