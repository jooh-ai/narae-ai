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9" name="Text 47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5" name="Text 53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0" name="Text 58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업무인데도 과제로 잡은 이유가 셋 있습니다.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 보고 싶은 분야와, 곁에서 보이던 낭비가 같은 자리에 있었습니다.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값은 하나로 정해 두고 그대로 썼습니다.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6419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번(누적 40회) · 채점 39회(까닭은 9장 각주)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 39회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거의 같이 움직입니다 (0.95)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오르면 차이가 내려갑니다 (반대 방향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둘이었습니다. 각각 무엇으로 풀지 정했습니다.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52959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① 절차를 하나로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429125" y="1790700"/>
            <a:ext cx="1438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도구를 새로 만들었나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812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7750" y="19621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4개는 손으로 이어야 한다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1047750" y="21336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사이를 사람이 값으로 잇습니다. 한곳에 넣으면 옮겨 적을 일이 없어집니다.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876300" y="24384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7750" y="24193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배우는 계산은 수식으로 어렵다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1047750" y="25908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곡선을 찾는 계산은 엑셀 수식으로 짜기 어렵습니다.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876300" y="28956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47750" y="28765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다시 배우려면 저장소가 필요하다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1047750" y="30480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회차를 쌓아 두고 늘 때마다 다시 배워야 합니다. 파일로는 관리가 되지 않습니다.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876300" y="3371850"/>
            <a:ext cx="4914900" cy="14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엑셀을 고치는 대신 </a:t>
            </a:r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하나로 합쳤습니다</a:t>
            </a:r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6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524250"/>
            <a:ext cx="49149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계산식과 RiMS 취득 방식은 기존 엑셀 것을 그대로 옮겼습니다.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6134100" y="1724025"/>
            <a:ext cx="53721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② 온도별 보정값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344150" y="1790700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→ 곡선 → 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점을 모은다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63246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8175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29375" y="221852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2234" y="22279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1" name="Shape 39"/>
          <p:cNvSpPr/>
          <p:nvPr/>
        </p:nvSpPr>
        <p:spPr>
          <a:xfrm>
            <a:off x="6537960" y="23017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2" name="Shape 40"/>
          <p:cNvSpPr/>
          <p:nvPr/>
        </p:nvSpPr>
        <p:spPr>
          <a:xfrm>
            <a:off x="6595110" y="23631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5118" y="236875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4" name="Shape 42"/>
          <p:cNvSpPr/>
          <p:nvPr/>
        </p:nvSpPr>
        <p:spPr>
          <a:xfrm>
            <a:off x="6683693" y="237790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5" name="Shape 43"/>
          <p:cNvSpPr/>
          <p:nvPr/>
        </p:nvSpPr>
        <p:spPr>
          <a:xfrm>
            <a:off x="6712268" y="2386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6" name="Shape 44"/>
          <p:cNvSpPr/>
          <p:nvPr/>
        </p:nvSpPr>
        <p:spPr>
          <a:xfrm>
            <a:off x="6737985" y="23526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6755130" y="2404303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8" name="Shape 46"/>
          <p:cNvSpPr/>
          <p:nvPr/>
        </p:nvSpPr>
        <p:spPr>
          <a:xfrm>
            <a:off x="6803708" y="23745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9" name="Shape 47"/>
          <p:cNvSpPr/>
          <p:nvPr/>
        </p:nvSpPr>
        <p:spPr>
          <a:xfrm>
            <a:off x="6846570" y="23807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0" name="Shape 48"/>
          <p:cNvSpPr/>
          <p:nvPr/>
        </p:nvSpPr>
        <p:spPr>
          <a:xfrm>
            <a:off x="6855143" y="233895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6863715" y="234785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2" name="Shape 50"/>
          <p:cNvSpPr/>
          <p:nvPr/>
        </p:nvSpPr>
        <p:spPr>
          <a:xfrm>
            <a:off x="6895148" y="233041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3" name="Shape 51"/>
          <p:cNvSpPr/>
          <p:nvPr/>
        </p:nvSpPr>
        <p:spPr>
          <a:xfrm>
            <a:off x="6898005" y="235721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4" name="Shape 52"/>
          <p:cNvSpPr/>
          <p:nvPr/>
        </p:nvSpPr>
        <p:spPr>
          <a:xfrm>
            <a:off x="6915150" y="23656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5" name="Shape 53"/>
          <p:cNvSpPr/>
          <p:nvPr/>
        </p:nvSpPr>
        <p:spPr>
          <a:xfrm>
            <a:off x="6958013" y="237011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6" name="Shape 54"/>
          <p:cNvSpPr/>
          <p:nvPr/>
        </p:nvSpPr>
        <p:spPr>
          <a:xfrm>
            <a:off x="6960870" y="23633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7" name="Shape 55"/>
          <p:cNvSpPr/>
          <p:nvPr/>
        </p:nvSpPr>
        <p:spPr>
          <a:xfrm>
            <a:off x="7092315" y="242506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0900" y="251963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206615" y="25431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7209473" y="2489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7218045" y="24914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7266623" y="253089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7303770" y="257456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7346633" y="25095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7346633" y="2487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7360920" y="25464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7" name="Shape 65"/>
          <p:cNvSpPr/>
          <p:nvPr/>
        </p:nvSpPr>
        <p:spPr>
          <a:xfrm>
            <a:off x="7366635" y="2545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8" name="Shape 66"/>
          <p:cNvSpPr/>
          <p:nvPr/>
        </p:nvSpPr>
        <p:spPr>
          <a:xfrm>
            <a:off x="7389495" y="249491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9" name="Shape 67"/>
          <p:cNvSpPr/>
          <p:nvPr/>
        </p:nvSpPr>
        <p:spPr>
          <a:xfrm>
            <a:off x="7409498" y="24898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0" name="Shape 68"/>
          <p:cNvSpPr/>
          <p:nvPr/>
        </p:nvSpPr>
        <p:spPr>
          <a:xfrm>
            <a:off x="7418070" y="25282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1" name="Shape 69"/>
          <p:cNvSpPr/>
          <p:nvPr/>
        </p:nvSpPr>
        <p:spPr>
          <a:xfrm>
            <a:off x="7420928" y="243522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2" name="Shape 70"/>
          <p:cNvSpPr/>
          <p:nvPr/>
        </p:nvSpPr>
        <p:spPr>
          <a:xfrm>
            <a:off x="7420928" y="244962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3" name="Shape 71"/>
          <p:cNvSpPr/>
          <p:nvPr/>
        </p:nvSpPr>
        <p:spPr>
          <a:xfrm>
            <a:off x="7420928" y="250811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4" name="Shape 72"/>
          <p:cNvSpPr/>
          <p:nvPr/>
        </p:nvSpPr>
        <p:spPr>
          <a:xfrm>
            <a:off x="7443788" y="246389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5" name="Shape 73"/>
          <p:cNvSpPr/>
          <p:nvPr/>
        </p:nvSpPr>
        <p:spPr>
          <a:xfrm>
            <a:off x="7449503" y="252399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7472363" y="24626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7515225" y="243544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7566660" y="244896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246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시험마다 점 하나가 생깁니다. 가로는 그날 외기온도, 세로는 실제와 계산값의 차이입니다.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779145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805815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곡선을 배운다</a:t>
            </a:r>
            <a:endParaRPr lang="en-US" sz="938" dirty="0"/>
          </a:p>
        </p:txBody>
      </p:sp>
      <p:sp>
        <p:nvSpPr>
          <p:cNvPr id="82" name="Shape 80"/>
          <p:cNvSpPr/>
          <p:nvPr/>
        </p:nvSpPr>
        <p:spPr>
          <a:xfrm>
            <a:off x="805815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1530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229600" y="2340216"/>
            <a:ext cx="57150" cy="10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86750" y="2341216"/>
            <a:ext cx="57150" cy="22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343900" y="2363419"/>
            <a:ext cx="57150" cy="17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01050" y="2381221"/>
            <a:ext cx="57150" cy="80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8458200" y="2386422"/>
            <a:ext cx="57150" cy="28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8515350" y="2377021"/>
            <a:ext cx="57150" cy="9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8572500" y="2369220"/>
            <a:ext cx="57150" cy="78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9650" y="2369220"/>
            <a:ext cx="57150" cy="22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686800" y="2371420"/>
            <a:ext cx="57150" cy="174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43950" y="2388822"/>
            <a:ext cx="57150" cy="324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01100" y="2421226"/>
            <a:ext cx="57150" cy="414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858250" y="2462632"/>
            <a:ext cx="57150" cy="402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15400" y="2502837"/>
            <a:ext cx="57150" cy="290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72550" y="2531840"/>
            <a:ext cx="57150" cy="112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9029700" y="2535641"/>
            <a:ext cx="57150" cy="7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9086850" y="2514638"/>
            <a:ext cx="57150" cy="21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9144000" y="2487635"/>
            <a:ext cx="57150" cy="27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9201150" y="2463432"/>
            <a:ext cx="57150" cy="24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9258300" y="2447630"/>
            <a:ext cx="57150" cy="15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315450" y="2447630"/>
            <a:ext cx="5715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62925" y="221852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175784" y="22279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271510" y="23017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328660" y="23631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88668" y="236875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417243" y="237790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445818" y="2386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471535" y="23526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88680" y="2404303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537258" y="23745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580120" y="23807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588693" y="233895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597265" y="234785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628698" y="233041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631555" y="235721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648700" y="23656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91563" y="237011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694420" y="23633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825865" y="242506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934450" y="251963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940165" y="25431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943023" y="2489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951595" y="24914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000173" y="253089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037320" y="257456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80183" y="25095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80183" y="2487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094470" y="25464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100185" y="2545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123045" y="249491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143048" y="24898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151620" y="25282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4478" y="243522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54478" y="244962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54478" y="250811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177338" y="246389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183053" y="252399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205913" y="24626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248775" y="243544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300210" y="244896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05815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점을 가장 잘 지나는 곡선을 찾습니다. 점이 없는 온도의 값도 이 곡선이 메웁니다.</a:t>
            </a:r>
            <a:endParaRPr lang="en-US" sz="788" dirty="0"/>
          </a:p>
        </p:txBody>
      </p:sp>
      <p:sp>
        <p:nvSpPr>
          <p:cNvPr id="145" name="Text 143"/>
          <p:cNvSpPr txBox="1"/>
          <p:nvPr/>
        </p:nvSpPr>
        <p:spPr>
          <a:xfrm>
            <a:off x="952500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46" name="Text 144"/>
          <p:cNvSpPr txBox="1"/>
          <p:nvPr/>
        </p:nvSpPr>
        <p:spPr>
          <a:xfrm>
            <a:off x="97917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표를 만든다</a:t>
            </a:r>
            <a:endParaRPr lang="en-US" sz="938" dirty="0"/>
          </a:p>
        </p:txBody>
      </p:sp>
      <p:sp>
        <p:nvSpPr>
          <p:cNvPr id="147" name="Shape 145"/>
          <p:cNvSpPr/>
          <p:nvPr/>
        </p:nvSpPr>
        <p:spPr>
          <a:xfrm>
            <a:off x="97917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287000" y="2209800"/>
            <a:ext cx="0" cy="4000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886950" y="22479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344150" y="2247900"/>
            <a:ext cx="800100" cy="0"/>
          </a:xfrm>
          <a:prstGeom prst="line">
            <a:avLst/>
          </a:prstGeom>
          <a:noFill/>
          <a:ln w="12700">
            <a:solidFill>
              <a:srgbClr val="EA002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886950" y="23145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44150" y="23145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886950" y="238125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344150" y="238125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886950" y="244792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44150" y="244792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886950" y="25146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344150" y="251460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886950" y="25812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344150" y="25812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917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곡선에서 영하 20도부터 40도까지 61개 값을 읽어 신고 표를 만듭니다.</a:t>
            </a:r>
            <a:endParaRPr lang="en-US" sz="788" dirty="0"/>
          </a:p>
        </p:txBody>
      </p:sp>
      <p:sp>
        <p:nvSpPr>
          <p:cNvPr id="162" name="Text 160"/>
          <p:cNvSpPr txBox="1"/>
          <p:nvPr/>
        </p:nvSpPr>
        <p:spPr>
          <a:xfrm>
            <a:off x="6324600" y="3200400"/>
            <a:ext cx="49911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곡선을 쓸지는 여기서 정하지 않았습니다 — 후보 회귀 모델 7가지를 겨루게 한 결과가 다음 장입니다.</a:t>
            </a:r>
            <a:endParaRPr lang="en-US" sz="863" dirty="0"/>
          </a:p>
        </p:txBody>
      </p:sp>
      <p:sp>
        <p:nvSpPr>
          <p:cNvPr id="163" name="Shape 161"/>
          <p:cNvSpPr/>
          <p:nvPr/>
        </p:nvSpPr>
        <p:spPr>
          <a:xfrm>
            <a:off x="685800" y="3895725"/>
            <a:ext cx="108204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85800" y="377190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19150" y="38290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166" name="Text 164"/>
          <p:cNvSpPr txBox="1"/>
          <p:nvPr/>
        </p:nvSpPr>
        <p:spPr>
          <a:xfrm>
            <a:off x="1009650" y="382905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공급가능용량 산정</a:t>
            </a:r>
            <a:endParaRPr lang="en-US" sz="1013" dirty="0"/>
          </a:p>
        </p:txBody>
      </p:sp>
      <p:sp>
        <p:nvSpPr>
          <p:cNvPr id="167" name="Text 165"/>
          <p:cNvSpPr txBox="1"/>
          <p:nvPr/>
        </p:nvSpPr>
        <p:spPr>
          <a:xfrm>
            <a:off x="9658350" y="3962400"/>
            <a:ext cx="1733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넣고 누른 결과</a:t>
            </a:r>
            <a:endParaRPr lang="en-US" sz="825" dirty="0"/>
          </a:p>
        </p:txBody>
      </p:sp>
      <p:pic>
        <p:nvPicPr>
          <p:cNvPr id="168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4133850"/>
            <a:ext cx="6791325" cy="1962150"/>
          </a:xfrm>
          <a:prstGeom prst="rect">
            <a:avLst/>
          </a:prstGeom>
        </p:spPr>
      </p:pic>
      <p:sp>
        <p:nvSpPr>
          <p:cNvPr id="169" name="Shape 166"/>
          <p:cNvSpPr/>
          <p:nvPr/>
        </p:nvSpPr>
        <p:spPr>
          <a:xfrm>
            <a:off x="866775" y="4124325"/>
            <a:ext cx="6810375" cy="19812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70" name="Text 167"/>
          <p:cNvSpPr txBox="1"/>
          <p:nvPr/>
        </p:nvSpPr>
        <p:spPr>
          <a:xfrm>
            <a:off x="7858125" y="41338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</a:t>
            </a:r>
            <a:endParaRPr lang="en-US" sz="863" dirty="0"/>
          </a:p>
        </p:txBody>
      </p:sp>
      <p:sp>
        <p:nvSpPr>
          <p:cNvPr id="171" name="Text 168"/>
          <p:cNvSpPr txBox="1"/>
          <p:nvPr/>
        </p:nvSpPr>
        <p:spPr>
          <a:xfrm>
            <a:off x="7858125" y="43053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이 화면 하나로 끝납니다.</a:t>
            </a:r>
            <a:endParaRPr lang="en-US" sz="825" dirty="0"/>
          </a:p>
        </p:txBody>
      </p:sp>
      <p:sp>
        <p:nvSpPr>
          <p:cNvPr id="172" name="Text 169"/>
          <p:cNvSpPr txBox="1"/>
          <p:nvPr/>
        </p:nvSpPr>
        <p:spPr>
          <a:xfrm>
            <a:off x="7858125" y="480060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· 보정값 · 현실화</a:t>
            </a:r>
            <a:endParaRPr lang="en-US" sz="863" dirty="0"/>
          </a:p>
        </p:txBody>
      </p:sp>
      <p:sp>
        <p:nvSpPr>
          <p:cNvPr id="173" name="Text 170"/>
          <p:cNvSpPr txBox="1"/>
          <p:nvPr/>
        </p:nvSpPr>
        <p:spPr>
          <a:xfrm>
            <a:off x="7858125" y="497205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값, 온도마다 다른 더하는 값, 실제로 신고하는 값.</a:t>
            </a:r>
            <a:endParaRPr lang="en-US" sz="825" dirty="0"/>
          </a:p>
        </p:txBody>
      </p:sp>
      <p:sp>
        <p:nvSpPr>
          <p:cNvPr id="174" name="Text 171"/>
          <p:cNvSpPr txBox="1"/>
          <p:nvPr/>
        </p:nvSpPr>
        <p:spPr>
          <a:xfrm>
            <a:off x="7858125" y="54673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</a:t>
            </a:r>
            <a:endParaRPr lang="en-US" sz="863" dirty="0"/>
          </a:p>
        </p:txBody>
      </p:sp>
      <p:sp>
        <p:nvSpPr>
          <p:cNvPr id="175" name="Text 172"/>
          <p:cNvSpPr txBox="1"/>
          <p:nvPr/>
        </p:nvSpPr>
        <p:spPr>
          <a:xfrm>
            <a:off x="7858125" y="56388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그대로 입찰에 씁니다. 손으로 옮기는 값은 없습니다.</a:t>
            </a:r>
            <a:endParaRPr lang="en-US" sz="825" dirty="0"/>
          </a:p>
        </p:txBody>
      </p:sp>
      <p:sp>
        <p:nvSpPr>
          <p:cNvPr id="176" name="Shape 17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9" name="Text 17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도구 하나로 합치고, 보정값은 온도별 곡선으로 내기로 정했습니다.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어떤 회귀 모델로 그릴지 정했습니다.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685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066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1981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495550" y="2000250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1981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1981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6838950" y="1981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 · 가장 부드러운 곡선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33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25" dirty="0"/>
          </a:p>
        </p:txBody>
      </p:sp>
      <p:sp>
        <p:nvSpPr>
          <p:cNvPr id="27" name="Shape 25"/>
          <p:cNvSpPr/>
          <p:nvPr/>
        </p:nvSpPr>
        <p:spPr>
          <a:xfrm>
            <a:off x="2505075" y="2162175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33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33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6838950" y="2133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완만한 물결과 급한 물결을 섞은 곡선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2860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505075" y="2314575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2860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2860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6838950" y="22860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부드러운 곡선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4384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505075" y="2466975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4384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4384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38950" y="24384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살짝 각이 지는 곡선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5908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2505075" y="2619375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5908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5908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6838950" y="25908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743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2505075" y="2771775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743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743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38950" y="2743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2895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2505075" y="2924175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2895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2895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6838950" y="2895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평균 — 가장 단순한 방법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0861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막대는 1등과의 차이 · 가운데 숫자가 평균 오차 · 한 회씩 가려 맞혀 보는 방식으로 누적 40회 가운데 39회를 썼습니다(한 회차는 구간평균이 답을 못 내 빠집니다).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2194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 — 값 하나가 아니라 곡선 전체를 후보로 두고 실적에 가장 잘 맞는 곡선을 고릅니다. 뒤에 붙은 이름은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648075"/>
            <a:ext cx="10820400" cy="2447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52425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581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58140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10020300" y="3714750"/>
            <a:ext cx="1371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로 그린 결과</a:t>
            </a:r>
            <a:endParaRPr lang="en-US" sz="825" dirty="0"/>
          </a:p>
        </p:txBody>
      </p:sp>
      <p:pic>
        <p:nvPicPr>
          <p:cNvPr id="63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886200"/>
            <a:ext cx="6296025" cy="220980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876675"/>
            <a:ext cx="6315075" cy="22288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62825" y="38862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7362825" y="40576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선). 두 선이 벌어진 만큼이 그 온도에서 더하는 값입니다.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7362825" y="462915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7362825" y="480060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더하는 값과 시험 실적 점. 연한 띠는 도구가 함께 내는 90% 범위입니다.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7362825" y="53721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점이 없는 온도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7362825" y="55435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메웁니다. 다만 시험한 범위를 벗어나면 끝값을 그대로 씁니다.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곡선이 신고 숫자를 만듭니다.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끝나지 않습니다. 돌리고 · 대 보고 · 다시 채점하는 순서를 만들어 두었습니다.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−0.04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2305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866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늘면 다시 채점한다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10048875" y="3124200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모델 선정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956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채점하나 — 시험이 40회뿐입니다. 표본이 적으면 한 번 고른 곡선을 계속 믿을 수 없고, 실적이 늘면 성적이 바뀔 수 있습니다.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4861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채점하나 — 한 회를 가리고 나머지로 그 회를 맞혀 보는 채점을 후보 7가지에 모두 다시 돌려 성적을 새로 매깁니다. 앞서는 모델이 바뀌면 그때 바꿉니다.</a:t>
            </a:r>
            <a:endParaRPr lang="en-US" sz="938" dirty="0"/>
          </a:p>
        </p:txBody>
      </p:sp>
      <p:pic>
        <p:nvPicPr>
          <p:cNvPr id="49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733800"/>
            <a:ext cx="7924800" cy="230505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866775" y="3724275"/>
            <a:ext cx="7943850" cy="23241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10650" y="3771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52" name="Text 49"/>
          <p:cNvSpPr txBox="1"/>
          <p:nvPr/>
        </p:nvSpPr>
        <p:spPr>
          <a:xfrm>
            <a:off x="9010650" y="3924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성적이 가장 좋은 모델에 도구가 표시합니다.</a:t>
            </a:r>
            <a:endParaRPr lang="en-US" sz="788" dirty="0"/>
          </a:p>
        </p:txBody>
      </p:sp>
      <p:sp>
        <p:nvSpPr>
          <p:cNvPr id="53" name="Text 50"/>
          <p:cNvSpPr txBox="1"/>
          <p:nvPr/>
        </p:nvSpPr>
        <p:spPr>
          <a:xfrm>
            <a:off x="9010650" y="4533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열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9010650" y="4686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· RMSE · R² · 편차 · 과대 신고 건수를 한자리에서 봅니다.</a:t>
            </a:r>
            <a:endParaRPr lang="en-US" sz="788" dirty="0"/>
          </a:p>
        </p:txBody>
      </p:sp>
      <p:sp>
        <p:nvSpPr>
          <p:cNvPr id="55" name="Text 52"/>
          <p:cNvSpPr txBox="1"/>
          <p:nvPr/>
        </p:nvSpPr>
        <p:spPr>
          <a:xfrm>
            <a:off x="9010650" y="5295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825" dirty="0"/>
          </a:p>
        </p:txBody>
      </p:sp>
      <p:sp>
        <p:nvSpPr>
          <p:cNvPr id="56" name="Text 53"/>
          <p:cNvSpPr txBox="1"/>
          <p:nvPr/>
        </p:nvSpPr>
        <p:spPr>
          <a:xfrm>
            <a:off x="9010650" y="5448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가 앞섭니다. 이 표가 다음 회차에 다시 계산됩니다.</a:t>
            </a:r>
            <a:endParaRPr lang="en-US" sz="788" dirty="0"/>
          </a:p>
        </p:txBody>
      </p:sp>
      <p:sp>
        <p:nvSpPr>
          <p:cNvPr id="57" name="Shape 5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달을 나란히 돌려 확인했고, 실적이 늘 때마다 도구가 스스로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895600"/>
            <a:ext cx="49149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날짜·시각 입력으로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267075"/>
            <a:ext cx="10820400" cy="1057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14325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00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0040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337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576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62475"/>
            <a:ext cx="10820400" cy="1533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4386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95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958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62915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80060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9110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6730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95300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911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7210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63880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8155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8006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8006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50482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50482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959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959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5435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5435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84835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정확해졌습니다.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더하는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계산해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입찰을 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이하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얇은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붙습니다. 그 데이터로 후보 7가지를 다시 채점(LOOCV)해 최적 회귀 모델을 다시 고릅니다 — 지금 1등이 계속 1등이라는 보장은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곡선은 코드가 아니라 온도 61줄 표 파일로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쌓일수록 촘촘해지고, 다른 사업소로 넓힐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582150" y="3181350"/>
            <a:ext cx="1809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277350" y="2514600"/>
            <a:ext cx="2114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점이 실제 시험 결과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2026-09-18T06:59:35Z</dcterms:created>
  <dcterms:modified xsi:type="dcterms:W3CDTF">2026-09-18T06:59:35Z</dcterms:modified>
</cp:coreProperties>
</file>