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09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71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2019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2028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2009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343150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45745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41935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46697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47650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4574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7908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9051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8670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9146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9241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9051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35280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31470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36232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37185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및 모델 개발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3528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6861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8004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57300" y="37623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448050" y="38100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8058150" y="38195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38004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4133850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424815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257300" y="421005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3448050" y="425767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8058150" y="426720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10972800" y="42481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85800" y="4581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46958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257300" y="4657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448050" y="4705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058150" y="4714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10972800" y="4695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85800" y="5029200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514350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257300" y="510540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3448050" y="515302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8058150" y="516255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2" name="Text 50"/>
          <p:cNvSpPr txBox="1"/>
          <p:nvPr/>
        </p:nvSpPr>
        <p:spPr>
          <a:xfrm>
            <a:off x="10972800" y="51435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85800" y="54768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561975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5" name="Text 53"/>
          <p:cNvSpPr txBox="1"/>
          <p:nvPr/>
        </p:nvSpPr>
        <p:spPr>
          <a:xfrm>
            <a:off x="1257300" y="558165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3448050" y="562927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10972800" y="56197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 보고 싶었고, 마침 눈에 보이던 비효율이 그 대상이었습니다.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값을 하나로 끝냈습니다.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5334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같이 움직입니다 (겹침 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차이가 반대로 움직입니다 (겹침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도구 하나로 합친 것입니다. 다른 하나는 더하는 값을 온도마다 다르게 한 것입니다.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72600" y="1790700"/>
            <a:ext cx="2019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87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714750" y="1990725"/>
            <a:ext cx="60007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437197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00575" y="1971675"/>
            <a:ext cx="1238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088" dirty="0"/>
          </a:p>
        </p:txBody>
      </p:sp>
      <p:sp>
        <p:nvSpPr>
          <p:cNvPr id="26" name="Shape 24"/>
          <p:cNvSpPr/>
          <p:nvPr/>
        </p:nvSpPr>
        <p:spPr>
          <a:xfrm>
            <a:off x="5981700" y="1943100"/>
            <a:ext cx="0" cy="3238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46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2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온도마다 다르게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010650" y="1990725"/>
            <a:ext cx="46672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953452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763125" y="1971675"/>
            <a:ext cx="1504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088" dirty="0"/>
          </a:p>
        </p:txBody>
      </p:sp>
      <p:sp>
        <p:nvSpPr>
          <p:cNvPr id="33" name="Shape 31"/>
          <p:cNvSpPr/>
          <p:nvPr/>
        </p:nvSpPr>
        <p:spPr>
          <a:xfrm>
            <a:off x="685800" y="26003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247650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19150" y="2533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1009650" y="253365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pic>
        <p:nvPicPr>
          <p:cNvPr id="37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838450"/>
            <a:ext cx="8572500" cy="30099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66775" y="2828925"/>
            <a:ext cx="8591550" cy="30289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39300" y="28384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25" dirty="0"/>
          </a:p>
        </p:txBody>
      </p:sp>
      <p:sp>
        <p:nvSpPr>
          <p:cNvPr id="40" name="Text 37"/>
          <p:cNvSpPr txBox="1"/>
          <p:nvPr/>
        </p:nvSpPr>
        <p:spPr>
          <a:xfrm>
            <a:off x="9639300" y="30099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</a:t>
            </a:r>
            <a:endParaRPr lang="en-US" sz="825" dirty="0"/>
          </a:p>
        </p:txBody>
      </p:sp>
      <p:sp>
        <p:nvSpPr>
          <p:cNvPr id="41" name="Text 38"/>
          <p:cNvSpPr txBox="1"/>
          <p:nvPr/>
        </p:nvSpPr>
        <p:spPr>
          <a:xfrm>
            <a:off x="9639300" y="37528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25" dirty="0"/>
          </a:p>
        </p:txBody>
      </p:sp>
      <p:sp>
        <p:nvSpPr>
          <p:cNvPr id="42" name="Text 39"/>
          <p:cNvSpPr txBox="1"/>
          <p:nvPr/>
        </p:nvSpPr>
        <p:spPr>
          <a:xfrm>
            <a:off x="9639300" y="39243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값(보정값)과 시험 실적 점</a:t>
            </a:r>
            <a:endParaRPr lang="en-US" sz="825" dirty="0"/>
          </a:p>
        </p:txBody>
      </p:sp>
      <p:sp>
        <p:nvSpPr>
          <p:cNvPr id="43" name="Text 40"/>
          <p:cNvSpPr txBox="1"/>
          <p:nvPr/>
        </p:nvSpPr>
        <p:spPr>
          <a:xfrm>
            <a:off x="9639300" y="46672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825" dirty="0"/>
          </a:p>
        </p:txBody>
      </p:sp>
      <p:sp>
        <p:nvSpPr>
          <p:cNvPr id="44" name="Text 41"/>
          <p:cNvSpPr txBox="1"/>
          <p:nvPr/>
        </p:nvSpPr>
        <p:spPr>
          <a:xfrm>
            <a:off x="9639300" y="48387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선이 벌어진 만큼이 그 온도에서 더하는 값입니다</a:t>
            </a:r>
            <a:endParaRPr lang="en-US" sz="825" dirty="0"/>
          </a:p>
        </p:txBody>
      </p:sp>
      <p:sp>
        <p:nvSpPr>
          <p:cNvPr id="45" name="Text 42"/>
          <p:cNvSpPr txBox="1"/>
          <p:nvPr/>
        </p:nvSpPr>
        <p:spPr>
          <a:xfrm>
            <a:off x="876300" y="5905500"/>
            <a:ext cx="10382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보정 곡선은 후보 7가지 — 구간 평균 · 거리가중 평균 · 가우시안 프로세스(GP) 커널 5종 — 을 같은 데이터로 겨루게 해서 고른 GP·RBF 로 그립니다. 겨룬 화면은 7장.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9" name="Text 4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계산식을 그대로 두었으니 다른 발전소에도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 나란히 돌렸습니다. 예측을 먼저 적어 두고 시험이 끝난 뒤 실제와 맞춰 봤습니다.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-0.04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 때마다 다시 검사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10763250" y="3124200"/>
            <a:ext cx="6286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956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검사하나 — 시험이 40회뿐입니다. 표본이 적으면 한 번 고른 곡선을 계속 믿을 수 없습니다.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34861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검사하나 — 한 회를 가리고 나머지로 그 회를 맞혀 보는 채점을 후보 7가지에 모두 다시 돌려 성적을 새로 매깁니다.</a:t>
            </a:r>
            <a:endParaRPr lang="en-US" sz="938" dirty="0"/>
          </a:p>
        </p:txBody>
      </p:sp>
      <p:pic>
        <p:nvPicPr>
          <p:cNvPr id="49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733800"/>
            <a:ext cx="7924800" cy="23622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866775" y="3724275"/>
            <a:ext cx="7943850" cy="23812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010650" y="37338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52" name="Text 49"/>
          <p:cNvSpPr txBox="1"/>
          <p:nvPr/>
        </p:nvSpPr>
        <p:spPr>
          <a:xfrm>
            <a:off x="9010650" y="390525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성적이 가장 좋은 방법에 도구가 표시합니다.</a:t>
            </a:r>
            <a:endParaRPr lang="en-US" sz="788" dirty="0"/>
          </a:p>
        </p:txBody>
      </p:sp>
      <p:sp>
        <p:nvSpPr>
          <p:cNvPr id="53" name="Text 50"/>
          <p:cNvSpPr txBox="1"/>
          <p:nvPr/>
        </p:nvSpPr>
        <p:spPr>
          <a:xfrm>
            <a:off x="9010650" y="443865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9010650" y="46101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늘면 이 표를 다시 계산합니다. 다른 방법이 앞서면 그때 바꿉니다.</a:t>
            </a:r>
            <a:endParaRPr lang="en-US" sz="788" dirty="0"/>
          </a:p>
        </p:txBody>
      </p:sp>
      <p:sp>
        <p:nvSpPr>
          <p:cNvPr id="55" name="Text 52"/>
          <p:cNvSpPr txBox="1"/>
          <p:nvPr/>
        </p:nvSpPr>
        <p:spPr>
          <a:xfrm>
            <a:off x="9010650" y="51435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열</a:t>
            </a:r>
            <a:endParaRPr lang="en-US" sz="825" dirty="0"/>
          </a:p>
        </p:txBody>
      </p:sp>
      <p:sp>
        <p:nvSpPr>
          <p:cNvPr id="56" name="Text 53"/>
          <p:cNvSpPr txBox="1"/>
          <p:nvPr/>
        </p:nvSpPr>
        <p:spPr>
          <a:xfrm>
            <a:off x="9010650" y="531495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· RMSE · R² · 편차 · 과대 신고 건수를 한자리에서 봅니다.</a:t>
            </a:r>
            <a:endParaRPr lang="en-US" sz="788" dirty="0"/>
          </a:p>
        </p:txBody>
      </p:sp>
      <p:sp>
        <p:nvSpPr>
          <p:cNvPr id="57" name="Text 54"/>
          <p:cNvSpPr txBox="1"/>
          <p:nvPr/>
        </p:nvSpPr>
        <p:spPr>
          <a:xfrm>
            <a:off x="9010650" y="5886450"/>
            <a:ext cx="22479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이 화면은 실적의 20% 를 시험지로 떼어 두므로 채점 회차가 32회로 적힙니다.</a:t>
            </a:r>
            <a:endParaRPr lang="en-US" sz="713" dirty="0"/>
          </a:p>
        </p:txBody>
      </p:sp>
      <p:sp>
        <p:nvSpPr>
          <p:cNvPr id="58" name="Shape 5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1" name="Text 5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달을 나란히 돌려 확인했고, 실적이 늘 때마다 도구가 스스로 다시 채점합니다.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933700"/>
            <a:ext cx="4914900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오가며 61개 값을 옮기던 일이, 날짜와 시각을 넣는 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324225"/>
            <a:ext cx="10820400" cy="9429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2004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575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9090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957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05325"/>
            <a:ext cx="10820400" cy="1590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3815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38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386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5720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74345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3395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1015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89585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3400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1495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58165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2440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7434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7434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49911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49911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387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387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4864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4864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79120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맞았습니다.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더할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대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가지입니다. 실적을 쌓아 더 정확하게, 그리고 다른 발전소로.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2733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067175" y="1847850"/>
            <a:ext cx="18002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앞부터 배워 뒤를 맞혀 본 결과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104900" y="2514600"/>
            <a:ext cx="838200" cy="1028700"/>
          </a:xfrm>
          <a:prstGeom prst="rect">
            <a:avLst/>
          </a:prstGeom>
          <a:solidFill>
            <a:srgbClr val="9AA3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04900" y="2305050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125" dirty="0"/>
          </a:p>
        </p:txBody>
      </p:sp>
      <p:sp>
        <p:nvSpPr>
          <p:cNvPr id="22" name="Text 20"/>
          <p:cNvSpPr txBox="1"/>
          <p:nvPr/>
        </p:nvSpPr>
        <p:spPr>
          <a:xfrm>
            <a:off x="11049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13~19회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2209800" y="2514600"/>
            <a:ext cx="838200" cy="1028700"/>
          </a:xfrm>
          <a:prstGeom prst="rect">
            <a:avLst/>
          </a:prstGeom>
          <a:solidFill>
            <a:srgbClr val="9AA3A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09800" y="2305050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22098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20~26회</a:t>
            </a:r>
            <a:endParaRPr lang="en-US" sz="825" dirty="0"/>
          </a:p>
        </p:txBody>
      </p:sp>
      <p:sp>
        <p:nvSpPr>
          <p:cNvPr id="26" name="Shape 24"/>
          <p:cNvSpPr/>
          <p:nvPr/>
        </p:nvSpPr>
        <p:spPr>
          <a:xfrm>
            <a:off x="3314700" y="3133725"/>
            <a:ext cx="838200" cy="409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14700" y="2924175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125" dirty="0"/>
          </a:p>
        </p:txBody>
      </p:sp>
      <p:sp>
        <p:nvSpPr>
          <p:cNvPr id="28" name="Text 26"/>
          <p:cNvSpPr txBox="1"/>
          <p:nvPr/>
        </p:nvSpPr>
        <p:spPr>
          <a:xfrm>
            <a:off x="33147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27~33회</a:t>
            </a:r>
            <a:endParaRPr lang="en-US" sz="825" dirty="0"/>
          </a:p>
        </p:txBody>
      </p:sp>
      <p:sp>
        <p:nvSpPr>
          <p:cNvPr id="29" name="Shape 27"/>
          <p:cNvSpPr/>
          <p:nvPr/>
        </p:nvSpPr>
        <p:spPr>
          <a:xfrm>
            <a:off x="4419600" y="3000375"/>
            <a:ext cx="838200" cy="5429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9600" y="2790825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44196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34~40회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914400" y="3543300"/>
            <a:ext cx="48768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6300" y="20193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— 틀리는 폭 (MW, 작을수록 좋다)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876300" y="37528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늘어난 것 말고 바꾼 것은 없습니다.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876300" y="39433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평균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2.26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틀렸고, 지금은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1.19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41338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앞으로도 2주마다 한 회씩 쌓입니다.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76300" y="4343400"/>
            <a:ext cx="49149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구간이 조금 올라간 것은 겨울 시험이 적게 섞인 탓입니다. 있는 대로 적었습니다.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6134100" y="1781175"/>
            <a:ext cx="5372100" cy="2733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341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64579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발전소로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10125075" y="1847850"/>
            <a:ext cx="1266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기종이 달라도 됩니다</a:t>
            </a:r>
            <a:endParaRPr lang="en-US" sz="825" dirty="0"/>
          </a:p>
        </p:txBody>
      </p:sp>
      <p:sp>
        <p:nvSpPr>
          <p:cNvPr id="43" name="Text 41"/>
          <p:cNvSpPr txBox="1"/>
          <p:nvPr/>
        </p:nvSpPr>
        <p:spPr>
          <a:xfrm>
            <a:off x="6324600" y="2019300"/>
            <a:ext cx="49911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발전소는 기종이 달라 특성 곡선이 다릅니다.</a:t>
            </a:r>
            <a:endParaRPr lang="en-US" sz="938" dirty="0"/>
          </a:p>
        </p:txBody>
      </p:sp>
      <p:sp>
        <p:nvSpPr>
          <p:cNvPr id="44" name="Shape 42"/>
          <p:cNvSpPr/>
          <p:nvPr/>
        </p:nvSpPr>
        <p:spPr>
          <a:xfrm>
            <a:off x="6324600" y="22669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96050" y="2247900"/>
            <a:ext cx="481965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가는 것은 곡선이 아니라 </a:t>
            </a:r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</a:t>
            </a:r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163" dirty="0"/>
          </a:p>
        </p:txBody>
      </p:sp>
      <p:sp>
        <p:nvSpPr>
          <p:cNvPr id="46" name="Text 44"/>
          <p:cNvSpPr txBox="1"/>
          <p:nvPr/>
        </p:nvSpPr>
        <p:spPr>
          <a:xfrm>
            <a:off x="6324600" y="25717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6534150" y="25527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특성 곡선은 표 파일로 읽는다</a:t>
            </a:r>
            <a:endParaRPr lang="en-US" sz="1013" dirty="0"/>
          </a:p>
        </p:txBody>
      </p:sp>
      <p:sp>
        <p:nvSpPr>
          <p:cNvPr id="48" name="Text 46"/>
          <p:cNvSpPr txBox="1"/>
          <p:nvPr/>
        </p:nvSpPr>
        <p:spPr>
          <a:xfrm>
            <a:off x="6534150" y="27432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곡선을 품고 있지 않습니다. 온도 61줄 표를 읽어 씁니다. 그 발전소 표로 바꿔 넣으면 됩니다 — 제작사 계산식은 손대지 않았습니다.</a:t>
            </a:r>
            <a:endParaRPr lang="en-US" sz="863" dirty="0"/>
          </a:p>
        </p:txBody>
      </p:sp>
      <p:sp>
        <p:nvSpPr>
          <p:cNvPr id="49" name="Text 47"/>
          <p:cNvSpPr txBox="1"/>
          <p:nvPr/>
        </p:nvSpPr>
        <p:spPr>
          <a:xfrm>
            <a:off x="6324600" y="32194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50" name="Text 48"/>
          <p:cNvSpPr txBox="1"/>
          <p:nvPr/>
        </p:nvSpPr>
        <p:spPr>
          <a:xfrm>
            <a:off x="6534150" y="32004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곡선은 새로 쌓는다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6534150" y="33909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위례가 시험 40회로 만든 것처럼, 그 발전소는 그 발전소 실적으로 만듭니다.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6324600" y="38671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63" dirty="0"/>
          </a:p>
        </p:txBody>
      </p:sp>
      <p:sp>
        <p:nvSpPr>
          <p:cNvPr id="53" name="Text 51"/>
          <p:cNvSpPr txBox="1"/>
          <p:nvPr/>
        </p:nvSpPr>
        <p:spPr>
          <a:xfrm>
            <a:off x="6534150" y="38481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필요한 것은 셋</a:t>
            </a:r>
            <a:endParaRPr lang="en-US" sz="1013" dirty="0"/>
          </a:p>
        </p:txBody>
      </p:sp>
      <p:sp>
        <p:nvSpPr>
          <p:cNvPr id="54" name="Text 52"/>
          <p:cNvSpPr txBox="1"/>
          <p:nvPr/>
        </p:nvSpPr>
        <p:spPr>
          <a:xfrm>
            <a:off x="6534150" y="40386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· 그 발전소 특성 곡선표 · 그 발전소 시험 실적.</a:t>
            </a:r>
            <a:endParaRPr lang="en-US" sz="863" dirty="0"/>
          </a:p>
        </p:txBody>
      </p:sp>
      <p:sp>
        <p:nvSpPr>
          <p:cNvPr id="55" name="Shape 53"/>
          <p:cNvSpPr/>
          <p:nvPr/>
        </p:nvSpPr>
        <p:spPr>
          <a:xfrm>
            <a:off x="685800" y="475297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" y="46291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19150" y="46863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1009650" y="46863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무엇을</a:t>
            </a:r>
            <a:endParaRPr lang="en-US" sz="101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지금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763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 정착</a:t>
            </a:r>
            <a:endParaRPr lang="en-US" sz="1163" dirty="0"/>
          </a:p>
        </p:txBody>
      </p:sp>
      <p:sp>
        <p:nvSpPr>
          <p:cNvPr id="61" name="Text 59"/>
          <p:cNvSpPr txBox="1"/>
          <p:nvPr/>
        </p:nvSpPr>
        <p:spPr>
          <a:xfrm>
            <a:off x="8763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넣습니다. 쌓일수록 곡선이 촘촘해집니다.</a:t>
            </a:r>
            <a:endParaRPr lang="en-US" sz="863" dirty="0"/>
          </a:p>
        </p:txBody>
      </p:sp>
      <p:sp>
        <p:nvSpPr>
          <p:cNvPr id="62" name="Shape 60"/>
          <p:cNvSpPr/>
          <p:nvPr/>
        </p:nvSpPr>
        <p:spPr>
          <a:xfrm>
            <a:off x="4229100" y="4972050"/>
            <a:ext cx="0" cy="952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3815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43815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발전소로</a:t>
            </a:r>
            <a:endParaRPr lang="en-US" sz="1163" dirty="0"/>
          </a:p>
        </p:txBody>
      </p:sp>
      <p:sp>
        <p:nvSpPr>
          <p:cNvPr id="65" name="Text 63"/>
          <p:cNvSpPr txBox="1"/>
          <p:nvPr/>
        </p:nvSpPr>
        <p:spPr>
          <a:xfrm>
            <a:off x="43815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곡선표를 그 발전소 것으로 바꿔 넣고, 그 발전소 실적으로 보정 곡선을 새로 쌓습니다.</a:t>
            </a:r>
            <a:endParaRPr lang="en-US" sz="863" dirty="0"/>
          </a:p>
        </p:txBody>
      </p:sp>
      <p:sp>
        <p:nvSpPr>
          <p:cNvPr id="66" name="Shape 64"/>
          <p:cNvSpPr/>
          <p:nvPr/>
        </p:nvSpPr>
        <p:spPr>
          <a:xfrm>
            <a:off x="7734300" y="4972050"/>
            <a:ext cx="0" cy="952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8867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그다음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78867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절차로 굳히기</a:t>
            </a:r>
            <a:endParaRPr lang="en-US" sz="1163" dirty="0"/>
          </a:p>
        </p:txBody>
      </p:sp>
      <p:sp>
        <p:nvSpPr>
          <p:cNvPr id="69" name="Text 67"/>
          <p:cNvSpPr txBox="1"/>
          <p:nvPr/>
        </p:nvSpPr>
        <p:spPr>
          <a:xfrm>
            <a:off x="78867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숫자를 내는 순서를 사업소 표준으로 정리합니다.</a:t>
            </a:r>
            <a:endParaRPr lang="en-US" sz="863" dirty="0"/>
          </a:p>
        </p:txBody>
      </p:sp>
      <p:sp>
        <p:nvSpPr>
          <p:cNvPr id="70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쓸수록 촘촘해지고,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696450" y="3181350"/>
            <a:ext cx="1695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572625" y="251460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점은 실제 시험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2026-09-18T00:06:18Z</dcterms:created>
  <dcterms:modified xsi:type="dcterms:W3CDTF">2026-09-18T00:06:18Z</dcterms:modified>
</cp:coreProperties>
</file>