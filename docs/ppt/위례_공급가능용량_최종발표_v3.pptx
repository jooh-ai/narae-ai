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3055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시작해 개선효과와 확산까지 하나로 잇습니다.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09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57300" y="1971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48050" y="2019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8058150" y="2028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10" name="Text 8"/>
          <p:cNvSpPr txBox="1"/>
          <p:nvPr/>
        </p:nvSpPr>
        <p:spPr>
          <a:xfrm>
            <a:off x="10972800" y="2009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343150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45745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57300" y="241935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48050" y="246697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8058150" y="247650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245745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7908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9051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57300" y="28670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48050" y="29146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058150" y="29241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2" name="Text 20"/>
          <p:cNvSpPr txBox="1"/>
          <p:nvPr/>
        </p:nvSpPr>
        <p:spPr>
          <a:xfrm>
            <a:off x="10972800" y="29051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3238500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35280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57300" y="331470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48050" y="336232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013" dirty="0"/>
          </a:p>
        </p:txBody>
      </p:sp>
      <p:sp>
        <p:nvSpPr>
          <p:cNvPr id="27" name="Text 25"/>
          <p:cNvSpPr txBox="1"/>
          <p:nvPr/>
        </p:nvSpPr>
        <p:spPr>
          <a:xfrm>
            <a:off x="8058150" y="337185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및 모델 개발</a:t>
            </a:r>
            <a:endParaRPr lang="en-US" sz="825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33528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36861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8004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257300" y="37623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448050" y="38100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8058150" y="38195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10972800" y="38004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85800" y="4133850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424815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257300" y="421005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3448050" y="425767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 · 정확도 · 요금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8058150" y="426720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10972800" y="424815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85800" y="45815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46958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257300" y="4657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3448050" y="4705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8058150" y="4714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10972800" y="4695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85800" y="5029200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514350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257300" y="510540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3448050" y="515302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향상과 수평 전개</a:t>
            </a:r>
            <a:endParaRPr lang="en-US" sz="1013" dirty="0"/>
          </a:p>
        </p:txBody>
      </p:sp>
      <p:sp>
        <p:nvSpPr>
          <p:cNvPr id="51" name="Text 49"/>
          <p:cNvSpPr txBox="1"/>
          <p:nvPr/>
        </p:nvSpPr>
        <p:spPr>
          <a:xfrm>
            <a:off x="8058150" y="516255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2" name="Text 50"/>
          <p:cNvSpPr txBox="1"/>
          <p:nvPr/>
        </p:nvSpPr>
        <p:spPr>
          <a:xfrm>
            <a:off x="10972800" y="51435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85800" y="54768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561975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55" name="Text 53"/>
          <p:cNvSpPr txBox="1"/>
          <p:nvPr/>
        </p:nvSpPr>
        <p:spPr>
          <a:xfrm>
            <a:off x="1257300" y="5581650"/>
            <a:ext cx="2000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3448050" y="562927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 · 막혔던 곳 · 역할 분담</a:t>
            </a:r>
            <a:endParaRPr lang="en-US" sz="975" dirty="0"/>
          </a:p>
        </p:txBody>
      </p:sp>
      <p:sp>
        <p:nvSpPr>
          <p:cNvPr id="57" name="Text 55"/>
          <p:cNvSpPr txBox="1"/>
          <p:nvPr/>
        </p:nvSpPr>
        <p:spPr>
          <a:xfrm>
            <a:off x="10972800" y="561975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85800" y="63246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3906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알려야 합니다. 그 숫자를 만드는 일입니다.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95475"/>
            <a:ext cx="10820400" cy="12858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7716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828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8288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229850" y="1962150"/>
            <a:ext cx="11620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61개마다 따로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1047750" y="3048000"/>
            <a:ext cx="32385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04900" y="2329590"/>
            <a:ext cx="121920" cy="889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226820" y="2322636"/>
            <a:ext cx="121920" cy="695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348740" y="2317904"/>
            <a:ext cx="121920" cy="473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470660" y="2303422"/>
            <a:ext cx="121920" cy="1448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592580" y="2286000"/>
            <a:ext cx="121920" cy="1742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14500" y="2286000"/>
            <a:ext cx="121920" cy="1204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36420" y="2298045"/>
            <a:ext cx="121920" cy="131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58340" y="2311165"/>
            <a:ext cx="121920" cy="1469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80260" y="2325862"/>
            <a:ext cx="121920" cy="167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02180" y="2342567"/>
            <a:ext cx="121920" cy="1835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24100" y="2360921"/>
            <a:ext cx="121920" cy="2029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446020" y="2381210"/>
            <a:ext cx="121920" cy="2724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67940" y="2408454"/>
            <a:ext cx="121920" cy="2975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89860" y="2438208"/>
            <a:ext cx="121920" cy="3133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11780" y="2469538"/>
            <a:ext cx="121920" cy="3412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33700" y="2503665"/>
            <a:ext cx="121920" cy="371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55620" y="2540802"/>
            <a:ext cx="121920" cy="400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77540" y="2580880"/>
            <a:ext cx="121920" cy="3233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9460" y="2613214"/>
            <a:ext cx="121920" cy="4509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421380" y="2658310"/>
            <a:ext cx="121920" cy="4875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43300" y="2707062"/>
            <a:ext cx="121920" cy="5384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65220" y="2760905"/>
            <a:ext cx="121920" cy="5814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87140" y="2819049"/>
            <a:ext cx="121920" cy="6086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909060" y="2879918"/>
            <a:ext cx="121920" cy="6194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30980" y="2941862"/>
            <a:ext cx="121920" cy="680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47750" y="21717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추우면 많이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3200400" y="25908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더우면 적게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667250" y="2152650"/>
            <a:ext cx="323850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667250" y="2571750"/>
            <a:ext cx="33337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20도부터 40도까지 61개 온도의 숫자를 따로 냅니다.</a:t>
            </a:r>
            <a:endParaRPr lang="en-US" sz="938" dirty="0"/>
          </a:p>
        </p:txBody>
      </p:sp>
      <p:sp>
        <p:nvSpPr>
          <p:cNvPr id="50" name="Shape 48"/>
          <p:cNvSpPr/>
          <p:nvPr/>
        </p:nvSpPr>
        <p:spPr>
          <a:xfrm>
            <a:off x="8210550" y="2114550"/>
            <a:ext cx="0" cy="9144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477250" y="2133600"/>
            <a:ext cx="2857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알린 숫자가 어긋나면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8477250" y="2362200"/>
            <a:ext cx="180975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알리고 못 내면</a:t>
            </a:r>
            <a:endParaRPr lang="en-US" sz="975" dirty="0"/>
          </a:p>
        </p:txBody>
      </p:sp>
      <p:sp>
        <p:nvSpPr>
          <p:cNvPr id="53" name="Text 51"/>
          <p:cNvSpPr txBox="1"/>
          <p:nvPr/>
        </p:nvSpPr>
        <p:spPr>
          <a:xfrm>
            <a:off x="10344150" y="2343150"/>
            <a:ext cx="952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벌칙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477250" y="2647950"/>
            <a:ext cx="139065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알리면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9963150" y="26289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기회를 놓침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85800" y="3419475"/>
            <a:ext cx="5295900" cy="25241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5800" y="32956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819150" y="3352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59" name="Text 57"/>
          <p:cNvSpPr txBox="1"/>
          <p:nvPr/>
        </p:nvSpPr>
        <p:spPr>
          <a:xfrm>
            <a:off x="1009650" y="33528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 이유</a:t>
            </a:r>
            <a:endParaRPr lang="en-US" sz="1013" dirty="0"/>
          </a:p>
        </p:txBody>
      </p:sp>
      <p:sp>
        <p:nvSpPr>
          <p:cNvPr id="60" name="Text 58"/>
          <p:cNvSpPr txBox="1"/>
          <p:nvPr/>
        </p:nvSpPr>
        <p:spPr>
          <a:xfrm>
            <a:off x="5191125" y="3486150"/>
            <a:ext cx="676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825" dirty="0"/>
          </a:p>
        </p:txBody>
      </p:sp>
      <p:sp>
        <p:nvSpPr>
          <p:cNvPr id="61" name="Text 59"/>
          <p:cNvSpPr txBox="1"/>
          <p:nvPr/>
        </p:nvSpPr>
        <p:spPr>
          <a:xfrm>
            <a:off x="876300" y="3695700"/>
            <a:ext cx="49149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</a:t>
            </a:r>
            <a:endParaRPr lang="en-US" sz="1125" dirty="0"/>
          </a:p>
        </p:txBody>
      </p:sp>
      <p:sp>
        <p:nvSpPr>
          <p:cNvPr id="62" name="Text 60"/>
          <p:cNvSpPr txBox="1"/>
          <p:nvPr/>
        </p:nvSpPr>
        <p:spPr>
          <a:xfrm>
            <a:off x="876300" y="3943350"/>
            <a:ext cx="4914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정비기술팀입니다. 절차도 원리도 몰랐습니다.</a:t>
            </a:r>
            <a:endParaRPr lang="en-US" sz="1013" dirty="0"/>
          </a:p>
        </p:txBody>
      </p:sp>
      <p:sp>
        <p:nvSpPr>
          <p:cNvPr id="63" name="Shape 61"/>
          <p:cNvSpPr/>
          <p:nvPr/>
        </p:nvSpPr>
        <p:spPr>
          <a:xfrm>
            <a:off x="876300" y="438150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66800" y="4362450"/>
            <a:ext cx="47244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눈에 먼저 보였다</a:t>
            </a:r>
            <a:endParaRPr lang="en-US" sz="1163" dirty="0"/>
          </a:p>
        </p:txBody>
      </p:sp>
      <p:sp>
        <p:nvSpPr>
          <p:cNvPr id="65" name="Text 63"/>
          <p:cNvSpPr txBox="1"/>
          <p:nvPr/>
        </p:nvSpPr>
        <p:spPr>
          <a:xfrm>
            <a:off x="1066800" y="4591050"/>
            <a:ext cx="47244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네 개를 오가는 일이 번거로워 보였습니다.</a:t>
            </a:r>
            <a:endParaRPr lang="en-US" sz="975" dirty="0"/>
          </a:p>
        </p:txBody>
      </p:sp>
      <p:sp>
        <p:nvSpPr>
          <p:cNvPr id="66" name="Shape 64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66800" y="4953000"/>
            <a:ext cx="47244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163" dirty="0"/>
          </a:p>
        </p:txBody>
      </p:sp>
      <p:sp>
        <p:nvSpPr>
          <p:cNvPr id="68" name="Text 66"/>
          <p:cNvSpPr txBox="1"/>
          <p:nvPr/>
        </p:nvSpPr>
        <p:spPr>
          <a:xfrm>
            <a:off x="1066800" y="5181600"/>
            <a:ext cx="47244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정확해지면 그만큼 손해가 줄어듭니다.</a:t>
            </a:r>
            <a:endParaRPr lang="en-US" sz="975" dirty="0"/>
          </a:p>
        </p:txBody>
      </p:sp>
      <p:sp>
        <p:nvSpPr>
          <p:cNvPr id="69" name="Text 67"/>
          <p:cNvSpPr txBox="1"/>
          <p:nvPr/>
        </p:nvSpPr>
        <p:spPr>
          <a:xfrm>
            <a:off x="876300" y="5657850"/>
            <a:ext cx="49149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우리 팀 일이 아닌데도 과제로 잡았습니다.</a:t>
            </a:r>
            <a:endParaRPr lang="en-US" sz="938" dirty="0"/>
          </a:p>
        </p:txBody>
      </p:sp>
      <p:sp>
        <p:nvSpPr>
          <p:cNvPr id="70" name="Shape 68"/>
          <p:cNvSpPr/>
          <p:nvPr/>
        </p:nvSpPr>
        <p:spPr>
          <a:xfrm>
            <a:off x="6134100" y="3419475"/>
            <a:ext cx="5372100" cy="25241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134100" y="32956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267450" y="3352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3" name="Text 71"/>
          <p:cNvSpPr txBox="1"/>
          <p:nvPr/>
        </p:nvSpPr>
        <p:spPr>
          <a:xfrm>
            <a:off x="6457950" y="33528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절차</a:t>
            </a:r>
            <a:endParaRPr lang="en-US" sz="1013" dirty="0"/>
          </a:p>
        </p:txBody>
      </p:sp>
      <p:sp>
        <p:nvSpPr>
          <p:cNvPr id="74" name="Text 72"/>
          <p:cNvSpPr txBox="1"/>
          <p:nvPr/>
        </p:nvSpPr>
        <p:spPr>
          <a:xfrm>
            <a:off x="9572625" y="348615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75" name="Text 73"/>
          <p:cNvSpPr txBox="1"/>
          <p:nvPr/>
        </p:nvSpPr>
        <p:spPr>
          <a:xfrm>
            <a:off x="6324600" y="36957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76" name="Shape 74"/>
          <p:cNvSpPr/>
          <p:nvPr/>
        </p:nvSpPr>
        <p:spPr>
          <a:xfrm>
            <a:off x="6324600" y="3886200"/>
            <a:ext cx="2381250" cy="7048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77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4739" y="3924300"/>
            <a:ext cx="1940972" cy="628650"/>
          </a:xfrm>
          <a:prstGeom prst="rect">
            <a:avLst/>
          </a:prstGeom>
        </p:spPr>
      </p:pic>
      <p:sp>
        <p:nvSpPr>
          <p:cNvPr id="78" name="Shape 75"/>
          <p:cNvSpPr/>
          <p:nvPr/>
        </p:nvSpPr>
        <p:spPr>
          <a:xfrm>
            <a:off x="6535214" y="3914775"/>
            <a:ext cx="1960022" cy="6477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915400" y="36957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80" name="Shape 77"/>
          <p:cNvSpPr/>
          <p:nvPr/>
        </p:nvSpPr>
        <p:spPr>
          <a:xfrm>
            <a:off x="8915400" y="3886200"/>
            <a:ext cx="2381250" cy="7048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81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4793" y="3924300"/>
            <a:ext cx="742465" cy="628650"/>
          </a:xfrm>
          <a:prstGeom prst="rect">
            <a:avLst/>
          </a:prstGeom>
        </p:spPr>
      </p:pic>
      <p:sp>
        <p:nvSpPr>
          <p:cNvPr id="82" name="Shape 78"/>
          <p:cNvSpPr/>
          <p:nvPr/>
        </p:nvSpPr>
        <p:spPr>
          <a:xfrm>
            <a:off x="9725268" y="3914775"/>
            <a:ext cx="761515" cy="6477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6324600" y="48196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84" name="Shape 80"/>
          <p:cNvSpPr/>
          <p:nvPr/>
        </p:nvSpPr>
        <p:spPr>
          <a:xfrm>
            <a:off x="6324600" y="5010150"/>
            <a:ext cx="2381250" cy="7048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85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5119384"/>
            <a:ext cx="2286000" cy="486383"/>
          </a:xfrm>
          <a:prstGeom prst="rect">
            <a:avLst/>
          </a:prstGeom>
        </p:spPr>
      </p:pic>
      <p:sp>
        <p:nvSpPr>
          <p:cNvPr id="86" name="Shape 81"/>
          <p:cNvSpPr/>
          <p:nvPr/>
        </p:nvSpPr>
        <p:spPr>
          <a:xfrm>
            <a:off x="6362700" y="5109859"/>
            <a:ext cx="2305050" cy="505433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8915400" y="48196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88" name="Shape 83"/>
          <p:cNvSpPr/>
          <p:nvPr/>
        </p:nvSpPr>
        <p:spPr>
          <a:xfrm>
            <a:off x="8915400" y="5010150"/>
            <a:ext cx="2381250" cy="7048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89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5602" y="5048250"/>
            <a:ext cx="1060847" cy="628650"/>
          </a:xfrm>
          <a:prstGeom prst="rect">
            <a:avLst/>
          </a:prstGeom>
        </p:spPr>
      </p:pic>
      <p:sp>
        <p:nvSpPr>
          <p:cNvPr id="90" name="Shape 84"/>
          <p:cNvSpPr/>
          <p:nvPr/>
        </p:nvSpPr>
        <p:spPr>
          <a:xfrm>
            <a:off x="9566077" y="5038725"/>
            <a:ext cx="1079897" cy="6477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1" name="Text 85"/>
          <p:cNvSpPr txBox="1"/>
          <p:nvPr/>
        </p:nvSpPr>
        <p:spPr>
          <a:xfrm>
            <a:off x="6324600" y="5772150"/>
            <a:ext cx="49911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손으로 옮겼습니다. 옮겨 적는 값이 61개였습니다.</a:t>
            </a:r>
            <a:endParaRPr lang="en-US" sz="900" dirty="0"/>
          </a:p>
        </p:txBody>
      </p:sp>
      <p:sp>
        <p:nvSpPr>
          <p:cNvPr id="92" name="Shape 86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3" name="Shape 87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4" name="Text 88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5" name="Text 89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모르는 업무였지만 비효율이 먼저 보였습니다. 거기서 시작했습니다.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번거로웠고, 더하는 값을 하나로 끝냈습니다. 그래서 신고한 숫자가 어긋났습니다.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000625" y="1847850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144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38125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3365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옮긴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33650" y="2190750"/>
            <a:ext cx="361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2933700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03860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10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1910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44291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6134100" y="1781175"/>
            <a:ext cx="53721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296525" y="1847850"/>
            <a:ext cx="1095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가지만 한다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63246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합치기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64770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도구 하나로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9154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678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</a:t>
            </a:r>
            <a:endParaRPr lang="en-US" sz="1163" dirty="0"/>
          </a:p>
        </p:txBody>
      </p:sp>
      <p:sp>
        <p:nvSpPr>
          <p:cNvPr id="41" name="Text 39"/>
          <p:cNvSpPr txBox="1"/>
          <p:nvPr/>
        </p:nvSpPr>
        <p:spPr>
          <a:xfrm>
            <a:off x="90678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실적을 쌓아 온도별 값으로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3038475"/>
            <a:ext cx="10820400" cy="305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14650"/>
            <a:ext cx="3467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71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71800"/>
            <a:ext cx="3028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하나, 실제 차이는 매번 달랐다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9334500" y="3105150"/>
            <a:ext cx="2057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기존 기록 · 오른쪽 누적 40회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76600"/>
            <a:ext cx="2857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· 단위 MW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876300" y="3448050"/>
            <a:ext cx="2819400" cy="2095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62025" y="3524250"/>
            <a:ext cx="419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552575" y="3524250"/>
            <a:ext cx="590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16~17시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314575" y="3524250"/>
            <a:ext cx="590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17~18시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3076575" y="35242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876300" y="3819525"/>
            <a:ext cx="2819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667125"/>
            <a:ext cx="419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552575" y="3667125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8.7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2314575" y="3667125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11.3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3076575" y="36671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58" name="Shape 56"/>
          <p:cNvSpPr/>
          <p:nvPr/>
        </p:nvSpPr>
        <p:spPr>
          <a:xfrm>
            <a:off x="876300" y="3819525"/>
            <a:ext cx="28194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9" name="Shape 57"/>
          <p:cNvSpPr/>
          <p:nvPr/>
        </p:nvSpPr>
        <p:spPr>
          <a:xfrm>
            <a:off x="876300" y="3981450"/>
            <a:ext cx="2819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62025" y="3829050"/>
            <a:ext cx="419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61" name="Text 59"/>
          <p:cNvSpPr txBox="1"/>
          <p:nvPr/>
        </p:nvSpPr>
        <p:spPr>
          <a:xfrm>
            <a:off x="1552575" y="38290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825" dirty="0"/>
          </a:p>
        </p:txBody>
      </p:sp>
      <p:sp>
        <p:nvSpPr>
          <p:cNvPr id="62" name="Text 60"/>
          <p:cNvSpPr txBox="1"/>
          <p:nvPr/>
        </p:nvSpPr>
        <p:spPr>
          <a:xfrm>
            <a:off x="2314575" y="38290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11.0</a:t>
            </a:r>
            <a:endParaRPr lang="en-US" sz="825" dirty="0"/>
          </a:p>
        </p:txBody>
      </p:sp>
      <p:sp>
        <p:nvSpPr>
          <p:cNvPr id="63" name="Text 61"/>
          <p:cNvSpPr txBox="1"/>
          <p:nvPr/>
        </p:nvSpPr>
        <p:spPr>
          <a:xfrm>
            <a:off x="3076575" y="38290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4" name="Shape 62"/>
          <p:cNvSpPr/>
          <p:nvPr/>
        </p:nvSpPr>
        <p:spPr>
          <a:xfrm>
            <a:off x="876300" y="4143375"/>
            <a:ext cx="2819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962025" y="3990975"/>
            <a:ext cx="419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6" name="Text 64"/>
          <p:cNvSpPr txBox="1"/>
          <p:nvPr/>
        </p:nvSpPr>
        <p:spPr>
          <a:xfrm>
            <a:off x="1552575" y="3990975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endParaRPr lang="en-US" sz="825" dirty="0"/>
          </a:p>
        </p:txBody>
      </p:sp>
      <p:sp>
        <p:nvSpPr>
          <p:cNvPr id="67" name="Text 65"/>
          <p:cNvSpPr txBox="1"/>
          <p:nvPr/>
        </p:nvSpPr>
        <p:spPr>
          <a:xfrm>
            <a:off x="2314575" y="3990975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11.5</a:t>
            </a:r>
            <a:endParaRPr lang="en-US" sz="825" dirty="0"/>
          </a:p>
        </p:txBody>
      </p:sp>
      <p:sp>
        <p:nvSpPr>
          <p:cNvPr id="68" name="Text 66"/>
          <p:cNvSpPr txBox="1"/>
          <p:nvPr/>
        </p:nvSpPr>
        <p:spPr>
          <a:xfrm>
            <a:off x="3076575" y="39909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9" name="Shape 67"/>
          <p:cNvSpPr/>
          <p:nvPr/>
        </p:nvSpPr>
        <p:spPr>
          <a:xfrm>
            <a:off x="876300" y="4143375"/>
            <a:ext cx="28194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0" name="Shape 68"/>
          <p:cNvSpPr/>
          <p:nvPr/>
        </p:nvSpPr>
        <p:spPr>
          <a:xfrm>
            <a:off x="876300" y="4305300"/>
            <a:ext cx="2819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962025" y="4152900"/>
            <a:ext cx="419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2" name="Text 70"/>
          <p:cNvSpPr txBox="1"/>
          <p:nvPr/>
        </p:nvSpPr>
        <p:spPr>
          <a:xfrm>
            <a:off x="1552575" y="41529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6.9</a:t>
            </a:r>
            <a:endParaRPr lang="en-US" sz="825" dirty="0"/>
          </a:p>
        </p:txBody>
      </p:sp>
      <p:sp>
        <p:nvSpPr>
          <p:cNvPr id="73" name="Text 71"/>
          <p:cNvSpPr txBox="1"/>
          <p:nvPr/>
        </p:nvSpPr>
        <p:spPr>
          <a:xfrm>
            <a:off x="2314575" y="41529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9.5</a:t>
            </a:r>
            <a:endParaRPr lang="en-US" sz="825" dirty="0"/>
          </a:p>
        </p:txBody>
      </p:sp>
      <p:sp>
        <p:nvSpPr>
          <p:cNvPr id="74" name="Text 72"/>
          <p:cNvSpPr txBox="1"/>
          <p:nvPr/>
        </p:nvSpPr>
        <p:spPr>
          <a:xfrm>
            <a:off x="3076575" y="415290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75" name="Shape 73"/>
          <p:cNvSpPr/>
          <p:nvPr/>
        </p:nvSpPr>
        <p:spPr>
          <a:xfrm>
            <a:off x="876300" y="4467225"/>
            <a:ext cx="2819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2025" y="4314825"/>
            <a:ext cx="419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552575" y="4314825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2314575" y="4314825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9.7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3076575" y="43148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76300" y="4467225"/>
            <a:ext cx="28194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1" name="Shape 79"/>
          <p:cNvSpPr/>
          <p:nvPr/>
        </p:nvSpPr>
        <p:spPr>
          <a:xfrm>
            <a:off x="876300" y="4629150"/>
            <a:ext cx="2819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962025" y="4476750"/>
            <a:ext cx="419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3" name="Text 81"/>
          <p:cNvSpPr txBox="1"/>
          <p:nvPr/>
        </p:nvSpPr>
        <p:spPr>
          <a:xfrm>
            <a:off x="1552575" y="44767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4.6</a:t>
            </a:r>
            <a:endParaRPr lang="en-US" sz="825" dirty="0"/>
          </a:p>
        </p:txBody>
      </p:sp>
      <p:sp>
        <p:nvSpPr>
          <p:cNvPr id="84" name="Text 82"/>
          <p:cNvSpPr txBox="1"/>
          <p:nvPr/>
        </p:nvSpPr>
        <p:spPr>
          <a:xfrm>
            <a:off x="2314575" y="44767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10.2</a:t>
            </a:r>
            <a:endParaRPr lang="en-US" sz="825" dirty="0"/>
          </a:p>
        </p:txBody>
      </p:sp>
      <p:sp>
        <p:nvSpPr>
          <p:cNvPr id="85" name="Text 83"/>
          <p:cNvSpPr txBox="1"/>
          <p:nvPr/>
        </p:nvSpPr>
        <p:spPr>
          <a:xfrm>
            <a:off x="3076575" y="44767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876300" y="4791075"/>
            <a:ext cx="2819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62025" y="4638675"/>
            <a:ext cx="419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88" name="Text 86"/>
          <p:cNvSpPr txBox="1"/>
          <p:nvPr/>
        </p:nvSpPr>
        <p:spPr>
          <a:xfrm>
            <a:off x="1552575" y="4638675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</a:t>
            </a:r>
            <a:endParaRPr lang="en-US" sz="825" dirty="0"/>
          </a:p>
        </p:txBody>
      </p:sp>
      <p:sp>
        <p:nvSpPr>
          <p:cNvPr id="89" name="Text 87"/>
          <p:cNvSpPr txBox="1"/>
          <p:nvPr/>
        </p:nvSpPr>
        <p:spPr>
          <a:xfrm>
            <a:off x="2314575" y="4638675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</a:t>
            </a:r>
            <a:endParaRPr lang="en-US" sz="825" dirty="0"/>
          </a:p>
        </p:txBody>
      </p:sp>
      <p:sp>
        <p:nvSpPr>
          <p:cNvPr id="90" name="Text 88"/>
          <p:cNvSpPr txBox="1"/>
          <p:nvPr/>
        </p:nvSpPr>
        <p:spPr>
          <a:xfrm>
            <a:off x="3076575" y="46386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825" dirty="0"/>
          </a:p>
        </p:txBody>
      </p:sp>
      <p:sp>
        <p:nvSpPr>
          <p:cNvPr id="91" name="Shape 89"/>
          <p:cNvSpPr/>
          <p:nvPr/>
        </p:nvSpPr>
        <p:spPr>
          <a:xfrm>
            <a:off x="876300" y="4791075"/>
            <a:ext cx="2819400" cy="0"/>
          </a:xfrm>
          <a:prstGeom prst="line">
            <a:avLst/>
          </a:prstGeom>
          <a:noFill/>
          <a:ln w="15240">
            <a:solidFill>
              <a:srgbClr val="C9D0D8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962025" y="4819650"/>
            <a:ext cx="419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</a:t>
            </a:r>
            <a:endParaRPr lang="en-US" sz="938" dirty="0"/>
          </a:p>
        </p:txBody>
      </p:sp>
      <p:sp>
        <p:nvSpPr>
          <p:cNvPr id="93" name="Text 91"/>
          <p:cNvSpPr txBox="1"/>
          <p:nvPr/>
        </p:nvSpPr>
        <p:spPr>
          <a:xfrm>
            <a:off x="1552575" y="48196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4.8</a:t>
            </a:r>
            <a:endParaRPr lang="en-US" sz="825" dirty="0"/>
          </a:p>
        </p:txBody>
      </p:sp>
      <p:sp>
        <p:nvSpPr>
          <p:cNvPr id="94" name="Text 92"/>
          <p:cNvSpPr txBox="1"/>
          <p:nvPr/>
        </p:nvSpPr>
        <p:spPr>
          <a:xfrm>
            <a:off x="2314575" y="48196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9.5</a:t>
            </a:r>
            <a:endParaRPr lang="en-US" sz="825" dirty="0"/>
          </a:p>
        </p:txBody>
      </p:sp>
      <p:sp>
        <p:nvSpPr>
          <p:cNvPr id="95" name="Text 93"/>
          <p:cNvSpPr txBox="1"/>
          <p:nvPr/>
        </p:nvSpPr>
        <p:spPr>
          <a:xfrm>
            <a:off x="3076575" y="48196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+3.9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876300" y="5200650"/>
            <a:ext cx="2857500" cy="4600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구간만 모으면 평균 4.8 — 더한 값 3.9 과 거의 같습니다. 두 값 가운데 </a:t>
            </a:r>
            <a:pPr algn="l" indent="0" marL="0">
              <a:lnSpc>
                <a:spcPts val="1208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쪽</a:t>
            </a:r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기준으로 잡은 것입니다.</a:t>
            </a:r>
            <a:endParaRPr lang="en-US" sz="863" dirty="0"/>
          </a:p>
        </p:txBody>
      </p:sp>
      <p:sp>
        <p:nvSpPr>
          <p:cNvPr id="97" name="Shape 95"/>
          <p:cNvSpPr/>
          <p:nvPr/>
        </p:nvSpPr>
        <p:spPr>
          <a:xfrm>
            <a:off x="4476750" y="3632835"/>
            <a:ext cx="653796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476750" y="3914775"/>
            <a:ext cx="653796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476750" y="4196715"/>
            <a:ext cx="653796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476750" y="4760595"/>
            <a:ext cx="653796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476750" y="4478655"/>
            <a:ext cx="653796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095750" y="356616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03" name="Text 101"/>
          <p:cNvSpPr txBox="1"/>
          <p:nvPr/>
        </p:nvSpPr>
        <p:spPr>
          <a:xfrm>
            <a:off x="4095750" y="384810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04" name="Text 102"/>
          <p:cNvSpPr txBox="1"/>
          <p:nvPr/>
        </p:nvSpPr>
        <p:spPr>
          <a:xfrm>
            <a:off x="4095750" y="413004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05" name="Text 103"/>
          <p:cNvSpPr txBox="1"/>
          <p:nvPr/>
        </p:nvSpPr>
        <p:spPr>
          <a:xfrm>
            <a:off x="4095750" y="441198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06" name="Text 104"/>
          <p:cNvSpPr txBox="1"/>
          <p:nvPr/>
        </p:nvSpPr>
        <p:spPr>
          <a:xfrm>
            <a:off x="4095750" y="469392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107" name="Text 105"/>
          <p:cNvSpPr txBox="1"/>
          <p:nvPr/>
        </p:nvSpPr>
        <p:spPr>
          <a:xfrm>
            <a:off x="488061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08" name="Text 106"/>
          <p:cNvSpPr txBox="1"/>
          <p:nvPr/>
        </p:nvSpPr>
        <p:spPr>
          <a:xfrm>
            <a:off x="636651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09" name="Text 107"/>
          <p:cNvSpPr txBox="1"/>
          <p:nvPr/>
        </p:nvSpPr>
        <p:spPr>
          <a:xfrm>
            <a:off x="785241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0" name="Text 108"/>
          <p:cNvSpPr txBox="1"/>
          <p:nvPr/>
        </p:nvSpPr>
        <p:spPr>
          <a:xfrm>
            <a:off x="933831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11" name="Text 109"/>
          <p:cNvSpPr txBox="1"/>
          <p:nvPr/>
        </p:nvSpPr>
        <p:spPr>
          <a:xfrm>
            <a:off x="1082421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4476750" y="4305614"/>
            <a:ext cx="6537960" cy="0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113" name="Text 111"/>
          <p:cNvSpPr txBox="1"/>
          <p:nvPr/>
        </p:nvSpPr>
        <p:spPr>
          <a:xfrm>
            <a:off x="9231630" y="4143689"/>
            <a:ext cx="16002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 (늘 하나)</a:t>
            </a:r>
            <a:endParaRPr lang="en-US" sz="825" dirty="0"/>
          </a:p>
        </p:txBody>
      </p:sp>
      <p:sp>
        <p:nvSpPr>
          <p:cNvPr id="114" name="Shape 112"/>
          <p:cNvSpPr/>
          <p:nvPr/>
        </p:nvSpPr>
        <p:spPr>
          <a:xfrm>
            <a:off x="4762119" y="353955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828984" y="35728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26761" y="38329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623941" y="40493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935980" y="406897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084570" y="410118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233160" y="41310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66891" y="401222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56045" y="41942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708648" y="408941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931533" y="411126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976110" y="39639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020687" y="39953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184136" y="393385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198995" y="402830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288149" y="40581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11034" y="407376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25893" y="405000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8209407" y="426738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8774049" y="460063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8803767" y="468345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5" name="Shape 133"/>
          <p:cNvSpPr/>
          <p:nvPr/>
        </p:nvSpPr>
        <p:spPr>
          <a:xfrm>
            <a:off x="8818626" y="44927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6" name="Shape 134"/>
          <p:cNvSpPr/>
          <p:nvPr/>
        </p:nvSpPr>
        <p:spPr>
          <a:xfrm>
            <a:off x="8863203" y="450132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15806" y="46403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308973" y="479419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531858" y="45651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531858" y="44857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606153" y="469508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35871" y="469135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754743" y="451351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858756" y="449568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903333" y="463108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918192" y="430319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918192" y="435394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918192" y="456003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037064" y="44041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66782" y="46160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85654" y="439989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408539" y="43039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676001" y="435161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4095750" y="5111115"/>
            <a:ext cx="5334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실제 차이 MW · 점 하나가 시험 한 번</a:t>
            </a:r>
            <a:endParaRPr lang="en-US" sz="788" dirty="0"/>
          </a:p>
        </p:txBody>
      </p:sp>
      <p:sp>
        <p:nvSpPr>
          <p:cNvPr id="155" name="Shape 153"/>
          <p:cNvSpPr/>
          <p:nvPr/>
        </p:nvSpPr>
        <p:spPr>
          <a:xfrm>
            <a:off x="4095750" y="5295900"/>
            <a:ext cx="38100" cy="7239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4267200" y="5295900"/>
            <a:ext cx="71247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적게 신고하고, 여름에는 못 내는데 많이 신고하게 됩니다.</a:t>
            </a:r>
            <a:endParaRPr lang="en-US" sz="1088" dirty="0"/>
          </a:p>
        </p:txBody>
      </p:sp>
      <p:sp>
        <p:nvSpPr>
          <p:cNvPr id="157" name="Text 155"/>
          <p:cNvSpPr txBox="1"/>
          <p:nvPr/>
        </p:nvSpPr>
        <p:spPr>
          <a:xfrm>
            <a:off x="4267200" y="5543550"/>
            <a:ext cx="71247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신고한 만큼 못 냈습니다. 가장 크게 어긋난 회차는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158" name="Shape 156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61" name="Text 159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잘못 고른 것이 아니라, 하나로 끝내는 구조가 문제였습니다.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출력에 영향을 줄 수 있는 값 네 개를 후보로 놓고, 하나씩 넣어 보며 확인했습니다.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124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9621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524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1847850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방법 · 입력만 바꿔 채점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019300"/>
            <a:ext cx="10382250" cy="2476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095500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넣은 값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2638425" y="2095500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3476625" y="209550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기준과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4524375" y="2095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938" dirty="0"/>
          </a:p>
        </p:txBody>
      </p:sp>
      <p:sp>
        <p:nvSpPr>
          <p:cNvPr id="25" name="Text 23"/>
          <p:cNvSpPr txBox="1"/>
          <p:nvPr/>
        </p:nvSpPr>
        <p:spPr>
          <a:xfrm>
            <a:off x="5267325" y="2095500"/>
            <a:ext cx="5905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876300" y="2266950"/>
            <a:ext cx="10382250" cy="22860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76300" y="2495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2025" y="23098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온도만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2638425" y="23098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3476625" y="23098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4524375" y="23098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5267325" y="23098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</a:t>
            </a:r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</a:t>
            </a:r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이것만으로 설명합니다</a:t>
            </a:r>
            <a:endParaRPr lang="en-US" sz="863" dirty="0"/>
          </a:p>
        </p:txBody>
      </p:sp>
      <p:sp>
        <p:nvSpPr>
          <p:cNvPr id="33" name="Shape 31"/>
          <p:cNvSpPr/>
          <p:nvPr/>
        </p:nvSpPr>
        <p:spPr>
          <a:xfrm>
            <a:off x="876300" y="24955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876300" y="2724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2025" y="25384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상대습도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2638425" y="25384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3476625" y="25384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−0.01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524375" y="25384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267325" y="25384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나아졌지만 흔들림 ±0.08 보다 작습니다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876300" y="29527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2025" y="27670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대기압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638425" y="27670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476625" y="27670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4524375" y="27670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5267325" y="27670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계산식이 이미 쓰고 있습니다 (두 번 반영)</a:t>
            </a:r>
            <a:endParaRPr lang="en-US" sz="863" dirty="0"/>
          </a:p>
        </p:txBody>
      </p:sp>
      <p:sp>
        <p:nvSpPr>
          <p:cNvPr id="46" name="Shape 44"/>
          <p:cNvSpPr/>
          <p:nvPr/>
        </p:nvSpPr>
        <p:spPr>
          <a:xfrm>
            <a:off x="876300" y="29527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47" name="Shape 45"/>
          <p:cNvSpPr/>
          <p:nvPr/>
        </p:nvSpPr>
        <p:spPr>
          <a:xfrm>
            <a:off x="876300" y="31813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2025" y="29956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복수기 진공도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2638425" y="29956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3476625" y="29956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4524375" y="29956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5267325" y="29956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같이 움직입니다 (겹침 0.95)</a:t>
            </a:r>
            <a:endParaRPr lang="en-US" sz="863" dirty="0"/>
          </a:p>
        </p:txBody>
      </p:sp>
      <p:sp>
        <p:nvSpPr>
          <p:cNvPr id="53" name="Shape 51"/>
          <p:cNvSpPr/>
          <p:nvPr/>
        </p:nvSpPr>
        <p:spPr>
          <a:xfrm>
            <a:off x="876300" y="34099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2242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네 개 전부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638425" y="32242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3476625" y="32242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4524375" y="32242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8" name="Text 56"/>
          <p:cNvSpPr txBox="1"/>
          <p:nvPr/>
        </p:nvSpPr>
        <p:spPr>
          <a:xfrm>
            <a:off x="5267325" y="32242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넣을수록 나빠졌습니다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350520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작을수록 잘 맞힌 것입니다. 회차마다 흔들리는 폭이 ±0.08 이므로 그보다 작은 차이는 차이로 볼 수 없습니다. 한 회를 가리고 나머지로 그 회를 맞혀 보는 방식으로 채점했습니다.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685800" y="4143375"/>
            <a:ext cx="52959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5800" y="40195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191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009650" y="40767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온도가 남은 이유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876300" y="4400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28700" y="4381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1238250" y="4362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혼자서 대부분을 설명한다</a:t>
            </a:r>
            <a:endParaRPr lang="en-US" sz="1125" dirty="0"/>
          </a:p>
        </p:txBody>
      </p:sp>
      <p:sp>
        <p:nvSpPr>
          <p:cNvPr id="67" name="Text 65"/>
          <p:cNvSpPr txBox="1"/>
          <p:nvPr/>
        </p:nvSpPr>
        <p:spPr>
          <a:xfrm>
            <a:off x="1238250" y="4572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85% 가 온도로 설명됩니다. 추우면 커지고 더우면 작아집니다.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8700" y="49530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1238250" y="49339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분명하다</a:t>
            </a:r>
            <a:endParaRPr lang="en-US" sz="1125" dirty="0"/>
          </a:p>
        </p:txBody>
      </p:sp>
      <p:sp>
        <p:nvSpPr>
          <p:cNvPr id="71" name="Text 69"/>
          <p:cNvSpPr txBox="1"/>
          <p:nvPr/>
        </p:nvSpPr>
        <p:spPr>
          <a:xfrm>
            <a:off x="1238250" y="51435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차이가 반대로 움직입니다 (겹침 0.84). 네 후보 가운데 가장 뚜렷합니다.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876300" y="5543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8700" y="5524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5505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 수 있는 값이다</a:t>
            </a:r>
            <a:endParaRPr lang="en-US" sz="1125" dirty="0"/>
          </a:p>
        </p:txBody>
      </p:sp>
      <p:sp>
        <p:nvSpPr>
          <p:cNvPr id="75" name="Text 73"/>
          <p:cNvSpPr txBox="1"/>
          <p:nvPr/>
        </p:nvSpPr>
        <p:spPr>
          <a:xfrm>
            <a:off x="1238250" y="5715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영하 20도부터 40도까지 온도마다 내야 합니다. 입력이 온도여야 표를 만들 수 있습니다.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6134100" y="4143375"/>
            <a:ext cx="53721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4100" y="401955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2674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9" name="Text 77"/>
          <p:cNvSpPr txBox="1"/>
          <p:nvPr/>
        </p:nvSpPr>
        <p:spPr>
          <a:xfrm>
            <a:off x="6457950" y="407670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 · 결론을 뒤집었다</a:t>
            </a:r>
            <a:endParaRPr lang="en-US" sz="1013" dirty="0"/>
          </a:p>
        </p:txBody>
      </p:sp>
      <p:sp>
        <p:nvSpPr>
          <p:cNvPr id="80" name="Text 78"/>
          <p:cNvSpPr txBox="1"/>
          <p:nvPr/>
        </p:nvSpPr>
        <p:spPr>
          <a:xfrm>
            <a:off x="6324600" y="4381500"/>
            <a:ext cx="499110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봄 시험 몇 회가 유별나게 낮았습니다. 설비가 늙었다고 보고 문서까지 썼습니다.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19650"/>
            <a:ext cx="38100" cy="9144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15100" y="4800600"/>
            <a:ext cx="48006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문제가 아니었습니다.</a:t>
            </a:r>
            <a:endParaRPr lang="en-US" sz="1163" dirty="0"/>
          </a:p>
        </p:txBody>
      </p:sp>
      <p:sp>
        <p:nvSpPr>
          <p:cNvPr id="83" name="Text 81"/>
          <p:cNvSpPr txBox="1"/>
          <p:nvPr/>
        </p:nvSpPr>
        <p:spPr>
          <a:xfrm>
            <a:off x="6515100" y="5029200"/>
            <a:ext cx="4800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시험은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올린 상태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해야 합니다. 가스터빈 입구 날개를 더 여는 조작입니다(IGV turn-up). 그 조작을 하지 않고 측정한 날이었습니다. 덜 올린 채로 쟀으니 낮게 나온 것입니다.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6324600" y="5810250"/>
            <a:ext cx="49911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결론을 거뒀습니다. 지금은 그런 날의 시험을 도구가 걸러냅니다.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하나씩 접고 나니 외기 온도만 남았습니다.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3906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하나는 흩어진 과정을 합친 것입니다. 다른 하나는 숫자를 온도마다 다르게 한 것입니다.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95475"/>
            <a:ext cx="3810000" cy="20859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77165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828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82880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 두 가지</a:t>
            </a:r>
            <a:endParaRPr lang="en-US" sz="1013" dirty="0"/>
          </a:p>
        </p:txBody>
      </p:sp>
      <p:sp>
        <p:nvSpPr>
          <p:cNvPr id="19" name="Shape 17"/>
          <p:cNvSpPr/>
          <p:nvPr/>
        </p:nvSpPr>
        <p:spPr>
          <a:xfrm>
            <a:off x="876300" y="2152650"/>
            <a:ext cx="38100" cy="590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28700" y="21526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257300" y="2133600"/>
            <a:ext cx="2914650" cy="21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6"/>
              </a:lnSpc>
              <a:buNone/>
            </a:pPr>
            <a:r>
              <a:rPr lang="en-US" sz="13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과정을 합쳤다</a:t>
            </a:r>
            <a:endParaRPr lang="en-US" sz="1313" dirty="0"/>
          </a:p>
        </p:txBody>
      </p:sp>
      <p:sp>
        <p:nvSpPr>
          <p:cNvPr id="22" name="Text 20"/>
          <p:cNvSpPr txBox="1"/>
          <p:nvPr/>
        </p:nvSpPr>
        <p:spPr>
          <a:xfrm>
            <a:off x="1257300" y="2438400"/>
            <a:ext cx="6858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2019300" y="24574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2266950" y="2419350"/>
            <a:ext cx="20383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1개</a:t>
            </a:r>
            <a:endParaRPr lang="en-US" sz="1275" dirty="0"/>
          </a:p>
        </p:txBody>
      </p:sp>
      <p:sp>
        <p:nvSpPr>
          <p:cNvPr id="25" name="Shape 23"/>
          <p:cNvSpPr/>
          <p:nvPr/>
        </p:nvSpPr>
        <p:spPr>
          <a:xfrm>
            <a:off x="876300" y="2990850"/>
            <a:ext cx="38100" cy="590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28700" y="29908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7" name="Text 25"/>
          <p:cNvSpPr txBox="1"/>
          <p:nvPr/>
        </p:nvSpPr>
        <p:spPr>
          <a:xfrm>
            <a:off x="1257300" y="2971800"/>
            <a:ext cx="2914650" cy="21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6"/>
              </a:lnSpc>
              <a:buNone/>
            </a:pPr>
            <a:r>
              <a:rPr lang="en-US" sz="13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온도마다 다르게</a:t>
            </a:r>
            <a:endParaRPr lang="en-US" sz="1313" dirty="0"/>
          </a:p>
        </p:txBody>
      </p:sp>
      <p:sp>
        <p:nvSpPr>
          <p:cNvPr id="28" name="Text 26"/>
          <p:cNvSpPr txBox="1"/>
          <p:nvPr/>
        </p:nvSpPr>
        <p:spPr>
          <a:xfrm>
            <a:off x="1257300" y="3276600"/>
            <a:ext cx="5334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1개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1866900" y="32956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2114550" y="3257550"/>
            <a:ext cx="2190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3619500"/>
            <a:ext cx="3429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spc="12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바꾸지 않은 것</a:t>
            </a:r>
            <a:endParaRPr lang="en-US" sz="825" dirty="0"/>
          </a:p>
        </p:txBody>
      </p:sp>
      <p:sp>
        <p:nvSpPr>
          <p:cNvPr id="32" name="Text 30"/>
          <p:cNvSpPr txBox="1"/>
          <p:nvPr/>
        </p:nvSpPr>
        <p:spPr>
          <a:xfrm>
            <a:off x="876300" y="3790950"/>
            <a:ext cx="34290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계산식은 손대지 않았습니다. 계측값을 받아오는 방식도 기존 엑셀이 쓰던 그대로입니다.</a:t>
            </a:r>
            <a:endParaRPr lang="en-US" sz="938" dirty="0"/>
          </a:p>
        </p:txBody>
      </p:sp>
      <p:sp>
        <p:nvSpPr>
          <p:cNvPr id="33" name="Shape 31"/>
          <p:cNvSpPr/>
          <p:nvPr/>
        </p:nvSpPr>
        <p:spPr>
          <a:xfrm>
            <a:off x="4648200" y="1895475"/>
            <a:ext cx="6858000" cy="20859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48200" y="17716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781550" y="1828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4972050" y="18288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그려 주는 화면</a:t>
            </a:r>
            <a:endParaRPr lang="en-US" sz="1013" dirty="0"/>
          </a:p>
        </p:txBody>
      </p:sp>
      <p:sp>
        <p:nvSpPr>
          <p:cNvPr id="37" name="Text 35"/>
          <p:cNvSpPr txBox="1"/>
          <p:nvPr/>
        </p:nvSpPr>
        <p:spPr>
          <a:xfrm>
            <a:off x="9353550" y="1962150"/>
            <a:ext cx="2038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주황이 배운 값, 흰 점이 시험 결과</a:t>
            </a:r>
            <a:endParaRPr lang="en-US" sz="825" dirty="0"/>
          </a:p>
        </p:txBody>
      </p:sp>
      <p:pic>
        <p:nvPicPr>
          <p:cNvPr id="38" name="Image 0" descr="/home/user/Narae-AI/docs/ppt/assets/too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6868" y="2114550"/>
            <a:ext cx="6120664" cy="1543050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5007343" y="2105025"/>
            <a:ext cx="6139714" cy="15621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762500" y="3733800"/>
            <a:ext cx="66294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더할 값이 다릅니다.</a:t>
            </a:r>
            <a:endParaRPr lang="en-US" sz="975" dirty="0"/>
          </a:p>
        </p:txBody>
      </p:sp>
      <p:sp>
        <p:nvSpPr>
          <p:cNvPr id="41" name="Shape 38"/>
          <p:cNvSpPr/>
          <p:nvPr/>
        </p:nvSpPr>
        <p:spPr>
          <a:xfrm>
            <a:off x="685800" y="4219575"/>
            <a:ext cx="10820400" cy="1724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85800" y="4095750"/>
            <a:ext cx="16668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19150" y="41529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4" name="Text 41"/>
          <p:cNvSpPr txBox="1"/>
          <p:nvPr/>
        </p:nvSpPr>
        <p:spPr>
          <a:xfrm>
            <a:off x="1009650" y="4152900"/>
            <a:ext cx="12287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방법을 고른 과정</a:t>
            </a:r>
            <a:endParaRPr lang="en-US" sz="1013" dirty="0"/>
          </a:p>
        </p:txBody>
      </p:sp>
      <p:sp>
        <p:nvSpPr>
          <p:cNvPr id="45" name="Text 42"/>
          <p:cNvSpPr txBox="1"/>
          <p:nvPr/>
        </p:nvSpPr>
        <p:spPr>
          <a:xfrm>
            <a:off x="9163050" y="42862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막대가 짧을수록 잘 맞힌 것 · 단위 MW</a:t>
            </a:r>
            <a:endParaRPr lang="en-US" sz="825" dirty="0"/>
          </a:p>
        </p:txBody>
      </p:sp>
      <p:sp>
        <p:nvSpPr>
          <p:cNvPr id="46" name="Text 43"/>
          <p:cNvSpPr txBox="1"/>
          <p:nvPr/>
        </p:nvSpPr>
        <p:spPr>
          <a:xfrm>
            <a:off x="876300" y="4457700"/>
            <a:ext cx="447675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1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방법이 맞을지 우리가 정할 수 없었습니다. 그래서 후보 일곱 가지를 늘어놓고 같은 데이터로 겨루게 했습니다.</a:t>
            </a:r>
            <a:endParaRPr lang="en-US" sz="1013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1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아니라 성적이 골랐습니다.</a:t>
            </a:r>
            <a:endParaRPr lang="en-US" sz="1013" dirty="0"/>
          </a:p>
        </p:txBody>
      </p:sp>
      <p:sp>
        <p:nvSpPr>
          <p:cNvPr id="47" name="Text 44"/>
          <p:cNvSpPr txBox="1"/>
          <p:nvPr/>
        </p:nvSpPr>
        <p:spPr>
          <a:xfrm>
            <a:off x="5467350" y="445770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RBF</a:t>
            </a:r>
            <a:endParaRPr lang="en-US" sz="863" dirty="0"/>
          </a:p>
        </p:txBody>
      </p:sp>
      <p:sp>
        <p:nvSpPr>
          <p:cNvPr id="48" name="Shape 45"/>
          <p:cNvSpPr/>
          <p:nvPr/>
        </p:nvSpPr>
        <p:spPr>
          <a:xfrm>
            <a:off x="6667500" y="4476750"/>
            <a:ext cx="1154430" cy="952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898130" y="445770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825" dirty="0"/>
          </a:p>
        </p:txBody>
      </p:sp>
      <p:sp>
        <p:nvSpPr>
          <p:cNvPr id="50" name="Text 47"/>
          <p:cNvSpPr txBox="1"/>
          <p:nvPr/>
        </p:nvSpPr>
        <p:spPr>
          <a:xfrm>
            <a:off x="10001250" y="44577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이것을 씁니다</a:t>
            </a:r>
            <a:endParaRPr lang="en-US" sz="863" dirty="0"/>
          </a:p>
        </p:txBody>
      </p:sp>
      <p:sp>
        <p:nvSpPr>
          <p:cNvPr id="51" name="Text 48"/>
          <p:cNvSpPr txBox="1"/>
          <p:nvPr/>
        </p:nvSpPr>
        <p:spPr>
          <a:xfrm>
            <a:off x="5467350" y="465772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RQ</a:t>
            </a:r>
            <a:endParaRPr lang="en-US" sz="863" dirty="0"/>
          </a:p>
        </p:txBody>
      </p:sp>
      <p:sp>
        <p:nvSpPr>
          <p:cNvPr id="52" name="Shape 49"/>
          <p:cNvSpPr/>
          <p:nvPr/>
        </p:nvSpPr>
        <p:spPr>
          <a:xfrm>
            <a:off x="6667500" y="4676775"/>
            <a:ext cx="1200150" cy="95250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7943850" y="465772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825" dirty="0"/>
          </a:p>
        </p:txBody>
      </p:sp>
      <p:sp>
        <p:nvSpPr>
          <p:cNvPr id="54" name="Text 51"/>
          <p:cNvSpPr txBox="1"/>
          <p:nvPr/>
        </p:nvSpPr>
        <p:spPr>
          <a:xfrm>
            <a:off x="5467350" y="485775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Matern 5/2</a:t>
            </a:r>
            <a:endParaRPr lang="en-US" sz="863" dirty="0"/>
          </a:p>
        </p:txBody>
      </p:sp>
      <p:sp>
        <p:nvSpPr>
          <p:cNvPr id="55" name="Shape 52"/>
          <p:cNvSpPr/>
          <p:nvPr/>
        </p:nvSpPr>
        <p:spPr>
          <a:xfrm>
            <a:off x="6667500" y="4876800"/>
            <a:ext cx="1257300" cy="95250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01000" y="485775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</a:t>
            </a:r>
            <a:endParaRPr lang="en-US" sz="825" dirty="0"/>
          </a:p>
        </p:txBody>
      </p:sp>
      <p:sp>
        <p:nvSpPr>
          <p:cNvPr id="57" name="Text 54"/>
          <p:cNvSpPr txBox="1"/>
          <p:nvPr/>
        </p:nvSpPr>
        <p:spPr>
          <a:xfrm>
            <a:off x="5467350" y="505777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Matern 3/2</a:t>
            </a:r>
            <a:endParaRPr lang="en-US" sz="863" dirty="0"/>
          </a:p>
        </p:txBody>
      </p:sp>
      <p:sp>
        <p:nvSpPr>
          <p:cNvPr id="58" name="Shape 55"/>
          <p:cNvSpPr/>
          <p:nvPr/>
        </p:nvSpPr>
        <p:spPr>
          <a:xfrm>
            <a:off x="6667500" y="5076825"/>
            <a:ext cx="1394460" cy="95250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138160" y="505777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</a:t>
            </a:r>
            <a:endParaRPr lang="en-US" sz="825" dirty="0"/>
          </a:p>
        </p:txBody>
      </p:sp>
      <p:sp>
        <p:nvSpPr>
          <p:cNvPr id="60" name="Text 57"/>
          <p:cNvSpPr txBox="1"/>
          <p:nvPr/>
        </p:nvSpPr>
        <p:spPr>
          <a:xfrm>
            <a:off x="5467350" y="525780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</a:t>
            </a:r>
            <a:endParaRPr lang="en-US" sz="863" dirty="0"/>
          </a:p>
        </p:txBody>
      </p:sp>
      <p:sp>
        <p:nvSpPr>
          <p:cNvPr id="61" name="Shape 58"/>
          <p:cNvSpPr/>
          <p:nvPr/>
        </p:nvSpPr>
        <p:spPr>
          <a:xfrm>
            <a:off x="6667500" y="5276850"/>
            <a:ext cx="1885950" cy="95250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8629650" y="525780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</a:t>
            </a:r>
            <a:endParaRPr lang="en-US" sz="825" dirty="0"/>
          </a:p>
        </p:txBody>
      </p:sp>
      <p:sp>
        <p:nvSpPr>
          <p:cNvPr id="63" name="Text 60"/>
          <p:cNvSpPr txBox="1"/>
          <p:nvPr/>
        </p:nvSpPr>
        <p:spPr>
          <a:xfrm>
            <a:off x="5467350" y="545782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</a:t>
            </a:r>
            <a:endParaRPr lang="en-US" sz="863" dirty="0"/>
          </a:p>
        </p:txBody>
      </p:sp>
      <p:sp>
        <p:nvSpPr>
          <p:cNvPr id="64" name="Shape 61"/>
          <p:cNvSpPr/>
          <p:nvPr/>
        </p:nvSpPr>
        <p:spPr>
          <a:xfrm>
            <a:off x="6667500" y="5476875"/>
            <a:ext cx="2503170" cy="95250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246870" y="545782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1.42</a:t>
            </a:r>
            <a:endParaRPr lang="en-US" sz="825" dirty="0"/>
          </a:p>
        </p:txBody>
      </p:sp>
      <p:sp>
        <p:nvSpPr>
          <p:cNvPr id="66" name="Text 63"/>
          <p:cNvSpPr txBox="1"/>
          <p:nvPr/>
        </p:nvSpPr>
        <p:spPr>
          <a:xfrm>
            <a:off x="5467350" y="565785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63" dirty="0"/>
          </a:p>
        </p:txBody>
      </p:sp>
      <p:sp>
        <p:nvSpPr>
          <p:cNvPr id="67" name="Shape 64"/>
          <p:cNvSpPr/>
          <p:nvPr/>
        </p:nvSpPr>
        <p:spPr>
          <a:xfrm>
            <a:off x="6667500" y="5676900"/>
            <a:ext cx="3143250" cy="95250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9886950" y="565785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1.48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876300" y="5848350"/>
            <a:ext cx="1038225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후보 7가지 = 구간 평균 · 거리가중 평균 · 가우시안 프로세스(GP) 커널 5종. 채점은 교차검증(LOOCV)으로 했고, 곡선의 성질은 학습 데이터만으로 정합니다.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3" name="Text 70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계산식을 그대로 두었으니 다른 발전소에도 옮겨 쓸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방식과 나란히 돌렸습니다. 예측을 먼저 적어 두고 시험이 끝난 뒤 실제와 맞춰 봤습니다.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8667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639425" y="1790700"/>
            <a:ext cx="7524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2주에 한 번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시험한다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2152650"/>
            <a:ext cx="169545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한 번 테스트를 합니다.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27813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908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날짜·시각을 넣는다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52650"/>
            <a:ext cx="169545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계측값은 도구가 받아옵니다.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48958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53149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차이가 쌓인다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5314950" y="2152650"/>
            <a:ext cx="169545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계산 = 점 하나가 늘어납니다.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70104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199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74295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다시 그린다</a:t>
            </a:r>
            <a:endParaRPr lang="en-US" sz="1013" dirty="0"/>
          </a:p>
        </p:txBody>
      </p:sp>
      <p:sp>
        <p:nvSpPr>
          <p:cNvPr id="34" name="Text 32"/>
          <p:cNvSpPr txBox="1"/>
          <p:nvPr/>
        </p:nvSpPr>
        <p:spPr>
          <a:xfrm>
            <a:off x="7429500" y="2152650"/>
            <a:ext cx="169545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 전부로 곡선을 다시 그립니다.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91249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3345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95440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쓴다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544050" y="2152650"/>
            <a:ext cx="169545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 표를 새로 만듭니다.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685800" y="2809875"/>
            <a:ext cx="10820400" cy="8667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5800" y="26860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19150" y="27432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1009650" y="27432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 결과</a:t>
            </a:r>
            <a:endParaRPr lang="en-US" sz="1013" dirty="0"/>
          </a:p>
        </p:txBody>
      </p:sp>
      <p:sp>
        <p:nvSpPr>
          <p:cNvPr id="43" name="Text 41"/>
          <p:cNvSpPr txBox="1"/>
          <p:nvPr/>
        </p:nvSpPr>
        <p:spPr>
          <a:xfrm>
            <a:off x="9829800" y="2876550"/>
            <a:ext cx="15621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876300" y="3048000"/>
            <a:ext cx="2381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876300" y="3200400"/>
            <a:ext cx="180975" cy="26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1114425" y="3295650"/>
            <a:ext cx="2143125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개월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3333750" y="302895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486150" y="3048000"/>
            <a:ext cx="2381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맞춰 본 회차</a:t>
            </a:r>
            <a:endParaRPr lang="en-US" sz="863" dirty="0"/>
          </a:p>
        </p:txBody>
      </p:sp>
      <p:sp>
        <p:nvSpPr>
          <p:cNvPr id="49" name="Text 47"/>
          <p:cNvSpPr txBox="1"/>
          <p:nvPr/>
        </p:nvSpPr>
        <p:spPr>
          <a:xfrm>
            <a:off x="3486150" y="3200400"/>
            <a:ext cx="180975" cy="26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800" dirty="0"/>
          </a:p>
        </p:txBody>
      </p:sp>
      <p:sp>
        <p:nvSpPr>
          <p:cNvPr id="50" name="Text 48"/>
          <p:cNvSpPr txBox="1"/>
          <p:nvPr/>
        </p:nvSpPr>
        <p:spPr>
          <a:xfrm>
            <a:off x="3724275" y="3295650"/>
            <a:ext cx="2143125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5943600" y="302895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096000" y="3048000"/>
            <a:ext cx="2381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어긋난 폭</a:t>
            </a:r>
            <a:endParaRPr lang="en-US" sz="863" dirty="0"/>
          </a:p>
        </p:txBody>
      </p:sp>
      <p:sp>
        <p:nvSpPr>
          <p:cNvPr id="53" name="Text 51"/>
          <p:cNvSpPr txBox="1"/>
          <p:nvPr/>
        </p:nvSpPr>
        <p:spPr>
          <a:xfrm>
            <a:off x="6096000" y="3200400"/>
            <a:ext cx="600075" cy="26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753225" y="3295650"/>
            <a:ext cx="1724025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25" dirty="0"/>
          </a:p>
        </p:txBody>
      </p:sp>
      <p:sp>
        <p:nvSpPr>
          <p:cNvPr id="55" name="Shape 53"/>
          <p:cNvSpPr/>
          <p:nvPr/>
        </p:nvSpPr>
        <p:spPr>
          <a:xfrm>
            <a:off x="8553450" y="302895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705850" y="3048000"/>
            <a:ext cx="2381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치우침</a:t>
            </a:r>
            <a:endParaRPr lang="en-US" sz="863" dirty="0"/>
          </a:p>
        </p:txBody>
      </p:sp>
      <p:sp>
        <p:nvSpPr>
          <p:cNvPr id="57" name="Text 55"/>
          <p:cNvSpPr txBox="1"/>
          <p:nvPr/>
        </p:nvSpPr>
        <p:spPr>
          <a:xfrm>
            <a:off x="8705850" y="3200400"/>
            <a:ext cx="733425" cy="26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-0.04</a:t>
            </a:r>
            <a:endParaRPr lang="en-US" sz="1800" dirty="0"/>
          </a:p>
        </p:txBody>
      </p:sp>
      <p:sp>
        <p:nvSpPr>
          <p:cNvPr id="58" name="Text 56"/>
          <p:cNvSpPr txBox="1"/>
          <p:nvPr/>
        </p:nvSpPr>
        <p:spPr>
          <a:xfrm>
            <a:off x="9496425" y="3295650"/>
            <a:ext cx="1590675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 · 한쪽으로 쏠리지 않음</a:t>
            </a:r>
            <a:endParaRPr lang="en-US" sz="825" dirty="0"/>
          </a:p>
        </p:txBody>
      </p:sp>
      <p:sp>
        <p:nvSpPr>
          <p:cNvPr id="59" name="Shape 57"/>
          <p:cNvSpPr/>
          <p:nvPr/>
        </p:nvSpPr>
        <p:spPr>
          <a:xfrm>
            <a:off x="685800" y="3895725"/>
            <a:ext cx="10820400" cy="2200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85800" y="37719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19150" y="38290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62" name="Text 60"/>
          <p:cNvSpPr txBox="1"/>
          <p:nvPr/>
        </p:nvSpPr>
        <p:spPr>
          <a:xfrm>
            <a:off x="1009650" y="38290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쌓일 때마다 다시 검사</a:t>
            </a:r>
            <a:endParaRPr lang="en-US" sz="1013" dirty="0"/>
          </a:p>
        </p:txBody>
      </p:sp>
      <p:sp>
        <p:nvSpPr>
          <p:cNvPr id="63" name="Text 61"/>
          <p:cNvSpPr txBox="1"/>
          <p:nvPr/>
        </p:nvSpPr>
        <p:spPr>
          <a:xfrm>
            <a:off x="8829675" y="3962400"/>
            <a:ext cx="25622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실적이 늘면 후보를 다시 겨룬다</a:t>
            </a:r>
            <a:endParaRPr lang="en-US" sz="825" dirty="0"/>
          </a:p>
        </p:txBody>
      </p:sp>
      <p:pic>
        <p:nvPicPr>
          <p:cNvPr id="64" name="Image 0" descr="/home/user/Narae-AI/docs/ppt/assets/tool_loocv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239" y="4171950"/>
            <a:ext cx="9746372" cy="1524000"/>
          </a:xfrm>
          <a:prstGeom prst="rect">
            <a:avLst/>
          </a:prstGeom>
        </p:spPr>
      </p:pic>
      <p:sp>
        <p:nvSpPr>
          <p:cNvPr id="65" name="Shape 62"/>
          <p:cNvSpPr/>
          <p:nvPr/>
        </p:nvSpPr>
        <p:spPr>
          <a:xfrm>
            <a:off x="1184714" y="4162425"/>
            <a:ext cx="9765422" cy="15430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76300" y="57721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도구의 「모델 선정」 화면입니다. 후보 7가지 가운데 성적이 좋은 3개와 판정 열만 오려 넣었습니다(원본 픽셀 그대로). 이 화면은 실적의 20% 를 시험지로 따로 떼어 두므로 채점에 쓴 회차가 32회로 적힙니다.</a:t>
            </a:r>
            <a:endParaRPr lang="en-US" sz="750" dirty="0"/>
          </a:p>
        </p:txBody>
      </p:sp>
      <p:sp>
        <p:nvSpPr>
          <p:cNvPr id="67" name="Shape 6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0" name="Text 6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달을 나란히 돌려 확인했고, 실적이 늘 때마다 도구가 스스로 다시 채점합니다.</a:t>
            </a:r>
            <a:endParaRPr lang="en-US" sz="116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정량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39회에 예전 방법과 새 방법을 각각 써서 채점했습니다.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81600" y="1847850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95500"/>
            <a:ext cx="12573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228850" y="21907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628900" y="20193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2286000"/>
            <a:ext cx="571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91050" y="20383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0764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3431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2933700"/>
            <a:ext cx="4914900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오가며 61개 값을 옮기던 일이, 날짜와 시각을 넣는 일로 바뀌었습니다.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6134100" y="1781175"/>
            <a:ext cx="53721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41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64579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163050" y="18478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39회 · 왼쪽 종전 → 오른쪽 도구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20478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20383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8629650" y="20574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858250" y="20193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9305925" y="20764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0668000" y="20478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39" name="Shape 37"/>
          <p:cNvSpPr/>
          <p:nvPr/>
        </p:nvSpPr>
        <p:spPr>
          <a:xfrm>
            <a:off x="6324600" y="23050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4600" y="23907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만큼 못 낸 횟수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67700" y="23812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8543925" y="24003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772525" y="23622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8972550" y="24193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668000" y="23907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6324600" y="26479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600" y="27336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신고한 양 합계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8267700" y="27241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49" name="Text 47"/>
          <p:cNvSpPr txBox="1"/>
          <p:nvPr/>
        </p:nvSpPr>
        <p:spPr>
          <a:xfrm>
            <a:off x="8543925" y="2743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772525" y="27051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8972550" y="27622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10668000" y="27336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3324225"/>
            <a:ext cx="10820400" cy="9429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" y="320040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009650" y="325755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어떻게 쟀나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486775" y="339090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신고한 기록이 아니라 되돌려 본 채점입니다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8763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668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가린다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10668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한 회를 빼 둡니다.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32956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5052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36957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나머지로 맞혀 본다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36957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가린 회차의 온도만 주고 보정값을 예측하게 합니다.</a:t>
            </a:r>
            <a:endParaRPr lang="en-US" sz="788" dirty="0"/>
          </a:p>
        </p:txBody>
      </p:sp>
      <p:sp>
        <p:nvSpPr>
          <p:cNvPr id="65" name="Text 63"/>
          <p:cNvSpPr txBox="1"/>
          <p:nvPr/>
        </p:nvSpPr>
        <p:spPr>
          <a:xfrm>
            <a:off x="59245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61341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3246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실제와 견준다</a:t>
            </a:r>
            <a:endParaRPr lang="en-US" sz="975" dirty="0"/>
          </a:p>
        </p:txBody>
      </p:sp>
      <p:sp>
        <p:nvSpPr>
          <p:cNvPr id="68" name="Text 66"/>
          <p:cNvSpPr txBox="1"/>
          <p:nvPr/>
        </p:nvSpPr>
        <p:spPr>
          <a:xfrm>
            <a:off x="63246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예측한 값과 그날 실제 값의 차이를 적습니다.</a:t>
            </a:r>
            <a:endParaRPr lang="en-US" sz="788" dirty="0"/>
          </a:p>
        </p:txBody>
      </p:sp>
      <p:sp>
        <p:nvSpPr>
          <p:cNvPr id="69" name="Text 67"/>
          <p:cNvSpPr txBox="1"/>
          <p:nvPr/>
        </p:nvSpPr>
        <p:spPr>
          <a:xfrm>
            <a:off x="85534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7630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9535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돌아가며 반복</a:t>
            </a:r>
            <a:endParaRPr lang="en-US" sz="975" dirty="0"/>
          </a:p>
        </p:txBody>
      </p:sp>
      <p:sp>
        <p:nvSpPr>
          <p:cNvPr id="72" name="Text 70"/>
          <p:cNvSpPr txBox="1"/>
          <p:nvPr/>
        </p:nvSpPr>
        <p:spPr>
          <a:xfrm>
            <a:off x="89535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번씩 다 가려 보고 평균을 냅니다.</a:t>
            </a:r>
            <a:endParaRPr lang="en-US" sz="788" dirty="0"/>
          </a:p>
        </p:txBody>
      </p:sp>
      <p:sp>
        <p:nvSpPr>
          <p:cNvPr id="73" name="Text 71"/>
          <p:cNvSpPr txBox="1"/>
          <p:nvPr/>
        </p:nvSpPr>
        <p:spPr>
          <a:xfrm>
            <a:off x="876300" y="40957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방식도 같은 회차에 「늘 같은 값 하나」를 더해 똑같이 채점했습니다. 그래서 두 값을 나란히 견줄 수 있습니다. 40회 가운데 39회를 썼습니다 — 한 회차는 그 온도 구간에 시험이 그것뿐이어서 가리면 비교 대상 방식 하나가 답을 못 냅니다.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85800" y="4505325"/>
            <a:ext cx="10820400" cy="1590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5800" y="43815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19150" y="4438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009650" y="44386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10534650" y="45720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876300" y="4743450"/>
            <a:ext cx="400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신고해서 못 받던 용량요금 (한 해)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76300" y="4933950"/>
            <a:ext cx="171450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650" dirty="0"/>
          </a:p>
        </p:txBody>
      </p:sp>
      <p:sp>
        <p:nvSpPr>
          <p:cNvPr id="81" name="Text 79"/>
          <p:cNvSpPr txBox="1"/>
          <p:nvPr/>
        </p:nvSpPr>
        <p:spPr>
          <a:xfrm>
            <a:off x="2647950" y="5010150"/>
            <a:ext cx="26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82" name="Text 80"/>
          <p:cNvSpPr txBox="1"/>
          <p:nvPr/>
        </p:nvSpPr>
        <p:spPr>
          <a:xfrm>
            <a:off x="2990850" y="4895850"/>
            <a:ext cx="20955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876300" y="533400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7750" y="5314950"/>
            <a:ext cx="41910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5,759만원을 되찾습니다</a:t>
            </a:r>
            <a:endParaRPr lang="en-US" sz="1425" dirty="0"/>
          </a:p>
        </p:txBody>
      </p:sp>
      <p:sp>
        <p:nvSpPr>
          <p:cNvPr id="85" name="Text 83"/>
          <p:cNvSpPr txBox="1"/>
          <p:nvPr/>
        </p:nvSpPr>
        <p:spPr>
          <a:xfrm>
            <a:off x="1047750" y="5581650"/>
            <a:ext cx="4191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신고한 양이 줄어든 만큼입니다.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5772150" y="4724400"/>
            <a:ext cx="0" cy="11430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096000" y="47434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863" dirty="0"/>
          </a:p>
        </p:txBody>
      </p:sp>
      <p:sp>
        <p:nvSpPr>
          <p:cNvPr id="88" name="Text 86"/>
          <p:cNvSpPr txBox="1"/>
          <p:nvPr/>
        </p:nvSpPr>
        <p:spPr>
          <a:xfrm>
            <a:off x="7905750" y="47434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096000" y="49911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7905750" y="49911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6096000" y="52387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863" dirty="0"/>
          </a:p>
        </p:txBody>
      </p:sp>
      <p:sp>
        <p:nvSpPr>
          <p:cNvPr id="92" name="Text 90"/>
          <p:cNvSpPr txBox="1"/>
          <p:nvPr/>
        </p:nvSpPr>
        <p:spPr>
          <a:xfrm>
            <a:off x="7905750" y="52387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6096000" y="54864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7905750" y="54864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벌칙금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6096000" y="579120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맞았습니다. 처음에 세운 목표 두 가지입니다.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정성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 어렵지만 일하는 방식에서 달라진 것들입니다.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657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가늠한다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8572500" y="1847850"/>
            <a:ext cx="2819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외기온도 30℃ 로 미리 돌려 본 결과</a:t>
            </a:r>
            <a:endParaRPr lang="en-US" sz="825" dirty="0"/>
          </a:p>
        </p:txBody>
      </p:sp>
      <p:pic>
        <p:nvPicPr>
          <p:cNvPr id="20" name="Image 0" descr="/home/user/Narae-AI/docs/ppt/assets/tool_sim_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059781"/>
            <a:ext cx="6286500" cy="216693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866775" y="2050256"/>
            <a:ext cx="6305550" cy="2185988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24750" y="2019300"/>
            <a:ext cx="0" cy="20574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91450" y="2019300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791450" y="2209800"/>
            <a:ext cx="35242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끝나야 그날 숫자를 알았습니다.</a:t>
            </a:r>
            <a:endParaRPr lang="en-US" sz="1013" dirty="0"/>
          </a:p>
        </p:txBody>
      </p:sp>
      <p:sp>
        <p:nvSpPr>
          <p:cNvPr id="25" name="Text 22"/>
          <p:cNvSpPr txBox="1"/>
          <p:nvPr/>
        </p:nvSpPr>
        <p:spPr>
          <a:xfrm>
            <a:off x="7791450" y="2686050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7791450" y="2876550"/>
            <a:ext cx="35242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대기압만 넣으면 그 조건의 신고값이 바로 나옵니다.</a:t>
            </a:r>
            <a:endParaRPr lang="en-US" sz="1013" dirty="0"/>
          </a:p>
        </p:txBody>
      </p:sp>
      <p:sp>
        <p:nvSpPr>
          <p:cNvPr id="27" name="Text 24"/>
          <p:cNvSpPr txBox="1"/>
          <p:nvPr/>
        </p:nvSpPr>
        <p:spPr>
          <a:xfrm>
            <a:off x="7791450" y="3448050"/>
            <a:ext cx="35242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계획을 세울 때 먼저 대 보고, 시험 결과가 이상하면 조건을 바꿔 가며 어디가 어긋났는지 짚어 봅니다.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85800" y="4676775"/>
            <a:ext cx="10820400" cy="1419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85800" y="455295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19150" y="46101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8"/>
          <p:cNvSpPr txBox="1"/>
          <p:nvPr/>
        </p:nvSpPr>
        <p:spPr>
          <a:xfrm>
            <a:off x="1009650" y="461010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달라진 것</a:t>
            </a:r>
            <a:endParaRPr lang="en-US" sz="1013" dirty="0"/>
          </a:p>
        </p:txBody>
      </p:sp>
      <p:sp>
        <p:nvSpPr>
          <p:cNvPr id="32" name="Shape 29"/>
          <p:cNvSpPr/>
          <p:nvPr/>
        </p:nvSpPr>
        <p:spPr>
          <a:xfrm>
            <a:off x="876300" y="4933950"/>
            <a:ext cx="38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28700" y="4914900"/>
            <a:ext cx="3143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놓치던 것을 도구가 본다</a:t>
            </a:r>
            <a:endParaRPr lang="en-US" sz="1088" dirty="0"/>
          </a:p>
        </p:txBody>
      </p:sp>
      <p:sp>
        <p:nvSpPr>
          <p:cNvPr id="34" name="Text 31"/>
          <p:cNvSpPr txBox="1"/>
          <p:nvPr/>
        </p:nvSpPr>
        <p:spPr>
          <a:xfrm>
            <a:off x="1028700" y="5162550"/>
            <a:ext cx="3143250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올리지 않은 시험, 배우지 않은 온도, 일부만 골라 만든 관계 — 세 가지를 도구가 걸러냅니다.</a:t>
            </a:r>
            <a:endParaRPr lang="en-US" sz="863" dirty="0"/>
          </a:p>
        </p:txBody>
      </p:sp>
      <p:sp>
        <p:nvSpPr>
          <p:cNvPr id="35" name="Shape 32"/>
          <p:cNvSpPr/>
          <p:nvPr/>
        </p:nvSpPr>
        <p:spPr>
          <a:xfrm>
            <a:off x="4229100" y="489585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381500" y="4933950"/>
            <a:ext cx="38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533900" y="4914900"/>
            <a:ext cx="3143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근거가 남는다</a:t>
            </a:r>
            <a:endParaRPr lang="en-US" sz="1088" dirty="0"/>
          </a:p>
        </p:txBody>
      </p:sp>
      <p:sp>
        <p:nvSpPr>
          <p:cNvPr id="38" name="Text 35"/>
          <p:cNvSpPr txBox="1"/>
          <p:nvPr/>
        </p:nvSpPr>
        <p:spPr>
          <a:xfrm>
            <a:off x="4533900" y="5162550"/>
            <a:ext cx="3143250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 관행으로만 설명했습니다. 지금은 시험 40회 가운데 어느 회차가 어떻게 쓰였는지 화면에 남습니다.</a:t>
            </a:r>
            <a:endParaRPr lang="en-US" sz="863" dirty="0"/>
          </a:p>
        </p:txBody>
      </p:sp>
      <p:sp>
        <p:nvSpPr>
          <p:cNvPr id="39" name="Shape 36"/>
          <p:cNvSpPr/>
          <p:nvPr/>
        </p:nvSpPr>
        <p:spPr>
          <a:xfrm>
            <a:off x="7734300" y="489585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886700" y="4933950"/>
            <a:ext cx="38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039100" y="4914900"/>
            <a:ext cx="3143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088" dirty="0"/>
          </a:p>
        </p:txBody>
      </p:sp>
      <p:sp>
        <p:nvSpPr>
          <p:cNvPr id="42" name="Text 39"/>
          <p:cNvSpPr txBox="1"/>
          <p:nvPr/>
        </p:nvSpPr>
        <p:spPr>
          <a:xfrm>
            <a:off x="8039100" y="5162550"/>
            <a:ext cx="3143250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엑셀을 다루는 손버릇에 따라 결과가 달라질 수 있었습니다. 지금은 절차가 도구 안에 있습니다.</a:t>
            </a:r>
            <a:endParaRPr lang="en-US" sz="863" dirty="0"/>
          </a:p>
        </p:txBody>
      </p:sp>
      <p:sp>
        <p:nvSpPr>
          <p:cNvPr id="43" name="Shape 40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6" name="Text 43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말고도, 일하는 방식이 사람 손에서 도구 쪽으로 옮겨 왔습니다.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가지입니다. 실적을 쌓아 더 정확하게, 그리고 다른 발전소로.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2733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더 정확하게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067175" y="1847850"/>
            <a:ext cx="18002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앞부터 배워 뒤를 맞혀 본 결과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1104900" y="2514600"/>
            <a:ext cx="838200" cy="1028700"/>
          </a:xfrm>
          <a:prstGeom prst="rect">
            <a:avLst/>
          </a:prstGeom>
          <a:solidFill>
            <a:srgbClr val="9AA3A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04900" y="2305050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125" dirty="0"/>
          </a:p>
        </p:txBody>
      </p:sp>
      <p:sp>
        <p:nvSpPr>
          <p:cNvPr id="22" name="Text 20"/>
          <p:cNvSpPr txBox="1"/>
          <p:nvPr/>
        </p:nvSpPr>
        <p:spPr>
          <a:xfrm>
            <a:off x="11049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13~19회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2209800" y="2514600"/>
            <a:ext cx="838200" cy="1028700"/>
          </a:xfrm>
          <a:prstGeom prst="rect">
            <a:avLst/>
          </a:prstGeom>
          <a:solidFill>
            <a:srgbClr val="9AA3A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209800" y="2305050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125" dirty="0"/>
          </a:p>
        </p:txBody>
      </p:sp>
      <p:sp>
        <p:nvSpPr>
          <p:cNvPr id="25" name="Text 23"/>
          <p:cNvSpPr txBox="1"/>
          <p:nvPr/>
        </p:nvSpPr>
        <p:spPr>
          <a:xfrm>
            <a:off x="22098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20~26회</a:t>
            </a:r>
            <a:endParaRPr lang="en-US" sz="825" dirty="0"/>
          </a:p>
        </p:txBody>
      </p:sp>
      <p:sp>
        <p:nvSpPr>
          <p:cNvPr id="26" name="Shape 24"/>
          <p:cNvSpPr/>
          <p:nvPr/>
        </p:nvSpPr>
        <p:spPr>
          <a:xfrm>
            <a:off x="3314700" y="3133725"/>
            <a:ext cx="838200" cy="409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14700" y="2924175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1125" dirty="0"/>
          </a:p>
        </p:txBody>
      </p:sp>
      <p:sp>
        <p:nvSpPr>
          <p:cNvPr id="28" name="Text 26"/>
          <p:cNvSpPr txBox="1"/>
          <p:nvPr/>
        </p:nvSpPr>
        <p:spPr>
          <a:xfrm>
            <a:off x="33147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27~33회</a:t>
            </a:r>
            <a:endParaRPr lang="en-US" sz="825" dirty="0"/>
          </a:p>
        </p:txBody>
      </p:sp>
      <p:sp>
        <p:nvSpPr>
          <p:cNvPr id="29" name="Shape 27"/>
          <p:cNvSpPr/>
          <p:nvPr/>
        </p:nvSpPr>
        <p:spPr>
          <a:xfrm>
            <a:off x="4419600" y="3000375"/>
            <a:ext cx="838200" cy="5429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19600" y="2790825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1.19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44196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34~40회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914400" y="3543300"/>
            <a:ext cx="48768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76300" y="20193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— 틀리는 폭 (MW, 작을수록 좋다)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876300" y="3752850"/>
            <a:ext cx="491490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늘어난 것 말고 바꾼 것은 없습니다.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876300" y="3943350"/>
            <a:ext cx="491490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평균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2.26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틀렸고, 지금은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1.19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4133850"/>
            <a:ext cx="491490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앞으로도 2주마다 한 회씩 쌓입니다.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76300" y="4343400"/>
            <a:ext cx="49149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구간이 조금 올라간 것은 겨울 시험이 적게 섞인 탓입니다. 있는 대로 적었습니다.</a:t>
            </a:r>
            <a:endParaRPr lang="en-US" sz="788" dirty="0"/>
          </a:p>
        </p:txBody>
      </p:sp>
      <p:sp>
        <p:nvSpPr>
          <p:cNvPr id="38" name="Shape 36"/>
          <p:cNvSpPr/>
          <p:nvPr/>
        </p:nvSpPr>
        <p:spPr>
          <a:xfrm>
            <a:off x="6134100" y="1781175"/>
            <a:ext cx="5372100" cy="2733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341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64579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발전소로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10125075" y="1847850"/>
            <a:ext cx="1266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기종이 달라도 됩니다</a:t>
            </a:r>
            <a:endParaRPr lang="en-US" sz="825" dirty="0"/>
          </a:p>
        </p:txBody>
      </p:sp>
      <p:sp>
        <p:nvSpPr>
          <p:cNvPr id="43" name="Text 41"/>
          <p:cNvSpPr txBox="1"/>
          <p:nvPr/>
        </p:nvSpPr>
        <p:spPr>
          <a:xfrm>
            <a:off x="6324600" y="2019300"/>
            <a:ext cx="49911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발전소는 기종이 달라 특성 곡선이 다릅니다.</a:t>
            </a:r>
            <a:endParaRPr lang="en-US" sz="938" dirty="0"/>
          </a:p>
        </p:txBody>
      </p:sp>
      <p:sp>
        <p:nvSpPr>
          <p:cNvPr id="44" name="Shape 42"/>
          <p:cNvSpPr/>
          <p:nvPr/>
        </p:nvSpPr>
        <p:spPr>
          <a:xfrm>
            <a:off x="6324600" y="22669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96050" y="2247900"/>
            <a:ext cx="481965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옮겨 가는 것은 곡선이 아니라 </a:t>
            </a:r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</a:t>
            </a:r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163" dirty="0"/>
          </a:p>
        </p:txBody>
      </p:sp>
      <p:sp>
        <p:nvSpPr>
          <p:cNvPr id="46" name="Text 44"/>
          <p:cNvSpPr txBox="1"/>
          <p:nvPr/>
        </p:nvSpPr>
        <p:spPr>
          <a:xfrm>
            <a:off x="6324600" y="2571750"/>
            <a:ext cx="152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63" dirty="0"/>
          </a:p>
        </p:txBody>
      </p:sp>
      <p:sp>
        <p:nvSpPr>
          <p:cNvPr id="47" name="Text 45"/>
          <p:cNvSpPr txBox="1"/>
          <p:nvPr/>
        </p:nvSpPr>
        <p:spPr>
          <a:xfrm>
            <a:off x="6534150" y="2552700"/>
            <a:ext cx="4781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특성 곡선은 표 파일로 읽는다</a:t>
            </a:r>
            <a:endParaRPr lang="en-US" sz="1013" dirty="0"/>
          </a:p>
        </p:txBody>
      </p:sp>
      <p:sp>
        <p:nvSpPr>
          <p:cNvPr id="48" name="Text 46"/>
          <p:cNvSpPr txBox="1"/>
          <p:nvPr/>
        </p:nvSpPr>
        <p:spPr>
          <a:xfrm>
            <a:off x="6534150" y="2743200"/>
            <a:ext cx="478155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곡선을 품고 있지 않습니다. 온도 61줄 표를 읽어 씁니다. 그 발전소 표로 바꿔 넣으면 됩니다 — 제작사 계산식은 손대지 않았습니다.</a:t>
            </a:r>
            <a:endParaRPr lang="en-US" sz="863" dirty="0"/>
          </a:p>
        </p:txBody>
      </p:sp>
      <p:sp>
        <p:nvSpPr>
          <p:cNvPr id="49" name="Text 47"/>
          <p:cNvSpPr txBox="1"/>
          <p:nvPr/>
        </p:nvSpPr>
        <p:spPr>
          <a:xfrm>
            <a:off x="6324600" y="3219450"/>
            <a:ext cx="152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63" dirty="0"/>
          </a:p>
        </p:txBody>
      </p:sp>
      <p:sp>
        <p:nvSpPr>
          <p:cNvPr id="50" name="Text 48"/>
          <p:cNvSpPr txBox="1"/>
          <p:nvPr/>
        </p:nvSpPr>
        <p:spPr>
          <a:xfrm>
            <a:off x="6534150" y="3200400"/>
            <a:ext cx="4781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곡선은 새로 쌓는다</a:t>
            </a:r>
            <a:endParaRPr lang="en-US" sz="1013" dirty="0"/>
          </a:p>
        </p:txBody>
      </p:sp>
      <p:sp>
        <p:nvSpPr>
          <p:cNvPr id="51" name="Text 49"/>
          <p:cNvSpPr txBox="1"/>
          <p:nvPr/>
        </p:nvSpPr>
        <p:spPr>
          <a:xfrm>
            <a:off x="6534150" y="3390900"/>
            <a:ext cx="478155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위례가 시험 40회로 만든 것처럼, 그 발전소는 그 발전소 실적으로 만듭니다.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6324600" y="3867150"/>
            <a:ext cx="152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63" dirty="0"/>
          </a:p>
        </p:txBody>
      </p:sp>
      <p:sp>
        <p:nvSpPr>
          <p:cNvPr id="53" name="Text 51"/>
          <p:cNvSpPr txBox="1"/>
          <p:nvPr/>
        </p:nvSpPr>
        <p:spPr>
          <a:xfrm>
            <a:off x="6534150" y="3848100"/>
            <a:ext cx="4781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필요한 것은 셋</a:t>
            </a:r>
            <a:endParaRPr lang="en-US" sz="1013" dirty="0"/>
          </a:p>
        </p:txBody>
      </p:sp>
      <p:sp>
        <p:nvSpPr>
          <p:cNvPr id="54" name="Text 52"/>
          <p:cNvSpPr txBox="1"/>
          <p:nvPr/>
        </p:nvSpPr>
        <p:spPr>
          <a:xfrm>
            <a:off x="6534150" y="4038600"/>
            <a:ext cx="478155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· 그 발전소 특성 곡선표 · 그 발전소 시험 실적.</a:t>
            </a:r>
            <a:endParaRPr lang="en-US" sz="863" dirty="0"/>
          </a:p>
        </p:txBody>
      </p:sp>
      <p:sp>
        <p:nvSpPr>
          <p:cNvPr id="55" name="Shape 53"/>
          <p:cNvSpPr/>
          <p:nvPr/>
        </p:nvSpPr>
        <p:spPr>
          <a:xfrm>
            <a:off x="685800" y="475297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" y="46291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19150" y="46863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1009650" y="46863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무엇을</a:t>
            </a:r>
            <a:endParaRPr lang="en-US" sz="101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49911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spc="12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지금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76300" y="5162550"/>
            <a:ext cx="32385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 정착</a:t>
            </a:r>
            <a:endParaRPr lang="en-US" sz="1163" dirty="0"/>
          </a:p>
        </p:txBody>
      </p:sp>
      <p:sp>
        <p:nvSpPr>
          <p:cNvPr id="61" name="Text 59"/>
          <p:cNvSpPr txBox="1"/>
          <p:nvPr/>
        </p:nvSpPr>
        <p:spPr>
          <a:xfrm>
            <a:off x="876300" y="5391150"/>
            <a:ext cx="3238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넣습니다. 쌓일수록 곡선이 촘촘해집니다.</a:t>
            </a:r>
            <a:endParaRPr lang="en-US" sz="863" dirty="0"/>
          </a:p>
        </p:txBody>
      </p:sp>
      <p:sp>
        <p:nvSpPr>
          <p:cNvPr id="62" name="Shape 60"/>
          <p:cNvSpPr/>
          <p:nvPr/>
        </p:nvSpPr>
        <p:spPr>
          <a:xfrm>
            <a:off x="4229100" y="4972050"/>
            <a:ext cx="0" cy="952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381500" y="49911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spc="12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다음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4381500" y="5162550"/>
            <a:ext cx="32385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발전소로</a:t>
            </a:r>
            <a:endParaRPr lang="en-US" sz="1163" dirty="0"/>
          </a:p>
        </p:txBody>
      </p:sp>
      <p:sp>
        <p:nvSpPr>
          <p:cNvPr id="65" name="Text 63"/>
          <p:cNvSpPr txBox="1"/>
          <p:nvPr/>
        </p:nvSpPr>
        <p:spPr>
          <a:xfrm>
            <a:off x="4381500" y="5391150"/>
            <a:ext cx="3238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곡선표를 그 발전소 것으로 바꿔 넣고, 그 발전소 실적으로 보정 곡선을 새로 쌓습니다.</a:t>
            </a:r>
            <a:endParaRPr lang="en-US" sz="863" dirty="0"/>
          </a:p>
        </p:txBody>
      </p:sp>
      <p:sp>
        <p:nvSpPr>
          <p:cNvPr id="66" name="Shape 64"/>
          <p:cNvSpPr/>
          <p:nvPr/>
        </p:nvSpPr>
        <p:spPr>
          <a:xfrm>
            <a:off x="7734300" y="4972050"/>
            <a:ext cx="0" cy="952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886700" y="49911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spc="12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그다음</a:t>
            </a:r>
            <a:endParaRPr lang="en-US" sz="825" dirty="0"/>
          </a:p>
        </p:txBody>
      </p:sp>
      <p:sp>
        <p:nvSpPr>
          <p:cNvPr id="68" name="Text 66"/>
          <p:cNvSpPr txBox="1"/>
          <p:nvPr/>
        </p:nvSpPr>
        <p:spPr>
          <a:xfrm>
            <a:off x="7886700" y="5162550"/>
            <a:ext cx="32385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절차로 굳히기</a:t>
            </a:r>
            <a:endParaRPr lang="en-US" sz="1163" dirty="0"/>
          </a:p>
        </p:txBody>
      </p:sp>
      <p:sp>
        <p:nvSpPr>
          <p:cNvPr id="69" name="Text 67"/>
          <p:cNvSpPr txBox="1"/>
          <p:nvPr/>
        </p:nvSpPr>
        <p:spPr>
          <a:xfrm>
            <a:off x="7886700" y="5391150"/>
            <a:ext cx="3238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숫자를 내는 순서를 사업소 표준으로 정리합니다.</a:t>
            </a:r>
            <a:endParaRPr lang="en-US" sz="863" dirty="0"/>
          </a:p>
        </p:txBody>
      </p:sp>
      <p:sp>
        <p:nvSpPr>
          <p:cNvPr id="70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쓸수록 촘촘해지고, 옮겨 심을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돌아보면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24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막히는 데가 많았고, 하나씩 뚫으면서 배웠습니다.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685800" y="1781175"/>
            <a:ext cx="52959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1" name="Text 9"/>
          <p:cNvSpPr txBox="1"/>
          <p:nvPr/>
        </p:nvSpPr>
        <p:spPr>
          <a:xfrm>
            <a:off x="10096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20193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분야를 공부해서 직접 풀어 보고 싶었습니다.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247900"/>
            <a:ext cx="4914900" cy="635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 AI 를 써서 해 본 적 없는 분야를 공부하고 스스로 풀어내는 성취감을 맛보고 싶었습니다. 그 마음이 끝까지 가게 한 힘이었습니다.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6134100" y="1781175"/>
            <a:ext cx="53721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7" name="Text 15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013" dirty="0"/>
          </a:p>
        </p:txBody>
      </p:sp>
      <p:sp>
        <p:nvSpPr>
          <p:cNvPr id="18" name="Text 16"/>
          <p:cNvSpPr txBox="1"/>
          <p:nvPr/>
        </p:nvSpPr>
        <p:spPr>
          <a:xfrm>
            <a:off x="10887075" y="1847850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6324600" y="2038350"/>
            <a:ext cx="38100" cy="190500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700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47700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 · 분석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6477000" y="2400300"/>
            <a:ext cx="224790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병행운전에서 문제점과 개선사항을 찾아 넘겼습니다.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8782050" y="20002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34450" y="2038350"/>
            <a:ext cx="38100" cy="1905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8685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08685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 · 반영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9086850" y="2400300"/>
            <a:ext cx="224790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685800" y="3114675"/>
            <a:ext cx="10820400" cy="29813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2990850"/>
            <a:ext cx="18859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9150" y="30480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009650" y="3048000"/>
            <a:ext cx="14478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곳 다섯 군데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696450" y="3181350"/>
            <a:ext cx="1695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것 → 한 일 → 남은 것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352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막혔던 것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3848100" y="33528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일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63000" y="3352800"/>
            <a:ext cx="24955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76300" y="35052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6300" y="36004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모르는 업무였다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848100" y="36004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일이었습니다. 둘이 절차부터 공부하고, 담당자에게 자문을 구하고, 시험을 직접 해 봤습니다.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763000" y="36195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15400" y="36004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절차를 우리 말로 설명할 수 있게 됐습니다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76300" y="4019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6300" y="40957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시스템에서 값을 어떻게 받아오나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848100" y="40957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붙이고 값이 오가는지 먼저 시험했습니다.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8763000" y="41148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915400" y="40957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계측값을 자동으로 받습니다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76300" y="45148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6300" y="45910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예측 방법을 써야 하나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3848100" y="45910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7가지를 놓고 같은 데이터로 겨루게 했습니다. 사람이 아니라 성적이 골랐습니다.</a:t>
            </a:r>
            <a:endParaRPr lang="en-US" sz="863" dirty="0"/>
          </a:p>
        </p:txBody>
      </p:sp>
      <p:sp>
        <p:nvSpPr>
          <p:cNvPr id="49" name="Shape 47"/>
          <p:cNvSpPr/>
          <p:nvPr/>
        </p:nvSpPr>
        <p:spPr>
          <a:xfrm>
            <a:off x="8763000" y="46101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915400" y="45910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성적으로 고른 방법 하나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6300" y="5010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6300" y="50863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3848100" y="50863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검사를 도구 안에 넣었습니다.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8763000" y="51054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15400" y="50863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 때마다 다시 검사합니다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6300" y="55054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6300" y="55816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3848100" y="55816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온도마다 하나씩 맞춰 봤습니다. 어긋난 여섯 군데를 찾아 고쳤습니다.</a:t>
            </a:r>
            <a:endParaRPr lang="en-US" sz="863" dirty="0"/>
          </a:p>
        </p:txBody>
      </p:sp>
      <p:sp>
        <p:nvSpPr>
          <p:cNvPr id="59" name="Shape 57"/>
          <p:cNvSpPr/>
          <p:nvPr/>
        </p:nvSpPr>
        <p:spPr>
          <a:xfrm>
            <a:off x="8763000" y="56007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15400" y="55816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팀 업무에서 시작해 도구 하나로 끝냈습니다. 그 과정이 이 과제의 절반입니다.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42900"/>
            <a:ext cx="6667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   ·   2026. 09.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85800" y="2447925"/>
            <a:ext cx="10820400" cy="2886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324100"/>
            <a:ext cx="17145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9150" y="2381250"/>
            <a:ext cx="1466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9572625" y="251460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검은 점은 실제 시험</a:t>
            </a:r>
            <a:endParaRPr lang="en-US" sz="825" dirty="0"/>
          </a:p>
        </p:txBody>
      </p:sp>
      <p:sp>
        <p:nvSpPr>
          <p:cNvPr id="10" name="Shape 8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2" name="Shape 10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6" name="Shape 14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18" name="Shape 16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Shape 77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0" name="Shape 78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1" name="Shape 79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2" name="Shape 80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3" name="Shape 81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4" name="Shape 82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5" name="Shape 83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6" name="Shape 84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7" name="Shape 85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8" name="Shape 86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9" name="Shape 87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0" name="Shape 88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1" name="Shape 89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2" name="Shape 90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3" name="Shape 91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4" name="Shape 92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5" name="Shape 93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6" name="Shape 94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7" name="Shape 95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8" name="Shape 96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9" name="Shape 97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0" name="Shape 98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1" name="Shape 99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85800" y="63055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1" name="Text 119"/>
          <p:cNvSpPr txBox="1"/>
          <p:nvPr/>
        </p:nvSpPr>
        <p:spPr>
          <a:xfrm>
            <a:off x="6743700" y="63246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2026-09-16T13:20:23Z</dcterms:created>
  <dcterms:modified xsi:type="dcterms:W3CDTF">2026-09-16T13:20:23Z</dcterms:modified>
</cp:coreProperties>
</file>