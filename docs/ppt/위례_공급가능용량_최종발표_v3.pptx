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74295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나래에너지서비스 위례사업소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696200" y="704850"/>
            <a:ext cx="381000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2"/>
              </a:lnSpc>
              <a:buNone/>
            </a:pPr>
            <a:r>
              <a:rPr lang="en-US" sz="938" spc="200" kern="0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개선과제 최종 보고</a:t>
            </a:r>
            <a:endParaRPr lang="en-US" sz="938" dirty="0"/>
          </a:p>
        </p:txBody>
      </p:sp>
      <p:sp>
        <p:nvSpPr>
          <p:cNvPr id="4" name="Shape 2"/>
          <p:cNvSpPr/>
          <p:nvPr/>
        </p:nvSpPr>
        <p:spPr>
          <a:xfrm>
            <a:off x="685800" y="14287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2247900"/>
            <a:ext cx="438150" cy="2857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2514600"/>
            <a:ext cx="9525000" cy="536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24"/>
              </a:lnSpc>
              <a:buNone/>
            </a:pPr>
            <a:r>
              <a:rPr lang="en-US" sz="33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공급가능용량 산정 자동화 및</a:t>
            </a:r>
            <a:endParaRPr lang="en-US" sz="33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048000"/>
            <a:ext cx="9525000" cy="536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24"/>
              </a:lnSpc>
              <a:buNone/>
            </a:pPr>
            <a:r>
              <a:rPr lang="en-US" sz="33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보정 모델 개발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733800"/>
            <a:ext cx="9525000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3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프로파일 생성 절차 통합과 누적 40회 실적 기반 보정 곡선 적용</a:t>
            </a:r>
            <a:endParaRPr lang="en-US" sz="1275" dirty="0"/>
          </a:p>
        </p:txBody>
      </p:sp>
      <p:sp>
        <p:nvSpPr>
          <p:cNvPr id="9" name="Shape 7"/>
          <p:cNvSpPr/>
          <p:nvPr/>
        </p:nvSpPr>
        <p:spPr>
          <a:xfrm>
            <a:off x="685800" y="430530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4648200"/>
            <a:ext cx="762000" cy="136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8"/>
              </a:lnSpc>
              <a:buNone/>
            </a:pPr>
            <a:r>
              <a:rPr lang="en-US" sz="863" spc="14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소  속</a:t>
            </a:r>
            <a:endParaRPr lang="en-US" sz="863" dirty="0"/>
          </a:p>
        </p:txBody>
      </p:sp>
      <p:sp>
        <p:nvSpPr>
          <p:cNvPr id="11" name="Shape 9"/>
          <p:cNvSpPr/>
          <p:nvPr/>
        </p:nvSpPr>
        <p:spPr>
          <a:xfrm>
            <a:off x="1600200" y="4629150"/>
            <a:ext cx="0" cy="19050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809750" y="4629150"/>
            <a:ext cx="6667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나래에너지서비스 위례사업소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5010150"/>
            <a:ext cx="762000" cy="136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8"/>
              </a:lnSpc>
              <a:buNone/>
            </a:pPr>
            <a:r>
              <a:rPr lang="en-US" sz="863" spc="14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부  서</a:t>
            </a:r>
            <a:endParaRPr lang="en-US" sz="863" dirty="0"/>
          </a:p>
        </p:txBody>
      </p:sp>
      <p:sp>
        <p:nvSpPr>
          <p:cNvPr id="14" name="Shape 12"/>
          <p:cNvSpPr/>
          <p:nvPr/>
        </p:nvSpPr>
        <p:spPr>
          <a:xfrm>
            <a:off x="1600200" y="4991100"/>
            <a:ext cx="0" cy="19050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809750" y="4991100"/>
            <a:ext cx="6667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정비기술팀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5372100"/>
            <a:ext cx="762000" cy="136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8"/>
              </a:lnSpc>
              <a:buNone/>
            </a:pPr>
            <a:r>
              <a:rPr lang="en-US" sz="863" spc="14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작 성 자</a:t>
            </a:r>
            <a:endParaRPr lang="en-US" sz="863" dirty="0"/>
          </a:p>
        </p:txBody>
      </p:sp>
      <p:sp>
        <p:nvSpPr>
          <p:cNvPr id="17" name="Shape 15"/>
          <p:cNvSpPr/>
          <p:nvPr/>
        </p:nvSpPr>
        <p:spPr>
          <a:xfrm>
            <a:off x="1600200" y="5353050"/>
            <a:ext cx="0" cy="19050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809750" y="5353050"/>
            <a:ext cx="6667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주현M  ·  정상우M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5734050"/>
            <a:ext cx="762000" cy="136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8"/>
              </a:lnSpc>
              <a:buNone/>
            </a:pPr>
            <a:r>
              <a:rPr lang="en-US" sz="863" spc="14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작성일자</a:t>
            </a:r>
            <a:endParaRPr lang="en-US" sz="863" dirty="0"/>
          </a:p>
        </p:txBody>
      </p:sp>
      <p:sp>
        <p:nvSpPr>
          <p:cNvPr id="20" name="Shape 18"/>
          <p:cNvSpPr/>
          <p:nvPr/>
        </p:nvSpPr>
        <p:spPr>
          <a:xfrm>
            <a:off x="1600200" y="5715000"/>
            <a:ext cx="0" cy="19050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809750" y="5715000"/>
            <a:ext cx="6667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2026. 09.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85800" y="60388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85800" y="6305550"/>
            <a:ext cx="7620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위례열병합발전소  ·  공급가능용량 입찰 산정 Tool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825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914400"/>
            <a:ext cx="10287000" cy="432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02"/>
              </a:lnSpc>
              <a:buNone/>
            </a:pPr>
            <a:r>
              <a:rPr lang="en-US" sz="27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44780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문제에서 시작해 개선효과와 확산까지 하나로 잇습니다.</a:t>
            </a:r>
            <a:endParaRPr lang="en-US" sz="1275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95262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57300" y="191452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추진 배경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448050" y="196215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과제를 시작한 이유</a:t>
            </a:r>
            <a:endParaRPr lang="en-US" sz="1013" dirty="0"/>
          </a:p>
        </p:txBody>
      </p:sp>
      <p:sp>
        <p:nvSpPr>
          <p:cNvPr id="9" name="Text 7"/>
          <p:cNvSpPr txBox="1"/>
          <p:nvPr/>
        </p:nvSpPr>
        <p:spPr>
          <a:xfrm>
            <a:off x="8058150" y="197167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개요 및 추진 배경</a:t>
            </a:r>
            <a:endParaRPr lang="en-US" sz="825" dirty="0"/>
          </a:p>
        </p:txBody>
      </p:sp>
      <p:sp>
        <p:nvSpPr>
          <p:cNvPr id="10" name="Text 8"/>
          <p:cNvSpPr txBox="1"/>
          <p:nvPr/>
        </p:nvSpPr>
        <p:spPr>
          <a:xfrm>
            <a:off x="10972800" y="195262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85800" y="223837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235267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257300" y="231457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문제점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448050" y="236220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방식의 문제점</a:t>
            </a:r>
            <a:endParaRPr lang="en-US" sz="1013" dirty="0"/>
          </a:p>
        </p:txBody>
      </p:sp>
      <p:sp>
        <p:nvSpPr>
          <p:cNvPr id="15" name="Text 13"/>
          <p:cNvSpPr txBox="1"/>
          <p:nvPr/>
        </p:nvSpPr>
        <p:spPr>
          <a:xfrm>
            <a:off x="8058150" y="237172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현황 파악 및 문제정의</a:t>
            </a:r>
            <a:endParaRPr lang="en-US" sz="825" dirty="0"/>
          </a:p>
        </p:txBody>
      </p:sp>
      <p:sp>
        <p:nvSpPr>
          <p:cNvPr id="16" name="Text 14"/>
          <p:cNvSpPr txBox="1"/>
          <p:nvPr/>
        </p:nvSpPr>
        <p:spPr>
          <a:xfrm>
            <a:off x="10972800" y="235267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85800" y="263842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275272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257300" y="271462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3448050" y="276225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차이의 원인</a:t>
            </a:r>
            <a:endParaRPr lang="en-US" sz="1013" dirty="0"/>
          </a:p>
        </p:txBody>
      </p:sp>
      <p:sp>
        <p:nvSpPr>
          <p:cNvPr id="21" name="Text 19"/>
          <p:cNvSpPr txBox="1"/>
          <p:nvPr/>
        </p:nvSpPr>
        <p:spPr>
          <a:xfrm>
            <a:off x="8058150" y="277177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데이터 분석 및 원인 규명</a:t>
            </a:r>
            <a:endParaRPr lang="en-US" sz="825" dirty="0"/>
          </a:p>
        </p:txBody>
      </p:sp>
      <p:sp>
        <p:nvSpPr>
          <p:cNvPr id="22" name="Text 20"/>
          <p:cNvSpPr txBox="1"/>
          <p:nvPr/>
        </p:nvSpPr>
        <p:spPr>
          <a:xfrm>
            <a:off x="10972800" y="275272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85800" y="303847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85800" y="315277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257300" y="311467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3448050" y="316230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 도출</a:t>
            </a:r>
            <a:endParaRPr lang="en-US" sz="1013" dirty="0"/>
          </a:p>
        </p:txBody>
      </p:sp>
      <p:sp>
        <p:nvSpPr>
          <p:cNvPr id="27" name="Text 25"/>
          <p:cNvSpPr txBox="1"/>
          <p:nvPr/>
        </p:nvSpPr>
        <p:spPr>
          <a:xfrm>
            <a:off x="8058150" y="317182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해결방안 도출</a:t>
            </a:r>
            <a:endParaRPr lang="en-US" sz="825" dirty="0"/>
          </a:p>
        </p:txBody>
      </p:sp>
      <p:sp>
        <p:nvSpPr>
          <p:cNvPr id="28" name="Text 26"/>
          <p:cNvSpPr txBox="1"/>
          <p:nvPr/>
        </p:nvSpPr>
        <p:spPr>
          <a:xfrm>
            <a:off x="10972800" y="315277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85800" y="343852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257300" y="351472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3448050" y="356235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· 보정 모델 개발</a:t>
            </a:r>
            <a:endParaRPr lang="en-US" sz="1013" dirty="0"/>
          </a:p>
        </p:txBody>
      </p:sp>
      <p:sp>
        <p:nvSpPr>
          <p:cNvPr id="32" name="Text 30"/>
          <p:cNvSpPr txBox="1"/>
          <p:nvPr/>
        </p:nvSpPr>
        <p:spPr>
          <a:xfrm>
            <a:off x="8058150" y="357187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예측/보정 모델 개발</a:t>
            </a:r>
            <a:endParaRPr lang="en-US" sz="825" dirty="0"/>
          </a:p>
        </p:txBody>
      </p:sp>
      <p:sp>
        <p:nvSpPr>
          <p:cNvPr id="33" name="Text 31"/>
          <p:cNvSpPr txBox="1"/>
          <p:nvPr/>
        </p:nvSpPr>
        <p:spPr>
          <a:xfrm>
            <a:off x="10972800" y="355282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85800" y="383857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85800" y="395287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257300" y="391477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모니터링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3448050" y="396240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계속 확인하는 구조</a:t>
            </a:r>
            <a:endParaRPr lang="en-US" sz="1013" dirty="0"/>
          </a:p>
        </p:txBody>
      </p:sp>
      <p:sp>
        <p:nvSpPr>
          <p:cNvPr id="38" name="Text 36"/>
          <p:cNvSpPr txBox="1"/>
          <p:nvPr/>
        </p:nvSpPr>
        <p:spPr>
          <a:xfrm>
            <a:off x="8058150" y="397192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향후 추이 분석</a:t>
            </a:r>
            <a:endParaRPr lang="en-US" sz="825" dirty="0"/>
          </a:p>
        </p:txBody>
      </p:sp>
      <p:sp>
        <p:nvSpPr>
          <p:cNvPr id="39" name="Text 37"/>
          <p:cNvSpPr txBox="1"/>
          <p:nvPr/>
        </p:nvSpPr>
        <p:spPr>
          <a:xfrm>
            <a:off x="10972800" y="395287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685800" y="423862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85800" y="435292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1257300" y="431482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개선효과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3448050" y="436245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정량 — 시간 · 정확도 · 요금</a:t>
            </a:r>
            <a:endParaRPr lang="en-US" sz="1013" dirty="0"/>
          </a:p>
        </p:txBody>
      </p:sp>
      <p:sp>
        <p:nvSpPr>
          <p:cNvPr id="44" name="Text 42"/>
          <p:cNvSpPr txBox="1"/>
          <p:nvPr/>
        </p:nvSpPr>
        <p:spPr>
          <a:xfrm>
            <a:off x="8058150" y="437197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⑥ 개선효과 (정량)</a:t>
            </a:r>
            <a:endParaRPr lang="en-US" sz="825" dirty="0"/>
          </a:p>
        </p:txBody>
      </p:sp>
      <p:sp>
        <p:nvSpPr>
          <p:cNvPr id="45" name="Text 43"/>
          <p:cNvSpPr txBox="1"/>
          <p:nvPr/>
        </p:nvSpPr>
        <p:spPr>
          <a:xfrm>
            <a:off x="10972800" y="435292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685800" y="463867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257300" y="471487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개선효과</a:t>
            </a:r>
            <a:endParaRPr lang="en-US" sz="1500" dirty="0"/>
          </a:p>
        </p:txBody>
      </p:sp>
      <p:sp>
        <p:nvSpPr>
          <p:cNvPr id="48" name="Text 46"/>
          <p:cNvSpPr txBox="1"/>
          <p:nvPr/>
        </p:nvSpPr>
        <p:spPr>
          <a:xfrm>
            <a:off x="3448050" y="476250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정성 — 일하는 방식</a:t>
            </a:r>
            <a:endParaRPr lang="en-US" sz="1013" dirty="0"/>
          </a:p>
        </p:txBody>
      </p:sp>
      <p:sp>
        <p:nvSpPr>
          <p:cNvPr id="49" name="Text 47"/>
          <p:cNvSpPr txBox="1"/>
          <p:nvPr/>
        </p:nvSpPr>
        <p:spPr>
          <a:xfrm>
            <a:off x="8058150" y="477202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⑥ 개선효과 (정성)</a:t>
            </a:r>
            <a:endParaRPr lang="en-US" sz="825" dirty="0"/>
          </a:p>
        </p:txBody>
      </p:sp>
      <p:sp>
        <p:nvSpPr>
          <p:cNvPr id="50" name="Text 48"/>
          <p:cNvSpPr txBox="1"/>
          <p:nvPr/>
        </p:nvSpPr>
        <p:spPr>
          <a:xfrm>
            <a:off x="10972800" y="475297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685800" y="503872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685800" y="515302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1257300" y="511492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</a:t>
            </a:r>
            <a:endParaRPr lang="en-US" sz="1500" dirty="0"/>
          </a:p>
        </p:txBody>
      </p:sp>
      <p:sp>
        <p:nvSpPr>
          <p:cNvPr id="54" name="Text 52"/>
          <p:cNvSpPr txBox="1"/>
          <p:nvPr/>
        </p:nvSpPr>
        <p:spPr>
          <a:xfrm>
            <a:off x="3448050" y="516255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 향상과 수평 전개</a:t>
            </a:r>
            <a:endParaRPr lang="en-US" sz="1013" dirty="0"/>
          </a:p>
        </p:txBody>
      </p:sp>
      <p:sp>
        <p:nvSpPr>
          <p:cNvPr id="55" name="Text 53"/>
          <p:cNvSpPr txBox="1"/>
          <p:nvPr/>
        </p:nvSpPr>
        <p:spPr>
          <a:xfrm>
            <a:off x="8058150" y="517207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⑦ 향후계획 및 수평전개</a:t>
            </a:r>
            <a:endParaRPr lang="en-US" sz="825" dirty="0"/>
          </a:p>
        </p:txBody>
      </p:sp>
      <p:sp>
        <p:nvSpPr>
          <p:cNvPr id="56" name="Text 54"/>
          <p:cNvSpPr txBox="1"/>
          <p:nvPr/>
        </p:nvSpPr>
        <p:spPr>
          <a:xfrm>
            <a:off x="10972800" y="515302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685800" y="543877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685800" y="5600700"/>
            <a:ext cx="571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참고</a:t>
            </a:r>
            <a:endParaRPr lang="en-US" sz="863" dirty="0"/>
          </a:p>
        </p:txBody>
      </p:sp>
      <p:sp>
        <p:nvSpPr>
          <p:cNvPr id="59" name="Text 57"/>
          <p:cNvSpPr txBox="1"/>
          <p:nvPr/>
        </p:nvSpPr>
        <p:spPr>
          <a:xfrm>
            <a:off x="1257300" y="5562600"/>
            <a:ext cx="200025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8"/>
              </a:lnSpc>
              <a:buNone/>
            </a:pPr>
            <a:r>
              <a:rPr lang="en-US" sz="127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어려웠던 점</a:t>
            </a:r>
            <a:endParaRPr lang="en-US" sz="1275" dirty="0"/>
          </a:p>
        </p:txBody>
      </p:sp>
      <p:sp>
        <p:nvSpPr>
          <p:cNvPr id="60" name="Text 58"/>
          <p:cNvSpPr txBox="1"/>
          <p:nvPr/>
        </p:nvSpPr>
        <p:spPr>
          <a:xfrm>
            <a:off x="3448050" y="5610225"/>
            <a:ext cx="41910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시작한 계기 · 막혔던 곳 · 역할 분담</a:t>
            </a:r>
            <a:endParaRPr lang="en-US" sz="975" dirty="0"/>
          </a:p>
        </p:txBody>
      </p:sp>
      <p:sp>
        <p:nvSpPr>
          <p:cNvPr id="61" name="Text 59"/>
          <p:cNvSpPr txBox="1"/>
          <p:nvPr/>
        </p:nvSpPr>
        <p:spPr>
          <a:xfrm>
            <a:off x="10972800" y="5600700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685800" y="63246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오른쪽 작은 글씨는 권장 발표 구성 항목입니다.</a:t>
            </a:r>
            <a:endParaRPr lang="en-US" sz="938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추진 배경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과제를 시작한 이유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발전소는 전기를 팔기 전에 얼마나 낼 수 있는지 미리 신고해야 합니다. 그 숫자를 만드는 일입니다.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800225"/>
            <a:ext cx="10820400" cy="13430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76400"/>
            <a:ext cx="14478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7335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733550"/>
            <a:ext cx="10096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신고하는 숫자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9248775" y="1866900"/>
            <a:ext cx="21431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발전운영팀 업무 · 우리는 정비기술팀</a:t>
            </a:r>
            <a:endParaRPr lang="en-US" sz="825" dirty="0"/>
          </a:p>
        </p:txBody>
      </p:sp>
      <p:sp>
        <p:nvSpPr>
          <p:cNvPr id="20" name="Text 18"/>
          <p:cNvSpPr txBox="1"/>
          <p:nvPr/>
        </p:nvSpPr>
        <p:spPr>
          <a:xfrm>
            <a:off x="876300" y="20383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세로 신고 출력(MW) · 가로 외기온도(℃) · 추우면 많이, 더우면 적게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1162050" y="2952750"/>
            <a:ext cx="31242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62050" y="2209800"/>
            <a:ext cx="0" cy="74295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1219200" y="2323855"/>
            <a:ext cx="118110" cy="772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1337310" y="2317815"/>
            <a:ext cx="118110" cy="6039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1455420" y="2313706"/>
            <a:ext cx="118110" cy="4109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1573530" y="2301129"/>
            <a:ext cx="118110" cy="12577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1691640" y="2286000"/>
            <a:ext cx="118110" cy="15129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809750" y="2286000"/>
            <a:ext cx="118110" cy="1046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27860" y="2296460"/>
            <a:ext cx="118110" cy="1139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045970" y="2307854"/>
            <a:ext cx="118110" cy="1276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164080" y="2320617"/>
            <a:ext cx="118110" cy="14507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282190" y="2335124"/>
            <a:ext cx="118110" cy="15939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00300" y="2351063"/>
            <a:ext cx="118110" cy="1762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518410" y="2368683"/>
            <a:ext cx="118110" cy="23659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636520" y="2392342"/>
            <a:ext cx="118110" cy="2583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754630" y="2418180"/>
            <a:ext cx="118110" cy="2720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872740" y="2445388"/>
            <a:ext cx="118110" cy="29636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990850" y="2475025"/>
            <a:ext cx="118110" cy="32251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108960" y="2507276"/>
            <a:ext cx="118110" cy="3480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227070" y="2542080"/>
            <a:ext cx="118110" cy="2808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345180" y="2570160"/>
            <a:ext cx="118110" cy="39162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463290" y="2609322"/>
            <a:ext cx="118110" cy="4233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581400" y="2651659"/>
            <a:ext cx="118110" cy="4675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699510" y="2698417"/>
            <a:ext cx="118110" cy="5049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817620" y="2748911"/>
            <a:ext cx="118110" cy="5286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935730" y="2801771"/>
            <a:ext cx="118110" cy="5379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053840" y="2855564"/>
            <a:ext cx="118110" cy="59086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704850" y="2228850"/>
            <a:ext cx="4191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460 MW</a:t>
            </a:r>
            <a:endParaRPr lang="en-US" sz="713" dirty="0"/>
          </a:p>
        </p:txBody>
      </p:sp>
      <p:sp>
        <p:nvSpPr>
          <p:cNvPr id="49" name="Text 47"/>
          <p:cNvSpPr txBox="1"/>
          <p:nvPr/>
        </p:nvSpPr>
        <p:spPr>
          <a:xfrm>
            <a:off x="704850" y="2857500"/>
            <a:ext cx="4191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359 MW</a:t>
            </a:r>
            <a:endParaRPr lang="en-US" sz="713" dirty="0"/>
          </a:p>
        </p:txBody>
      </p:sp>
      <p:sp>
        <p:nvSpPr>
          <p:cNvPr id="50" name="Text 48"/>
          <p:cNvSpPr txBox="1"/>
          <p:nvPr/>
        </p:nvSpPr>
        <p:spPr>
          <a:xfrm>
            <a:off x="1009650" y="2990850"/>
            <a:ext cx="4191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−10℃</a:t>
            </a:r>
            <a:endParaRPr lang="en-US" sz="713" dirty="0"/>
          </a:p>
        </p:txBody>
      </p:sp>
      <p:sp>
        <p:nvSpPr>
          <p:cNvPr id="51" name="Text 49"/>
          <p:cNvSpPr txBox="1"/>
          <p:nvPr/>
        </p:nvSpPr>
        <p:spPr>
          <a:xfrm>
            <a:off x="1600200" y="2990850"/>
            <a:ext cx="4191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13" dirty="0"/>
          </a:p>
        </p:txBody>
      </p:sp>
      <p:sp>
        <p:nvSpPr>
          <p:cNvPr id="52" name="Text 50"/>
          <p:cNvSpPr txBox="1"/>
          <p:nvPr/>
        </p:nvSpPr>
        <p:spPr>
          <a:xfrm>
            <a:off x="2781300" y="2990850"/>
            <a:ext cx="4191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13" dirty="0"/>
          </a:p>
        </p:txBody>
      </p:sp>
      <p:sp>
        <p:nvSpPr>
          <p:cNvPr id="53" name="Text 51"/>
          <p:cNvSpPr txBox="1"/>
          <p:nvPr/>
        </p:nvSpPr>
        <p:spPr>
          <a:xfrm>
            <a:off x="3962400" y="2990850"/>
            <a:ext cx="4191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40℃</a:t>
            </a:r>
            <a:endParaRPr lang="en-US" sz="713" dirty="0"/>
          </a:p>
        </p:txBody>
      </p:sp>
      <p:sp>
        <p:nvSpPr>
          <p:cNvPr id="54" name="Text 52"/>
          <p:cNvSpPr txBox="1"/>
          <p:nvPr/>
        </p:nvSpPr>
        <p:spPr>
          <a:xfrm>
            <a:off x="2152650" y="2190750"/>
            <a:ext cx="14287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제작사 계산값 곡선</a:t>
            </a:r>
            <a:endParaRPr lang="en-US" sz="788" dirty="0"/>
          </a:p>
        </p:txBody>
      </p:sp>
      <p:sp>
        <p:nvSpPr>
          <p:cNvPr id="55" name="Shape 53"/>
          <p:cNvSpPr/>
          <p:nvPr/>
        </p:nvSpPr>
        <p:spPr>
          <a:xfrm>
            <a:off x="4591050" y="2019300"/>
            <a:ext cx="0" cy="10287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4857750" y="2038350"/>
            <a:ext cx="3143250" cy="386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3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추울 때와 더울 때 낼 수 있는 양이 다릅니다.</a:t>
            </a:r>
            <a:endParaRPr lang="en-US" sz="1050" dirty="0"/>
          </a:p>
        </p:txBody>
      </p:sp>
      <p:sp>
        <p:nvSpPr>
          <p:cNvPr id="57" name="Text 55"/>
          <p:cNvSpPr txBox="1"/>
          <p:nvPr/>
        </p:nvSpPr>
        <p:spPr>
          <a:xfrm>
            <a:off x="4857750" y="2457450"/>
            <a:ext cx="314325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3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영하 20도 ~ 40도까지 온도 61개 숫자를 따로 신고합니다.</a:t>
            </a:r>
            <a:endParaRPr lang="en-US" sz="938" dirty="0"/>
          </a:p>
        </p:txBody>
      </p:sp>
      <p:sp>
        <p:nvSpPr>
          <p:cNvPr id="58" name="Shape 56"/>
          <p:cNvSpPr/>
          <p:nvPr/>
        </p:nvSpPr>
        <p:spPr>
          <a:xfrm>
            <a:off x="8305800" y="2019300"/>
            <a:ext cx="0" cy="10287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8553450" y="2038350"/>
            <a:ext cx="27622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신고한 숫자가 어긋나면</a:t>
            </a:r>
            <a:endParaRPr lang="en-US" sz="825" dirty="0"/>
          </a:p>
        </p:txBody>
      </p:sp>
      <p:sp>
        <p:nvSpPr>
          <p:cNvPr id="60" name="Text 58"/>
          <p:cNvSpPr txBox="1"/>
          <p:nvPr/>
        </p:nvSpPr>
        <p:spPr>
          <a:xfrm>
            <a:off x="8553450" y="2266950"/>
            <a:ext cx="2762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많이 신고하고 출력을 못 내면</a:t>
            </a:r>
            <a:endParaRPr lang="en-US" sz="900" dirty="0"/>
          </a:p>
        </p:txBody>
      </p:sp>
      <p:sp>
        <p:nvSpPr>
          <p:cNvPr id="61" name="Text 59"/>
          <p:cNvSpPr txBox="1"/>
          <p:nvPr/>
        </p:nvSpPr>
        <p:spPr>
          <a:xfrm>
            <a:off x="8553450" y="2438400"/>
            <a:ext cx="27622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FF6F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패널티</a:t>
            </a:r>
            <a:endParaRPr lang="en-US" sz="1013" dirty="0"/>
          </a:p>
        </p:txBody>
      </p:sp>
      <p:sp>
        <p:nvSpPr>
          <p:cNvPr id="62" name="Text 60"/>
          <p:cNvSpPr txBox="1"/>
          <p:nvPr/>
        </p:nvSpPr>
        <p:spPr>
          <a:xfrm>
            <a:off x="8553450" y="2705100"/>
            <a:ext cx="2762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적게 신고하면</a:t>
            </a:r>
            <a:endParaRPr lang="en-US" sz="900" dirty="0"/>
          </a:p>
        </p:txBody>
      </p:sp>
      <p:sp>
        <p:nvSpPr>
          <p:cNvPr id="63" name="Text 61"/>
          <p:cNvSpPr txBox="1"/>
          <p:nvPr/>
        </p:nvSpPr>
        <p:spPr>
          <a:xfrm>
            <a:off x="8553450" y="2876550"/>
            <a:ext cx="27622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6E77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차이만큼 CP 용량요금 손실</a:t>
            </a:r>
            <a:endParaRPr lang="en-US" sz="1013" dirty="0"/>
          </a:p>
        </p:txBody>
      </p:sp>
      <p:sp>
        <p:nvSpPr>
          <p:cNvPr id="64" name="Shape 62"/>
          <p:cNvSpPr/>
          <p:nvPr/>
        </p:nvSpPr>
        <p:spPr>
          <a:xfrm>
            <a:off x="685800" y="3381375"/>
            <a:ext cx="5295900" cy="25622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85800" y="3257550"/>
            <a:ext cx="15240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819150" y="33147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67" name="Text 65"/>
          <p:cNvSpPr txBox="1"/>
          <p:nvPr/>
        </p:nvSpPr>
        <p:spPr>
          <a:xfrm>
            <a:off x="1009650" y="3314700"/>
            <a:ext cx="10858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선정 이유</a:t>
            </a:r>
            <a:endParaRPr lang="en-US" sz="1013" dirty="0"/>
          </a:p>
        </p:txBody>
      </p:sp>
      <p:sp>
        <p:nvSpPr>
          <p:cNvPr id="68" name="Text 66"/>
          <p:cNvSpPr txBox="1"/>
          <p:nvPr/>
        </p:nvSpPr>
        <p:spPr>
          <a:xfrm>
            <a:off x="4714875" y="3448050"/>
            <a:ext cx="11525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정비기술팀 두 사람</a:t>
            </a:r>
            <a:endParaRPr lang="en-US" sz="825" dirty="0"/>
          </a:p>
        </p:txBody>
      </p:sp>
      <p:sp>
        <p:nvSpPr>
          <p:cNvPr id="69" name="Text 67"/>
          <p:cNvSpPr txBox="1"/>
          <p:nvPr/>
        </p:nvSpPr>
        <p:spPr>
          <a:xfrm>
            <a:off x="876300" y="3619500"/>
            <a:ext cx="491490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 본 적 없는 분야를 공부해서 직접 풀어 보고 싶었습니다.</a:t>
            </a:r>
            <a:endParaRPr lang="en-US" sz="1125" dirty="0"/>
          </a:p>
        </p:txBody>
      </p:sp>
      <p:sp>
        <p:nvSpPr>
          <p:cNvPr id="70" name="Text 68"/>
          <p:cNvSpPr txBox="1"/>
          <p:nvPr/>
        </p:nvSpPr>
        <p:spPr>
          <a:xfrm>
            <a:off x="876300" y="3848100"/>
            <a:ext cx="49149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남의 팀 업무인데도 과제로 잡은 이유가 셋 있습니다.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876300" y="4229100"/>
            <a:ext cx="38100" cy="4381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1028700" y="42100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73" name="Text 71"/>
          <p:cNvSpPr txBox="1"/>
          <p:nvPr/>
        </p:nvSpPr>
        <p:spPr>
          <a:xfrm>
            <a:off x="1238250" y="4191000"/>
            <a:ext cx="45529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로 새 분야를 경험하고 싶었다</a:t>
            </a:r>
            <a:endParaRPr lang="en-US" sz="1088" dirty="0"/>
          </a:p>
        </p:txBody>
      </p:sp>
      <p:sp>
        <p:nvSpPr>
          <p:cNvPr id="74" name="Text 72"/>
          <p:cNvSpPr txBox="1"/>
          <p:nvPr/>
        </p:nvSpPr>
        <p:spPr>
          <a:xfrm>
            <a:off x="1238250" y="4400550"/>
            <a:ext cx="455295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예측·보정 모델은 해 본 적이 없었습니다. AI 를 길잡이로 삼아 직접 공부하고 풀어내는 성취감을 맛보고 싶었습니다.</a:t>
            </a:r>
            <a:endParaRPr lang="en-US" sz="863" dirty="0"/>
          </a:p>
        </p:txBody>
      </p:sp>
      <p:sp>
        <p:nvSpPr>
          <p:cNvPr id="75" name="Shape 73"/>
          <p:cNvSpPr/>
          <p:nvPr/>
        </p:nvSpPr>
        <p:spPr>
          <a:xfrm>
            <a:off x="876300" y="4800600"/>
            <a:ext cx="38100" cy="4381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1028700" y="47815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  <p:sp>
        <p:nvSpPr>
          <p:cNvPr id="77" name="Text 75"/>
          <p:cNvSpPr txBox="1"/>
          <p:nvPr/>
        </p:nvSpPr>
        <p:spPr>
          <a:xfrm>
            <a:off x="1238250" y="4762500"/>
            <a:ext cx="45529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비효율이 눈에 먼저 보였다</a:t>
            </a:r>
            <a:endParaRPr lang="en-US" sz="1088" dirty="0"/>
          </a:p>
        </p:txBody>
      </p:sp>
      <p:sp>
        <p:nvSpPr>
          <p:cNvPr id="78" name="Text 76"/>
          <p:cNvSpPr txBox="1"/>
          <p:nvPr/>
        </p:nvSpPr>
        <p:spPr>
          <a:xfrm>
            <a:off x="1238250" y="4972050"/>
            <a:ext cx="455295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공급가능용량 테스트는 발전운영팀 업무입니다. 곁에서 보니 엑셀 파일 네 개를 오가는 일이 번거로워 보였습니다.</a:t>
            </a:r>
            <a:endParaRPr lang="en-US" sz="863" dirty="0"/>
          </a:p>
        </p:txBody>
      </p:sp>
      <p:sp>
        <p:nvSpPr>
          <p:cNvPr id="79" name="Shape 77"/>
          <p:cNvSpPr/>
          <p:nvPr/>
        </p:nvSpPr>
        <p:spPr>
          <a:xfrm>
            <a:off x="876300" y="5372100"/>
            <a:ext cx="38100" cy="4381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1028700" y="53530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00" dirty="0"/>
          </a:p>
        </p:txBody>
      </p:sp>
      <p:sp>
        <p:nvSpPr>
          <p:cNvPr id="81" name="Text 79"/>
          <p:cNvSpPr txBox="1"/>
          <p:nvPr/>
        </p:nvSpPr>
        <p:spPr>
          <a:xfrm>
            <a:off x="1238250" y="5334000"/>
            <a:ext cx="45529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수익으로 이어진다</a:t>
            </a:r>
            <a:endParaRPr lang="en-US" sz="1088" dirty="0"/>
          </a:p>
        </p:txBody>
      </p:sp>
      <p:sp>
        <p:nvSpPr>
          <p:cNvPr id="82" name="Text 80"/>
          <p:cNvSpPr txBox="1"/>
          <p:nvPr/>
        </p:nvSpPr>
        <p:spPr>
          <a:xfrm>
            <a:off x="1238250" y="5543550"/>
            <a:ext cx="455295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 숫자가 정확해지면 CP 용량요금 손실이 그만큼 줄어듭니다.</a:t>
            </a:r>
            <a:endParaRPr lang="en-US" sz="863" dirty="0"/>
          </a:p>
        </p:txBody>
      </p:sp>
      <p:sp>
        <p:nvSpPr>
          <p:cNvPr id="83" name="Shape 81"/>
          <p:cNvSpPr/>
          <p:nvPr/>
        </p:nvSpPr>
        <p:spPr>
          <a:xfrm>
            <a:off x="6134100" y="3381375"/>
            <a:ext cx="5372100" cy="25622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6134100" y="3257550"/>
            <a:ext cx="11620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6267450" y="33147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38" dirty="0"/>
          </a:p>
        </p:txBody>
      </p:sp>
      <p:sp>
        <p:nvSpPr>
          <p:cNvPr id="86" name="Text 84"/>
          <p:cNvSpPr txBox="1"/>
          <p:nvPr/>
        </p:nvSpPr>
        <p:spPr>
          <a:xfrm>
            <a:off x="6457950" y="3314700"/>
            <a:ext cx="7239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절차</a:t>
            </a:r>
            <a:endParaRPr lang="en-US" sz="1013" dirty="0"/>
          </a:p>
        </p:txBody>
      </p:sp>
      <p:sp>
        <p:nvSpPr>
          <p:cNvPr id="87" name="Text 85"/>
          <p:cNvSpPr txBox="1"/>
          <p:nvPr/>
        </p:nvSpPr>
        <p:spPr>
          <a:xfrm>
            <a:off x="9572625" y="3448050"/>
            <a:ext cx="18192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파일 4개 · 한 회에 1시간</a:t>
            </a:r>
            <a:endParaRPr lang="en-US" sz="825" dirty="0"/>
          </a:p>
        </p:txBody>
      </p:sp>
      <p:sp>
        <p:nvSpPr>
          <p:cNvPr id="88" name="Text 86"/>
          <p:cNvSpPr txBox="1"/>
          <p:nvPr/>
        </p:nvSpPr>
        <p:spPr>
          <a:xfrm>
            <a:off x="6324600" y="3619500"/>
            <a:ext cx="238125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계측값 받아오기</a:t>
            </a:r>
            <a:endParaRPr lang="en-US" sz="938" dirty="0"/>
          </a:p>
        </p:txBody>
      </p:sp>
      <p:sp>
        <p:nvSpPr>
          <p:cNvPr id="89" name="Shape 87"/>
          <p:cNvSpPr/>
          <p:nvPr/>
        </p:nvSpPr>
        <p:spPr>
          <a:xfrm>
            <a:off x="6324600" y="3810000"/>
            <a:ext cx="2381250" cy="685800"/>
          </a:xfrm>
          <a:prstGeom prst="rect">
            <a:avLst/>
          </a:prstGeom>
          <a:ln w="12700">
            <a:solidFill>
              <a:srgbClr val="DEE3E9"/>
            </a:solidFill>
            <a:prstDash val="solid"/>
          </a:ln>
        </p:spPr>
      </p:sp>
      <p:pic>
        <p:nvPicPr>
          <p:cNvPr id="90" name="Image 0" descr="/home/user/Narae-AI/docs/ppt/assets/엑셀1-1_날짜, 시간 입력 후(RiMS 데이터 가져오기)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74148" y="3848100"/>
            <a:ext cx="1882154" cy="609600"/>
          </a:xfrm>
          <a:prstGeom prst="rect">
            <a:avLst/>
          </a:prstGeom>
        </p:spPr>
      </p:pic>
      <p:sp>
        <p:nvSpPr>
          <p:cNvPr id="91" name="Shape 88"/>
          <p:cNvSpPr/>
          <p:nvPr/>
        </p:nvSpPr>
        <p:spPr>
          <a:xfrm>
            <a:off x="6564623" y="3838575"/>
            <a:ext cx="1901204" cy="628650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8915400" y="3619500"/>
            <a:ext cx="238125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온도별로 계산</a:t>
            </a:r>
            <a:endParaRPr lang="en-US" sz="938" dirty="0"/>
          </a:p>
        </p:txBody>
      </p:sp>
      <p:sp>
        <p:nvSpPr>
          <p:cNvPr id="93" name="Shape 90"/>
          <p:cNvSpPr/>
          <p:nvPr/>
        </p:nvSpPr>
        <p:spPr>
          <a:xfrm>
            <a:off x="8915400" y="3810000"/>
            <a:ext cx="2381250" cy="685800"/>
          </a:xfrm>
          <a:prstGeom prst="rect">
            <a:avLst/>
          </a:prstGeom>
          <a:ln w="12700">
            <a:solidFill>
              <a:srgbClr val="DEE3E9"/>
            </a:solidFill>
            <a:prstDash val="solid"/>
          </a:ln>
        </p:spPr>
      </p:sp>
      <p:pic>
        <p:nvPicPr>
          <p:cNvPr id="94" name="Image 1" descr="/home/user/Narae-AI/docs/ppt/assets/엑셀2-1_G열 대기압 입력 후 온도별 이론값 생성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46042" y="3848100"/>
            <a:ext cx="719966" cy="609600"/>
          </a:xfrm>
          <a:prstGeom prst="rect">
            <a:avLst/>
          </a:prstGeom>
        </p:spPr>
      </p:pic>
      <p:sp>
        <p:nvSpPr>
          <p:cNvPr id="95" name="Shape 91"/>
          <p:cNvSpPr/>
          <p:nvPr/>
        </p:nvSpPr>
        <p:spPr>
          <a:xfrm>
            <a:off x="9736517" y="3838575"/>
            <a:ext cx="739016" cy="628650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96" name="Text 92"/>
          <p:cNvSpPr txBox="1"/>
          <p:nvPr/>
        </p:nvSpPr>
        <p:spPr>
          <a:xfrm>
            <a:off x="6324600" y="4705350"/>
            <a:ext cx="238125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차이를 더하기</a:t>
            </a:r>
            <a:endParaRPr lang="en-US" sz="938" dirty="0"/>
          </a:p>
        </p:txBody>
      </p:sp>
      <p:sp>
        <p:nvSpPr>
          <p:cNvPr id="97" name="Shape 93"/>
          <p:cNvSpPr/>
          <p:nvPr/>
        </p:nvSpPr>
        <p:spPr>
          <a:xfrm>
            <a:off x="6324600" y="4895850"/>
            <a:ext cx="2381250" cy="685800"/>
          </a:xfrm>
          <a:prstGeom prst="rect">
            <a:avLst/>
          </a:prstGeom>
          <a:ln w="12700">
            <a:solidFill>
              <a:srgbClr val="DEE3E9"/>
            </a:solidFill>
            <a:prstDash val="solid"/>
          </a:ln>
        </p:spPr>
      </p:sp>
      <p:pic>
        <p:nvPicPr>
          <p:cNvPr id="98" name="Image 2" descr="/home/user/Narae-AI/docs/ppt/assets/엑셀2-2_IGV Turn up 적용 및, 테스트 온도 지점의 실제 출력과 이론값 비교하여 BTL(보정값) 적용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2225" y="4995559"/>
            <a:ext cx="2286000" cy="486383"/>
          </a:xfrm>
          <a:prstGeom prst="rect">
            <a:avLst/>
          </a:prstGeom>
        </p:spPr>
      </p:pic>
      <p:sp>
        <p:nvSpPr>
          <p:cNvPr id="99" name="Shape 94"/>
          <p:cNvSpPr/>
          <p:nvPr/>
        </p:nvSpPr>
        <p:spPr>
          <a:xfrm>
            <a:off x="6362700" y="4986034"/>
            <a:ext cx="2305050" cy="505433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100" name="Text 95"/>
          <p:cNvSpPr txBox="1"/>
          <p:nvPr/>
        </p:nvSpPr>
        <p:spPr>
          <a:xfrm>
            <a:off x="8915400" y="4705350"/>
            <a:ext cx="238125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표 완성</a:t>
            </a:r>
            <a:endParaRPr lang="en-US" sz="938" dirty="0"/>
          </a:p>
        </p:txBody>
      </p:sp>
      <p:sp>
        <p:nvSpPr>
          <p:cNvPr id="101" name="Shape 96"/>
          <p:cNvSpPr/>
          <p:nvPr/>
        </p:nvSpPr>
        <p:spPr>
          <a:xfrm>
            <a:off x="8915400" y="4895850"/>
            <a:ext cx="2381250" cy="685800"/>
          </a:xfrm>
          <a:prstGeom prst="rect">
            <a:avLst/>
          </a:prstGeom>
          <a:ln w="12700">
            <a:solidFill>
              <a:srgbClr val="DEE3E9"/>
            </a:solidFill>
            <a:prstDash val="solid"/>
          </a:ln>
        </p:spPr>
      </p:sp>
      <p:pic>
        <p:nvPicPr>
          <p:cNvPr id="102" name="Image 3" descr="/home/user/Narae-AI/docs/ppt/assets/xl_profi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91675" y="4933950"/>
            <a:ext cx="1028700" cy="609600"/>
          </a:xfrm>
          <a:prstGeom prst="rect">
            <a:avLst/>
          </a:prstGeom>
        </p:spPr>
      </p:pic>
      <p:sp>
        <p:nvSpPr>
          <p:cNvPr id="103" name="Shape 97"/>
          <p:cNvSpPr/>
          <p:nvPr/>
        </p:nvSpPr>
        <p:spPr>
          <a:xfrm>
            <a:off x="9582150" y="4924425"/>
            <a:ext cx="1047750" cy="628650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104" name="Text 98"/>
          <p:cNvSpPr txBox="1"/>
          <p:nvPr/>
        </p:nvSpPr>
        <p:spPr>
          <a:xfrm>
            <a:off x="6324600" y="5772150"/>
            <a:ext cx="49911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값은 손으로 옮겼습니다. 옮겨 적는 값이 61개였습니다.</a:t>
            </a:r>
            <a:endParaRPr lang="en-US" sz="863" dirty="0"/>
          </a:p>
        </p:txBody>
      </p:sp>
      <p:sp>
        <p:nvSpPr>
          <p:cNvPr id="105" name="Shape 99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06" name="Shape 100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107" name="Text 101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108" name="Text 102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배워 보고 싶은 분야와, 곁에서 보이던 낭비가 같은 자리에 있었습니다.</a:t>
            </a:r>
            <a:endParaRPr lang="en-US" sz="1163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문제점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방식의 문제점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절차가 번거로웠고, 더하는 값은 하나로 정해 두고 그대로 썼습니다. 그래서 신고한 숫자가 어긋났습니다.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81175"/>
            <a:ext cx="5295900" cy="9810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57350"/>
            <a:ext cx="14478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714500"/>
            <a:ext cx="10096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번거로운 절차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5000625" y="1847850"/>
            <a:ext cx="8667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회에 1시간</a:t>
            </a:r>
            <a:endParaRPr lang="en-US" sz="825" dirty="0"/>
          </a:p>
        </p:txBody>
      </p:sp>
      <p:sp>
        <p:nvSpPr>
          <p:cNvPr id="20" name="Text 18"/>
          <p:cNvSpPr txBox="1"/>
          <p:nvPr/>
        </p:nvSpPr>
        <p:spPr>
          <a:xfrm>
            <a:off x="876300" y="2019300"/>
            <a:ext cx="15621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파일</a:t>
            </a:r>
            <a:endParaRPr lang="en-US" sz="863" dirty="0"/>
          </a:p>
        </p:txBody>
      </p:sp>
      <p:sp>
        <p:nvSpPr>
          <p:cNvPr id="21" name="Text 19"/>
          <p:cNvSpPr txBox="1"/>
          <p:nvPr/>
        </p:nvSpPr>
        <p:spPr>
          <a:xfrm>
            <a:off x="876300" y="2190750"/>
            <a:ext cx="200025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15"/>
              </a:lnSpc>
              <a:buNone/>
            </a:pPr>
            <a:r>
              <a:rPr lang="en-US" sz="21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2100" dirty="0"/>
          </a:p>
        </p:txBody>
      </p:sp>
      <p:sp>
        <p:nvSpPr>
          <p:cNvPr id="22" name="Text 20"/>
          <p:cNvSpPr txBox="1"/>
          <p:nvPr/>
        </p:nvSpPr>
        <p:spPr>
          <a:xfrm>
            <a:off x="1114425" y="2305050"/>
            <a:ext cx="381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</a:t>
            </a:r>
            <a:endParaRPr lang="en-US" sz="938" dirty="0"/>
          </a:p>
        </p:txBody>
      </p:sp>
      <p:sp>
        <p:nvSpPr>
          <p:cNvPr id="23" name="Shape 21"/>
          <p:cNvSpPr/>
          <p:nvPr/>
        </p:nvSpPr>
        <p:spPr>
          <a:xfrm>
            <a:off x="2381250" y="2000250"/>
            <a:ext cx="0" cy="4572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533650" y="2019300"/>
            <a:ext cx="15621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손으로 옮긴 값</a:t>
            </a:r>
            <a:endParaRPr lang="en-US" sz="863" dirty="0"/>
          </a:p>
        </p:txBody>
      </p:sp>
      <p:sp>
        <p:nvSpPr>
          <p:cNvPr id="25" name="Text 23"/>
          <p:cNvSpPr txBox="1"/>
          <p:nvPr/>
        </p:nvSpPr>
        <p:spPr>
          <a:xfrm>
            <a:off x="2533650" y="2190750"/>
            <a:ext cx="361950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15"/>
              </a:lnSpc>
              <a:buNone/>
            </a:pPr>
            <a:r>
              <a:rPr lang="en-US" sz="21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61</a:t>
            </a:r>
            <a:endParaRPr lang="en-US" sz="2100" dirty="0"/>
          </a:p>
        </p:txBody>
      </p:sp>
      <p:sp>
        <p:nvSpPr>
          <p:cNvPr id="26" name="Text 24"/>
          <p:cNvSpPr txBox="1"/>
          <p:nvPr/>
        </p:nvSpPr>
        <p:spPr>
          <a:xfrm>
            <a:off x="2933700" y="2305050"/>
            <a:ext cx="381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</a:t>
            </a:r>
            <a:endParaRPr lang="en-US" sz="938" dirty="0"/>
          </a:p>
        </p:txBody>
      </p:sp>
      <p:sp>
        <p:nvSpPr>
          <p:cNvPr id="27" name="Shape 25"/>
          <p:cNvSpPr/>
          <p:nvPr/>
        </p:nvSpPr>
        <p:spPr>
          <a:xfrm>
            <a:off x="4038600" y="2000250"/>
            <a:ext cx="0" cy="4572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191000" y="2019300"/>
            <a:ext cx="15621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자동으로 되는 것</a:t>
            </a:r>
            <a:endParaRPr lang="en-US" sz="863" dirty="0"/>
          </a:p>
        </p:txBody>
      </p:sp>
      <p:sp>
        <p:nvSpPr>
          <p:cNvPr id="29" name="Text 27"/>
          <p:cNvSpPr txBox="1"/>
          <p:nvPr/>
        </p:nvSpPr>
        <p:spPr>
          <a:xfrm>
            <a:off x="4191000" y="2190750"/>
            <a:ext cx="200025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15"/>
              </a:lnSpc>
              <a:buNone/>
            </a:pPr>
            <a:r>
              <a:rPr lang="en-US" sz="21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2100" dirty="0"/>
          </a:p>
        </p:txBody>
      </p:sp>
      <p:sp>
        <p:nvSpPr>
          <p:cNvPr id="30" name="Text 28"/>
          <p:cNvSpPr txBox="1"/>
          <p:nvPr/>
        </p:nvSpPr>
        <p:spPr>
          <a:xfrm>
            <a:off x="4429125" y="2305050"/>
            <a:ext cx="381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</a:t>
            </a:r>
            <a:endParaRPr lang="en-US" sz="938" dirty="0"/>
          </a:p>
        </p:txBody>
      </p:sp>
      <p:sp>
        <p:nvSpPr>
          <p:cNvPr id="31" name="Shape 29"/>
          <p:cNvSpPr/>
          <p:nvPr/>
        </p:nvSpPr>
        <p:spPr>
          <a:xfrm>
            <a:off x="6134100" y="1781175"/>
            <a:ext cx="5372100" cy="9810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34100" y="1657350"/>
            <a:ext cx="11620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2674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34" name="Text 32"/>
          <p:cNvSpPr txBox="1"/>
          <p:nvPr/>
        </p:nvSpPr>
        <p:spPr>
          <a:xfrm>
            <a:off x="6457950" y="1714500"/>
            <a:ext cx="7239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목표</a:t>
            </a:r>
            <a:endParaRPr lang="en-US" sz="1013" dirty="0"/>
          </a:p>
        </p:txBody>
      </p:sp>
      <p:sp>
        <p:nvSpPr>
          <p:cNvPr id="35" name="Text 33"/>
          <p:cNvSpPr txBox="1"/>
          <p:nvPr/>
        </p:nvSpPr>
        <p:spPr>
          <a:xfrm>
            <a:off x="10296525" y="1847850"/>
            <a:ext cx="10953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두 가지만 한다</a:t>
            </a:r>
            <a:endParaRPr lang="en-US" sz="825" dirty="0"/>
          </a:p>
        </p:txBody>
      </p:sp>
      <p:sp>
        <p:nvSpPr>
          <p:cNvPr id="36" name="Shape 34"/>
          <p:cNvSpPr/>
          <p:nvPr/>
        </p:nvSpPr>
        <p:spPr>
          <a:xfrm>
            <a:off x="6324600" y="2019300"/>
            <a:ext cx="38100" cy="4000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477000" y="2000250"/>
            <a:ext cx="2286000" cy="184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하나로 합치기</a:t>
            </a:r>
            <a:endParaRPr lang="en-US" sz="1163" dirty="0"/>
          </a:p>
        </p:txBody>
      </p:sp>
      <p:sp>
        <p:nvSpPr>
          <p:cNvPr id="38" name="Text 36"/>
          <p:cNvSpPr txBox="1"/>
          <p:nvPr/>
        </p:nvSpPr>
        <p:spPr>
          <a:xfrm>
            <a:off x="6477000" y="2209800"/>
            <a:ext cx="2286000" cy="284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파일 4개로 하던 일을 도구 하나로 합친다.</a:t>
            </a:r>
            <a:endParaRPr lang="en-US" sz="863" dirty="0"/>
          </a:p>
        </p:txBody>
      </p:sp>
      <p:sp>
        <p:nvSpPr>
          <p:cNvPr id="39" name="Shape 37"/>
          <p:cNvSpPr/>
          <p:nvPr/>
        </p:nvSpPr>
        <p:spPr>
          <a:xfrm>
            <a:off x="8915400" y="2019300"/>
            <a:ext cx="38100" cy="4000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9067800" y="2000250"/>
            <a:ext cx="2286000" cy="184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온도마다 다르게</a:t>
            </a:r>
            <a:endParaRPr lang="en-US" sz="1163" dirty="0"/>
          </a:p>
        </p:txBody>
      </p:sp>
      <p:sp>
        <p:nvSpPr>
          <p:cNvPr id="41" name="Text 39"/>
          <p:cNvSpPr txBox="1"/>
          <p:nvPr/>
        </p:nvSpPr>
        <p:spPr>
          <a:xfrm>
            <a:off x="9067800" y="2209800"/>
            <a:ext cx="2286000" cy="284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실적을 쌓아, 더하는 값을 온도마다 다르게 만든다.</a:t>
            </a:r>
            <a:endParaRPr lang="en-US" sz="863" dirty="0"/>
          </a:p>
        </p:txBody>
      </p:sp>
      <p:sp>
        <p:nvSpPr>
          <p:cNvPr id="42" name="Shape 40"/>
          <p:cNvSpPr/>
          <p:nvPr/>
        </p:nvSpPr>
        <p:spPr>
          <a:xfrm>
            <a:off x="685800" y="3038475"/>
            <a:ext cx="10820400" cy="30575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85800" y="2914650"/>
            <a:ext cx="34671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819150" y="29718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38" dirty="0"/>
          </a:p>
        </p:txBody>
      </p:sp>
      <p:sp>
        <p:nvSpPr>
          <p:cNvPr id="45" name="Text 43"/>
          <p:cNvSpPr txBox="1"/>
          <p:nvPr/>
        </p:nvSpPr>
        <p:spPr>
          <a:xfrm>
            <a:off x="1009650" y="2971800"/>
            <a:ext cx="30289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더하는 값은 하나, 실제 차이는 매번 달랐다</a:t>
            </a:r>
            <a:endParaRPr lang="en-US" sz="1013" dirty="0"/>
          </a:p>
        </p:txBody>
      </p:sp>
      <p:sp>
        <p:nvSpPr>
          <p:cNvPr id="46" name="Text 44"/>
          <p:cNvSpPr txBox="1"/>
          <p:nvPr/>
        </p:nvSpPr>
        <p:spPr>
          <a:xfrm>
            <a:off x="9096375" y="3105150"/>
            <a:ext cx="22955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 기존 실적 7일 · 오른쪽 누적 40회</a:t>
            </a:r>
            <a:endParaRPr lang="en-US" sz="825" dirty="0"/>
          </a:p>
        </p:txBody>
      </p:sp>
      <p:sp>
        <p:nvSpPr>
          <p:cNvPr id="47" name="Text 45"/>
          <p:cNvSpPr txBox="1"/>
          <p:nvPr/>
        </p:nvSpPr>
        <p:spPr>
          <a:xfrm>
            <a:off x="876300" y="3276600"/>
            <a:ext cx="3810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실적 시트 · 단위 MW · 데이터 취득 16~17시</a:t>
            </a:r>
            <a:endParaRPr lang="en-US" sz="825" dirty="0"/>
          </a:p>
        </p:txBody>
      </p:sp>
      <p:sp>
        <p:nvSpPr>
          <p:cNvPr id="48" name="Shape 46"/>
          <p:cNvSpPr/>
          <p:nvPr/>
        </p:nvSpPr>
        <p:spPr>
          <a:xfrm>
            <a:off x="876300" y="3448050"/>
            <a:ext cx="3810000" cy="209550"/>
          </a:xfrm>
          <a:prstGeom prst="rect">
            <a:avLst/>
          </a:prstGeom>
          <a:solidFill>
            <a:srgbClr val="1B3C6E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962025" y="3524250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</a:t>
            </a:r>
            <a:endParaRPr lang="en-US" sz="938" dirty="0"/>
          </a:p>
        </p:txBody>
      </p:sp>
      <p:sp>
        <p:nvSpPr>
          <p:cNvPr id="50" name="Text 48"/>
          <p:cNvSpPr txBox="1"/>
          <p:nvPr/>
        </p:nvSpPr>
        <p:spPr>
          <a:xfrm>
            <a:off x="1495425" y="3524250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</a:t>
            </a:r>
            <a:endParaRPr lang="en-US" sz="938" dirty="0"/>
          </a:p>
        </p:txBody>
      </p:sp>
      <p:sp>
        <p:nvSpPr>
          <p:cNvPr id="51" name="Text 49"/>
          <p:cNvSpPr txBox="1"/>
          <p:nvPr/>
        </p:nvSpPr>
        <p:spPr>
          <a:xfrm>
            <a:off x="2314575" y="3524250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실제값</a:t>
            </a:r>
            <a:endParaRPr lang="en-US" sz="938" dirty="0"/>
          </a:p>
        </p:txBody>
      </p:sp>
      <p:sp>
        <p:nvSpPr>
          <p:cNvPr id="52" name="Text 50"/>
          <p:cNvSpPr txBox="1"/>
          <p:nvPr/>
        </p:nvSpPr>
        <p:spPr>
          <a:xfrm>
            <a:off x="3133725" y="352425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</a:t>
            </a:r>
            <a:endParaRPr lang="en-US" sz="938" dirty="0"/>
          </a:p>
        </p:txBody>
      </p:sp>
      <p:sp>
        <p:nvSpPr>
          <p:cNvPr id="53" name="Text 51"/>
          <p:cNvSpPr txBox="1"/>
          <p:nvPr/>
        </p:nvSpPr>
        <p:spPr>
          <a:xfrm>
            <a:off x="4067175" y="3524250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더한 값</a:t>
            </a:r>
            <a:endParaRPr lang="en-US" sz="938" dirty="0"/>
          </a:p>
        </p:txBody>
      </p:sp>
      <p:sp>
        <p:nvSpPr>
          <p:cNvPr id="54" name="Shape 52"/>
          <p:cNvSpPr/>
          <p:nvPr/>
        </p:nvSpPr>
        <p:spPr>
          <a:xfrm>
            <a:off x="876300" y="3819525"/>
            <a:ext cx="38100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962025" y="3667125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2/24</a:t>
            </a:r>
            <a:endParaRPr lang="en-US" sz="938" dirty="0"/>
          </a:p>
        </p:txBody>
      </p:sp>
      <p:sp>
        <p:nvSpPr>
          <p:cNvPr id="56" name="Text 54"/>
          <p:cNvSpPr txBox="1"/>
          <p:nvPr/>
        </p:nvSpPr>
        <p:spPr>
          <a:xfrm>
            <a:off x="1495425" y="366712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439.8</a:t>
            </a:r>
            <a:endParaRPr lang="en-US" sz="825" dirty="0"/>
          </a:p>
        </p:txBody>
      </p:sp>
      <p:sp>
        <p:nvSpPr>
          <p:cNvPr id="57" name="Text 55"/>
          <p:cNvSpPr txBox="1"/>
          <p:nvPr/>
        </p:nvSpPr>
        <p:spPr>
          <a:xfrm>
            <a:off x="2314575" y="366712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448.5</a:t>
            </a:r>
            <a:endParaRPr lang="en-US" sz="825" dirty="0"/>
          </a:p>
        </p:txBody>
      </p:sp>
      <p:sp>
        <p:nvSpPr>
          <p:cNvPr id="58" name="Text 56"/>
          <p:cNvSpPr txBox="1"/>
          <p:nvPr/>
        </p:nvSpPr>
        <p:spPr>
          <a:xfrm>
            <a:off x="3133725" y="3667125"/>
            <a:ext cx="762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+8.7</a:t>
            </a:r>
            <a:endParaRPr lang="en-US" sz="825" dirty="0"/>
          </a:p>
        </p:txBody>
      </p:sp>
      <p:sp>
        <p:nvSpPr>
          <p:cNvPr id="59" name="Text 57"/>
          <p:cNvSpPr txBox="1"/>
          <p:nvPr/>
        </p:nvSpPr>
        <p:spPr>
          <a:xfrm>
            <a:off x="4067175" y="3667125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825" dirty="0"/>
          </a:p>
        </p:txBody>
      </p:sp>
      <p:sp>
        <p:nvSpPr>
          <p:cNvPr id="60" name="Shape 58"/>
          <p:cNvSpPr/>
          <p:nvPr/>
        </p:nvSpPr>
        <p:spPr>
          <a:xfrm>
            <a:off x="876300" y="3819525"/>
            <a:ext cx="3810000" cy="161925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61" name="Shape 59"/>
          <p:cNvSpPr/>
          <p:nvPr/>
        </p:nvSpPr>
        <p:spPr>
          <a:xfrm>
            <a:off x="876300" y="3981450"/>
            <a:ext cx="38100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962025" y="3829050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2/25</a:t>
            </a:r>
            <a:endParaRPr lang="en-US" sz="938" dirty="0"/>
          </a:p>
        </p:txBody>
      </p:sp>
      <p:sp>
        <p:nvSpPr>
          <p:cNvPr id="63" name="Text 61"/>
          <p:cNvSpPr txBox="1"/>
          <p:nvPr/>
        </p:nvSpPr>
        <p:spPr>
          <a:xfrm>
            <a:off x="1495425" y="3829050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424.8</a:t>
            </a:r>
            <a:endParaRPr lang="en-US" sz="825" dirty="0"/>
          </a:p>
        </p:txBody>
      </p:sp>
      <p:sp>
        <p:nvSpPr>
          <p:cNvPr id="64" name="Text 62"/>
          <p:cNvSpPr txBox="1"/>
          <p:nvPr/>
        </p:nvSpPr>
        <p:spPr>
          <a:xfrm>
            <a:off x="2314575" y="3829050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430.8</a:t>
            </a:r>
            <a:endParaRPr lang="en-US" sz="825" dirty="0"/>
          </a:p>
        </p:txBody>
      </p:sp>
      <p:sp>
        <p:nvSpPr>
          <p:cNvPr id="65" name="Text 63"/>
          <p:cNvSpPr txBox="1"/>
          <p:nvPr/>
        </p:nvSpPr>
        <p:spPr>
          <a:xfrm>
            <a:off x="3133725" y="3829050"/>
            <a:ext cx="762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+6.0</a:t>
            </a:r>
            <a:endParaRPr lang="en-US" sz="825" dirty="0"/>
          </a:p>
        </p:txBody>
      </p:sp>
      <p:sp>
        <p:nvSpPr>
          <p:cNvPr id="66" name="Text 64"/>
          <p:cNvSpPr txBox="1"/>
          <p:nvPr/>
        </p:nvSpPr>
        <p:spPr>
          <a:xfrm>
            <a:off x="4067175" y="3829050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825" dirty="0"/>
          </a:p>
        </p:txBody>
      </p:sp>
      <p:sp>
        <p:nvSpPr>
          <p:cNvPr id="67" name="Shape 65"/>
          <p:cNvSpPr/>
          <p:nvPr/>
        </p:nvSpPr>
        <p:spPr>
          <a:xfrm>
            <a:off x="876300" y="4143375"/>
            <a:ext cx="38100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962025" y="3990975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3/4</a:t>
            </a:r>
            <a:endParaRPr lang="en-US" sz="938" dirty="0"/>
          </a:p>
        </p:txBody>
      </p:sp>
      <p:sp>
        <p:nvSpPr>
          <p:cNvPr id="69" name="Text 67"/>
          <p:cNvSpPr txBox="1"/>
          <p:nvPr/>
        </p:nvSpPr>
        <p:spPr>
          <a:xfrm>
            <a:off x="1495425" y="399097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432.1</a:t>
            </a:r>
            <a:endParaRPr lang="en-US" sz="825" dirty="0"/>
          </a:p>
        </p:txBody>
      </p:sp>
      <p:sp>
        <p:nvSpPr>
          <p:cNvPr id="70" name="Text 68"/>
          <p:cNvSpPr txBox="1"/>
          <p:nvPr/>
        </p:nvSpPr>
        <p:spPr>
          <a:xfrm>
            <a:off x="2314575" y="399097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440.1</a:t>
            </a:r>
            <a:endParaRPr lang="en-US" sz="825" dirty="0"/>
          </a:p>
        </p:txBody>
      </p:sp>
      <p:sp>
        <p:nvSpPr>
          <p:cNvPr id="71" name="Text 69"/>
          <p:cNvSpPr txBox="1"/>
          <p:nvPr/>
        </p:nvSpPr>
        <p:spPr>
          <a:xfrm>
            <a:off x="3133725" y="3990975"/>
            <a:ext cx="762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+8.0</a:t>
            </a:r>
            <a:endParaRPr lang="en-US" sz="825" dirty="0"/>
          </a:p>
        </p:txBody>
      </p:sp>
      <p:sp>
        <p:nvSpPr>
          <p:cNvPr id="72" name="Text 70"/>
          <p:cNvSpPr txBox="1"/>
          <p:nvPr/>
        </p:nvSpPr>
        <p:spPr>
          <a:xfrm>
            <a:off x="4067175" y="3990975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825" dirty="0"/>
          </a:p>
        </p:txBody>
      </p:sp>
      <p:sp>
        <p:nvSpPr>
          <p:cNvPr id="73" name="Shape 71"/>
          <p:cNvSpPr/>
          <p:nvPr/>
        </p:nvSpPr>
        <p:spPr>
          <a:xfrm>
            <a:off x="876300" y="4143375"/>
            <a:ext cx="3810000" cy="161925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74" name="Shape 72"/>
          <p:cNvSpPr/>
          <p:nvPr/>
        </p:nvSpPr>
        <p:spPr>
          <a:xfrm>
            <a:off x="876300" y="4305300"/>
            <a:ext cx="38100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962025" y="4152900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3/18</a:t>
            </a:r>
            <a:endParaRPr lang="en-US" sz="938" dirty="0"/>
          </a:p>
        </p:txBody>
      </p:sp>
      <p:sp>
        <p:nvSpPr>
          <p:cNvPr id="76" name="Text 74"/>
          <p:cNvSpPr txBox="1"/>
          <p:nvPr/>
        </p:nvSpPr>
        <p:spPr>
          <a:xfrm>
            <a:off x="1495425" y="4152900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431.7</a:t>
            </a:r>
            <a:endParaRPr lang="en-US" sz="825" dirty="0"/>
          </a:p>
        </p:txBody>
      </p:sp>
      <p:sp>
        <p:nvSpPr>
          <p:cNvPr id="77" name="Text 75"/>
          <p:cNvSpPr txBox="1"/>
          <p:nvPr/>
        </p:nvSpPr>
        <p:spPr>
          <a:xfrm>
            <a:off x="2314575" y="4152900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438.6</a:t>
            </a:r>
            <a:endParaRPr lang="en-US" sz="825" dirty="0"/>
          </a:p>
        </p:txBody>
      </p:sp>
      <p:sp>
        <p:nvSpPr>
          <p:cNvPr id="78" name="Text 76"/>
          <p:cNvSpPr txBox="1"/>
          <p:nvPr/>
        </p:nvSpPr>
        <p:spPr>
          <a:xfrm>
            <a:off x="3133725" y="4152900"/>
            <a:ext cx="762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+6.9</a:t>
            </a:r>
            <a:endParaRPr lang="en-US" sz="825" dirty="0"/>
          </a:p>
        </p:txBody>
      </p:sp>
      <p:sp>
        <p:nvSpPr>
          <p:cNvPr id="79" name="Text 77"/>
          <p:cNvSpPr txBox="1"/>
          <p:nvPr/>
        </p:nvSpPr>
        <p:spPr>
          <a:xfrm>
            <a:off x="4067175" y="4152900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825" dirty="0"/>
          </a:p>
        </p:txBody>
      </p:sp>
      <p:sp>
        <p:nvSpPr>
          <p:cNvPr id="80" name="Shape 78"/>
          <p:cNvSpPr/>
          <p:nvPr/>
        </p:nvSpPr>
        <p:spPr>
          <a:xfrm>
            <a:off x="876300" y="4467225"/>
            <a:ext cx="38100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962025" y="4314825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3/24</a:t>
            </a:r>
            <a:endParaRPr lang="en-US" sz="938" dirty="0"/>
          </a:p>
        </p:txBody>
      </p:sp>
      <p:sp>
        <p:nvSpPr>
          <p:cNvPr id="82" name="Text 80"/>
          <p:cNvSpPr txBox="1"/>
          <p:nvPr/>
        </p:nvSpPr>
        <p:spPr>
          <a:xfrm>
            <a:off x="1495425" y="431482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421.0</a:t>
            </a:r>
            <a:endParaRPr lang="en-US" sz="825" dirty="0"/>
          </a:p>
        </p:txBody>
      </p:sp>
      <p:sp>
        <p:nvSpPr>
          <p:cNvPr id="83" name="Text 81"/>
          <p:cNvSpPr txBox="1"/>
          <p:nvPr/>
        </p:nvSpPr>
        <p:spPr>
          <a:xfrm>
            <a:off x="2314575" y="431482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424.8</a:t>
            </a:r>
            <a:endParaRPr lang="en-US" sz="825" dirty="0"/>
          </a:p>
        </p:txBody>
      </p:sp>
      <p:sp>
        <p:nvSpPr>
          <p:cNvPr id="84" name="Text 82"/>
          <p:cNvSpPr txBox="1"/>
          <p:nvPr/>
        </p:nvSpPr>
        <p:spPr>
          <a:xfrm>
            <a:off x="3133725" y="4314825"/>
            <a:ext cx="762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+3.8</a:t>
            </a:r>
            <a:endParaRPr lang="en-US" sz="825" dirty="0"/>
          </a:p>
        </p:txBody>
      </p:sp>
      <p:sp>
        <p:nvSpPr>
          <p:cNvPr id="85" name="Text 83"/>
          <p:cNvSpPr txBox="1"/>
          <p:nvPr/>
        </p:nvSpPr>
        <p:spPr>
          <a:xfrm>
            <a:off x="4067175" y="4314825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825" dirty="0"/>
          </a:p>
        </p:txBody>
      </p:sp>
      <p:sp>
        <p:nvSpPr>
          <p:cNvPr id="86" name="Shape 84"/>
          <p:cNvSpPr/>
          <p:nvPr/>
        </p:nvSpPr>
        <p:spPr>
          <a:xfrm>
            <a:off x="876300" y="4467225"/>
            <a:ext cx="3810000" cy="161925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87" name="Shape 85"/>
          <p:cNvSpPr/>
          <p:nvPr/>
        </p:nvSpPr>
        <p:spPr>
          <a:xfrm>
            <a:off x="876300" y="4629150"/>
            <a:ext cx="38100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962025" y="4476750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4/2</a:t>
            </a:r>
            <a:endParaRPr lang="en-US" sz="938" dirty="0"/>
          </a:p>
        </p:txBody>
      </p:sp>
      <p:sp>
        <p:nvSpPr>
          <p:cNvPr id="89" name="Text 87"/>
          <p:cNvSpPr txBox="1"/>
          <p:nvPr/>
        </p:nvSpPr>
        <p:spPr>
          <a:xfrm>
            <a:off x="1495425" y="4476750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419.2</a:t>
            </a:r>
            <a:endParaRPr lang="en-US" sz="825" dirty="0"/>
          </a:p>
        </p:txBody>
      </p:sp>
      <p:sp>
        <p:nvSpPr>
          <p:cNvPr id="90" name="Text 88"/>
          <p:cNvSpPr txBox="1"/>
          <p:nvPr/>
        </p:nvSpPr>
        <p:spPr>
          <a:xfrm>
            <a:off x="2314575" y="4476750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423.8</a:t>
            </a:r>
            <a:endParaRPr lang="en-US" sz="825" dirty="0"/>
          </a:p>
        </p:txBody>
      </p:sp>
      <p:sp>
        <p:nvSpPr>
          <p:cNvPr id="91" name="Text 89"/>
          <p:cNvSpPr txBox="1"/>
          <p:nvPr/>
        </p:nvSpPr>
        <p:spPr>
          <a:xfrm>
            <a:off x="3133725" y="4476750"/>
            <a:ext cx="762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+4.6</a:t>
            </a:r>
            <a:endParaRPr lang="en-US" sz="825" dirty="0"/>
          </a:p>
        </p:txBody>
      </p:sp>
      <p:sp>
        <p:nvSpPr>
          <p:cNvPr id="92" name="Text 90"/>
          <p:cNvSpPr txBox="1"/>
          <p:nvPr/>
        </p:nvSpPr>
        <p:spPr>
          <a:xfrm>
            <a:off x="4067175" y="4476750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+5</a:t>
            </a:r>
            <a:endParaRPr lang="en-US" sz="825" dirty="0"/>
          </a:p>
        </p:txBody>
      </p:sp>
      <p:sp>
        <p:nvSpPr>
          <p:cNvPr id="93" name="Shape 91"/>
          <p:cNvSpPr/>
          <p:nvPr/>
        </p:nvSpPr>
        <p:spPr>
          <a:xfrm>
            <a:off x="876300" y="4791075"/>
            <a:ext cx="38100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962025" y="4638675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4/15</a:t>
            </a:r>
            <a:endParaRPr lang="en-US" sz="938" dirty="0"/>
          </a:p>
        </p:txBody>
      </p:sp>
      <p:sp>
        <p:nvSpPr>
          <p:cNvPr id="95" name="Text 93"/>
          <p:cNvSpPr txBox="1"/>
          <p:nvPr/>
        </p:nvSpPr>
        <p:spPr>
          <a:xfrm>
            <a:off x="1495425" y="463867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398.1</a:t>
            </a:r>
            <a:endParaRPr lang="en-US" sz="825" dirty="0"/>
          </a:p>
        </p:txBody>
      </p:sp>
      <p:sp>
        <p:nvSpPr>
          <p:cNvPr id="96" name="Text 94"/>
          <p:cNvSpPr txBox="1"/>
          <p:nvPr/>
        </p:nvSpPr>
        <p:spPr>
          <a:xfrm>
            <a:off x="2314575" y="463867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393.5</a:t>
            </a:r>
            <a:endParaRPr lang="en-US" sz="825" dirty="0"/>
          </a:p>
        </p:txBody>
      </p:sp>
      <p:sp>
        <p:nvSpPr>
          <p:cNvPr id="97" name="Text 95"/>
          <p:cNvSpPr txBox="1"/>
          <p:nvPr/>
        </p:nvSpPr>
        <p:spPr>
          <a:xfrm>
            <a:off x="3133725" y="4638675"/>
            <a:ext cx="762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−4.6</a:t>
            </a:r>
            <a:endParaRPr lang="en-US" sz="825" dirty="0"/>
          </a:p>
        </p:txBody>
      </p:sp>
      <p:sp>
        <p:nvSpPr>
          <p:cNvPr id="98" name="Text 96"/>
          <p:cNvSpPr txBox="1"/>
          <p:nvPr/>
        </p:nvSpPr>
        <p:spPr>
          <a:xfrm>
            <a:off x="4067175" y="4638675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+2</a:t>
            </a:r>
            <a:endParaRPr lang="en-US" sz="825" dirty="0"/>
          </a:p>
        </p:txBody>
      </p:sp>
      <p:sp>
        <p:nvSpPr>
          <p:cNvPr id="99" name="Shape 97"/>
          <p:cNvSpPr/>
          <p:nvPr/>
        </p:nvSpPr>
        <p:spPr>
          <a:xfrm>
            <a:off x="876300" y="4791075"/>
            <a:ext cx="3810000" cy="0"/>
          </a:xfrm>
          <a:prstGeom prst="line">
            <a:avLst/>
          </a:prstGeom>
          <a:noFill/>
          <a:ln w="15240">
            <a:solidFill>
              <a:srgbClr val="C9D0D8"/>
            </a:solidFill>
            <a:prstDash val="solid"/>
          </a:ln>
        </p:spPr>
      </p:sp>
      <p:sp>
        <p:nvSpPr>
          <p:cNvPr id="100" name="Text 98"/>
          <p:cNvSpPr txBox="1"/>
          <p:nvPr/>
        </p:nvSpPr>
        <p:spPr>
          <a:xfrm>
            <a:off x="962025" y="4819650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</a:t>
            </a:r>
            <a:endParaRPr lang="en-US" sz="938" dirty="0"/>
          </a:p>
        </p:txBody>
      </p:sp>
      <p:sp>
        <p:nvSpPr>
          <p:cNvPr id="101" name="Text 99"/>
          <p:cNvSpPr txBox="1"/>
          <p:nvPr/>
        </p:nvSpPr>
        <p:spPr>
          <a:xfrm>
            <a:off x="1495425" y="4819650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endParaRPr lang="en-US" sz="938" dirty="0"/>
          </a:p>
        </p:txBody>
      </p:sp>
      <p:sp>
        <p:nvSpPr>
          <p:cNvPr id="102" name="Text 100"/>
          <p:cNvSpPr txBox="1"/>
          <p:nvPr/>
        </p:nvSpPr>
        <p:spPr>
          <a:xfrm>
            <a:off x="2314575" y="4819650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endParaRPr lang="en-US" sz="938" dirty="0"/>
          </a:p>
        </p:txBody>
      </p:sp>
      <p:sp>
        <p:nvSpPr>
          <p:cNvPr id="103" name="Text 101"/>
          <p:cNvSpPr txBox="1"/>
          <p:nvPr/>
        </p:nvSpPr>
        <p:spPr>
          <a:xfrm>
            <a:off x="3133725" y="4819650"/>
            <a:ext cx="7620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−4.6 ~ +8.7</a:t>
            </a:r>
            <a:endParaRPr lang="en-US" sz="788" dirty="0"/>
          </a:p>
        </p:txBody>
      </p:sp>
      <p:sp>
        <p:nvSpPr>
          <p:cNvPr id="104" name="Text 102"/>
          <p:cNvSpPr txBox="1"/>
          <p:nvPr/>
        </p:nvSpPr>
        <p:spPr>
          <a:xfrm>
            <a:off x="4067175" y="4819650"/>
            <a:ext cx="5334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+2 ~ +5</a:t>
            </a:r>
            <a:endParaRPr lang="en-US" sz="788" dirty="0"/>
          </a:p>
        </p:txBody>
      </p:sp>
      <p:sp>
        <p:nvSpPr>
          <p:cNvPr id="105" name="Text 103"/>
          <p:cNvSpPr txBox="1"/>
          <p:nvPr/>
        </p:nvSpPr>
        <p:spPr>
          <a:xfrm>
            <a:off x="876300" y="5200650"/>
            <a:ext cx="3810000" cy="586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</a:t>
            </a:r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그날 온도·대기압·습도로 계산한 값, </a:t>
            </a:r>
            <a:pPr algn="l" indent="0" marL="0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실제값</a:t>
            </a:r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시험에서 실제로 낸 값입니다. 차이는 날마다 −4.6 ~ +8.7 로 흔들리는데, 더한 값은 시즌 내내 거의 하나였습니다.</a:t>
            </a:r>
            <a:endParaRPr lang="en-US" sz="825" dirty="0"/>
          </a:p>
        </p:txBody>
      </p:sp>
      <p:sp>
        <p:nvSpPr>
          <p:cNvPr id="106" name="Shape 104"/>
          <p:cNvSpPr/>
          <p:nvPr/>
        </p:nvSpPr>
        <p:spPr>
          <a:xfrm>
            <a:off x="5219700" y="3632835"/>
            <a:ext cx="5867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5219700" y="3914775"/>
            <a:ext cx="5867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5219700" y="4196715"/>
            <a:ext cx="5867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9700" y="4760595"/>
            <a:ext cx="5867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9700" y="4478655"/>
            <a:ext cx="5867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4838700" y="3566160"/>
            <a:ext cx="3048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+12</a:t>
            </a:r>
            <a:endParaRPr lang="en-US" sz="750" dirty="0"/>
          </a:p>
        </p:txBody>
      </p:sp>
      <p:sp>
        <p:nvSpPr>
          <p:cNvPr id="112" name="Text 110"/>
          <p:cNvSpPr txBox="1"/>
          <p:nvPr/>
        </p:nvSpPr>
        <p:spPr>
          <a:xfrm>
            <a:off x="4838700" y="3848100"/>
            <a:ext cx="3048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</a:t>
            </a:r>
            <a:endParaRPr lang="en-US" sz="750" dirty="0"/>
          </a:p>
        </p:txBody>
      </p:sp>
      <p:sp>
        <p:nvSpPr>
          <p:cNvPr id="113" name="Text 111"/>
          <p:cNvSpPr txBox="1"/>
          <p:nvPr/>
        </p:nvSpPr>
        <p:spPr>
          <a:xfrm>
            <a:off x="4838700" y="4130040"/>
            <a:ext cx="3048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750" dirty="0"/>
          </a:p>
        </p:txBody>
      </p:sp>
      <p:sp>
        <p:nvSpPr>
          <p:cNvPr id="114" name="Text 112"/>
          <p:cNvSpPr txBox="1"/>
          <p:nvPr/>
        </p:nvSpPr>
        <p:spPr>
          <a:xfrm>
            <a:off x="4838700" y="4411980"/>
            <a:ext cx="3048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115" name="Text 113"/>
          <p:cNvSpPr txBox="1"/>
          <p:nvPr/>
        </p:nvSpPr>
        <p:spPr>
          <a:xfrm>
            <a:off x="4838700" y="4693920"/>
            <a:ext cx="3048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−4</a:t>
            </a:r>
            <a:endParaRPr lang="en-US" sz="750" dirty="0"/>
          </a:p>
        </p:txBody>
      </p:sp>
      <p:sp>
        <p:nvSpPr>
          <p:cNvPr id="116" name="Text 114"/>
          <p:cNvSpPr txBox="1"/>
          <p:nvPr/>
        </p:nvSpPr>
        <p:spPr>
          <a:xfrm>
            <a:off x="5562600" y="4939665"/>
            <a:ext cx="381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50" dirty="0"/>
          </a:p>
        </p:txBody>
      </p:sp>
      <p:sp>
        <p:nvSpPr>
          <p:cNvPr id="117" name="Text 115"/>
          <p:cNvSpPr txBox="1"/>
          <p:nvPr/>
        </p:nvSpPr>
        <p:spPr>
          <a:xfrm>
            <a:off x="6896100" y="4939665"/>
            <a:ext cx="381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50" dirty="0"/>
          </a:p>
        </p:txBody>
      </p:sp>
      <p:sp>
        <p:nvSpPr>
          <p:cNvPr id="118" name="Text 116"/>
          <p:cNvSpPr txBox="1"/>
          <p:nvPr/>
        </p:nvSpPr>
        <p:spPr>
          <a:xfrm>
            <a:off x="8229600" y="4939665"/>
            <a:ext cx="381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50" dirty="0"/>
          </a:p>
        </p:txBody>
      </p:sp>
      <p:sp>
        <p:nvSpPr>
          <p:cNvPr id="119" name="Text 117"/>
          <p:cNvSpPr txBox="1"/>
          <p:nvPr/>
        </p:nvSpPr>
        <p:spPr>
          <a:xfrm>
            <a:off x="9563100" y="4939665"/>
            <a:ext cx="381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50" dirty="0"/>
          </a:p>
        </p:txBody>
      </p:sp>
      <p:sp>
        <p:nvSpPr>
          <p:cNvPr id="120" name="Text 118"/>
          <p:cNvSpPr txBox="1"/>
          <p:nvPr/>
        </p:nvSpPr>
        <p:spPr>
          <a:xfrm>
            <a:off x="10896600" y="4939665"/>
            <a:ext cx="381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</a:t>
            </a:r>
            <a:endParaRPr lang="en-US" sz="750" dirty="0"/>
          </a:p>
        </p:txBody>
      </p:sp>
      <p:sp>
        <p:nvSpPr>
          <p:cNvPr id="121" name="Shape 119"/>
          <p:cNvSpPr/>
          <p:nvPr/>
        </p:nvSpPr>
        <p:spPr>
          <a:xfrm>
            <a:off x="5219700" y="4305614"/>
            <a:ext cx="5867400" cy="0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122" name="Text 120"/>
          <p:cNvSpPr txBox="1"/>
          <p:nvPr/>
        </p:nvSpPr>
        <p:spPr>
          <a:xfrm>
            <a:off x="9753600" y="4143689"/>
            <a:ext cx="16002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6E77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더한 값 (늘 하나)</a:t>
            </a:r>
            <a:endParaRPr lang="en-US" sz="825" dirty="0"/>
          </a:p>
        </p:txBody>
      </p:sp>
      <p:sp>
        <p:nvSpPr>
          <p:cNvPr id="123" name="Shape 121"/>
          <p:cNvSpPr/>
          <p:nvPr/>
        </p:nvSpPr>
        <p:spPr>
          <a:xfrm>
            <a:off x="5473065" y="353955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4" name="Shape 122"/>
          <p:cNvSpPr/>
          <p:nvPr/>
        </p:nvSpPr>
        <p:spPr>
          <a:xfrm>
            <a:off x="5533073" y="3572896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5" name="Shape 123"/>
          <p:cNvSpPr/>
          <p:nvPr/>
        </p:nvSpPr>
        <p:spPr>
          <a:xfrm>
            <a:off x="5979795" y="3832915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246495" y="4049304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526530" y="4068970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8" name="Shape 126"/>
          <p:cNvSpPr/>
          <p:nvPr/>
        </p:nvSpPr>
        <p:spPr>
          <a:xfrm>
            <a:off x="6659880" y="4101181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9" name="Shape 127"/>
          <p:cNvSpPr/>
          <p:nvPr/>
        </p:nvSpPr>
        <p:spPr>
          <a:xfrm>
            <a:off x="6793230" y="413106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0" name="Shape 128"/>
          <p:cNvSpPr/>
          <p:nvPr/>
        </p:nvSpPr>
        <p:spPr>
          <a:xfrm>
            <a:off x="6913245" y="4012229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1" name="Shape 129"/>
          <p:cNvSpPr/>
          <p:nvPr/>
        </p:nvSpPr>
        <p:spPr>
          <a:xfrm>
            <a:off x="6993255" y="4194221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2" name="Shape 130"/>
          <p:cNvSpPr/>
          <p:nvPr/>
        </p:nvSpPr>
        <p:spPr>
          <a:xfrm>
            <a:off x="7219950" y="4089410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3" name="Shape 131"/>
          <p:cNvSpPr/>
          <p:nvPr/>
        </p:nvSpPr>
        <p:spPr>
          <a:xfrm>
            <a:off x="7419975" y="4111261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4" name="Shape 132"/>
          <p:cNvSpPr/>
          <p:nvPr/>
        </p:nvSpPr>
        <p:spPr>
          <a:xfrm>
            <a:off x="7459980" y="396394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5" name="Shape 133"/>
          <p:cNvSpPr/>
          <p:nvPr/>
        </p:nvSpPr>
        <p:spPr>
          <a:xfrm>
            <a:off x="7499985" y="3995313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6" name="Shape 134"/>
          <p:cNvSpPr/>
          <p:nvPr/>
        </p:nvSpPr>
        <p:spPr>
          <a:xfrm>
            <a:off x="7646670" y="3933850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7" name="Shape 135"/>
          <p:cNvSpPr/>
          <p:nvPr/>
        </p:nvSpPr>
        <p:spPr>
          <a:xfrm>
            <a:off x="7660005" y="4028300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8" name="Shape 136"/>
          <p:cNvSpPr/>
          <p:nvPr/>
        </p:nvSpPr>
        <p:spPr>
          <a:xfrm>
            <a:off x="7740015" y="4058115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9" name="Shape 137"/>
          <p:cNvSpPr/>
          <p:nvPr/>
        </p:nvSpPr>
        <p:spPr>
          <a:xfrm>
            <a:off x="7940040" y="4073762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0" name="Shape 138"/>
          <p:cNvSpPr/>
          <p:nvPr/>
        </p:nvSpPr>
        <p:spPr>
          <a:xfrm>
            <a:off x="7953375" y="4050009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1" name="Shape 139"/>
          <p:cNvSpPr/>
          <p:nvPr/>
        </p:nvSpPr>
        <p:spPr>
          <a:xfrm>
            <a:off x="8566785" y="4267385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2" name="Shape 140"/>
          <p:cNvSpPr/>
          <p:nvPr/>
        </p:nvSpPr>
        <p:spPr>
          <a:xfrm>
            <a:off x="9073515" y="4600638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3" name="Shape 141"/>
          <p:cNvSpPr/>
          <p:nvPr/>
        </p:nvSpPr>
        <p:spPr>
          <a:xfrm>
            <a:off x="9100185" y="4683458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113520" y="4492796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5" name="Shape 143"/>
          <p:cNvSpPr/>
          <p:nvPr/>
        </p:nvSpPr>
        <p:spPr>
          <a:xfrm>
            <a:off x="9153525" y="4501325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6" name="Shape 144"/>
          <p:cNvSpPr/>
          <p:nvPr/>
        </p:nvSpPr>
        <p:spPr>
          <a:xfrm>
            <a:off x="9380220" y="4640321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7" name="Shape 145"/>
          <p:cNvSpPr/>
          <p:nvPr/>
        </p:nvSpPr>
        <p:spPr>
          <a:xfrm>
            <a:off x="9553575" y="4794190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8" name="Shape 146"/>
          <p:cNvSpPr/>
          <p:nvPr/>
        </p:nvSpPr>
        <p:spPr>
          <a:xfrm>
            <a:off x="9753600" y="4565113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9" name="Shape 147"/>
          <p:cNvSpPr/>
          <p:nvPr/>
        </p:nvSpPr>
        <p:spPr>
          <a:xfrm>
            <a:off x="9753600" y="448574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0" name="Shape 148"/>
          <p:cNvSpPr/>
          <p:nvPr/>
        </p:nvSpPr>
        <p:spPr>
          <a:xfrm>
            <a:off x="9820275" y="4695088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1" name="Shape 149"/>
          <p:cNvSpPr/>
          <p:nvPr/>
        </p:nvSpPr>
        <p:spPr>
          <a:xfrm>
            <a:off x="9846945" y="4691352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2" name="Shape 150"/>
          <p:cNvSpPr/>
          <p:nvPr/>
        </p:nvSpPr>
        <p:spPr>
          <a:xfrm>
            <a:off x="9953625" y="4513518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3" name="Shape 151"/>
          <p:cNvSpPr/>
          <p:nvPr/>
        </p:nvSpPr>
        <p:spPr>
          <a:xfrm>
            <a:off x="10046970" y="4495686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4" name="Shape 152"/>
          <p:cNvSpPr/>
          <p:nvPr/>
        </p:nvSpPr>
        <p:spPr>
          <a:xfrm>
            <a:off x="10086975" y="463108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5" name="Shape 153"/>
          <p:cNvSpPr/>
          <p:nvPr/>
        </p:nvSpPr>
        <p:spPr>
          <a:xfrm>
            <a:off x="10100310" y="4303191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6" name="Shape 154"/>
          <p:cNvSpPr/>
          <p:nvPr/>
        </p:nvSpPr>
        <p:spPr>
          <a:xfrm>
            <a:off x="10100310" y="4353940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7" name="Shape 155"/>
          <p:cNvSpPr/>
          <p:nvPr/>
        </p:nvSpPr>
        <p:spPr>
          <a:xfrm>
            <a:off x="10100310" y="4560039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8" name="Shape 156"/>
          <p:cNvSpPr/>
          <p:nvPr/>
        </p:nvSpPr>
        <p:spPr>
          <a:xfrm>
            <a:off x="10206990" y="4404196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9" name="Shape 157"/>
          <p:cNvSpPr/>
          <p:nvPr/>
        </p:nvSpPr>
        <p:spPr>
          <a:xfrm>
            <a:off x="10233660" y="4616004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60" name="Shape 158"/>
          <p:cNvSpPr/>
          <p:nvPr/>
        </p:nvSpPr>
        <p:spPr>
          <a:xfrm>
            <a:off x="10340340" y="439989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61" name="Shape 159"/>
          <p:cNvSpPr/>
          <p:nvPr/>
        </p:nvSpPr>
        <p:spPr>
          <a:xfrm>
            <a:off x="10540365" y="430396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62" name="Shape 160"/>
          <p:cNvSpPr/>
          <p:nvPr/>
        </p:nvSpPr>
        <p:spPr>
          <a:xfrm>
            <a:off x="10780395" y="4351614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63" name="Text 161"/>
          <p:cNvSpPr txBox="1"/>
          <p:nvPr/>
        </p:nvSpPr>
        <p:spPr>
          <a:xfrm>
            <a:off x="4838700" y="5111115"/>
            <a:ext cx="64198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가로 외기온도 ℃ · 세로 실제 차이 MW · 점 하나가 시험 한 번(누적 40회) · 채점 39회(까닭은 9장 각주)</a:t>
            </a:r>
            <a:endParaRPr lang="en-US" sz="788" dirty="0"/>
          </a:p>
        </p:txBody>
      </p:sp>
      <p:sp>
        <p:nvSpPr>
          <p:cNvPr id="164" name="Shape 162"/>
          <p:cNvSpPr/>
          <p:nvPr/>
        </p:nvSpPr>
        <p:spPr>
          <a:xfrm>
            <a:off x="4838700" y="5295900"/>
            <a:ext cx="38100" cy="723900"/>
          </a:xfrm>
          <a:prstGeom prst="rect">
            <a:avLst/>
          </a:prstGeom>
          <a:solidFill>
            <a:srgbClr val="FF6F0F"/>
          </a:solidFill>
          <a:ln/>
        </p:spPr>
      </p:sp>
      <p:sp>
        <p:nvSpPr>
          <p:cNvPr id="165" name="Text 163"/>
          <p:cNvSpPr txBox="1"/>
          <p:nvPr/>
        </p:nvSpPr>
        <p:spPr>
          <a:xfrm>
            <a:off x="5010150" y="5295900"/>
            <a:ext cx="6248400" cy="1933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2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겨울에는 적게 신고하고, 여름에는 못 내는데 많이 신고하게 됩니다.</a:t>
            </a:r>
            <a:endParaRPr lang="en-US" sz="1088" dirty="0"/>
          </a:p>
        </p:txBody>
      </p:sp>
      <p:sp>
        <p:nvSpPr>
          <p:cNvPr id="166" name="Text 164"/>
          <p:cNvSpPr txBox="1"/>
          <p:nvPr/>
        </p:nvSpPr>
        <p:spPr>
          <a:xfrm>
            <a:off x="5010150" y="5543550"/>
            <a:ext cx="6248400" cy="345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채점한 시험 39회 가운데 </a:t>
            </a:r>
            <a:pPr algn="l" indent="0" marL="0">
              <a:lnSpc>
                <a:spcPts val="1359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15회</a:t>
            </a:r>
            <a:pPr algn="l" indent="0" marL="0">
              <a:lnSpc>
                <a:spcPts val="135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신고한 만큼 못 냈습니다. 가장 크게 어긋난 회차는 </a:t>
            </a:r>
            <a:pPr algn="l" indent="0" marL="0">
              <a:lnSpc>
                <a:spcPts val="1359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10.8 MW</a:t>
            </a:r>
            <a:pPr algn="l" indent="0" marL="0">
              <a:lnSpc>
                <a:spcPts val="135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였습니다.</a:t>
            </a:r>
            <a:endParaRPr lang="en-US" sz="938" dirty="0"/>
          </a:p>
        </p:txBody>
      </p:sp>
      <p:sp>
        <p:nvSpPr>
          <p:cNvPr id="167" name="Shape 165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169" name="Text 167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170" name="Text 168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더하는 값을 잘못 고른 것이 아니라, 하나로 끝내는 구조가 문제였습니다.</a:t>
            </a:r>
            <a:endParaRPr lang="en-US" sz="1163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차이의 원인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출력에 영향을 줄 수 있는 값 네 개를 후보로 놓고, 하나씩 넣어 보며 확인했습니다.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81175"/>
            <a:ext cx="10820400" cy="21240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57350"/>
            <a:ext cx="19621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714500"/>
            <a:ext cx="15240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넣어 본 것과 남은 것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9639300" y="1847850"/>
            <a:ext cx="17526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방법 · 입력만 바꿔 채점</a:t>
            </a:r>
            <a:endParaRPr lang="en-US" sz="825" dirty="0"/>
          </a:p>
        </p:txBody>
      </p:sp>
      <p:sp>
        <p:nvSpPr>
          <p:cNvPr id="20" name="Shape 18"/>
          <p:cNvSpPr/>
          <p:nvPr/>
        </p:nvSpPr>
        <p:spPr>
          <a:xfrm>
            <a:off x="876300" y="2019300"/>
            <a:ext cx="10382250" cy="247650"/>
          </a:xfrm>
          <a:prstGeom prst="rect">
            <a:avLst/>
          </a:prstGeom>
          <a:solidFill>
            <a:srgbClr val="1B3C6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62025" y="2095500"/>
            <a:ext cx="1504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넣은 값</a:t>
            </a:r>
            <a:endParaRPr lang="en-US" sz="938" dirty="0"/>
          </a:p>
        </p:txBody>
      </p:sp>
      <p:sp>
        <p:nvSpPr>
          <p:cNvPr id="22" name="Text 20"/>
          <p:cNvSpPr txBox="1"/>
          <p:nvPr/>
        </p:nvSpPr>
        <p:spPr>
          <a:xfrm>
            <a:off x="2638425" y="2095500"/>
            <a:ext cx="666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오차</a:t>
            </a:r>
            <a:endParaRPr lang="en-US" sz="938" dirty="0"/>
          </a:p>
        </p:txBody>
      </p:sp>
      <p:sp>
        <p:nvSpPr>
          <p:cNvPr id="23" name="Text 21"/>
          <p:cNvSpPr txBox="1"/>
          <p:nvPr/>
        </p:nvSpPr>
        <p:spPr>
          <a:xfrm>
            <a:off x="3476625" y="2095500"/>
            <a:ext cx="8763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기준과 차이</a:t>
            </a:r>
            <a:endParaRPr lang="en-US" sz="938" dirty="0"/>
          </a:p>
        </p:txBody>
      </p:sp>
      <p:sp>
        <p:nvSpPr>
          <p:cNvPr id="24" name="Text 22"/>
          <p:cNvSpPr txBox="1"/>
          <p:nvPr/>
        </p:nvSpPr>
        <p:spPr>
          <a:xfrm>
            <a:off x="4524375" y="2095500"/>
            <a:ext cx="571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</a:t>
            </a:r>
            <a:endParaRPr lang="en-US" sz="938" dirty="0"/>
          </a:p>
        </p:txBody>
      </p:sp>
      <p:sp>
        <p:nvSpPr>
          <p:cNvPr id="25" name="Text 23"/>
          <p:cNvSpPr txBox="1"/>
          <p:nvPr/>
        </p:nvSpPr>
        <p:spPr>
          <a:xfrm>
            <a:off x="5267325" y="2095500"/>
            <a:ext cx="5905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까닭</a:t>
            </a:r>
            <a:endParaRPr lang="en-US" sz="938" dirty="0"/>
          </a:p>
        </p:txBody>
      </p:sp>
      <p:sp>
        <p:nvSpPr>
          <p:cNvPr id="26" name="Shape 24"/>
          <p:cNvSpPr/>
          <p:nvPr/>
        </p:nvSpPr>
        <p:spPr>
          <a:xfrm>
            <a:off x="876300" y="2266950"/>
            <a:ext cx="10382250" cy="228600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27" name="Shape 25"/>
          <p:cNvSpPr/>
          <p:nvPr/>
        </p:nvSpPr>
        <p:spPr>
          <a:xfrm>
            <a:off x="876300" y="24955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2025" y="2309813"/>
            <a:ext cx="1504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외기 온도만</a:t>
            </a:r>
            <a:endParaRPr lang="en-US" sz="938" dirty="0"/>
          </a:p>
        </p:txBody>
      </p:sp>
      <p:sp>
        <p:nvSpPr>
          <p:cNvPr id="29" name="Text 27"/>
          <p:cNvSpPr txBox="1"/>
          <p:nvPr/>
        </p:nvSpPr>
        <p:spPr>
          <a:xfrm>
            <a:off x="2638425" y="2309813"/>
            <a:ext cx="666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</a:t>
            </a:r>
            <a:endParaRPr lang="en-US" sz="938" dirty="0"/>
          </a:p>
        </p:txBody>
      </p:sp>
      <p:sp>
        <p:nvSpPr>
          <p:cNvPr id="30" name="Text 28"/>
          <p:cNvSpPr txBox="1"/>
          <p:nvPr/>
        </p:nvSpPr>
        <p:spPr>
          <a:xfrm>
            <a:off x="3476625" y="2309813"/>
            <a:ext cx="876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</a:t>
            </a:r>
            <a:endParaRPr lang="en-US" sz="825" dirty="0"/>
          </a:p>
        </p:txBody>
      </p:sp>
      <p:sp>
        <p:nvSpPr>
          <p:cNvPr id="31" name="Text 29"/>
          <p:cNvSpPr txBox="1"/>
          <p:nvPr/>
        </p:nvSpPr>
        <p:spPr>
          <a:xfrm>
            <a:off x="4524375" y="2309813"/>
            <a:ext cx="571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선정</a:t>
            </a:r>
            <a:endParaRPr lang="en-US" sz="863" dirty="0"/>
          </a:p>
        </p:txBody>
      </p:sp>
      <p:sp>
        <p:nvSpPr>
          <p:cNvPr id="32" name="Text 30"/>
          <p:cNvSpPr txBox="1"/>
          <p:nvPr/>
        </p:nvSpPr>
        <p:spPr>
          <a:xfrm>
            <a:off x="5267325" y="2309813"/>
            <a:ext cx="5905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차이의 </a:t>
            </a:r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85%</a:t>
            </a:r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를 이것만으로 설명합니다</a:t>
            </a:r>
            <a:endParaRPr lang="en-US" sz="863" dirty="0"/>
          </a:p>
        </p:txBody>
      </p:sp>
      <p:sp>
        <p:nvSpPr>
          <p:cNvPr id="33" name="Shape 31"/>
          <p:cNvSpPr/>
          <p:nvPr/>
        </p:nvSpPr>
        <p:spPr>
          <a:xfrm>
            <a:off x="876300" y="2495550"/>
            <a:ext cx="10382250" cy="22860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34" name="Shape 32"/>
          <p:cNvSpPr/>
          <p:nvPr/>
        </p:nvSpPr>
        <p:spPr>
          <a:xfrm>
            <a:off x="876300" y="27241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62025" y="2538413"/>
            <a:ext cx="1504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＋ 상대습도</a:t>
            </a:r>
            <a:endParaRPr lang="en-US" sz="938" dirty="0"/>
          </a:p>
        </p:txBody>
      </p:sp>
      <p:sp>
        <p:nvSpPr>
          <p:cNvPr id="36" name="Text 34"/>
          <p:cNvSpPr txBox="1"/>
          <p:nvPr/>
        </p:nvSpPr>
        <p:spPr>
          <a:xfrm>
            <a:off x="2638425" y="2538413"/>
            <a:ext cx="666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1.29</a:t>
            </a:r>
            <a:endParaRPr lang="en-US" sz="938" dirty="0"/>
          </a:p>
        </p:txBody>
      </p:sp>
      <p:sp>
        <p:nvSpPr>
          <p:cNvPr id="37" name="Text 35"/>
          <p:cNvSpPr txBox="1"/>
          <p:nvPr/>
        </p:nvSpPr>
        <p:spPr>
          <a:xfrm>
            <a:off x="3476625" y="2538413"/>
            <a:ext cx="876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−0.01</a:t>
            </a:r>
            <a:endParaRPr lang="en-US" sz="825" dirty="0"/>
          </a:p>
        </p:txBody>
      </p:sp>
      <p:sp>
        <p:nvSpPr>
          <p:cNvPr id="38" name="Text 36"/>
          <p:cNvSpPr txBox="1"/>
          <p:nvPr/>
        </p:nvSpPr>
        <p:spPr>
          <a:xfrm>
            <a:off x="4524375" y="2538413"/>
            <a:ext cx="571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</a:t>
            </a:r>
            <a:endParaRPr lang="en-US" sz="863" dirty="0"/>
          </a:p>
        </p:txBody>
      </p:sp>
      <p:sp>
        <p:nvSpPr>
          <p:cNvPr id="39" name="Text 37"/>
          <p:cNvSpPr txBox="1"/>
          <p:nvPr/>
        </p:nvSpPr>
        <p:spPr>
          <a:xfrm>
            <a:off x="5267325" y="2538413"/>
            <a:ext cx="5905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0.01 나아졌지만 흔들림 ±0.08 보다 작습니다</a:t>
            </a:r>
            <a:endParaRPr lang="en-US" sz="863" dirty="0"/>
          </a:p>
        </p:txBody>
      </p:sp>
      <p:sp>
        <p:nvSpPr>
          <p:cNvPr id="40" name="Shape 38"/>
          <p:cNvSpPr/>
          <p:nvPr/>
        </p:nvSpPr>
        <p:spPr>
          <a:xfrm>
            <a:off x="876300" y="29527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62025" y="2767013"/>
            <a:ext cx="1504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＋ 대기압</a:t>
            </a:r>
            <a:endParaRPr lang="en-US" sz="938" dirty="0"/>
          </a:p>
        </p:txBody>
      </p:sp>
      <p:sp>
        <p:nvSpPr>
          <p:cNvPr id="42" name="Text 40"/>
          <p:cNvSpPr txBox="1"/>
          <p:nvPr/>
        </p:nvSpPr>
        <p:spPr>
          <a:xfrm>
            <a:off x="2638425" y="2767013"/>
            <a:ext cx="666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1.33</a:t>
            </a:r>
            <a:endParaRPr lang="en-US" sz="938" dirty="0"/>
          </a:p>
        </p:txBody>
      </p:sp>
      <p:sp>
        <p:nvSpPr>
          <p:cNvPr id="43" name="Text 41"/>
          <p:cNvSpPr txBox="1"/>
          <p:nvPr/>
        </p:nvSpPr>
        <p:spPr>
          <a:xfrm>
            <a:off x="3476625" y="2767013"/>
            <a:ext cx="876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+0.03</a:t>
            </a:r>
            <a:endParaRPr lang="en-US" sz="825" dirty="0"/>
          </a:p>
        </p:txBody>
      </p:sp>
      <p:sp>
        <p:nvSpPr>
          <p:cNvPr id="44" name="Text 42"/>
          <p:cNvSpPr txBox="1"/>
          <p:nvPr/>
        </p:nvSpPr>
        <p:spPr>
          <a:xfrm>
            <a:off x="4524375" y="2767013"/>
            <a:ext cx="571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</a:t>
            </a:r>
            <a:endParaRPr lang="en-US" sz="863" dirty="0"/>
          </a:p>
        </p:txBody>
      </p:sp>
      <p:sp>
        <p:nvSpPr>
          <p:cNvPr id="45" name="Text 43"/>
          <p:cNvSpPr txBox="1"/>
          <p:nvPr/>
        </p:nvSpPr>
        <p:spPr>
          <a:xfrm>
            <a:off x="5267325" y="2767013"/>
            <a:ext cx="5905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제작사 계산식이 이미 쓰고 있습니다 (두 번 반영)</a:t>
            </a:r>
            <a:endParaRPr lang="en-US" sz="863" dirty="0"/>
          </a:p>
        </p:txBody>
      </p:sp>
      <p:sp>
        <p:nvSpPr>
          <p:cNvPr id="46" name="Shape 44"/>
          <p:cNvSpPr/>
          <p:nvPr/>
        </p:nvSpPr>
        <p:spPr>
          <a:xfrm>
            <a:off x="876300" y="2952750"/>
            <a:ext cx="10382250" cy="22860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47" name="Shape 45"/>
          <p:cNvSpPr/>
          <p:nvPr/>
        </p:nvSpPr>
        <p:spPr>
          <a:xfrm>
            <a:off x="876300" y="31813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962025" y="2995613"/>
            <a:ext cx="1504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＋ 복수기 진공도</a:t>
            </a:r>
            <a:endParaRPr lang="en-US" sz="938" dirty="0"/>
          </a:p>
        </p:txBody>
      </p:sp>
      <p:sp>
        <p:nvSpPr>
          <p:cNvPr id="49" name="Text 47"/>
          <p:cNvSpPr txBox="1"/>
          <p:nvPr/>
        </p:nvSpPr>
        <p:spPr>
          <a:xfrm>
            <a:off x="2638425" y="2995613"/>
            <a:ext cx="666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1.40</a:t>
            </a:r>
            <a:endParaRPr lang="en-US" sz="938" dirty="0"/>
          </a:p>
        </p:txBody>
      </p:sp>
      <p:sp>
        <p:nvSpPr>
          <p:cNvPr id="50" name="Text 48"/>
          <p:cNvSpPr txBox="1"/>
          <p:nvPr/>
        </p:nvSpPr>
        <p:spPr>
          <a:xfrm>
            <a:off x="3476625" y="2995613"/>
            <a:ext cx="876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+0.10</a:t>
            </a:r>
            <a:endParaRPr lang="en-US" sz="825" dirty="0"/>
          </a:p>
        </p:txBody>
      </p:sp>
      <p:sp>
        <p:nvSpPr>
          <p:cNvPr id="51" name="Text 49"/>
          <p:cNvSpPr txBox="1"/>
          <p:nvPr/>
        </p:nvSpPr>
        <p:spPr>
          <a:xfrm>
            <a:off x="4524375" y="2995613"/>
            <a:ext cx="571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</a:t>
            </a:r>
            <a:endParaRPr lang="en-US" sz="863" dirty="0"/>
          </a:p>
        </p:txBody>
      </p:sp>
      <p:sp>
        <p:nvSpPr>
          <p:cNvPr id="52" name="Text 50"/>
          <p:cNvSpPr txBox="1"/>
          <p:nvPr/>
        </p:nvSpPr>
        <p:spPr>
          <a:xfrm>
            <a:off x="5267325" y="2995613"/>
            <a:ext cx="5905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온도와 거의 같이 움직입니다 (0.95)</a:t>
            </a:r>
            <a:endParaRPr lang="en-US" sz="863" dirty="0"/>
          </a:p>
        </p:txBody>
      </p:sp>
      <p:sp>
        <p:nvSpPr>
          <p:cNvPr id="53" name="Shape 51"/>
          <p:cNvSpPr/>
          <p:nvPr/>
        </p:nvSpPr>
        <p:spPr>
          <a:xfrm>
            <a:off x="876300" y="34099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962025" y="3224213"/>
            <a:ext cx="1504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＋ 네 개 전부</a:t>
            </a:r>
            <a:endParaRPr lang="en-US" sz="938" dirty="0"/>
          </a:p>
        </p:txBody>
      </p:sp>
      <p:sp>
        <p:nvSpPr>
          <p:cNvPr id="55" name="Text 53"/>
          <p:cNvSpPr txBox="1"/>
          <p:nvPr/>
        </p:nvSpPr>
        <p:spPr>
          <a:xfrm>
            <a:off x="2638425" y="3224213"/>
            <a:ext cx="666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1.44</a:t>
            </a:r>
            <a:endParaRPr lang="en-US" sz="938" dirty="0"/>
          </a:p>
        </p:txBody>
      </p:sp>
      <p:sp>
        <p:nvSpPr>
          <p:cNvPr id="56" name="Text 54"/>
          <p:cNvSpPr txBox="1"/>
          <p:nvPr/>
        </p:nvSpPr>
        <p:spPr>
          <a:xfrm>
            <a:off x="3476625" y="3224213"/>
            <a:ext cx="876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+0.14</a:t>
            </a:r>
            <a:endParaRPr lang="en-US" sz="825" dirty="0"/>
          </a:p>
        </p:txBody>
      </p:sp>
      <p:sp>
        <p:nvSpPr>
          <p:cNvPr id="57" name="Text 55"/>
          <p:cNvSpPr txBox="1"/>
          <p:nvPr/>
        </p:nvSpPr>
        <p:spPr>
          <a:xfrm>
            <a:off x="4524375" y="3224213"/>
            <a:ext cx="571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</a:t>
            </a:r>
            <a:endParaRPr lang="en-US" sz="863" dirty="0"/>
          </a:p>
        </p:txBody>
      </p:sp>
      <p:sp>
        <p:nvSpPr>
          <p:cNvPr id="58" name="Text 56"/>
          <p:cNvSpPr txBox="1"/>
          <p:nvPr/>
        </p:nvSpPr>
        <p:spPr>
          <a:xfrm>
            <a:off x="5267325" y="3224213"/>
            <a:ext cx="5905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넣을수록 나빠졌습니다</a:t>
            </a:r>
            <a:endParaRPr lang="en-US" sz="863" dirty="0"/>
          </a:p>
        </p:txBody>
      </p:sp>
      <p:sp>
        <p:nvSpPr>
          <p:cNvPr id="59" name="Text 57"/>
          <p:cNvSpPr txBox="1"/>
          <p:nvPr/>
        </p:nvSpPr>
        <p:spPr>
          <a:xfrm>
            <a:off x="876300" y="3505200"/>
            <a:ext cx="10382250" cy="13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단위 MW · 작을수록 잘 맞힌 것입니다. 회차마다 흔들리는 폭이 ±0.08 이므로 그보다 작은 차이는 차이로 볼 수 없습니다. 한 회를 가리고 나머지로 그 회를 맞혀 보는 방식으로 채점했습니다.</a:t>
            </a:r>
            <a:endParaRPr lang="en-US" sz="788" dirty="0"/>
          </a:p>
        </p:txBody>
      </p:sp>
      <p:sp>
        <p:nvSpPr>
          <p:cNvPr id="60" name="Shape 58"/>
          <p:cNvSpPr/>
          <p:nvPr/>
        </p:nvSpPr>
        <p:spPr>
          <a:xfrm>
            <a:off x="685800" y="4143375"/>
            <a:ext cx="5295900" cy="19526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85800" y="4019550"/>
            <a:ext cx="20288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819150" y="40767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63" name="Text 61"/>
          <p:cNvSpPr txBox="1"/>
          <p:nvPr/>
        </p:nvSpPr>
        <p:spPr>
          <a:xfrm>
            <a:off x="1009650" y="4076700"/>
            <a:ext cx="15906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외기 온도가 남은 이유</a:t>
            </a:r>
            <a:endParaRPr lang="en-US" sz="1013" dirty="0"/>
          </a:p>
        </p:txBody>
      </p:sp>
      <p:sp>
        <p:nvSpPr>
          <p:cNvPr id="64" name="Shape 62"/>
          <p:cNvSpPr/>
          <p:nvPr/>
        </p:nvSpPr>
        <p:spPr>
          <a:xfrm>
            <a:off x="876300" y="4400550"/>
            <a:ext cx="381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1028700" y="438150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66" name="Text 64"/>
          <p:cNvSpPr txBox="1"/>
          <p:nvPr/>
        </p:nvSpPr>
        <p:spPr>
          <a:xfrm>
            <a:off x="1238250" y="4362450"/>
            <a:ext cx="455295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혼자서 대부분을 설명한다</a:t>
            </a:r>
            <a:endParaRPr lang="en-US" sz="1125" dirty="0"/>
          </a:p>
        </p:txBody>
      </p:sp>
      <p:sp>
        <p:nvSpPr>
          <p:cNvPr id="67" name="Text 65"/>
          <p:cNvSpPr txBox="1"/>
          <p:nvPr/>
        </p:nvSpPr>
        <p:spPr>
          <a:xfrm>
            <a:off x="1238250" y="4572000"/>
            <a:ext cx="4552950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차이의 85% 가 온도로 설명됩니다. 추우면 커지고 더우면 작아집니다.</a:t>
            </a:r>
            <a:endParaRPr lang="en-US" sz="863" dirty="0"/>
          </a:p>
        </p:txBody>
      </p:sp>
      <p:sp>
        <p:nvSpPr>
          <p:cNvPr id="68" name="Shape 66"/>
          <p:cNvSpPr/>
          <p:nvPr/>
        </p:nvSpPr>
        <p:spPr>
          <a:xfrm>
            <a:off x="876300" y="4972050"/>
            <a:ext cx="381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1028700" y="495300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  <p:sp>
        <p:nvSpPr>
          <p:cNvPr id="70" name="Text 68"/>
          <p:cNvSpPr txBox="1"/>
          <p:nvPr/>
        </p:nvSpPr>
        <p:spPr>
          <a:xfrm>
            <a:off x="1238250" y="4933950"/>
            <a:ext cx="455295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방향이 분명하다</a:t>
            </a:r>
            <a:endParaRPr lang="en-US" sz="1125" dirty="0"/>
          </a:p>
        </p:txBody>
      </p:sp>
      <p:sp>
        <p:nvSpPr>
          <p:cNvPr id="71" name="Text 69"/>
          <p:cNvSpPr txBox="1"/>
          <p:nvPr/>
        </p:nvSpPr>
        <p:spPr>
          <a:xfrm>
            <a:off x="1238250" y="5143500"/>
            <a:ext cx="4552950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온도가 오르면 차이가 내려갑니다 (반대 방향 0.84). 네 후보 가운데 가장 뚜렷합니다.</a:t>
            </a:r>
            <a:endParaRPr lang="en-US" sz="863" dirty="0"/>
          </a:p>
        </p:txBody>
      </p:sp>
      <p:sp>
        <p:nvSpPr>
          <p:cNvPr id="72" name="Shape 70"/>
          <p:cNvSpPr/>
          <p:nvPr/>
        </p:nvSpPr>
        <p:spPr>
          <a:xfrm>
            <a:off x="876300" y="5543550"/>
            <a:ext cx="381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1028700" y="552450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00" dirty="0"/>
          </a:p>
        </p:txBody>
      </p:sp>
      <p:sp>
        <p:nvSpPr>
          <p:cNvPr id="74" name="Text 72"/>
          <p:cNvSpPr txBox="1"/>
          <p:nvPr/>
        </p:nvSpPr>
        <p:spPr>
          <a:xfrm>
            <a:off x="1238250" y="5505450"/>
            <a:ext cx="455295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미리 알 수 있는 값이다</a:t>
            </a:r>
            <a:endParaRPr lang="en-US" sz="1125" dirty="0"/>
          </a:p>
        </p:txBody>
      </p:sp>
      <p:sp>
        <p:nvSpPr>
          <p:cNvPr id="75" name="Text 73"/>
          <p:cNvSpPr txBox="1"/>
          <p:nvPr/>
        </p:nvSpPr>
        <p:spPr>
          <a:xfrm>
            <a:off x="1238250" y="5715000"/>
            <a:ext cx="4552950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신고는 영하 20도부터 40도까지 온도마다 내야 합니다. 입력이 온도여야 표를 만들 수 있습니다.</a:t>
            </a:r>
            <a:endParaRPr lang="en-US" sz="863" dirty="0"/>
          </a:p>
        </p:txBody>
      </p:sp>
      <p:sp>
        <p:nvSpPr>
          <p:cNvPr id="76" name="Shape 74"/>
          <p:cNvSpPr/>
          <p:nvPr/>
        </p:nvSpPr>
        <p:spPr>
          <a:xfrm>
            <a:off x="6134100" y="4143375"/>
            <a:ext cx="5372100" cy="19526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134100" y="4019550"/>
            <a:ext cx="26098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6267450" y="40767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38" dirty="0"/>
          </a:p>
        </p:txBody>
      </p:sp>
      <p:sp>
        <p:nvSpPr>
          <p:cNvPr id="79" name="Text 77"/>
          <p:cNvSpPr txBox="1"/>
          <p:nvPr/>
        </p:nvSpPr>
        <p:spPr>
          <a:xfrm>
            <a:off x="6457950" y="4076700"/>
            <a:ext cx="21717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어려웠던 점 · 결론을 뒤집었다</a:t>
            </a:r>
            <a:endParaRPr lang="en-US" sz="1013" dirty="0"/>
          </a:p>
        </p:txBody>
      </p:sp>
      <p:sp>
        <p:nvSpPr>
          <p:cNvPr id="80" name="Text 78"/>
          <p:cNvSpPr txBox="1"/>
          <p:nvPr/>
        </p:nvSpPr>
        <p:spPr>
          <a:xfrm>
            <a:off x="6324600" y="4381500"/>
            <a:ext cx="4991100" cy="359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4"/>
              </a:lnSpc>
              <a:buNone/>
            </a:pPr>
            <a:r>
              <a:rPr lang="en-US" sz="97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봄 시험 몇 회가 유별나게 낮았습니다. 설비가 늙었다고 보고 문서까지 썼습니다.</a:t>
            </a:r>
            <a:endParaRPr lang="en-US" sz="975" dirty="0"/>
          </a:p>
        </p:txBody>
      </p:sp>
      <p:sp>
        <p:nvSpPr>
          <p:cNvPr id="81" name="Shape 79"/>
          <p:cNvSpPr/>
          <p:nvPr/>
        </p:nvSpPr>
        <p:spPr>
          <a:xfrm>
            <a:off x="6324600" y="4819650"/>
            <a:ext cx="38100" cy="914400"/>
          </a:xfrm>
          <a:prstGeom prst="rect">
            <a:avLst/>
          </a:prstGeom>
          <a:solidFill>
            <a:srgbClr val="FF6F0F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6515100" y="4800600"/>
            <a:ext cx="4800600" cy="191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1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 문제가 아니었습니다.</a:t>
            </a:r>
            <a:endParaRPr lang="en-US" sz="1163" dirty="0"/>
          </a:p>
        </p:txBody>
      </p:sp>
      <p:sp>
        <p:nvSpPr>
          <p:cNvPr id="83" name="Text 81"/>
          <p:cNvSpPr txBox="1"/>
          <p:nvPr/>
        </p:nvSpPr>
        <p:spPr>
          <a:xfrm>
            <a:off x="6515100" y="5029200"/>
            <a:ext cx="4800600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시험은 </a:t>
            </a:r>
            <a:pPr algn="l" indent="0" marL="0">
              <a:lnSpc>
                <a:spcPts val="1305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출력을 끝까지 올린 상태</a:t>
            </a:r>
            <a:pPr algn="l"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에서 해야 합니다. 가스터빈 입구 날개를 더 여는 조작입니다(IGV turn-up). 그 조작을 하지 않고 측정한 날이었습니다. 덜 올린 채로 쟀으니 낮게 나온 것입니다.</a:t>
            </a:r>
            <a:endParaRPr lang="en-US" sz="900" dirty="0"/>
          </a:p>
        </p:txBody>
      </p:sp>
      <p:sp>
        <p:nvSpPr>
          <p:cNvPr id="84" name="Text 82"/>
          <p:cNvSpPr txBox="1"/>
          <p:nvPr/>
        </p:nvSpPr>
        <p:spPr>
          <a:xfrm>
            <a:off x="6324600" y="5810250"/>
            <a:ext cx="49911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 결론을 거뒀습니다. 지금은 그런 날의 시험을 도구가 걸러냅니다.</a:t>
            </a:r>
            <a:endParaRPr lang="en-US" sz="900" dirty="0"/>
          </a:p>
        </p:txBody>
      </p:sp>
      <p:sp>
        <p:nvSpPr>
          <p:cNvPr id="85" name="Shape 83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88" name="Text 86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후보를 하나씩 접고 나니 외기 온도만 남았습니다.</a:t>
            </a:r>
            <a:endParaRPr lang="en-US" sz="1163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 도출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목표가 둘이었습니다. 각각 무엇으로 풀지 정했습니다.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24025"/>
            <a:ext cx="5295900" cy="19335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00200"/>
            <a:ext cx="20288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6573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657350"/>
            <a:ext cx="15906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① 절차를 하나로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4429125" y="1790700"/>
            <a:ext cx="14382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도구를 새로 만들었나</a:t>
            </a:r>
            <a:endParaRPr lang="en-US" sz="825" dirty="0"/>
          </a:p>
        </p:txBody>
      </p:sp>
      <p:sp>
        <p:nvSpPr>
          <p:cNvPr id="20" name="Shape 18"/>
          <p:cNvSpPr/>
          <p:nvPr/>
        </p:nvSpPr>
        <p:spPr>
          <a:xfrm>
            <a:off x="876300" y="1981200"/>
            <a:ext cx="38100" cy="3429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047750" y="1962150"/>
            <a:ext cx="47434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4개는 손으로 이어야 한다</a:t>
            </a:r>
            <a:endParaRPr lang="en-US" sz="975" dirty="0"/>
          </a:p>
        </p:txBody>
      </p:sp>
      <p:sp>
        <p:nvSpPr>
          <p:cNvPr id="22" name="Text 20"/>
          <p:cNvSpPr txBox="1"/>
          <p:nvPr/>
        </p:nvSpPr>
        <p:spPr>
          <a:xfrm>
            <a:off x="1047750" y="2133600"/>
            <a:ext cx="4743450" cy="270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사이를 사람이 값으로 잇습니다. 한곳에 넣으면 옮겨 적을 일이 없어집니다.</a:t>
            </a:r>
            <a:endParaRPr lang="en-US" sz="788" dirty="0"/>
          </a:p>
        </p:txBody>
      </p:sp>
      <p:sp>
        <p:nvSpPr>
          <p:cNvPr id="23" name="Shape 21"/>
          <p:cNvSpPr/>
          <p:nvPr/>
        </p:nvSpPr>
        <p:spPr>
          <a:xfrm>
            <a:off x="876300" y="2438400"/>
            <a:ext cx="38100" cy="3429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047750" y="2419350"/>
            <a:ext cx="47434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곡선을 배우는 계산은 수식으로 어렵다</a:t>
            </a:r>
            <a:endParaRPr lang="en-US" sz="975" dirty="0"/>
          </a:p>
        </p:txBody>
      </p:sp>
      <p:sp>
        <p:nvSpPr>
          <p:cNvPr id="25" name="Text 23"/>
          <p:cNvSpPr txBox="1"/>
          <p:nvPr/>
        </p:nvSpPr>
        <p:spPr>
          <a:xfrm>
            <a:off x="1047750" y="2590800"/>
            <a:ext cx="4743450" cy="270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보정 곡선을 찾는 계산은 엑셀 수식으로 짜기 어렵습니다.</a:t>
            </a:r>
            <a:endParaRPr lang="en-US" sz="788" dirty="0"/>
          </a:p>
        </p:txBody>
      </p:sp>
      <p:sp>
        <p:nvSpPr>
          <p:cNvPr id="26" name="Shape 24"/>
          <p:cNvSpPr/>
          <p:nvPr/>
        </p:nvSpPr>
        <p:spPr>
          <a:xfrm>
            <a:off x="876300" y="2895600"/>
            <a:ext cx="38100" cy="3429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47750" y="2876550"/>
            <a:ext cx="47434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실적을 쌓아 다시 배우려면 저장소가 필요하다</a:t>
            </a:r>
            <a:endParaRPr lang="en-US" sz="975" dirty="0"/>
          </a:p>
        </p:txBody>
      </p:sp>
      <p:sp>
        <p:nvSpPr>
          <p:cNvPr id="28" name="Text 26"/>
          <p:cNvSpPr txBox="1"/>
          <p:nvPr/>
        </p:nvSpPr>
        <p:spPr>
          <a:xfrm>
            <a:off x="1047750" y="3048000"/>
            <a:ext cx="4743450" cy="270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회차를 쌓아 두고 늘 때마다 다시 배워야 합니다. 파일로는 관리가 되지 않습니다.</a:t>
            </a:r>
            <a:endParaRPr lang="en-US" sz="788" dirty="0"/>
          </a:p>
        </p:txBody>
      </p:sp>
      <p:sp>
        <p:nvSpPr>
          <p:cNvPr id="29" name="Text 27"/>
          <p:cNvSpPr txBox="1"/>
          <p:nvPr/>
        </p:nvSpPr>
        <p:spPr>
          <a:xfrm>
            <a:off x="876300" y="3371850"/>
            <a:ext cx="4914900" cy="147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엑셀을 고치는 대신 </a:t>
            </a:r>
            <a:pPr algn="l" indent="0" marL="0">
              <a:lnSpc>
                <a:spcPts val="1164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하나로 합쳤습니다</a:t>
            </a:r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863" dirty="0"/>
          </a:p>
        </p:txBody>
      </p:sp>
      <p:sp>
        <p:nvSpPr>
          <p:cNvPr id="30" name="Text 28"/>
          <p:cNvSpPr txBox="1"/>
          <p:nvPr/>
        </p:nvSpPr>
        <p:spPr>
          <a:xfrm>
            <a:off x="876300" y="3524250"/>
            <a:ext cx="491490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제작사 계산식과 RiMS 취득 방식은 기존 엑셀 것을 그대로 옮겼습니다.</a:t>
            </a:r>
            <a:endParaRPr lang="en-US" sz="825" dirty="0"/>
          </a:p>
        </p:txBody>
      </p:sp>
      <p:sp>
        <p:nvSpPr>
          <p:cNvPr id="31" name="Shape 29"/>
          <p:cNvSpPr/>
          <p:nvPr/>
        </p:nvSpPr>
        <p:spPr>
          <a:xfrm>
            <a:off x="6134100" y="1724025"/>
            <a:ext cx="5372100" cy="19335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34100" y="1600200"/>
            <a:ext cx="20288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267450" y="16573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34" name="Text 32"/>
          <p:cNvSpPr txBox="1"/>
          <p:nvPr/>
        </p:nvSpPr>
        <p:spPr>
          <a:xfrm>
            <a:off x="6457950" y="1657350"/>
            <a:ext cx="15906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② 온도별 보정값</a:t>
            </a:r>
            <a:endParaRPr lang="en-US" sz="1013" dirty="0"/>
          </a:p>
        </p:txBody>
      </p:sp>
      <p:sp>
        <p:nvSpPr>
          <p:cNvPr id="35" name="Text 33"/>
          <p:cNvSpPr txBox="1"/>
          <p:nvPr/>
        </p:nvSpPr>
        <p:spPr>
          <a:xfrm>
            <a:off x="10344150" y="1790700"/>
            <a:ext cx="10477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 → 곡선 → 표</a:t>
            </a:r>
            <a:endParaRPr lang="en-US" sz="825" dirty="0"/>
          </a:p>
        </p:txBody>
      </p:sp>
      <p:sp>
        <p:nvSpPr>
          <p:cNvPr id="36" name="Text 34"/>
          <p:cNvSpPr txBox="1"/>
          <p:nvPr/>
        </p:nvSpPr>
        <p:spPr>
          <a:xfrm>
            <a:off x="6324600" y="1962150"/>
            <a:ext cx="158115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점을 모은다</a:t>
            </a:r>
            <a:endParaRPr lang="en-US" sz="938" dirty="0"/>
          </a:p>
        </p:txBody>
      </p:sp>
      <p:sp>
        <p:nvSpPr>
          <p:cNvPr id="37" name="Shape 35"/>
          <p:cNvSpPr/>
          <p:nvPr/>
        </p:nvSpPr>
        <p:spPr>
          <a:xfrm>
            <a:off x="6324600" y="2171700"/>
            <a:ext cx="1428750" cy="476250"/>
          </a:xfrm>
          <a:prstGeom prst="rect">
            <a:avLst/>
          </a:prstGeom>
          <a:ln w="12700">
            <a:solidFill>
              <a:srgbClr val="DEE3E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381750" y="2489835"/>
            <a:ext cx="13144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29375" y="2218520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40" name="Shape 38"/>
          <p:cNvSpPr/>
          <p:nvPr/>
        </p:nvSpPr>
        <p:spPr>
          <a:xfrm>
            <a:off x="6442234" y="2227981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41" name="Shape 39"/>
          <p:cNvSpPr/>
          <p:nvPr/>
        </p:nvSpPr>
        <p:spPr>
          <a:xfrm>
            <a:off x="6537960" y="2301771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42" name="Shape 40"/>
          <p:cNvSpPr/>
          <p:nvPr/>
        </p:nvSpPr>
        <p:spPr>
          <a:xfrm>
            <a:off x="6595110" y="2363178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43" name="Shape 41"/>
          <p:cNvSpPr/>
          <p:nvPr/>
        </p:nvSpPr>
        <p:spPr>
          <a:xfrm>
            <a:off x="6655118" y="2368759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44" name="Shape 42"/>
          <p:cNvSpPr/>
          <p:nvPr/>
        </p:nvSpPr>
        <p:spPr>
          <a:xfrm>
            <a:off x="6683693" y="2377900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45" name="Shape 43"/>
          <p:cNvSpPr/>
          <p:nvPr/>
        </p:nvSpPr>
        <p:spPr>
          <a:xfrm>
            <a:off x="6712268" y="2386381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46" name="Shape 44"/>
          <p:cNvSpPr/>
          <p:nvPr/>
        </p:nvSpPr>
        <p:spPr>
          <a:xfrm>
            <a:off x="6737985" y="2352657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47" name="Shape 45"/>
          <p:cNvSpPr/>
          <p:nvPr/>
        </p:nvSpPr>
        <p:spPr>
          <a:xfrm>
            <a:off x="6755130" y="2404303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48" name="Shape 46"/>
          <p:cNvSpPr/>
          <p:nvPr/>
        </p:nvSpPr>
        <p:spPr>
          <a:xfrm>
            <a:off x="6803708" y="2374560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49" name="Shape 47"/>
          <p:cNvSpPr/>
          <p:nvPr/>
        </p:nvSpPr>
        <p:spPr>
          <a:xfrm>
            <a:off x="6846570" y="2380760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50" name="Shape 48"/>
          <p:cNvSpPr/>
          <p:nvPr/>
        </p:nvSpPr>
        <p:spPr>
          <a:xfrm>
            <a:off x="6855143" y="2338955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51" name="Shape 49"/>
          <p:cNvSpPr/>
          <p:nvPr/>
        </p:nvSpPr>
        <p:spPr>
          <a:xfrm>
            <a:off x="6863715" y="2347856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52" name="Shape 50"/>
          <p:cNvSpPr/>
          <p:nvPr/>
        </p:nvSpPr>
        <p:spPr>
          <a:xfrm>
            <a:off x="6895148" y="2330414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53" name="Shape 51"/>
          <p:cNvSpPr/>
          <p:nvPr/>
        </p:nvSpPr>
        <p:spPr>
          <a:xfrm>
            <a:off x="6898005" y="2357217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54" name="Shape 52"/>
          <p:cNvSpPr/>
          <p:nvPr/>
        </p:nvSpPr>
        <p:spPr>
          <a:xfrm>
            <a:off x="6915150" y="2365679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55" name="Shape 53"/>
          <p:cNvSpPr/>
          <p:nvPr/>
        </p:nvSpPr>
        <p:spPr>
          <a:xfrm>
            <a:off x="6958013" y="2370119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56" name="Shape 54"/>
          <p:cNvSpPr/>
          <p:nvPr/>
        </p:nvSpPr>
        <p:spPr>
          <a:xfrm>
            <a:off x="6960870" y="2363378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57" name="Shape 55"/>
          <p:cNvSpPr/>
          <p:nvPr/>
        </p:nvSpPr>
        <p:spPr>
          <a:xfrm>
            <a:off x="7092315" y="2425066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58" name="Shape 56"/>
          <p:cNvSpPr/>
          <p:nvPr/>
        </p:nvSpPr>
        <p:spPr>
          <a:xfrm>
            <a:off x="7200900" y="2519638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59" name="Shape 57"/>
          <p:cNvSpPr/>
          <p:nvPr/>
        </p:nvSpPr>
        <p:spPr>
          <a:xfrm>
            <a:off x="7206615" y="2543141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60" name="Shape 58"/>
          <p:cNvSpPr/>
          <p:nvPr/>
        </p:nvSpPr>
        <p:spPr>
          <a:xfrm>
            <a:off x="7209473" y="2489034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61" name="Shape 59"/>
          <p:cNvSpPr/>
          <p:nvPr/>
        </p:nvSpPr>
        <p:spPr>
          <a:xfrm>
            <a:off x="7218045" y="2491454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62" name="Shape 60"/>
          <p:cNvSpPr/>
          <p:nvPr/>
        </p:nvSpPr>
        <p:spPr>
          <a:xfrm>
            <a:off x="7266623" y="2530899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63" name="Shape 61"/>
          <p:cNvSpPr/>
          <p:nvPr/>
        </p:nvSpPr>
        <p:spPr>
          <a:xfrm>
            <a:off x="7303770" y="2574565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64" name="Shape 62"/>
          <p:cNvSpPr/>
          <p:nvPr/>
        </p:nvSpPr>
        <p:spPr>
          <a:xfrm>
            <a:off x="7346633" y="2509557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65" name="Shape 63"/>
          <p:cNvSpPr/>
          <p:nvPr/>
        </p:nvSpPr>
        <p:spPr>
          <a:xfrm>
            <a:off x="7346633" y="2487034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66" name="Shape 64"/>
          <p:cNvSpPr/>
          <p:nvPr/>
        </p:nvSpPr>
        <p:spPr>
          <a:xfrm>
            <a:off x="7360920" y="2546441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67" name="Shape 65"/>
          <p:cNvSpPr/>
          <p:nvPr/>
        </p:nvSpPr>
        <p:spPr>
          <a:xfrm>
            <a:off x="7366635" y="2545381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68" name="Shape 66"/>
          <p:cNvSpPr/>
          <p:nvPr/>
        </p:nvSpPr>
        <p:spPr>
          <a:xfrm>
            <a:off x="7389495" y="2494915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69" name="Shape 67"/>
          <p:cNvSpPr/>
          <p:nvPr/>
        </p:nvSpPr>
        <p:spPr>
          <a:xfrm>
            <a:off x="7409498" y="2489854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0" name="Shape 68"/>
          <p:cNvSpPr/>
          <p:nvPr/>
        </p:nvSpPr>
        <p:spPr>
          <a:xfrm>
            <a:off x="7418070" y="2528279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1" name="Shape 69"/>
          <p:cNvSpPr/>
          <p:nvPr/>
        </p:nvSpPr>
        <p:spPr>
          <a:xfrm>
            <a:off x="7420928" y="2435227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2" name="Shape 70"/>
          <p:cNvSpPr/>
          <p:nvPr/>
        </p:nvSpPr>
        <p:spPr>
          <a:xfrm>
            <a:off x="7420928" y="2449629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3" name="Shape 71"/>
          <p:cNvSpPr/>
          <p:nvPr/>
        </p:nvSpPr>
        <p:spPr>
          <a:xfrm>
            <a:off x="7420928" y="2508116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4" name="Shape 72"/>
          <p:cNvSpPr/>
          <p:nvPr/>
        </p:nvSpPr>
        <p:spPr>
          <a:xfrm>
            <a:off x="7443788" y="2463891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5" name="Shape 73"/>
          <p:cNvSpPr/>
          <p:nvPr/>
        </p:nvSpPr>
        <p:spPr>
          <a:xfrm>
            <a:off x="7449503" y="2523998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6" name="Shape 74"/>
          <p:cNvSpPr/>
          <p:nvPr/>
        </p:nvSpPr>
        <p:spPr>
          <a:xfrm>
            <a:off x="7472363" y="2462671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7" name="Shape 75"/>
          <p:cNvSpPr/>
          <p:nvPr/>
        </p:nvSpPr>
        <p:spPr>
          <a:xfrm>
            <a:off x="7515225" y="2435447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8" name="Shape 76"/>
          <p:cNvSpPr/>
          <p:nvPr/>
        </p:nvSpPr>
        <p:spPr>
          <a:xfrm>
            <a:off x="7566660" y="2448969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6324600" y="2705100"/>
            <a:ext cx="1581150" cy="4050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시험마다 점 하나가 생깁니다. 가로는 그날 외기온도, 세로는 실제와 계산값의 차이입니다.</a:t>
            </a:r>
            <a:endParaRPr lang="en-US" sz="788" dirty="0"/>
          </a:p>
        </p:txBody>
      </p:sp>
      <p:sp>
        <p:nvSpPr>
          <p:cNvPr id="80" name="Text 78"/>
          <p:cNvSpPr txBox="1"/>
          <p:nvPr/>
        </p:nvSpPr>
        <p:spPr>
          <a:xfrm>
            <a:off x="7791450" y="2343150"/>
            <a:ext cx="2286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81" name="Text 79"/>
          <p:cNvSpPr txBox="1"/>
          <p:nvPr/>
        </p:nvSpPr>
        <p:spPr>
          <a:xfrm>
            <a:off x="8058150" y="1962150"/>
            <a:ext cx="158115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곡선을 배운다</a:t>
            </a:r>
            <a:endParaRPr lang="en-US" sz="938" dirty="0"/>
          </a:p>
        </p:txBody>
      </p:sp>
      <p:sp>
        <p:nvSpPr>
          <p:cNvPr id="82" name="Shape 80"/>
          <p:cNvSpPr/>
          <p:nvPr/>
        </p:nvSpPr>
        <p:spPr>
          <a:xfrm>
            <a:off x="8058150" y="2171700"/>
            <a:ext cx="1428750" cy="476250"/>
          </a:xfrm>
          <a:prstGeom prst="rect">
            <a:avLst/>
          </a:prstGeom>
          <a:ln w="12700">
            <a:solidFill>
              <a:srgbClr val="DEE3E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8115300" y="2489835"/>
            <a:ext cx="13144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8229600" y="2340216"/>
            <a:ext cx="57150" cy="100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8286750" y="2341216"/>
            <a:ext cx="57150" cy="22203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8343900" y="2363419"/>
            <a:ext cx="57150" cy="17802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8401050" y="2381221"/>
            <a:ext cx="57150" cy="8001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V="1">
            <a:off x="8458200" y="2386422"/>
            <a:ext cx="57150" cy="280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V="1">
            <a:off x="8515350" y="2377021"/>
            <a:ext cx="57150" cy="9401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 flipV="1">
            <a:off x="8572500" y="2369220"/>
            <a:ext cx="57150" cy="7801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8629650" y="2369220"/>
            <a:ext cx="57150" cy="220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8686800" y="2371420"/>
            <a:ext cx="57150" cy="17402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8743950" y="2388822"/>
            <a:ext cx="57150" cy="3240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8801100" y="2421226"/>
            <a:ext cx="57150" cy="41405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8858250" y="2462632"/>
            <a:ext cx="57150" cy="40205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8915400" y="2502837"/>
            <a:ext cx="57150" cy="2900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8972550" y="2531840"/>
            <a:ext cx="57150" cy="11201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 flipV="1">
            <a:off x="9029700" y="2535641"/>
            <a:ext cx="57150" cy="7401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 flipV="1">
            <a:off x="9086850" y="2514638"/>
            <a:ext cx="57150" cy="21003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 flipV="1">
            <a:off x="9144000" y="2487635"/>
            <a:ext cx="57150" cy="27003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 flipV="1">
            <a:off x="9201150" y="2463432"/>
            <a:ext cx="57150" cy="24203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 flipV="1">
            <a:off x="9258300" y="2447630"/>
            <a:ext cx="57150" cy="15802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9315450" y="2447630"/>
            <a:ext cx="57150" cy="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8162925" y="2218520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05" name="Shape 103"/>
          <p:cNvSpPr/>
          <p:nvPr/>
        </p:nvSpPr>
        <p:spPr>
          <a:xfrm>
            <a:off x="8175784" y="2227981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06" name="Shape 104"/>
          <p:cNvSpPr/>
          <p:nvPr/>
        </p:nvSpPr>
        <p:spPr>
          <a:xfrm>
            <a:off x="8271510" y="2301771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07" name="Shape 105"/>
          <p:cNvSpPr/>
          <p:nvPr/>
        </p:nvSpPr>
        <p:spPr>
          <a:xfrm>
            <a:off x="8328660" y="2363178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08" name="Shape 106"/>
          <p:cNvSpPr/>
          <p:nvPr/>
        </p:nvSpPr>
        <p:spPr>
          <a:xfrm>
            <a:off x="8388668" y="2368759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09" name="Shape 107"/>
          <p:cNvSpPr/>
          <p:nvPr/>
        </p:nvSpPr>
        <p:spPr>
          <a:xfrm>
            <a:off x="8417243" y="2377900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10" name="Shape 108"/>
          <p:cNvSpPr/>
          <p:nvPr/>
        </p:nvSpPr>
        <p:spPr>
          <a:xfrm>
            <a:off x="8445818" y="2386381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11" name="Shape 109"/>
          <p:cNvSpPr/>
          <p:nvPr/>
        </p:nvSpPr>
        <p:spPr>
          <a:xfrm>
            <a:off x="8471535" y="2352657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12" name="Shape 110"/>
          <p:cNvSpPr/>
          <p:nvPr/>
        </p:nvSpPr>
        <p:spPr>
          <a:xfrm>
            <a:off x="8488680" y="2404303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13" name="Shape 111"/>
          <p:cNvSpPr/>
          <p:nvPr/>
        </p:nvSpPr>
        <p:spPr>
          <a:xfrm>
            <a:off x="8537258" y="2374560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8580120" y="2380760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15" name="Shape 113"/>
          <p:cNvSpPr/>
          <p:nvPr/>
        </p:nvSpPr>
        <p:spPr>
          <a:xfrm>
            <a:off x="8588693" y="2338955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16" name="Shape 114"/>
          <p:cNvSpPr/>
          <p:nvPr/>
        </p:nvSpPr>
        <p:spPr>
          <a:xfrm>
            <a:off x="8597265" y="2347856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17" name="Shape 115"/>
          <p:cNvSpPr/>
          <p:nvPr/>
        </p:nvSpPr>
        <p:spPr>
          <a:xfrm>
            <a:off x="8628698" y="2330414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18" name="Shape 116"/>
          <p:cNvSpPr/>
          <p:nvPr/>
        </p:nvSpPr>
        <p:spPr>
          <a:xfrm>
            <a:off x="8631555" y="2357217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19" name="Shape 117"/>
          <p:cNvSpPr/>
          <p:nvPr/>
        </p:nvSpPr>
        <p:spPr>
          <a:xfrm>
            <a:off x="8648700" y="2365679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20" name="Shape 118"/>
          <p:cNvSpPr/>
          <p:nvPr/>
        </p:nvSpPr>
        <p:spPr>
          <a:xfrm>
            <a:off x="8691563" y="2370119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21" name="Shape 119"/>
          <p:cNvSpPr/>
          <p:nvPr/>
        </p:nvSpPr>
        <p:spPr>
          <a:xfrm>
            <a:off x="8694420" y="2363378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22" name="Shape 120"/>
          <p:cNvSpPr/>
          <p:nvPr/>
        </p:nvSpPr>
        <p:spPr>
          <a:xfrm>
            <a:off x="8825865" y="2425066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23" name="Shape 121"/>
          <p:cNvSpPr/>
          <p:nvPr/>
        </p:nvSpPr>
        <p:spPr>
          <a:xfrm>
            <a:off x="8934450" y="2519638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24" name="Shape 122"/>
          <p:cNvSpPr/>
          <p:nvPr/>
        </p:nvSpPr>
        <p:spPr>
          <a:xfrm>
            <a:off x="8940165" y="2543141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25" name="Shape 123"/>
          <p:cNvSpPr/>
          <p:nvPr/>
        </p:nvSpPr>
        <p:spPr>
          <a:xfrm>
            <a:off x="8943023" y="2489034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26" name="Shape 124"/>
          <p:cNvSpPr/>
          <p:nvPr/>
        </p:nvSpPr>
        <p:spPr>
          <a:xfrm>
            <a:off x="8951595" y="2491454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9000173" y="2530899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28" name="Shape 126"/>
          <p:cNvSpPr/>
          <p:nvPr/>
        </p:nvSpPr>
        <p:spPr>
          <a:xfrm>
            <a:off x="9037320" y="2574565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29" name="Shape 127"/>
          <p:cNvSpPr/>
          <p:nvPr/>
        </p:nvSpPr>
        <p:spPr>
          <a:xfrm>
            <a:off x="9080183" y="2509557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30" name="Shape 128"/>
          <p:cNvSpPr/>
          <p:nvPr/>
        </p:nvSpPr>
        <p:spPr>
          <a:xfrm>
            <a:off x="9080183" y="2487034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31" name="Shape 129"/>
          <p:cNvSpPr/>
          <p:nvPr/>
        </p:nvSpPr>
        <p:spPr>
          <a:xfrm>
            <a:off x="9094470" y="2546441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32" name="Shape 130"/>
          <p:cNvSpPr/>
          <p:nvPr/>
        </p:nvSpPr>
        <p:spPr>
          <a:xfrm>
            <a:off x="9100185" y="2545381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9123045" y="2494915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34" name="Shape 132"/>
          <p:cNvSpPr/>
          <p:nvPr/>
        </p:nvSpPr>
        <p:spPr>
          <a:xfrm>
            <a:off x="9143048" y="2489854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35" name="Shape 133"/>
          <p:cNvSpPr/>
          <p:nvPr/>
        </p:nvSpPr>
        <p:spPr>
          <a:xfrm>
            <a:off x="9151620" y="2528279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36" name="Shape 134"/>
          <p:cNvSpPr/>
          <p:nvPr/>
        </p:nvSpPr>
        <p:spPr>
          <a:xfrm>
            <a:off x="9154478" y="2435227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37" name="Shape 135"/>
          <p:cNvSpPr/>
          <p:nvPr/>
        </p:nvSpPr>
        <p:spPr>
          <a:xfrm>
            <a:off x="9154478" y="2449629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38" name="Shape 136"/>
          <p:cNvSpPr/>
          <p:nvPr/>
        </p:nvSpPr>
        <p:spPr>
          <a:xfrm>
            <a:off x="9154478" y="2508116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39" name="Shape 137"/>
          <p:cNvSpPr/>
          <p:nvPr/>
        </p:nvSpPr>
        <p:spPr>
          <a:xfrm>
            <a:off x="9177338" y="2463891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40" name="Shape 138"/>
          <p:cNvSpPr/>
          <p:nvPr/>
        </p:nvSpPr>
        <p:spPr>
          <a:xfrm>
            <a:off x="9183053" y="2523998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41" name="Shape 139"/>
          <p:cNvSpPr/>
          <p:nvPr/>
        </p:nvSpPr>
        <p:spPr>
          <a:xfrm>
            <a:off x="9205913" y="2462671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42" name="Shape 140"/>
          <p:cNvSpPr/>
          <p:nvPr/>
        </p:nvSpPr>
        <p:spPr>
          <a:xfrm>
            <a:off x="9248775" y="2435447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43" name="Shape 141"/>
          <p:cNvSpPr/>
          <p:nvPr/>
        </p:nvSpPr>
        <p:spPr>
          <a:xfrm>
            <a:off x="9300210" y="2448969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8058150" y="2705100"/>
            <a:ext cx="1581150" cy="4050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쌓인 점을 가장 잘 지나는 곡선을 찾습니다. 점이 없는 온도의 값도 이 곡선이 메웁니다.</a:t>
            </a:r>
            <a:endParaRPr lang="en-US" sz="788" dirty="0"/>
          </a:p>
        </p:txBody>
      </p:sp>
      <p:sp>
        <p:nvSpPr>
          <p:cNvPr id="145" name="Text 143"/>
          <p:cNvSpPr txBox="1"/>
          <p:nvPr/>
        </p:nvSpPr>
        <p:spPr>
          <a:xfrm>
            <a:off x="9525000" y="2343150"/>
            <a:ext cx="2286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146" name="Text 144"/>
          <p:cNvSpPr txBox="1"/>
          <p:nvPr/>
        </p:nvSpPr>
        <p:spPr>
          <a:xfrm>
            <a:off x="9791700" y="1962150"/>
            <a:ext cx="158115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표를 만든다</a:t>
            </a:r>
            <a:endParaRPr lang="en-US" sz="938" dirty="0"/>
          </a:p>
        </p:txBody>
      </p:sp>
      <p:sp>
        <p:nvSpPr>
          <p:cNvPr id="147" name="Shape 145"/>
          <p:cNvSpPr/>
          <p:nvPr/>
        </p:nvSpPr>
        <p:spPr>
          <a:xfrm>
            <a:off x="9791700" y="2171700"/>
            <a:ext cx="1428750" cy="476250"/>
          </a:xfrm>
          <a:prstGeom prst="rect">
            <a:avLst/>
          </a:prstGeom>
          <a:ln w="12700">
            <a:solidFill>
              <a:srgbClr val="DEE3E9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10287000" y="2209800"/>
            <a:ext cx="0" cy="40005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9886950" y="2247900"/>
            <a:ext cx="361950" cy="0"/>
          </a:xfrm>
          <a:prstGeom prst="line">
            <a:avLst/>
          </a:prstGeom>
          <a:noFill/>
          <a:ln w="12700">
            <a:solidFill>
              <a:srgbClr val="C4CAD1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10344150" y="2247900"/>
            <a:ext cx="800100" cy="0"/>
          </a:xfrm>
          <a:prstGeom prst="line">
            <a:avLst/>
          </a:prstGeom>
          <a:noFill/>
          <a:ln w="12700">
            <a:solidFill>
              <a:srgbClr val="EA002C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9886950" y="2314575"/>
            <a:ext cx="361950" cy="0"/>
          </a:xfrm>
          <a:prstGeom prst="line">
            <a:avLst/>
          </a:prstGeom>
          <a:noFill/>
          <a:ln w="12700">
            <a:solidFill>
              <a:srgbClr val="C4CAD1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10344150" y="2314575"/>
            <a:ext cx="800100" cy="0"/>
          </a:xfrm>
          <a:prstGeom prst="line">
            <a:avLst/>
          </a:prstGeom>
          <a:noFill/>
          <a:ln w="12700">
            <a:solidFill>
              <a:srgbClr val="C4CAD1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9886950" y="2381250"/>
            <a:ext cx="361950" cy="0"/>
          </a:xfrm>
          <a:prstGeom prst="line">
            <a:avLst/>
          </a:prstGeom>
          <a:noFill/>
          <a:ln w="12700">
            <a:solidFill>
              <a:srgbClr val="C4CAD1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10344150" y="2381250"/>
            <a:ext cx="800100" cy="0"/>
          </a:xfrm>
          <a:prstGeom prst="line">
            <a:avLst/>
          </a:prstGeom>
          <a:noFill/>
          <a:ln w="12700">
            <a:solidFill>
              <a:srgbClr val="C4CAD1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9886950" y="2447925"/>
            <a:ext cx="361950" cy="0"/>
          </a:xfrm>
          <a:prstGeom prst="line">
            <a:avLst/>
          </a:prstGeom>
          <a:noFill/>
          <a:ln w="12700">
            <a:solidFill>
              <a:srgbClr val="C4CAD1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10344150" y="2447925"/>
            <a:ext cx="800100" cy="0"/>
          </a:xfrm>
          <a:prstGeom prst="line">
            <a:avLst/>
          </a:prstGeom>
          <a:noFill/>
          <a:ln w="12700">
            <a:solidFill>
              <a:srgbClr val="C4CAD1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9886950" y="2514600"/>
            <a:ext cx="361950" cy="0"/>
          </a:xfrm>
          <a:prstGeom prst="line">
            <a:avLst/>
          </a:prstGeom>
          <a:noFill/>
          <a:ln w="12700">
            <a:solidFill>
              <a:srgbClr val="C4CAD1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10344150" y="2514600"/>
            <a:ext cx="800100" cy="0"/>
          </a:xfrm>
          <a:prstGeom prst="line">
            <a:avLst/>
          </a:prstGeom>
          <a:noFill/>
          <a:ln w="12700">
            <a:solidFill>
              <a:srgbClr val="C4CAD1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9886950" y="2581275"/>
            <a:ext cx="361950" cy="0"/>
          </a:xfrm>
          <a:prstGeom prst="line">
            <a:avLst/>
          </a:prstGeom>
          <a:noFill/>
          <a:ln w="12700">
            <a:solidFill>
              <a:srgbClr val="C4CAD1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10344150" y="2581275"/>
            <a:ext cx="800100" cy="0"/>
          </a:xfrm>
          <a:prstGeom prst="line">
            <a:avLst/>
          </a:prstGeom>
          <a:noFill/>
          <a:ln w="12700">
            <a:solidFill>
              <a:srgbClr val="C4CAD1"/>
            </a:solidFill>
            <a:prstDash val="solid"/>
          </a:ln>
        </p:spPr>
      </p:sp>
      <p:sp>
        <p:nvSpPr>
          <p:cNvPr id="161" name="Text 159"/>
          <p:cNvSpPr txBox="1"/>
          <p:nvPr/>
        </p:nvSpPr>
        <p:spPr>
          <a:xfrm>
            <a:off x="9791700" y="2705100"/>
            <a:ext cx="1581150" cy="4050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곡선에서 영하 20도부터 40도까지 61개 값을 읽어 신고 표를 만듭니다.</a:t>
            </a:r>
            <a:endParaRPr lang="en-US" sz="788" dirty="0"/>
          </a:p>
        </p:txBody>
      </p:sp>
      <p:sp>
        <p:nvSpPr>
          <p:cNvPr id="162" name="Text 160"/>
          <p:cNvSpPr txBox="1"/>
          <p:nvPr/>
        </p:nvSpPr>
        <p:spPr>
          <a:xfrm>
            <a:off x="6324600" y="3200400"/>
            <a:ext cx="499110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곡선을 쓸지는 여기서 정하지 않았습니다 — 후보 회귀 모델 7가지를 겨루게 한 결과가 다음 장입니다.</a:t>
            </a:r>
            <a:endParaRPr lang="en-US" sz="863" dirty="0"/>
          </a:p>
        </p:txBody>
      </p:sp>
      <p:sp>
        <p:nvSpPr>
          <p:cNvPr id="163" name="Shape 161"/>
          <p:cNvSpPr/>
          <p:nvPr/>
        </p:nvSpPr>
        <p:spPr>
          <a:xfrm>
            <a:off x="685800" y="3895725"/>
            <a:ext cx="10820400" cy="22002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685800" y="3771900"/>
            <a:ext cx="26098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65" name="Text 163"/>
          <p:cNvSpPr txBox="1"/>
          <p:nvPr/>
        </p:nvSpPr>
        <p:spPr>
          <a:xfrm>
            <a:off x="819150" y="38290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38" dirty="0"/>
          </a:p>
        </p:txBody>
      </p:sp>
      <p:sp>
        <p:nvSpPr>
          <p:cNvPr id="166" name="Text 164"/>
          <p:cNvSpPr txBox="1"/>
          <p:nvPr/>
        </p:nvSpPr>
        <p:spPr>
          <a:xfrm>
            <a:off x="1009650" y="3829050"/>
            <a:ext cx="21717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화면 · 공급가능용량 산정</a:t>
            </a:r>
            <a:endParaRPr lang="en-US" sz="1013" dirty="0"/>
          </a:p>
        </p:txBody>
      </p:sp>
      <p:sp>
        <p:nvSpPr>
          <p:cNvPr id="167" name="Text 165"/>
          <p:cNvSpPr txBox="1"/>
          <p:nvPr/>
        </p:nvSpPr>
        <p:spPr>
          <a:xfrm>
            <a:off x="9658350" y="3962400"/>
            <a:ext cx="17335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날짜와 시각만 넣고 누른 결과</a:t>
            </a:r>
            <a:endParaRPr lang="en-US" sz="825" dirty="0"/>
          </a:p>
        </p:txBody>
      </p:sp>
      <p:pic>
        <p:nvPicPr>
          <p:cNvPr id="168" name="Image 0" descr="/home/user/Narae-AI/docs/ppt/assets/tool_win_run_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6300" y="4133850"/>
            <a:ext cx="6791325" cy="1962150"/>
          </a:xfrm>
          <a:prstGeom prst="rect">
            <a:avLst/>
          </a:prstGeom>
        </p:spPr>
      </p:pic>
      <p:sp>
        <p:nvSpPr>
          <p:cNvPr id="169" name="Shape 166"/>
          <p:cNvSpPr/>
          <p:nvPr/>
        </p:nvSpPr>
        <p:spPr>
          <a:xfrm>
            <a:off x="866775" y="4124325"/>
            <a:ext cx="6810375" cy="1981200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170" name="Text 167"/>
          <p:cNvSpPr txBox="1"/>
          <p:nvPr/>
        </p:nvSpPr>
        <p:spPr>
          <a:xfrm>
            <a:off x="7858125" y="4133850"/>
            <a:ext cx="3400425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화면</a:t>
            </a:r>
            <a:endParaRPr lang="en-US" sz="863" dirty="0"/>
          </a:p>
        </p:txBody>
      </p:sp>
      <p:sp>
        <p:nvSpPr>
          <p:cNvPr id="171" name="Text 168"/>
          <p:cNvSpPr txBox="1"/>
          <p:nvPr/>
        </p:nvSpPr>
        <p:spPr>
          <a:xfrm>
            <a:off x="7858125" y="4305300"/>
            <a:ext cx="3400425" cy="424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4개를 오가던 일이 이 화면 하나로 끝납니다.</a:t>
            </a:r>
            <a:endParaRPr lang="en-US" sz="825" dirty="0"/>
          </a:p>
        </p:txBody>
      </p:sp>
      <p:sp>
        <p:nvSpPr>
          <p:cNvPr id="172" name="Text 169"/>
          <p:cNvSpPr txBox="1"/>
          <p:nvPr/>
        </p:nvSpPr>
        <p:spPr>
          <a:xfrm>
            <a:off x="7858125" y="4800600"/>
            <a:ext cx="3400425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 · 보정값 · 현실화</a:t>
            </a:r>
            <a:endParaRPr lang="en-US" sz="863" dirty="0"/>
          </a:p>
        </p:txBody>
      </p:sp>
      <p:sp>
        <p:nvSpPr>
          <p:cNvPr id="173" name="Text 170"/>
          <p:cNvSpPr txBox="1"/>
          <p:nvPr/>
        </p:nvSpPr>
        <p:spPr>
          <a:xfrm>
            <a:off x="7858125" y="4972050"/>
            <a:ext cx="3400425" cy="424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제작사 계산식으로 낸 값, 온도마다 다른 더하는 값, 실제로 신고하는 값.</a:t>
            </a:r>
            <a:endParaRPr lang="en-US" sz="825" dirty="0"/>
          </a:p>
        </p:txBody>
      </p:sp>
      <p:sp>
        <p:nvSpPr>
          <p:cNvPr id="174" name="Text 171"/>
          <p:cNvSpPr txBox="1"/>
          <p:nvPr/>
        </p:nvSpPr>
        <p:spPr>
          <a:xfrm>
            <a:off x="7858125" y="5467350"/>
            <a:ext cx="3400425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61구간</a:t>
            </a:r>
            <a:endParaRPr lang="en-US" sz="863" dirty="0"/>
          </a:p>
        </p:txBody>
      </p:sp>
      <p:sp>
        <p:nvSpPr>
          <p:cNvPr id="175" name="Text 172"/>
          <p:cNvSpPr txBox="1"/>
          <p:nvPr/>
        </p:nvSpPr>
        <p:spPr>
          <a:xfrm>
            <a:off x="7858125" y="5638800"/>
            <a:ext cx="3400425" cy="424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표를 그대로 입찰에 씁니다. 손으로 옮기는 값은 없습니다.</a:t>
            </a:r>
            <a:endParaRPr lang="en-US" sz="825" dirty="0"/>
          </a:p>
        </p:txBody>
      </p:sp>
      <p:sp>
        <p:nvSpPr>
          <p:cNvPr id="176" name="Shape 173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77" name="Shape 174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178" name="Text 175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179" name="Text 176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절차는 도구 하나로 합치고, 보정값은 온도별 곡선으로 내기로 정했습니다.</a:t>
            </a:r>
            <a:endParaRPr lang="en-US" sz="1163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· 보정 모델 개발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곡선을 어떤 회귀 모델로 그릴지 정했습니다. 후보 7가지를 같은 데이터로 겨루게 했습니다.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24025"/>
            <a:ext cx="10820400" cy="16859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00200"/>
            <a:ext cx="16002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6573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657350"/>
            <a:ext cx="11620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7가지 성적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9324975" y="1790700"/>
            <a:ext cx="20669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데이터 · 같은 채점 · 단위 MW</a:t>
            </a:r>
            <a:endParaRPr lang="en-US" sz="825" dirty="0"/>
          </a:p>
        </p:txBody>
      </p:sp>
      <p:sp>
        <p:nvSpPr>
          <p:cNvPr id="20" name="Shape 18"/>
          <p:cNvSpPr/>
          <p:nvPr/>
        </p:nvSpPr>
        <p:spPr>
          <a:xfrm>
            <a:off x="2495550" y="1981200"/>
            <a:ext cx="0" cy="1066800"/>
          </a:xfrm>
          <a:prstGeom prst="line">
            <a:avLst/>
          </a:prstGeom>
          <a:noFill/>
          <a:ln w="12700">
            <a:solidFill>
              <a:srgbClr val="C4CAD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76300" y="1981200"/>
            <a:ext cx="15049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RBF</a:t>
            </a:r>
            <a:endParaRPr lang="en-US" sz="825" dirty="0"/>
          </a:p>
        </p:txBody>
      </p:sp>
      <p:sp>
        <p:nvSpPr>
          <p:cNvPr id="22" name="Shape 20"/>
          <p:cNvSpPr/>
          <p:nvPr/>
        </p:nvSpPr>
        <p:spPr>
          <a:xfrm>
            <a:off x="2495550" y="2000250"/>
            <a:ext cx="47625" cy="857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0" y="1981200"/>
            <a:ext cx="5524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1.301</a:t>
            </a:r>
            <a:endParaRPr lang="en-US" sz="788" dirty="0"/>
          </a:p>
        </p:txBody>
      </p:sp>
      <p:sp>
        <p:nvSpPr>
          <p:cNvPr id="24" name="Text 22"/>
          <p:cNvSpPr txBox="1"/>
          <p:nvPr/>
        </p:nvSpPr>
        <p:spPr>
          <a:xfrm>
            <a:off x="6115050" y="1981200"/>
            <a:ext cx="5905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</a:t>
            </a:r>
            <a:endParaRPr lang="en-US" sz="788" dirty="0"/>
          </a:p>
        </p:txBody>
      </p:sp>
      <p:sp>
        <p:nvSpPr>
          <p:cNvPr id="25" name="Text 23"/>
          <p:cNvSpPr txBox="1"/>
          <p:nvPr/>
        </p:nvSpPr>
        <p:spPr>
          <a:xfrm>
            <a:off x="6838950" y="1981200"/>
            <a:ext cx="44196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선정 · 가장 부드러운 곡선</a:t>
            </a:r>
            <a:endParaRPr lang="en-US" sz="788" dirty="0"/>
          </a:p>
        </p:txBody>
      </p:sp>
      <p:sp>
        <p:nvSpPr>
          <p:cNvPr id="26" name="Text 24"/>
          <p:cNvSpPr txBox="1"/>
          <p:nvPr/>
        </p:nvSpPr>
        <p:spPr>
          <a:xfrm>
            <a:off x="876300" y="2133600"/>
            <a:ext cx="15049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RQ</a:t>
            </a:r>
            <a:endParaRPr lang="en-US" sz="825" dirty="0"/>
          </a:p>
        </p:txBody>
      </p:sp>
      <p:sp>
        <p:nvSpPr>
          <p:cNvPr id="27" name="Shape 25"/>
          <p:cNvSpPr/>
          <p:nvPr/>
        </p:nvSpPr>
        <p:spPr>
          <a:xfrm>
            <a:off x="2505075" y="2162175"/>
            <a:ext cx="66675" cy="66675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486400" y="2133600"/>
            <a:ext cx="5524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1.305</a:t>
            </a:r>
            <a:endParaRPr lang="en-US" sz="788" dirty="0"/>
          </a:p>
        </p:txBody>
      </p:sp>
      <p:sp>
        <p:nvSpPr>
          <p:cNvPr id="29" name="Text 27"/>
          <p:cNvSpPr txBox="1"/>
          <p:nvPr/>
        </p:nvSpPr>
        <p:spPr>
          <a:xfrm>
            <a:off x="6115050" y="2133600"/>
            <a:ext cx="5905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+0.004</a:t>
            </a:r>
            <a:endParaRPr lang="en-US" sz="788" dirty="0"/>
          </a:p>
        </p:txBody>
      </p:sp>
      <p:sp>
        <p:nvSpPr>
          <p:cNvPr id="30" name="Text 28"/>
          <p:cNvSpPr txBox="1"/>
          <p:nvPr/>
        </p:nvSpPr>
        <p:spPr>
          <a:xfrm>
            <a:off x="6838950" y="2133600"/>
            <a:ext cx="44196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완만한 물결과 급한 물결을 섞은 곡선</a:t>
            </a:r>
            <a:endParaRPr lang="en-US" sz="788" dirty="0"/>
          </a:p>
        </p:txBody>
      </p:sp>
      <p:sp>
        <p:nvSpPr>
          <p:cNvPr id="31" name="Text 29"/>
          <p:cNvSpPr txBox="1"/>
          <p:nvPr/>
        </p:nvSpPr>
        <p:spPr>
          <a:xfrm>
            <a:off x="876300" y="2286000"/>
            <a:ext cx="15049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Matérn 5/2</a:t>
            </a:r>
            <a:endParaRPr lang="en-US" sz="825" dirty="0"/>
          </a:p>
        </p:txBody>
      </p:sp>
      <p:sp>
        <p:nvSpPr>
          <p:cNvPr id="32" name="Shape 30"/>
          <p:cNvSpPr/>
          <p:nvPr/>
        </p:nvSpPr>
        <p:spPr>
          <a:xfrm>
            <a:off x="2505075" y="2314575"/>
            <a:ext cx="152400" cy="66675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486400" y="2286000"/>
            <a:ext cx="5524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1.310</a:t>
            </a:r>
            <a:endParaRPr lang="en-US" sz="788" dirty="0"/>
          </a:p>
        </p:txBody>
      </p:sp>
      <p:sp>
        <p:nvSpPr>
          <p:cNvPr id="34" name="Text 32"/>
          <p:cNvSpPr txBox="1"/>
          <p:nvPr/>
        </p:nvSpPr>
        <p:spPr>
          <a:xfrm>
            <a:off x="6115050" y="2286000"/>
            <a:ext cx="5905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+0.009</a:t>
            </a:r>
            <a:endParaRPr lang="en-US" sz="788" dirty="0"/>
          </a:p>
        </p:txBody>
      </p:sp>
      <p:sp>
        <p:nvSpPr>
          <p:cNvPr id="35" name="Text 33"/>
          <p:cNvSpPr txBox="1"/>
          <p:nvPr/>
        </p:nvSpPr>
        <p:spPr>
          <a:xfrm>
            <a:off x="6838950" y="2286000"/>
            <a:ext cx="44196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거의 부드러운 곡선</a:t>
            </a:r>
            <a:endParaRPr lang="en-US" sz="788" dirty="0"/>
          </a:p>
        </p:txBody>
      </p:sp>
      <p:sp>
        <p:nvSpPr>
          <p:cNvPr id="36" name="Text 34"/>
          <p:cNvSpPr txBox="1"/>
          <p:nvPr/>
        </p:nvSpPr>
        <p:spPr>
          <a:xfrm>
            <a:off x="876300" y="2438400"/>
            <a:ext cx="15049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Matérn 3/2</a:t>
            </a:r>
            <a:endParaRPr lang="en-US" sz="825" dirty="0"/>
          </a:p>
        </p:txBody>
      </p:sp>
      <p:sp>
        <p:nvSpPr>
          <p:cNvPr id="37" name="Shape 35"/>
          <p:cNvSpPr/>
          <p:nvPr/>
        </p:nvSpPr>
        <p:spPr>
          <a:xfrm>
            <a:off x="2505075" y="2466975"/>
            <a:ext cx="342900" cy="66675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5486400" y="2438400"/>
            <a:ext cx="5524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1.322</a:t>
            </a:r>
            <a:endParaRPr lang="en-US" sz="788" dirty="0"/>
          </a:p>
        </p:txBody>
      </p:sp>
      <p:sp>
        <p:nvSpPr>
          <p:cNvPr id="39" name="Text 37"/>
          <p:cNvSpPr txBox="1"/>
          <p:nvPr/>
        </p:nvSpPr>
        <p:spPr>
          <a:xfrm>
            <a:off x="6115050" y="2438400"/>
            <a:ext cx="5905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+0.021</a:t>
            </a:r>
            <a:endParaRPr lang="en-US" sz="788" dirty="0"/>
          </a:p>
        </p:txBody>
      </p:sp>
      <p:sp>
        <p:nvSpPr>
          <p:cNvPr id="40" name="Text 38"/>
          <p:cNvSpPr txBox="1"/>
          <p:nvPr/>
        </p:nvSpPr>
        <p:spPr>
          <a:xfrm>
            <a:off x="6838950" y="2438400"/>
            <a:ext cx="44196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살짝 각이 지는 곡선</a:t>
            </a:r>
            <a:endParaRPr lang="en-US" sz="788" dirty="0"/>
          </a:p>
        </p:txBody>
      </p:sp>
      <p:sp>
        <p:nvSpPr>
          <p:cNvPr id="41" name="Text 39"/>
          <p:cNvSpPr txBox="1"/>
          <p:nvPr/>
        </p:nvSpPr>
        <p:spPr>
          <a:xfrm>
            <a:off x="876300" y="2590800"/>
            <a:ext cx="15049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지수</a:t>
            </a:r>
            <a:endParaRPr lang="en-US" sz="825" dirty="0"/>
          </a:p>
        </p:txBody>
      </p:sp>
      <p:sp>
        <p:nvSpPr>
          <p:cNvPr id="42" name="Shape 40"/>
          <p:cNvSpPr/>
          <p:nvPr/>
        </p:nvSpPr>
        <p:spPr>
          <a:xfrm>
            <a:off x="2505075" y="2619375"/>
            <a:ext cx="1047750" cy="66675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5486400" y="2590800"/>
            <a:ext cx="5524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1.365</a:t>
            </a:r>
            <a:endParaRPr lang="en-US" sz="788" dirty="0"/>
          </a:p>
        </p:txBody>
      </p:sp>
      <p:sp>
        <p:nvSpPr>
          <p:cNvPr id="44" name="Text 42"/>
          <p:cNvSpPr txBox="1"/>
          <p:nvPr/>
        </p:nvSpPr>
        <p:spPr>
          <a:xfrm>
            <a:off x="6115050" y="2590800"/>
            <a:ext cx="5905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+0.064</a:t>
            </a:r>
            <a:endParaRPr lang="en-US" sz="788" dirty="0"/>
          </a:p>
        </p:txBody>
      </p:sp>
      <p:sp>
        <p:nvSpPr>
          <p:cNvPr id="45" name="Text 43"/>
          <p:cNvSpPr txBox="1"/>
          <p:nvPr/>
        </p:nvSpPr>
        <p:spPr>
          <a:xfrm>
            <a:off x="6838950" y="2590800"/>
            <a:ext cx="44196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꺾임을 허용하는 곡선</a:t>
            </a:r>
            <a:endParaRPr lang="en-US" sz="788" dirty="0"/>
          </a:p>
        </p:txBody>
      </p:sp>
      <p:sp>
        <p:nvSpPr>
          <p:cNvPr id="46" name="Text 44"/>
          <p:cNvSpPr txBox="1"/>
          <p:nvPr/>
        </p:nvSpPr>
        <p:spPr>
          <a:xfrm>
            <a:off x="876300" y="2743200"/>
            <a:ext cx="15049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커널회귀</a:t>
            </a:r>
            <a:endParaRPr lang="en-US" sz="825" dirty="0"/>
          </a:p>
        </p:txBody>
      </p:sp>
      <p:sp>
        <p:nvSpPr>
          <p:cNvPr id="47" name="Shape 45"/>
          <p:cNvSpPr/>
          <p:nvPr/>
        </p:nvSpPr>
        <p:spPr>
          <a:xfrm>
            <a:off x="2505075" y="2771775"/>
            <a:ext cx="1933575" cy="66675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5486400" y="2743200"/>
            <a:ext cx="5524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1.419</a:t>
            </a:r>
            <a:endParaRPr lang="en-US" sz="788" dirty="0"/>
          </a:p>
        </p:txBody>
      </p:sp>
      <p:sp>
        <p:nvSpPr>
          <p:cNvPr id="49" name="Text 47"/>
          <p:cNvSpPr txBox="1"/>
          <p:nvPr/>
        </p:nvSpPr>
        <p:spPr>
          <a:xfrm>
            <a:off x="6115050" y="2743200"/>
            <a:ext cx="5905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+0.118</a:t>
            </a:r>
            <a:endParaRPr lang="en-US" sz="788" dirty="0"/>
          </a:p>
        </p:txBody>
      </p:sp>
      <p:sp>
        <p:nvSpPr>
          <p:cNvPr id="50" name="Text 48"/>
          <p:cNvSpPr txBox="1"/>
          <p:nvPr/>
        </p:nvSpPr>
        <p:spPr>
          <a:xfrm>
            <a:off x="6838950" y="2743200"/>
            <a:ext cx="44196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가까운 시험에 무게를 더 주는 평균</a:t>
            </a:r>
            <a:endParaRPr lang="en-US" sz="788" dirty="0"/>
          </a:p>
        </p:txBody>
      </p:sp>
      <p:sp>
        <p:nvSpPr>
          <p:cNvPr id="51" name="Text 49"/>
          <p:cNvSpPr txBox="1"/>
          <p:nvPr/>
        </p:nvSpPr>
        <p:spPr>
          <a:xfrm>
            <a:off x="876300" y="2895600"/>
            <a:ext cx="15049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구간평균</a:t>
            </a:r>
            <a:endParaRPr lang="en-US" sz="825" dirty="0"/>
          </a:p>
        </p:txBody>
      </p:sp>
      <p:sp>
        <p:nvSpPr>
          <p:cNvPr id="52" name="Shape 50"/>
          <p:cNvSpPr/>
          <p:nvPr/>
        </p:nvSpPr>
        <p:spPr>
          <a:xfrm>
            <a:off x="2505075" y="2924175"/>
            <a:ext cx="2857500" cy="66675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5486400" y="2895600"/>
            <a:ext cx="5524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1.475</a:t>
            </a:r>
            <a:endParaRPr lang="en-US" sz="788" dirty="0"/>
          </a:p>
        </p:txBody>
      </p:sp>
      <p:sp>
        <p:nvSpPr>
          <p:cNvPr id="54" name="Text 52"/>
          <p:cNvSpPr txBox="1"/>
          <p:nvPr/>
        </p:nvSpPr>
        <p:spPr>
          <a:xfrm>
            <a:off x="6115050" y="2895600"/>
            <a:ext cx="5905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+0.174</a:t>
            </a:r>
            <a:endParaRPr lang="en-US" sz="788" dirty="0"/>
          </a:p>
        </p:txBody>
      </p:sp>
      <p:sp>
        <p:nvSpPr>
          <p:cNvPr id="55" name="Text 53"/>
          <p:cNvSpPr txBox="1"/>
          <p:nvPr/>
        </p:nvSpPr>
        <p:spPr>
          <a:xfrm>
            <a:off x="6838950" y="2895600"/>
            <a:ext cx="44196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구간별 평균 — 가장 단순한 방법</a:t>
            </a:r>
            <a:endParaRPr lang="en-US" sz="788" dirty="0"/>
          </a:p>
        </p:txBody>
      </p:sp>
      <p:sp>
        <p:nvSpPr>
          <p:cNvPr id="56" name="Text 54"/>
          <p:cNvSpPr txBox="1"/>
          <p:nvPr/>
        </p:nvSpPr>
        <p:spPr>
          <a:xfrm>
            <a:off x="876300" y="3086100"/>
            <a:ext cx="103822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 막대는 1등과의 차이 · 가운데 숫자가 평균 오차 · 한 회씩 가려 맞혀 보는 방식으로 누적 40회 가운데 39회를 썼습니다(한 회차는 구간평균이 답을 못 내 빠집니다).</a:t>
            </a:r>
            <a:endParaRPr lang="en-US" sz="750" dirty="0"/>
          </a:p>
        </p:txBody>
      </p:sp>
      <p:sp>
        <p:nvSpPr>
          <p:cNvPr id="57" name="Text 55"/>
          <p:cNvSpPr txBox="1"/>
          <p:nvPr/>
        </p:nvSpPr>
        <p:spPr>
          <a:xfrm>
            <a:off x="876300" y="3219450"/>
            <a:ext cx="103822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 GP = 가우시안 프로세스 — 값 하나가 아니라 곡선 전체를 후보로 두고 실적에 가장 잘 맞는 곡선을 고릅니다. 뒤에 붙은 이름은 곡선이 얼마나 부드러운지를 정하는 설정입니다.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685800" y="3648075"/>
            <a:ext cx="10820400" cy="24479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685800" y="3524250"/>
            <a:ext cx="23241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819150" y="35814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61" name="Text 59"/>
          <p:cNvSpPr txBox="1"/>
          <p:nvPr/>
        </p:nvSpPr>
        <p:spPr>
          <a:xfrm>
            <a:off x="1009650" y="3581400"/>
            <a:ext cx="18859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화면 · 출력곡선 비교</a:t>
            </a:r>
            <a:endParaRPr lang="en-US" sz="1013" dirty="0"/>
          </a:p>
        </p:txBody>
      </p:sp>
      <p:sp>
        <p:nvSpPr>
          <p:cNvPr id="62" name="Text 60"/>
          <p:cNvSpPr txBox="1"/>
          <p:nvPr/>
        </p:nvSpPr>
        <p:spPr>
          <a:xfrm>
            <a:off x="10020300" y="3714750"/>
            <a:ext cx="13716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RBF 로 그린 결과</a:t>
            </a:r>
            <a:endParaRPr lang="en-US" sz="825" dirty="0"/>
          </a:p>
        </p:txBody>
      </p:sp>
      <p:pic>
        <p:nvPicPr>
          <p:cNvPr id="63" name="Image 0" descr="/home/user/Narae-AI/docs/ppt/assets/tool_win_curve_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6300" y="3886200"/>
            <a:ext cx="6296025" cy="2209800"/>
          </a:xfrm>
          <a:prstGeom prst="rect">
            <a:avLst/>
          </a:prstGeom>
        </p:spPr>
      </p:pic>
      <p:sp>
        <p:nvSpPr>
          <p:cNvPr id="64" name="Shape 61"/>
          <p:cNvSpPr/>
          <p:nvPr/>
        </p:nvSpPr>
        <p:spPr>
          <a:xfrm>
            <a:off x="866775" y="3876675"/>
            <a:ext cx="6315075" cy="2228850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7362825" y="3886200"/>
            <a:ext cx="3895725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 칸</a:t>
            </a:r>
            <a:endParaRPr lang="en-US" sz="863" dirty="0"/>
          </a:p>
        </p:txBody>
      </p:sp>
      <p:sp>
        <p:nvSpPr>
          <p:cNvPr id="66" name="Text 63"/>
          <p:cNvSpPr txBox="1"/>
          <p:nvPr/>
        </p:nvSpPr>
        <p:spPr>
          <a:xfrm>
            <a:off x="7362825" y="4057650"/>
            <a:ext cx="3895725" cy="424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이론값(점선)과 도구가 신고하는 값(빨간 선). 두 선이 벌어진 만큼이 그 온도에서 더하는 값입니다.</a:t>
            </a:r>
            <a:endParaRPr lang="en-US" sz="825" dirty="0"/>
          </a:p>
        </p:txBody>
      </p:sp>
      <p:sp>
        <p:nvSpPr>
          <p:cNvPr id="67" name="Text 64"/>
          <p:cNvSpPr txBox="1"/>
          <p:nvPr/>
        </p:nvSpPr>
        <p:spPr>
          <a:xfrm>
            <a:off x="7362825" y="4629150"/>
            <a:ext cx="3895725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 칸</a:t>
            </a:r>
            <a:endParaRPr lang="en-US" sz="863" dirty="0"/>
          </a:p>
        </p:txBody>
      </p:sp>
      <p:sp>
        <p:nvSpPr>
          <p:cNvPr id="68" name="Text 65"/>
          <p:cNvSpPr txBox="1"/>
          <p:nvPr/>
        </p:nvSpPr>
        <p:spPr>
          <a:xfrm>
            <a:off x="7362825" y="4800600"/>
            <a:ext cx="3895725" cy="424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온도마다 더하는 값과 시험 실적 점. 연한 띠는 도구가 함께 내는 90% 범위입니다.</a:t>
            </a:r>
            <a:endParaRPr lang="en-US" sz="825" dirty="0"/>
          </a:p>
        </p:txBody>
      </p:sp>
      <p:sp>
        <p:nvSpPr>
          <p:cNvPr id="69" name="Text 66"/>
          <p:cNvSpPr txBox="1"/>
          <p:nvPr/>
        </p:nvSpPr>
        <p:spPr>
          <a:xfrm>
            <a:off x="7362825" y="5372100"/>
            <a:ext cx="3895725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점이 없는 온도</a:t>
            </a:r>
            <a:endParaRPr lang="en-US" sz="863" dirty="0"/>
          </a:p>
        </p:txBody>
      </p:sp>
      <p:sp>
        <p:nvSpPr>
          <p:cNvPr id="70" name="Text 67"/>
          <p:cNvSpPr txBox="1"/>
          <p:nvPr/>
        </p:nvSpPr>
        <p:spPr>
          <a:xfrm>
            <a:off x="7362825" y="5543550"/>
            <a:ext cx="3895725" cy="424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곡선이 메웁니다. 다만 시험한 범위를 벗어나면 끝값을 그대로 씁니다.</a:t>
            </a:r>
            <a:endParaRPr lang="en-US" sz="825" dirty="0"/>
          </a:p>
        </p:txBody>
      </p:sp>
      <p:sp>
        <p:nvSpPr>
          <p:cNvPr id="71" name="Shape 68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73" name="Text 70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74" name="Text 71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고른 것이 아니라 성적이 골랐습니다. 그 곡선이 신고 숫자를 만듭니다.</a:t>
            </a:r>
            <a:endParaRPr lang="en-US" sz="1163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모니터링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계속 확인하는 구조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 만들고 끝나지 않습니다. 돌리고 · 대 보고 · 다시 채점하는 순서를 만들어 두었습니다.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24025"/>
            <a:ext cx="10820400" cy="10953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00200"/>
            <a:ext cx="13811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6573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657350"/>
            <a:ext cx="9429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회차 순서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10639425" y="1790700"/>
            <a:ext cx="7524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2주에 한 번</a:t>
            </a:r>
            <a:endParaRPr lang="en-US" sz="825" dirty="0"/>
          </a:p>
        </p:txBody>
      </p:sp>
      <p:sp>
        <p:nvSpPr>
          <p:cNvPr id="20" name="Text 18"/>
          <p:cNvSpPr txBox="1"/>
          <p:nvPr/>
        </p:nvSpPr>
        <p:spPr>
          <a:xfrm>
            <a:off x="876300" y="19621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75" dirty="0"/>
          </a:p>
        </p:txBody>
      </p:sp>
      <p:sp>
        <p:nvSpPr>
          <p:cNvPr id="21" name="Text 19"/>
          <p:cNvSpPr txBox="1"/>
          <p:nvPr/>
        </p:nvSpPr>
        <p:spPr>
          <a:xfrm>
            <a:off x="1085850" y="1943100"/>
            <a:ext cx="16954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시험한다</a:t>
            </a:r>
            <a:endParaRPr lang="en-US" sz="1013" dirty="0"/>
          </a:p>
        </p:txBody>
      </p:sp>
      <p:sp>
        <p:nvSpPr>
          <p:cNvPr id="22" name="Text 20"/>
          <p:cNvSpPr txBox="1"/>
          <p:nvPr/>
        </p:nvSpPr>
        <p:spPr>
          <a:xfrm>
            <a:off x="1085850" y="2152650"/>
            <a:ext cx="1695450" cy="2828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2주마다 테스트를 합니다.</a:t>
            </a:r>
            <a:endParaRPr lang="en-US" sz="825" dirty="0"/>
          </a:p>
        </p:txBody>
      </p:sp>
      <p:sp>
        <p:nvSpPr>
          <p:cNvPr id="23" name="Text 21"/>
          <p:cNvSpPr txBox="1"/>
          <p:nvPr/>
        </p:nvSpPr>
        <p:spPr>
          <a:xfrm>
            <a:off x="2781300" y="19621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2990850" y="19621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75" dirty="0"/>
          </a:p>
        </p:txBody>
      </p:sp>
      <p:sp>
        <p:nvSpPr>
          <p:cNvPr id="25" name="Text 23"/>
          <p:cNvSpPr txBox="1"/>
          <p:nvPr/>
        </p:nvSpPr>
        <p:spPr>
          <a:xfrm>
            <a:off x="3200400" y="1943100"/>
            <a:ext cx="16954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날짜·시각을 넣는다</a:t>
            </a:r>
            <a:endParaRPr lang="en-US" sz="1013" dirty="0"/>
          </a:p>
        </p:txBody>
      </p:sp>
      <p:sp>
        <p:nvSpPr>
          <p:cNvPr id="26" name="Text 24"/>
          <p:cNvSpPr txBox="1"/>
          <p:nvPr/>
        </p:nvSpPr>
        <p:spPr>
          <a:xfrm>
            <a:off x="3200400" y="2152650"/>
            <a:ext cx="1695450" cy="2828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RiMS 에서 도구가 받아옵니다.</a:t>
            </a:r>
            <a:endParaRPr lang="en-US" sz="825" dirty="0"/>
          </a:p>
        </p:txBody>
      </p:sp>
      <p:sp>
        <p:nvSpPr>
          <p:cNvPr id="27" name="Text 25"/>
          <p:cNvSpPr txBox="1"/>
          <p:nvPr/>
        </p:nvSpPr>
        <p:spPr>
          <a:xfrm>
            <a:off x="4895850" y="19621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5105400" y="19621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75" dirty="0"/>
          </a:p>
        </p:txBody>
      </p:sp>
      <p:sp>
        <p:nvSpPr>
          <p:cNvPr id="29" name="Text 27"/>
          <p:cNvSpPr txBox="1"/>
          <p:nvPr/>
        </p:nvSpPr>
        <p:spPr>
          <a:xfrm>
            <a:off x="5314950" y="1943100"/>
            <a:ext cx="16954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그날의 차이가 쌓인다</a:t>
            </a:r>
            <a:endParaRPr lang="en-US" sz="1013" dirty="0"/>
          </a:p>
        </p:txBody>
      </p:sp>
      <p:sp>
        <p:nvSpPr>
          <p:cNvPr id="30" name="Text 28"/>
          <p:cNvSpPr txBox="1"/>
          <p:nvPr/>
        </p:nvSpPr>
        <p:spPr>
          <a:xfrm>
            <a:off x="5314950" y="2152650"/>
            <a:ext cx="1695450" cy="2828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− 계산 = 점 하나가 늘어납니다.</a:t>
            </a:r>
            <a:endParaRPr lang="en-US" sz="825" dirty="0"/>
          </a:p>
        </p:txBody>
      </p:sp>
      <p:sp>
        <p:nvSpPr>
          <p:cNvPr id="31" name="Text 29"/>
          <p:cNvSpPr txBox="1"/>
          <p:nvPr/>
        </p:nvSpPr>
        <p:spPr>
          <a:xfrm>
            <a:off x="7010400" y="19621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7219950" y="19621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975" dirty="0"/>
          </a:p>
        </p:txBody>
      </p:sp>
      <p:sp>
        <p:nvSpPr>
          <p:cNvPr id="33" name="Text 31"/>
          <p:cNvSpPr txBox="1"/>
          <p:nvPr/>
        </p:nvSpPr>
        <p:spPr>
          <a:xfrm>
            <a:off x="7429500" y="1943100"/>
            <a:ext cx="16954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곡선을 다시 그린다</a:t>
            </a:r>
            <a:endParaRPr lang="en-US" sz="1013" dirty="0"/>
          </a:p>
        </p:txBody>
      </p:sp>
      <p:sp>
        <p:nvSpPr>
          <p:cNvPr id="34" name="Text 32"/>
          <p:cNvSpPr txBox="1"/>
          <p:nvPr/>
        </p:nvSpPr>
        <p:spPr>
          <a:xfrm>
            <a:off x="7429500" y="2152650"/>
            <a:ext cx="1695450" cy="2828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쌓인 점 전부로 곡선을 다시 그립니다.</a:t>
            </a:r>
            <a:endParaRPr lang="en-US" sz="825" dirty="0"/>
          </a:p>
        </p:txBody>
      </p:sp>
      <p:sp>
        <p:nvSpPr>
          <p:cNvPr id="35" name="Text 33"/>
          <p:cNvSpPr txBox="1"/>
          <p:nvPr/>
        </p:nvSpPr>
        <p:spPr>
          <a:xfrm>
            <a:off x="9124950" y="19621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9334500" y="19621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975" dirty="0"/>
          </a:p>
        </p:txBody>
      </p:sp>
      <p:sp>
        <p:nvSpPr>
          <p:cNvPr id="37" name="Text 35"/>
          <p:cNvSpPr txBox="1"/>
          <p:nvPr/>
        </p:nvSpPr>
        <p:spPr>
          <a:xfrm>
            <a:off x="9544050" y="1943100"/>
            <a:ext cx="16954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신고에 쓴다</a:t>
            </a:r>
            <a:endParaRPr lang="en-US" sz="1013" dirty="0"/>
          </a:p>
        </p:txBody>
      </p:sp>
      <p:sp>
        <p:nvSpPr>
          <p:cNvPr id="38" name="Text 36"/>
          <p:cNvSpPr txBox="1"/>
          <p:nvPr/>
        </p:nvSpPr>
        <p:spPr>
          <a:xfrm>
            <a:off x="9544050" y="2152650"/>
            <a:ext cx="1695450" cy="2828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61개 표를 새로 만듭니다.</a:t>
            </a:r>
            <a:endParaRPr lang="en-US" sz="825" dirty="0"/>
          </a:p>
        </p:txBody>
      </p:sp>
      <p:sp>
        <p:nvSpPr>
          <p:cNvPr id="39" name="Shape 37"/>
          <p:cNvSpPr/>
          <p:nvPr/>
        </p:nvSpPr>
        <p:spPr>
          <a:xfrm>
            <a:off x="876300" y="255270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76300" y="2628900"/>
            <a:ext cx="857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병행 운전</a:t>
            </a:r>
            <a:endParaRPr lang="en-US" sz="863" dirty="0"/>
          </a:p>
        </p:txBody>
      </p:sp>
      <p:sp>
        <p:nvSpPr>
          <p:cNvPr id="41" name="Text 39"/>
          <p:cNvSpPr txBox="1"/>
          <p:nvPr/>
        </p:nvSpPr>
        <p:spPr>
          <a:xfrm>
            <a:off x="1809750" y="2628900"/>
            <a:ext cx="9448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2026-04-15 ~ 2026-08-26 에 </a:t>
            </a:r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9회</a:t>
            </a:r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평균 어긋난 폭은 </a:t>
            </a:r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1.23 MW</a:t>
            </a:r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치우침은 −0.04 MW 로 한쪽으로 쏠리지 않았습니다.</a:t>
            </a:r>
            <a:endParaRPr lang="en-US" sz="938" dirty="0"/>
          </a:p>
        </p:txBody>
      </p:sp>
      <p:sp>
        <p:nvSpPr>
          <p:cNvPr id="42" name="Shape 40"/>
          <p:cNvSpPr/>
          <p:nvPr/>
        </p:nvSpPr>
        <p:spPr>
          <a:xfrm>
            <a:off x="685800" y="3057525"/>
            <a:ext cx="10820400" cy="30384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85800" y="2933700"/>
            <a:ext cx="23050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819150" y="29908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45" name="Text 43"/>
          <p:cNvSpPr txBox="1"/>
          <p:nvPr/>
        </p:nvSpPr>
        <p:spPr>
          <a:xfrm>
            <a:off x="1009650" y="2990850"/>
            <a:ext cx="18669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실적이 늘면 다시 채점한다</a:t>
            </a:r>
            <a:endParaRPr lang="en-US" sz="1013" dirty="0"/>
          </a:p>
        </p:txBody>
      </p:sp>
      <p:sp>
        <p:nvSpPr>
          <p:cNvPr id="46" name="Text 44"/>
          <p:cNvSpPr txBox="1"/>
          <p:nvPr/>
        </p:nvSpPr>
        <p:spPr>
          <a:xfrm>
            <a:off x="10048875" y="3124200"/>
            <a:ext cx="13430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화면 · 모델 선정</a:t>
            </a:r>
            <a:endParaRPr lang="en-US" sz="825" dirty="0"/>
          </a:p>
        </p:txBody>
      </p:sp>
      <p:sp>
        <p:nvSpPr>
          <p:cNvPr id="47" name="Text 45"/>
          <p:cNvSpPr txBox="1"/>
          <p:nvPr/>
        </p:nvSpPr>
        <p:spPr>
          <a:xfrm>
            <a:off x="876300" y="3295650"/>
            <a:ext cx="10382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</a:t>
            </a:r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다시 채점하나 — 시험이 40회뿐입니다. 표본이 적으면 한 번 고른 곡선을 계속 믿을 수 없고, 실적이 늘면 성적이 바뀔 수 있습니다.</a:t>
            </a:r>
            <a:endParaRPr lang="en-US" sz="938" dirty="0"/>
          </a:p>
        </p:txBody>
      </p:sp>
      <p:sp>
        <p:nvSpPr>
          <p:cNvPr id="48" name="Text 46"/>
          <p:cNvSpPr txBox="1"/>
          <p:nvPr/>
        </p:nvSpPr>
        <p:spPr>
          <a:xfrm>
            <a:off x="876300" y="3486150"/>
            <a:ext cx="10382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</a:t>
            </a:r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채점하나 — 한 회를 가리고 나머지로 그 회를 맞혀 보는 채점을 후보 7가지에 모두 다시 돌려 성적을 새로 매깁니다. 앞서는 모델이 바뀌면 그때 바꿉니다.</a:t>
            </a:r>
            <a:endParaRPr lang="en-US" sz="938" dirty="0"/>
          </a:p>
        </p:txBody>
      </p:sp>
      <p:pic>
        <p:nvPicPr>
          <p:cNvPr id="49" name="Image 0" descr="/home/user/Narae-AI/docs/ppt/assets/tool_win_sel_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6300" y="3733800"/>
            <a:ext cx="7924800" cy="2305050"/>
          </a:xfrm>
          <a:prstGeom prst="rect">
            <a:avLst/>
          </a:prstGeom>
        </p:spPr>
      </p:pic>
      <p:sp>
        <p:nvSpPr>
          <p:cNvPr id="50" name="Shape 47"/>
          <p:cNvSpPr/>
          <p:nvPr/>
        </p:nvSpPr>
        <p:spPr>
          <a:xfrm>
            <a:off x="866775" y="3724275"/>
            <a:ext cx="7943850" cy="2324100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9010650" y="3771900"/>
            <a:ext cx="22479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선정</a:t>
            </a:r>
            <a:endParaRPr lang="en-US" sz="825" dirty="0"/>
          </a:p>
        </p:txBody>
      </p:sp>
      <p:sp>
        <p:nvSpPr>
          <p:cNvPr id="52" name="Text 49"/>
          <p:cNvSpPr txBox="1"/>
          <p:nvPr/>
        </p:nvSpPr>
        <p:spPr>
          <a:xfrm>
            <a:off x="9010650" y="3924300"/>
            <a:ext cx="2247900" cy="54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성적이 가장 좋은 모델에 도구가 표시합니다.</a:t>
            </a:r>
            <a:endParaRPr lang="en-US" sz="788" dirty="0"/>
          </a:p>
        </p:txBody>
      </p:sp>
      <p:sp>
        <p:nvSpPr>
          <p:cNvPr id="53" name="Text 50"/>
          <p:cNvSpPr txBox="1"/>
          <p:nvPr/>
        </p:nvSpPr>
        <p:spPr>
          <a:xfrm>
            <a:off x="9010650" y="4533900"/>
            <a:ext cx="22479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열</a:t>
            </a:r>
            <a:endParaRPr lang="en-US" sz="825" dirty="0"/>
          </a:p>
        </p:txBody>
      </p:sp>
      <p:sp>
        <p:nvSpPr>
          <p:cNvPr id="54" name="Text 51"/>
          <p:cNvSpPr txBox="1"/>
          <p:nvPr/>
        </p:nvSpPr>
        <p:spPr>
          <a:xfrm>
            <a:off x="9010650" y="4686300"/>
            <a:ext cx="2247900" cy="54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MAE · RMSE · R² · 편차 · 과대 신고 건수를 한자리에서 봅니다.</a:t>
            </a:r>
            <a:endParaRPr lang="en-US" sz="788" dirty="0"/>
          </a:p>
        </p:txBody>
      </p:sp>
      <p:sp>
        <p:nvSpPr>
          <p:cNvPr id="55" name="Text 52"/>
          <p:cNvSpPr txBox="1"/>
          <p:nvPr/>
        </p:nvSpPr>
        <p:spPr>
          <a:xfrm>
            <a:off x="9010650" y="5295900"/>
            <a:ext cx="22479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</a:t>
            </a:r>
            <a:endParaRPr lang="en-US" sz="825" dirty="0"/>
          </a:p>
        </p:txBody>
      </p:sp>
      <p:sp>
        <p:nvSpPr>
          <p:cNvPr id="56" name="Text 53"/>
          <p:cNvSpPr txBox="1"/>
          <p:nvPr/>
        </p:nvSpPr>
        <p:spPr>
          <a:xfrm>
            <a:off x="9010650" y="5448300"/>
            <a:ext cx="2247900" cy="54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RBF 가 앞섭니다. 이 표가 다음 회차에 다시 계산됩니다.</a:t>
            </a:r>
            <a:endParaRPr lang="en-US" sz="788" dirty="0"/>
          </a:p>
        </p:txBody>
      </p:sp>
      <p:sp>
        <p:nvSpPr>
          <p:cNvPr id="57" name="Shape 54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59" name="Text 56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60" name="Text 57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넉 달을 나란히 돌려 확인했고, 실적이 늘 때마다 도구가 스스로 다시 채점합니다.</a:t>
            </a:r>
            <a:endParaRPr lang="en-US" sz="1163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개선효과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효과 · 정량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시험 39회에 예전 방법과 새 방법을 각각 써서 채점했습니다.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81175"/>
            <a:ext cx="5295900" cy="13049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57350"/>
            <a:ext cx="13811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714500"/>
            <a:ext cx="9429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 처리 시간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5181600" y="1847850"/>
            <a:ext cx="6858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 기준</a:t>
            </a:r>
            <a:endParaRPr lang="en-US" sz="825" dirty="0"/>
          </a:p>
        </p:txBody>
      </p:sp>
      <p:sp>
        <p:nvSpPr>
          <p:cNvPr id="20" name="Text 18"/>
          <p:cNvSpPr txBox="1"/>
          <p:nvPr/>
        </p:nvSpPr>
        <p:spPr>
          <a:xfrm>
            <a:off x="876300" y="2095500"/>
            <a:ext cx="1257300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88"/>
              </a:lnSpc>
              <a:buNone/>
            </a:pPr>
            <a:r>
              <a:rPr lang="en-US" sz="22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1시간</a:t>
            </a:r>
            <a:endParaRPr lang="en-US" sz="2250" dirty="0"/>
          </a:p>
        </p:txBody>
      </p:sp>
      <p:sp>
        <p:nvSpPr>
          <p:cNvPr id="21" name="Text 19"/>
          <p:cNvSpPr txBox="1"/>
          <p:nvPr/>
        </p:nvSpPr>
        <p:spPr>
          <a:xfrm>
            <a:off x="2228850" y="2190750"/>
            <a:ext cx="28575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2628900" y="2019300"/>
            <a:ext cx="990600" cy="481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3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5분</a:t>
            </a:r>
            <a:endParaRPr lang="en-US" sz="3300" dirty="0"/>
          </a:p>
        </p:txBody>
      </p:sp>
      <p:sp>
        <p:nvSpPr>
          <p:cNvPr id="23" name="Text 21"/>
          <p:cNvSpPr txBox="1"/>
          <p:nvPr/>
        </p:nvSpPr>
        <p:spPr>
          <a:xfrm>
            <a:off x="3676650" y="2286000"/>
            <a:ext cx="571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105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안팎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91050" y="2038350"/>
            <a:ext cx="0" cy="8001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00600" y="2076450"/>
            <a:ext cx="857250" cy="240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7"/>
              </a:lnSpc>
              <a:buNone/>
            </a:pPr>
            <a:r>
              <a:rPr lang="en-US" sz="165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92%</a:t>
            </a:r>
            <a:endParaRPr lang="en-US" sz="1650" dirty="0"/>
          </a:p>
        </p:txBody>
      </p:sp>
      <p:sp>
        <p:nvSpPr>
          <p:cNvPr id="26" name="Text 24"/>
          <p:cNvSpPr txBox="1"/>
          <p:nvPr/>
        </p:nvSpPr>
        <p:spPr>
          <a:xfrm>
            <a:off x="4800600" y="2343150"/>
            <a:ext cx="952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줄었습니다</a:t>
            </a:r>
            <a:endParaRPr lang="en-US" sz="938" dirty="0"/>
          </a:p>
        </p:txBody>
      </p:sp>
      <p:sp>
        <p:nvSpPr>
          <p:cNvPr id="27" name="Text 25"/>
          <p:cNvSpPr txBox="1"/>
          <p:nvPr/>
        </p:nvSpPr>
        <p:spPr>
          <a:xfrm>
            <a:off x="876300" y="2895600"/>
            <a:ext cx="491490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4개를 오가던 일이 날짜·시각 입력으로 바뀌었습니다.</a:t>
            </a:r>
            <a:endParaRPr lang="en-US" sz="938" dirty="0"/>
          </a:p>
        </p:txBody>
      </p:sp>
      <p:sp>
        <p:nvSpPr>
          <p:cNvPr id="28" name="Shape 26"/>
          <p:cNvSpPr/>
          <p:nvPr/>
        </p:nvSpPr>
        <p:spPr>
          <a:xfrm>
            <a:off x="6134100" y="1781175"/>
            <a:ext cx="5372100" cy="13049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34100" y="1657350"/>
            <a:ext cx="13049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2674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31" name="Text 29"/>
          <p:cNvSpPr txBox="1"/>
          <p:nvPr/>
        </p:nvSpPr>
        <p:spPr>
          <a:xfrm>
            <a:off x="6457950" y="1714500"/>
            <a:ext cx="8667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정확도</a:t>
            </a:r>
            <a:endParaRPr lang="en-US" sz="1013" dirty="0"/>
          </a:p>
        </p:txBody>
      </p:sp>
      <p:sp>
        <p:nvSpPr>
          <p:cNvPr id="32" name="Text 30"/>
          <p:cNvSpPr txBox="1"/>
          <p:nvPr/>
        </p:nvSpPr>
        <p:spPr>
          <a:xfrm>
            <a:off x="9163050" y="1847850"/>
            <a:ext cx="22288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39회 · 왼쪽 종전 → 오른쪽 도구</a:t>
            </a:r>
            <a:endParaRPr lang="en-US" sz="825" dirty="0"/>
          </a:p>
        </p:txBody>
      </p:sp>
      <p:sp>
        <p:nvSpPr>
          <p:cNvPr id="33" name="Text 31"/>
          <p:cNvSpPr txBox="1"/>
          <p:nvPr/>
        </p:nvSpPr>
        <p:spPr>
          <a:xfrm>
            <a:off x="6324600" y="2047875"/>
            <a:ext cx="18669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틀리는 폭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8267700" y="2038350"/>
            <a:ext cx="3048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3.9</a:t>
            </a:r>
            <a:endParaRPr lang="en-US" sz="1125" dirty="0"/>
          </a:p>
        </p:txBody>
      </p:sp>
      <p:sp>
        <p:nvSpPr>
          <p:cNvPr id="35" name="Text 33"/>
          <p:cNvSpPr txBox="1"/>
          <p:nvPr/>
        </p:nvSpPr>
        <p:spPr>
          <a:xfrm>
            <a:off x="8629650" y="2057400"/>
            <a:ext cx="190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8858250" y="2019300"/>
            <a:ext cx="409575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5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</a:t>
            </a:r>
            <a:endParaRPr lang="en-US" sz="1575" dirty="0"/>
          </a:p>
        </p:txBody>
      </p:sp>
      <p:sp>
        <p:nvSpPr>
          <p:cNvPr id="37" name="Text 35"/>
          <p:cNvSpPr txBox="1"/>
          <p:nvPr/>
        </p:nvSpPr>
        <p:spPr>
          <a:xfrm>
            <a:off x="9305925" y="2076450"/>
            <a:ext cx="3238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863" dirty="0"/>
          </a:p>
        </p:txBody>
      </p:sp>
      <p:sp>
        <p:nvSpPr>
          <p:cNvPr id="38" name="Text 36"/>
          <p:cNvSpPr txBox="1"/>
          <p:nvPr/>
        </p:nvSpPr>
        <p:spPr>
          <a:xfrm>
            <a:off x="10668000" y="2047875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67%↓</a:t>
            </a:r>
            <a:endParaRPr lang="en-US" sz="938" dirty="0"/>
          </a:p>
        </p:txBody>
      </p:sp>
      <p:sp>
        <p:nvSpPr>
          <p:cNvPr id="39" name="Shape 37"/>
          <p:cNvSpPr/>
          <p:nvPr/>
        </p:nvSpPr>
        <p:spPr>
          <a:xfrm>
            <a:off x="6324600" y="2305050"/>
            <a:ext cx="49911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324600" y="2390775"/>
            <a:ext cx="18669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신고한 만큼 못 낸 횟수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8267700" y="2381250"/>
            <a:ext cx="2190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1125" dirty="0"/>
          </a:p>
        </p:txBody>
      </p:sp>
      <p:sp>
        <p:nvSpPr>
          <p:cNvPr id="42" name="Text 40"/>
          <p:cNvSpPr txBox="1"/>
          <p:nvPr/>
        </p:nvSpPr>
        <p:spPr>
          <a:xfrm>
            <a:off x="8543925" y="2400300"/>
            <a:ext cx="190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8772525" y="2362200"/>
            <a:ext cx="161925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5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575" dirty="0"/>
          </a:p>
        </p:txBody>
      </p:sp>
      <p:sp>
        <p:nvSpPr>
          <p:cNvPr id="44" name="Text 42"/>
          <p:cNvSpPr txBox="1"/>
          <p:nvPr/>
        </p:nvSpPr>
        <p:spPr>
          <a:xfrm>
            <a:off x="8972550" y="2419350"/>
            <a:ext cx="3238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</a:t>
            </a:r>
            <a:endParaRPr lang="en-US" sz="863" dirty="0"/>
          </a:p>
        </p:txBody>
      </p:sp>
      <p:sp>
        <p:nvSpPr>
          <p:cNvPr id="45" name="Text 43"/>
          <p:cNvSpPr txBox="1"/>
          <p:nvPr/>
        </p:nvSpPr>
        <p:spPr>
          <a:xfrm>
            <a:off x="10668000" y="2390775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73%↓</a:t>
            </a:r>
            <a:endParaRPr lang="en-US" sz="938" dirty="0"/>
          </a:p>
        </p:txBody>
      </p:sp>
      <p:sp>
        <p:nvSpPr>
          <p:cNvPr id="46" name="Shape 44"/>
          <p:cNvSpPr/>
          <p:nvPr/>
        </p:nvSpPr>
        <p:spPr>
          <a:xfrm>
            <a:off x="6324600" y="2647950"/>
            <a:ext cx="49911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24600" y="2733675"/>
            <a:ext cx="18669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높게 신고한 양 합계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8267700" y="2724150"/>
            <a:ext cx="2190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70</a:t>
            </a:r>
            <a:endParaRPr lang="en-US" sz="1125" dirty="0"/>
          </a:p>
        </p:txBody>
      </p:sp>
      <p:sp>
        <p:nvSpPr>
          <p:cNvPr id="49" name="Text 47"/>
          <p:cNvSpPr txBox="1"/>
          <p:nvPr/>
        </p:nvSpPr>
        <p:spPr>
          <a:xfrm>
            <a:off x="8543925" y="2743200"/>
            <a:ext cx="190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8772525" y="2705100"/>
            <a:ext cx="161925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5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1575" dirty="0"/>
          </a:p>
        </p:txBody>
      </p:sp>
      <p:sp>
        <p:nvSpPr>
          <p:cNvPr id="51" name="Text 49"/>
          <p:cNvSpPr txBox="1"/>
          <p:nvPr/>
        </p:nvSpPr>
        <p:spPr>
          <a:xfrm>
            <a:off x="8972550" y="2762250"/>
            <a:ext cx="3238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863" dirty="0"/>
          </a:p>
        </p:txBody>
      </p:sp>
      <p:sp>
        <p:nvSpPr>
          <p:cNvPr id="52" name="Text 50"/>
          <p:cNvSpPr txBox="1"/>
          <p:nvPr/>
        </p:nvSpPr>
        <p:spPr>
          <a:xfrm>
            <a:off x="10668000" y="2733675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87%↓</a:t>
            </a:r>
            <a:endParaRPr lang="en-US" sz="938" dirty="0"/>
          </a:p>
        </p:txBody>
      </p:sp>
      <p:sp>
        <p:nvSpPr>
          <p:cNvPr id="53" name="Shape 51"/>
          <p:cNvSpPr/>
          <p:nvPr/>
        </p:nvSpPr>
        <p:spPr>
          <a:xfrm>
            <a:off x="685800" y="3267075"/>
            <a:ext cx="10820400" cy="10572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85800" y="3143250"/>
            <a:ext cx="19431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19150" y="32004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38" dirty="0"/>
          </a:p>
        </p:txBody>
      </p:sp>
      <p:sp>
        <p:nvSpPr>
          <p:cNvPr id="56" name="Text 54"/>
          <p:cNvSpPr txBox="1"/>
          <p:nvPr/>
        </p:nvSpPr>
        <p:spPr>
          <a:xfrm>
            <a:off x="1009650" y="3200400"/>
            <a:ext cx="15049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정확도를 어떻게 쟀나</a:t>
            </a:r>
            <a:endParaRPr lang="en-US" sz="1013" dirty="0"/>
          </a:p>
        </p:txBody>
      </p:sp>
      <p:sp>
        <p:nvSpPr>
          <p:cNvPr id="57" name="Text 55"/>
          <p:cNvSpPr txBox="1"/>
          <p:nvPr/>
        </p:nvSpPr>
        <p:spPr>
          <a:xfrm>
            <a:off x="8486775" y="3333750"/>
            <a:ext cx="29051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신고한 기록이 아니라 되돌려 본 채점입니다</a:t>
            </a:r>
            <a:endParaRPr lang="en-US" sz="825" dirty="0"/>
          </a:p>
        </p:txBody>
      </p:sp>
      <p:sp>
        <p:nvSpPr>
          <p:cNvPr id="58" name="Text 56"/>
          <p:cNvSpPr txBox="1"/>
          <p:nvPr/>
        </p:nvSpPr>
        <p:spPr>
          <a:xfrm>
            <a:off x="876300" y="3505200"/>
            <a:ext cx="152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59" name="Text 57"/>
          <p:cNvSpPr txBox="1"/>
          <p:nvPr/>
        </p:nvSpPr>
        <p:spPr>
          <a:xfrm>
            <a:off x="1066800" y="3486150"/>
            <a:ext cx="2209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회를 가린다</a:t>
            </a:r>
            <a:endParaRPr lang="en-US" sz="975" dirty="0"/>
          </a:p>
        </p:txBody>
      </p:sp>
      <p:sp>
        <p:nvSpPr>
          <p:cNvPr id="60" name="Text 58"/>
          <p:cNvSpPr txBox="1"/>
          <p:nvPr/>
        </p:nvSpPr>
        <p:spPr>
          <a:xfrm>
            <a:off x="1066800" y="3676650"/>
            <a:ext cx="22098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40회 가운데 한 회를 빼 둡니다.</a:t>
            </a:r>
            <a:endParaRPr lang="en-US" sz="788" dirty="0"/>
          </a:p>
        </p:txBody>
      </p:sp>
      <p:sp>
        <p:nvSpPr>
          <p:cNvPr id="61" name="Text 59"/>
          <p:cNvSpPr txBox="1"/>
          <p:nvPr/>
        </p:nvSpPr>
        <p:spPr>
          <a:xfrm>
            <a:off x="3295650" y="350520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62" name="Text 60"/>
          <p:cNvSpPr txBox="1"/>
          <p:nvPr/>
        </p:nvSpPr>
        <p:spPr>
          <a:xfrm>
            <a:off x="3505200" y="3505200"/>
            <a:ext cx="152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  <p:sp>
        <p:nvSpPr>
          <p:cNvPr id="63" name="Text 61"/>
          <p:cNvSpPr txBox="1"/>
          <p:nvPr/>
        </p:nvSpPr>
        <p:spPr>
          <a:xfrm>
            <a:off x="3695700" y="3486150"/>
            <a:ext cx="2209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나머지로 맞혀 본다</a:t>
            </a:r>
            <a:endParaRPr lang="en-US" sz="975" dirty="0"/>
          </a:p>
        </p:txBody>
      </p:sp>
      <p:sp>
        <p:nvSpPr>
          <p:cNvPr id="64" name="Text 62"/>
          <p:cNvSpPr txBox="1"/>
          <p:nvPr/>
        </p:nvSpPr>
        <p:spPr>
          <a:xfrm>
            <a:off x="3695700" y="3676650"/>
            <a:ext cx="22098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가린 회차의 온도만 주고 보정값을 예측하게 합니다.</a:t>
            </a:r>
            <a:endParaRPr lang="en-US" sz="788" dirty="0"/>
          </a:p>
        </p:txBody>
      </p:sp>
      <p:sp>
        <p:nvSpPr>
          <p:cNvPr id="65" name="Text 63"/>
          <p:cNvSpPr txBox="1"/>
          <p:nvPr/>
        </p:nvSpPr>
        <p:spPr>
          <a:xfrm>
            <a:off x="5924550" y="350520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66" name="Text 64"/>
          <p:cNvSpPr txBox="1"/>
          <p:nvPr/>
        </p:nvSpPr>
        <p:spPr>
          <a:xfrm>
            <a:off x="6134100" y="3505200"/>
            <a:ext cx="152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00" dirty="0"/>
          </a:p>
        </p:txBody>
      </p:sp>
      <p:sp>
        <p:nvSpPr>
          <p:cNvPr id="67" name="Text 65"/>
          <p:cNvSpPr txBox="1"/>
          <p:nvPr/>
        </p:nvSpPr>
        <p:spPr>
          <a:xfrm>
            <a:off x="6324600" y="3486150"/>
            <a:ext cx="2209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실제와 견준다</a:t>
            </a:r>
            <a:endParaRPr lang="en-US" sz="975" dirty="0"/>
          </a:p>
        </p:txBody>
      </p:sp>
      <p:sp>
        <p:nvSpPr>
          <p:cNvPr id="68" name="Text 66"/>
          <p:cNvSpPr txBox="1"/>
          <p:nvPr/>
        </p:nvSpPr>
        <p:spPr>
          <a:xfrm>
            <a:off x="6324600" y="3676650"/>
            <a:ext cx="22098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예측한 값과 그날 실제 값의 차이를 적습니다.</a:t>
            </a:r>
            <a:endParaRPr lang="en-US" sz="788" dirty="0"/>
          </a:p>
        </p:txBody>
      </p:sp>
      <p:sp>
        <p:nvSpPr>
          <p:cNvPr id="69" name="Text 67"/>
          <p:cNvSpPr txBox="1"/>
          <p:nvPr/>
        </p:nvSpPr>
        <p:spPr>
          <a:xfrm>
            <a:off x="8553450" y="350520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70" name="Text 68"/>
          <p:cNvSpPr txBox="1"/>
          <p:nvPr/>
        </p:nvSpPr>
        <p:spPr>
          <a:xfrm>
            <a:off x="8763000" y="3505200"/>
            <a:ext cx="152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900" dirty="0"/>
          </a:p>
        </p:txBody>
      </p:sp>
      <p:sp>
        <p:nvSpPr>
          <p:cNvPr id="71" name="Text 69"/>
          <p:cNvSpPr txBox="1"/>
          <p:nvPr/>
        </p:nvSpPr>
        <p:spPr>
          <a:xfrm>
            <a:off x="8953500" y="3486150"/>
            <a:ext cx="2209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 돌아가며 반복</a:t>
            </a:r>
            <a:endParaRPr lang="en-US" sz="975" dirty="0"/>
          </a:p>
        </p:txBody>
      </p:sp>
      <p:sp>
        <p:nvSpPr>
          <p:cNvPr id="72" name="Text 70"/>
          <p:cNvSpPr txBox="1"/>
          <p:nvPr/>
        </p:nvSpPr>
        <p:spPr>
          <a:xfrm>
            <a:off x="8953500" y="3676650"/>
            <a:ext cx="22098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번씩 다 가려 보고 평균을 냅니다.</a:t>
            </a:r>
            <a:endParaRPr lang="en-US" sz="788" dirty="0"/>
          </a:p>
        </p:txBody>
      </p:sp>
      <p:sp>
        <p:nvSpPr>
          <p:cNvPr id="73" name="Text 71"/>
          <p:cNvSpPr txBox="1"/>
          <p:nvPr/>
        </p:nvSpPr>
        <p:spPr>
          <a:xfrm>
            <a:off x="876300" y="4057650"/>
            <a:ext cx="103822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종전 방식도 같은 회차에 「늘 같은 값 하나」를 더해 똑같이 채점했습니다. 그래서 두 값을 나란히 견줄 수 있습니다. 40회 가운데 39회를 썼습니다 — 한 회차는 그 온도 구간에 시험이 그것뿐이어서 가리면 비교 대상 방식 하나가 답을 못 냅니다.</a:t>
            </a:r>
            <a:endParaRPr lang="en-US" sz="750" dirty="0"/>
          </a:p>
        </p:txBody>
      </p:sp>
      <p:sp>
        <p:nvSpPr>
          <p:cNvPr id="74" name="Shape 72"/>
          <p:cNvSpPr/>
          <p:nvPr/>
        </p:nvSpPr>
        <p:spPr>
          <a:xfrm>
            <a:off x="685800" y="4562475"/>
            <a:ext cx="10820400" cy="15335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85800" y="4438650"/>
            <a:ext cx="13049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819150" y="44958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938" dirty="0"/>
          </a:p>
        </p:txBody>
      </p:sp>
      <p:sp>
        <p:nvSpPr>
          <p:cNvPr id="77" name="Text 75"/>
          <p:cNvSpPr txBox="1"/>
          <p:nvPr/>
        </p:nvSpPr>
        <p:spPr>
          <a:xfrm>
            <a:off x="1009650" y="4495800"/>
            <a:ext cx="8667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돈으로 보면</a:t>
            </a:r>
            <a:endParaRPr lang="en-US" sz="1013" dirty="0"/>
          </a:p>
        </p:txBody>
      </p:sp>
      <p:sp>
        <p:nvSpPr>
          <p:cNvPr id="78" name="Text 76"/>
          <p:cNvSpPr txBox="1"/>
          <p:nvPr/>
        </p:nvSpPr>
        <p:spPr>
          <a:xfrm>
            <a:off x="10534650" y="4629150"/>
            <a:ext cx="8572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용량요금 기준</a:t>
            </a:r>
            <a:endParaRPr lang="en-US" sz="825" dirty="0"/>
          </a:p>
        </p:txBody>
      </p:sp>
      <p:sp>
        <p:nvSpPr>
          <p:cNvPr id="79" name="Text 77"/>
          <p:cNvSpPr txBox="1"/>
          <p:nvPr/>
        </p:nvSpPr>
        <p:spPr>
          <a:xfrm>
            <a:off x="876300" y="4800600"/>
            <a:ext cx="400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낮게 신고해서 못 받던 용량요금 (한 해)</a:t>
            </a:r>
            <a:endParaRPr lang="en-US" sz="900" dirty="0"/>
          </a:p>
        </p:txBody>
      </p:sp>
      <p:sp>
        <p:nvSpPr>
          <p:cNvPr id="80" name="Text 78"/>
          <p:cNvSpPr txBox="1"/>
          <p:nvPr/>
        </p:nvSpPr>
        <p:spPr>
          <a:xfrm>
            <a:off x="876300" y="4991100"/>
            <a:ext cx="1714500" cy="240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7"/>
              </a:lnSpc>
              <a:buNone/>
            </a:pPr>
            <a:r>
              <a:rPr lang="en-US" sz="16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9,702만원</a:t>
            </a:r>
            <a:endParaRPr lang="en-US" sz="1650" dirty="0"/>
          </a:p>
        </p:txBody>
      </p:sp>
      <p:sp>
        <p:nvSpPr>
          <p:cNvPr id="81" name="Text 79"/>
          <p:cNvSpPr txBox="1"/>
          <p:nvPr/>
        </p:nvSpPr>
        <p:spPr>
          <a:xfrm>
            <a:off x="2647950" y="5067300"/>
            <a:ext cx="2667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125" dirty="0"/>
          </a:p>
        </p:txBody>
      </p:sp>
      <p:sp>
        <p:nvSpPr>
          <p:cNvPr id="82" name="Text 80"/>
          <p:cNvSpPr txBox="1"/>
          <p:nvPr/>
        </p:nvSpPr>
        <p:spPr>
          <a:xfrm>
            <a:off x="2990850" y="4953000"/>
            <a:ext cx="2095500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15"/>
              </a:lnSpc>
              <a:buNone/>
            </a:pPr>
            <a:r>
              <a:rPr lang="en-US" sz="21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3,943만원</a:t>
            </a:r>
            <a:endParaRPr lang="en-US" sz="2100" dirty="0"/>
          </a:p>
        </p:txBody>
      </p:sp>
      <p:sp>
        <p:nvSpPr>
          <p:cNvPr id="83" name="Shape 81"/>
          <p:cNvSpPr/>
          <p:nvPr/>
        </p:nvSpPr>
        <p:spPr>
          <a:xfrm>
            <a:off x="876300" y="5391150"/>
            <a:ext cx="381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1047750" y="5372100"/>
            <a:ext cx="4191000" cy="235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2"/>
              </a:lnSpc>
              <a:buNone/>
            </a:pPr>
            <a:r>
              <a:rPr lang="en-US" sz="142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해 5,759만원을 되찾습니다</a:t>
            </a:r>
            <a:endParaRPr lang="en-US" sz="1425" dirty="0"/>
          </a:p>
        </p:txBody>
      </p:sp>
      <p:sp>
        <p:nvSpPr>
          <p:cNvPr id="85" name="Text 83"/>
          <p:cNvSpPr txBox="1"/>
          <p:nvPr/>
        </p:nvSpPr>
        <p:spPr>
          <a:xfrm>
            <a:off x="1047750" y="5638800"/>
            <a:ext cx="4191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낮게 신고한 양이 줄어든 만큼입니다.</a:t>
            </a:r>
            <a:endParaRPr lang="en-US" sz="863" dirty="0"/>
          </a:p>
        </p:txBody>
      </p:sp>
      <p:sp>
        <p:nvSpPr>
          <p:cNvPr id="86" name="Shape 84"/>
          <p:cNvSpPr/>
          <p:nvPr/>
        </p:nvSpPr>
        <p:spPr>
          <a:xfrm>
            <a:off x="5772150" y="4781550"/>
            <a:ext cx="0" cy="11430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6096000" y="4800600"/>
            <a:ext cx="1714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용량요금 단가</a:t>
            </a:r>
            <a:endParaRPr lang="en-US" sz="863" dirty="0"/>
          </a:p>
        </p:txBody>
      </p:sp>
      <p:sp>
        <p:nvSpPr>
          <p:cNvPr id="88" name="Text 86"/>
          <p:cNvSpPr txBox="1"/>
          <p:nvPr/>
        </p:nvSpPr>
        <p:spPr>
          <a:xfrm>
            <a:off x="7905750" y="4800600"/>
            <a:ext cx="34099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150 원/kW·일</a:t>
            </a:r>
            <a:endParaRPr lang="en-US" sz="900" dirty="0"/>
          </a:p>
        </p:txBody>
      </p:sp>
      <p:sp>
        <p:nvSpPr>
          <p:cNvPr id="89" name="Text 87"/>
          <p:cNvSpPr txBox="1"/>
          <p:nvPr/>
        </p:nvSpPr>
        <p:spPr>
          <a:xfrm>
            <a:off x="6096000" y="5048250"/>
            <a:ext cx="1714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입찰하는 날</a:t>
            </a:r>
            <a:endParaRPr lang="en-US" sz="863" dirty="0"/>
          </a:p>
        </p:txBody>
      </p:sp>
      <p:sp>
        <p:nvSpPr>
          <p:cNvPr id="90" name="Text 88"/>
          <p:cNvSpPr txBox="1"/>
          <p:nvPr/>
        </p:nvSpPr>
        <p:spPr>
          <a:xfrm>
            <a:off x="7905750" y="5048250"/>
            <a:ext cx="34099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335 일 (정비 30일 제외)</a:t>
            </a:r>
            <a:endParaRPr lang="en-US" sz="900" dirty="0"/>
          </a:p>
        </p:txBody>
      </p:sp>
      <p:sp>
        <p:nvSpPr>
          <p:cNvPr id="91" name="Text 89"/>
          <p:cNvSpPr txBox="1"/>
          <p:nvPr/>
        </p:nvSpPr>
        <p:spPr>
          <a:xfrm>
            <a:off x="6096000" y="5295900"/>
            <a:ext cx="1714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채점한 시험</a:t>
            </a:r>
            <a:endParaRPr lang="en-US" sz="863" dirty="0"/>
          </a:p>
        </p:txBody>
      </p:sp>
      <p:sp>
        <p:nvSpPr>
          <p:cNvPr id="92" name="Text 90"/>
          <p:cNvSpPr txBox="1"/>
          <p:nvPr/>
        </p:nvSpPr>
        <p:spPr>
          <a:xfrm>
            <a:off x="7905750" y="5295900"/>
            <a:ext cx="34099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 회</a:t>
            </a:r>
            <a:endParaRPr lang="en-US" sz="900" dirty="0"/>
          </a:p>
        </p:txBody>
      </p:sp>
      <p:sp>
        <p:nvSpPr>
          <p:cNvPr id="93" name="Text 91"/>
          <p:cNvSpPr txBox="1"/>
          <p:nvPr/>
        </p:nvSpPr>
        <p:spPr>
          <a:xfrm>
            <a:off x="6096000" y="5543550"/>
            <a:ext cx="1714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넣지 않은 것</a:t>
            </a:r>
            <a:endParaRPr lang="en-US" sz="863" dirty="0"/>
          </a:p>
        </p:txBody>
      </p:sp>
      <p:sp>
        <p:nvSpPr>
          <p:cNvPr id="94" name="Text 92"/>
          <p:cNvSpPr txBox="1"/>
          <p:nvPr/>
        </p:nvSpPr>
        <p:spPr>
          <a:xfrm>
            <a:off x="7905750" y="5543550"/>
            <a:ext cx="34099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전력 판매 수익 · 벌칙금</a:t>
            </a:r>
            <a:endParaRPr lang="en-US" sz="900" dirty="0"/>
          </a:p>
        </p:txBody>
      </p:sp>
      <p:sp>
        <p:nvSpPr>
          <p:cNvPr id="95" name="Text 93"/>
          <p:cNvSpPr txBox="1"/>
          <p:nvPr/>
        </p:nvSpPr>
        <p:spPr>
          <a:xfrm>
            <a:off x="6096000" y="5848350"/>
            <a:ext cx="52197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 단가는 담당자에게 확인 중인 계획값입니다. 확정되면 다시 계산합니다.</a:t>
            </a:r>
            <a:endParaRPr lang="en-US" sz="750" dirty="0"/>
          </a:p>
        </p:txBody>
      </p:sp>
      <p:sp>
        <p:nvSpPr>
          <p:cNvPr id="96" name="Shape 94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99" name="Text 97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일은 줄고 숫자는 정확해졌습니다. 처음에 세운 목표 두 가지입니다.</a:t>
            </a:r>
            <a:endParaRPr lang="en-US" sz="1163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개선효과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효과 · 정성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숫자로 적기 어렵지만 일하는 방식에서 달라진 것들입니다.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24025"/>
            <a:ext cx="10820400" cy="34956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00200"/>
            <a:ext cx="21717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6573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657350"/>
            <a:ext cx="17335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전에 미리 가늠한다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9705975" y="1790700"/>
            <a:ext cx="16859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화면 · 출력 시뮬레이션</a:t>
            </a:r>
            <a:endParaRPr lang="en-US" sz="825" dirty="0"/>
          </a:p>
        </p:txBody>
      </p:sp>
      <p:sp>
        <p:nvSpPr>
          <p:cNvPr id="20" name="Text 18"/>
          <p:cNvSpPr txBox="1"/>
          <p:nvPr/>
        </p:nvSpPr>
        <p:spPr>
          <a:xfrm>
            <a:off x="876300" y="1943100"/>
            <a:ext cx="89535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온도와 대기압을 넣으면 그 조건의 이론값 · 더하는 값 · 신고값이 한 번에 나옵니다.</a:t>
            </a:r>
            <a:endParaRPr lang="en-US" sz="900" dirty="0"/>
          </a:p>
        </p:txBody>
      </p:sp>
      <p:pic>
        <p:nvPicPr>
          <p:cNvPr id="21" name="Image 0" descr="/home/user/Narae-AI/docs/ppt/assets/tool_win_si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6300" y="2171700"/>
            <a:ext cx="8953500" cy="2962275"/>
          </a:xfrm>
          <a:prstGeom prst="rect">
            <a:avLst/>
          </a:prstGeom>
        </p:spPr>
      </p:pic>
      <p:sp>
        <p:nvSpPr>
          <p:cNvPr id="22" name="Shape 19"/>
          <p:cNvSpPr/>
          <p:nvPr/>
        </p:nvSpPr>
        <p:spPr>
          <a:xfrm>
            <a:off x="866775" y="2162175"/>
            <a:ext cx="8972550" cy="2981325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963150" y="1962150"/>
            <a:ext cx="12954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6E77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전에는</a:t>
            </a:r>
            <a:endParaRPr lang="en-US" sz="863" dirty="0"/>
          </a:p>
        </p:txBody>
      </p:sp>
      <p:sp>
        <p:nvSpPr>
          <p:cNvPr id="24" name="Text 21"/>
          <p:cNvSpPr txBox="1"/>
          <p:nvPr/>
        </p:nvSpPr>
        <p:spPr>
          <a:xfrm>
            <a:off x="9963150" y="2133600"/>
            <a:ext cx="1295400" cy="733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시험이 끝나야 그날 숫자를 알았습니다.</a:t>
            </a:r>
            <a:endParaRPr lang="en-US" sz="825" dirty="0"/>
          </a:p>
        </p:txBody>
      </p:sp>
      <p:sp>
        <p:nvSpPr>
          <p:cNvPr id="25" name="Text 22"/>
          <p:cNvSpPr txBox="1"/>
          <p:nvPr/>
        </p:nvSpPr>
        <p:spPr>
          <a:xfrm>
            <a:off x="9963150" y="2952750"/>
            <a:ext cx="12954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지금은</a:t>
            </a:r>
            <a:endParaRPr lang="en-US" sz="863" dirty="0"/>
          </a:p>
        </p:txBody>
      </p:sp>
      <p:sp>
        <p:nvSpPr>
          <p:cNvPr id="26" name="Text 23"/>
          <p:cNvSpPr txBox="1"/>
          <p:nvPr/>
        </p:nvSpPr>
        <p:spPr>
          <a:xfrm>
            <a:off x="9963150" y="3124200"/>
            <a:ext cx="1295400" cy="733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전에 미리 계산해 봅니다.</a:t>
            </a:r>
            <a:endParaRPr lang="en-US" sz="825" dirty="0"/>
          </a:p>
        </p:txBody>
      </p:sp>
      <p:sp>
        <p:nvSpPr>
          <p:cNvPr id="27" name="Text 24"/>
          <p:cNvSpPr txBox="1"/>
          <p:nvPr/>
        </p:nvSpPr>
        <p:spPr>
          <a:xfrm>
            <a:off x="9963150" y="3943350"/>
            <a:ext cx="12954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쓰는 때</a:t>
            </a:r>
            <a:endParaRPr lang="en-US" sz="863" dirty="0"/>
          </a:p>
        </p:txBody>
      </p:sp>
      <p:sp>
        <p:nvSpPr>
          <p:cNvPr id="28" name="Text 25"/>
          <p:cNvSpPr txBox="1"/>
          <p:nvPr/>
        </p:nvSpPr>
        <p:spPr>
          <a:xfrm>
            <a:off x="9963150" y="4114800"/>
            <a:ext cx="1295400" cy="733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계획을 세울 때, 그리고 결과가 이상할 때.</a:t>
            </a:r>
            <a:endParaRPr lang="en-US" sz="825" dirty="0"/>
          </a:p>
        </p:txBody>
      </p:sp>
      <p:sp>
        <p:nvSpPr>
          <p:cNvPr id="29" name="Shape 26"/>
          <p:cNvSpPr/>
          <p:nvPr/>
        </p:nvSpPr>
        <p:spPr>
          <a:xfrm>
            <a:off x="685800" y="5457825"/>
            <a:ext cx="10820400" cy="6381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85800" y="5334000"/>
            <a:ext cx="174307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819150" y="53911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32" name="Text 29"/>
          <p:cNvSpPr txBox="1"/>
          <p:nvPr/>
        </p:nvSpPr>
        <p:spPr>
          <a:xfrm>
            <a:off x="1009650" y="5391150"/>
            <a:ext cx="130492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밖에 달라진 것</a:t>
            </a:r>
            <a:endParaRPr lang="en-US" sz="1013" dirty="0"/>
          </a:p>
        </p:txBody>
      </p:sp>
      <p:sp>
        <p:nvSpPr>
          <p:cNvPr id="33" name="Shape 30"/>
          <p:cNvSpPr/>
          <p:nvPr/>
        </p:nvSpPr>
        <p:spPr>
          <a:xfrm>
            <a:off x="876300" y="5715000"/>
            <a:ext cx="38100" cy="1714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1028700" y="5695950"/>
            <a:ext cx="31432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놓치던 것을 도구가 본다</a:t>
            </a:r>
            <a:endParaRPr lang="en-US" sz="1013" dirty="0"/>
          </a:p>
        </p:txBody>
      </p:sp>
      <p:sp>
        <p:nvSpPr>
          <p:cNvPr id="35" name="Text 32"/>
          <p:cNvSpPr txBox="1"/>
          <p:nvPr/>
        </p:nvSpPr>
        <p:spPr>
          <a:xfrm>
            <a:off x="1028700" y="5886450"/>
            <a:ext cx="3143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잘못된 시험 세 가지를 도구가 걸러냅니다.</a:t>
            </a:r>
            <a:endParaRPr lang="en-US" sz="825" dirty="0"/>
          </a:p>
        </p:txBody>
      </p:sp>
      <p:sp>
        <p:nvSpPr>
          <p:cNvPr id="36" name="Shape 33"/>
          <p:cNvSpPr/>
          <p:nvPr/>
        </p:nvSpPr>
        <p:spPr>
          <a:xfrm>
            <a:off x="4229100" y="5676900"/>
            <a:ext cx="0" cy="4191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381500" y="5715000"/>
            <a:ext cx="38100" cy="1714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4533900" y="5695950"/>
            <a:ext cx="31432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숫자의 근거가 남는다</a:t>
            </a:r>
            <a:endParaRPr lang="en-US" sz="1013" dirty="0"/>
          </a:p>
        </p:txBody>
      </p:sp>
      <p:sp>
        <p:nvSpPr>
          <p:cNvPr id="39" name="Text 36"/>
          <p:cNvSpPr txBox="1"/>
          <p:nvPr/>
        </p:nvSpPr>
        <p:spPr>
          <a:xfrm>
            <a:off x="4533900" y="5886450"/>
            <a:ext cx="3143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회차가 어떻게 쓰였는지 화면에 남습니다.</a:t>
            </a:r>
            <a:endParaRPr lang="en-US" sz="825" dirty="0"/>
          </a:p>
        </p:txBody>
      </p:sp>
      <p:sp>
        <p:nvSpPr>
          <p:cNvPr id="40" name="Shape 37"/>
          <p:cNvSpPr/>
          <p:nvPr/>
        </p:nvSpPr>
        <p:spPr>
          <a:xfrm>
            <a:off x="7734300" y="5676900"/>
            <a:ext cx="0" cy="4191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7886700" y="5715000"/>
            <a:ext cx="38100" cy="1714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8039100" y="5695950"/>
            <a:ext cx="31432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담당자가 바뀌어도 같다</a:t>
            </a:r>
            <a:endParaRPr lang="en-US" sz="1013" dirty="0"/>
          </a:p>
        </p:txBody>
      </p:sp>
      <p:sp>
        <p:nvSpPr>
          <p:cNvPr id="43" name="Text 40"/>
          <p:cNvSpPr txBox="1"/>
          <p:nvPr/>
        </p:nvSpPr>
        <p:spPr>
          <a:xfrm>
            <a:off x="8039100" y="5886450"/>
            <a:ext cx="3143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절차가 도구 안에 들어 있습니다.</a:t>
            </a:r>
            <a:endParaRPr lang="en-US" sz="825" dirty="0"/>
          </a:p>
        </p:txBody>
      </p:sp>
      <p:sp>
        <p:nvSpPr>
          <p:cNvPr id="44" name="Shape 41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47" name="Text 44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 말고도, 일하는 방식이 사람 손에서 도구 쪽으로 옮겨 왔습니다.</a:t>
            </a:r>
            <a:endParaRPr lang="en-US" sz="1163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실적을 쌓아 더 정확하게 만들고, 입찰을 하는 다른 사업소로 넓힙니다.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24025"/>
            <a:ext cx="10820400" cy="13620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00200"/>
            <a:ext cx="20288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6573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657350"/>
            <a:ext cx="15906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어디가 비어 있나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9515475" y="1790700"/>
            <a:ext cx="18764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40회 · 온도대별 시험 횟수</a:t>
            </a:r>
            <a:endParaRPr lang="en-US" sz="825" dirty="0"/>
          </a:p>
        </p:txBody>
      </p:sp>
      <p:sp>
        <p:nvSpPr>
          <p:cNvPr id="20" name="Shape 18"/>
          <p:cNvSpPr/>
          <p:nvPr/>
        </p:nvSpPr>
        <p:spPr>
          <a:xfrm>
            <a:off x="876300" y="2705100"/>
            <a:ext cx="1038225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76350" y="2638425"/>
            <a:ext cx="419100" cy="66675"/>
          </a:xfrm>
          <a:prstGeom prst="rect">
            <a:avLst/>
          </a:prstGeom>
          <a:solidFill>
            <a:srgbClr val="FF6F0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76300" y="2457450"/>
            <a:ext cx="1219200" cy="1657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5"/>
              </a:lnSpc>
              <a:buNone/>
            </a:pPr>
            <a:r>
              <a:rPr lang="en-US" sz="1088" b="1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2회</a:t>
            </a:r>
            <a:endParaRPr lang="en-US" sz="1088" dirty="0"/>
          </a:p>
        </p:txBody>
      </p:sp>
      <p:sp>
        <p:nvSpPr>
          <p:cNvPr id="23" name="Text 21"/>
          <p:cNvSpPr txBox="1"/>
          <p:nvPr/>
        </p:nvSpPr>
        <p:spPr>
          <a:xfrm>
            <a:off x="876300" y="2781300"/>
            <a:ext cx="1219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0℃ 이하</a:t>
            </a:r>
            <a:endParaRPr lang="en-US" sz="788" dirty="0"/>
          </a:p>
        </p:txBody>
      </p:sp>
      <p:sp>
        <p:nvSpPr>
          <p:cNvPr id="24" name="Shape 22"/>
          <p:cNvSpPr/>
          <p:nvPr/>
        </p:nvSpPr>
        <p:spPr>
          <a:xfrm>
            <a:off x="2095500" y="2114550"/>
            <a:ext cx="0" cy="5715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762250" y="2457450"/>
            <a:ext cx="419100" cy="2476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2362200" y="2276475"/>
            <a:ext cx="1219200" cy="1657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5"/>
              </a:lnSpc>
              <a:buNone/>
            </a:pPr>
            <a:r>
              <a:rPr lang="en-US" sz="108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7회</a:t>
            </a:r>
            <a:endParaRPr lang="en-US" sz="1088" dirty="0"/>
          </a:p>
        </p:txBody>
      </p:sp>
      <p:sp>
        <p:nvSpPr>
          <p:cNvPr id="27" name="Text 25"/>
          <p:cNvSpPr txBox="1"/>
          <p:nvPr/>
        </p:nvSpPr>
        <p:spPr>
          <a:xfrm>
            <a:off x="2362200" y="2781300"/>
            <a:ext cx="1219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 ~ 10℃</a:t>
            </a:r>
            <a:endParaRPr lang="en-US" sz="788" dirty="0"/>
          </a:p>
        </p:txBody>
      </p:sp>
      <p:sp>
        <p:nvSpPr>
          <p:cNvPr id="28" name="Shape 26"/>
          <p:cNvSpPr/>
          <p:nvPr/>
        </p:nvSpPr>
        <p:spPr>
          <a:xfrm>
            <a:off x="3581400" y="2114550"/>
            <a:ext cx="0" cy="5715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248150" y="2495550"/>
            <a:ext cx="419100" cy="2095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848100" y="2314575"/>
            <a:ext cx="1219200" cy="1657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5"/>
              </a:lnSpc>
              <a:buNone/>
            </a:pPr>
            <a:r>
              <a:rPr lang="en-US" sz="108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6회</a:t>
            </a:r>
            <a:endParaRPr lang="en-US" sz="1088" dirty="0"/>
          </a:p>
        </p:txBody>
      </p:sp>
      <p:sp>
        <p:nvSpPr>
          <p:cNvPr id="31" name="Text 29"/>
          <p:cNvSpPr txBox="1"/>
          <p:nvPr/>
        </p:nvSpPr>
        <p:spPr>
          <a:xfrm>
            <a:off x="3848100" y="2781300"/>
            <a:ext cx="1219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~ 15℃</a:t>
            </a:r>
            <a:endParaRPr lang="en-US" sz="788" dirty="0"/>
          </a:p>
        </p:txBody>
      </p:sp>
      <p:sp>
        <p:nvSpPr>
          <p:cNvPr id="32" name="Shape 30"/>
          <p:cNvSpPr/>
          <p:nvPr/>
        </p:nvSpPr>
        <p:spPr>
          <a:xfrm>
            <a:off x="5067300" y="2114550"/>
            <a:ext cx="0" cy="5715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734050" y="2600325"/>
            <a:ext cx="419100" cy="104775"/>
          </a:xfrm>
          <a:prstGeom prst="rect">
            <a:avLst/>
          </a:prstGeom>
          <a:solidFill>
            <a:srgbClr val="FF6F0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5334000" y="2419350"/>
            <a:ext cx="1219200" cy="1657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5"/>
              </a:lnSpc>
              <a:buNone/>
            </a:pPr>
            <a:r>
              <a:rPr lang="en-US" sz="1088" b="1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3회</a:t>
            </a:r>
            <a:endParaRPr lang="en-US" sz="1088" dirty="0"/>
          </a:p>
        </p:txBody>
      </p:sp>
      <p:sp>
        <p:nvSpPr>
          <p:cNvPr id="35" name="Text 33"/>
          <p:cNvSpPr txBox="1"/>
          <p:nvPr/>
        </p:nvSpPr>
        <p:spPr>
          <a:xfrm>
            <a:off x="5334000" y="2781300"/>
            <a:ext cx="1219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 ~ 20℃</a:t>
            </a:r>
            <a:endParaRPr lang="en-US" sz="788" dirty="0"/>
          </a:p>
        </p:txBody>
      </p:sp>
      <p:sp>
        <p:nvSpPr>
          <p:cNvPr id="36" name="Shape 34"/>
          <p:cNvSpPr/>
          <p:nvPr/>
        </p:nvSpPr>
        <p:spPr>
          <a:xfrm>
            <a:off x="6553200" y="2114550"/>
            <a:ext cx="0" cy="5715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219950" y="2667000"/>
            <a:ext cx="419100" cy="38100"/>
          </a:xfrm>
          <a:prstGeom prst="rect">
            <a:avLst/>
          </a:prstGeom>
          <a:solidFill>
            <a:srgbClr val="FF6F0F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819900" y="2486025"/>
            <a:ext cx="1219200" cy="1657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5"/>
              </a:lnSpc>
              <a:buNone/>
            </a:pPr>
            <a:r>
              <a:rPr lang="en-US" sz="1088" b="1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1회</a:t>
            </a:r>
            <a:endParaRPr lang="en-US" sz="1088" dirty="0"/>
          </a:p>
        </p:txBody>
      </p:sp>
      <p:sp>
        <p:nvSpPr>
          <p:cNvPr id="39" name="Text 37"/>
          <p:cNvSpPr txBox="1"/>
          <p:nvPr/>
        </p:nvSpPr>
        <p:spPr>
          <a:xfrm>
            <a:off x="6819900" y="2781300"/>
            <a:ext cx="1219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 ~ 25℃</a:t>
            </a:r>
            <a:endParaRPr lang="en-US" sz="788" dirty="0"/>
          </a:p>
        </p:txBody>
      </p:sp>
      <p:sp>
        <p:nvSpPr>
          <p:cNvPr id="40" name="Shape 38"/>
          <p:cNvSpPr/>
          <p:nvPr/>
        </p:nvSpPr>
        <p:spPr>
          <a:xfrm>
            <a:off x="8039100" y="2114550"/>
            <a:ext cx="0" cy="5715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705850" y="2495550"/>
            <a:ext cx="419100" cy="2095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8305800" y="2314575"/>
            <a:ext cx="1219200" cy="1657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5"/>
              </a:lnSpc>
              <a:buNone/>
            </a:pPr>
            <a:r>
              <a:rPr lang="en-US" sz="108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6회</a:t>
            </a:r>
            <a:endParaRPr lang="en-US" sz="1088" dirty="0"/>
          </a:p>
        </p:txBody>
      </p:sp>
      <p:sp>
        <p:nvSpPr>
          <p:cNvPr id="43" name="Text 41"/>
          <p:cNvSpPr txBox="1"/>
          <p:nvPr/>
        </p:nvSpPr>
        <p:spPr>
          <a:xfrm>
            <a:off x="8305800" y="2781300"/>
            <a:ext cx="1219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 ~ 30℃</a:t>
            </a:r>
            <a:endParaRPr lang="en-US" sz="788" dirty="0"/>
          </a:p>
        </p:txBody>
      </p:sp>
      <p:sp>
        <p:nvSpPr>
          <p:cNvPr id="44" name="Shape 42"/>
          <p:cNvSpPr/>
          <p:nvPr/>
        </p:nvSpPr>
        <p:spPr>
          <a:xfrm>
            <a:off x="9525000" y="2114550"/>
            <a:ext cx="0" cy="5715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0191750" y="2171700"/>
            <a:ext cx="419100" cy="5334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9791700" y="1990725"/>
            <a:ext cx="1219200" cy="1657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5"/>
              </a:lnSpc>
              <a:buNone/>
            </a:pPr>
            <a:r>
              <a:rPr lang="en-US" sz="108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15회</a:t>
            </a:r>
            <a:endParaRPr lang="en-US" sz="1088" dirty="0"/>
          </a:p>
        </p:txBody>
      </p:sp>
      <p:sp>
        <p:nvSpPr>
          <p:cNvPr id="47" name="Text 45"/>
          <p:cNvSpPr txBox="1"/>
          <p:nvPr/>
        </p:nvSpPr>
        <p:spPr>
          <a:xfrm>
            <a:off x="9791700" y="2781300"/>
            <a:ext cx="1219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 ~ 41℃</a:t>
            </a:r>
            <a:endParaRPr lang="en-US" sz="788" dirty="0"/>
          </a:p>
        </p:txBody>
      </p:sp>
      <p:sp>
        <p:nvSpPr>
          <p:cNvPr id="48" name="Text 46"/>
          <p:cNvSpPr txBox="1"/>
          <p:nvPr/>
        </p:nvSpPr>
        <p:spPr>
          <a:xfrm>
            <a:off x="876300" y="2952750"/>
            <a:ext cx="10382250" cy="13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주황은 3회 이하 — 더 쌓아야 하는 온도대입니다. 신고는 −20 ~ 40℃ 전부인데 실적은 −1.9 ~ 37.9℃ 뿐이라, 그 밖은 끝값을 그대로 씁니다.</a:t>
            </a:r>
            <a:endParaRPr lang="en-US" sz="788" dirty="0"/>
          </a:p>
        </p:txBody>
      </p:sp>
      <p:sp>
        <p:nvSpPr>
          <p:cNvPr id="49" name="Shape 47"/>
          <p:cNvSpPr/>
          <p:nvPr/>
        </p:nvSpPr>
        <p:spPr>
          <a:xfrm>
            <a:off x="685800" y="3324225"/>
            <a:ext cx="10820400" cy="27717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85800" y="3200400"/>
            <a:ext cx="13049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819150" y="32575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52" name="Text 50"/>
          <p:cNvSpPr txBox="1"/>
          <p:nvPr/>
        </p:nvSpPr>
        <p:spPr>
          <a:xfrm>
            <a:off x="1009650" y="3257550"/>
            <a:ext cx="8667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단계별 계획</a:t>
            </a:r>
            <a:endParaRPr lang="en-US" sz="1013" dirty="0"/>
          </a:p>
        </p:txBody>
      </p:sp>
      <p:sp>
        <p:nvSpPr>
          <p:cNvPr id="53" name="Text 51"/>
          <p:cNvSpPr txBox="1"/>
          <p:nvPr/>
        </p:nvSpPr>
        <p:spPr>
          <a:xfrm>
            <a:off x="10134600" y="3390900"/>
            <a:ext cx="1257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 하반기 → 2028</a:t>
            </a:r>
            <a:endParaRPr lang="en-US" sz="825" dirty="0"/>
          </a:p>
        </p:txBody>
      </p:sp>
      <p:sp>
        <p:nvSpPr>
          <p:cNvPr id="54" name="Shape 52"/>
          <p:cNvSpPr/>
          <p:nvPr/>
        </p:nvSpPr>
        <p:spPr>
          <a:xfrm>
            <a:off x="2076450" y="3600450"/>
            <a:ext cx="0" cy="243840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76300" y="3581400"/>
            <a:ext cx="10477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 하반기</a:t>
            </a:r>
            <a:endParaRPr lang="en-US" sz="863" dirty="0"/>
          </a:p>
        </p:txBody>
      </p:sp>
      <p:sp>
        <p:nvSpPr>
          <p:cNvPr id="56" name="Shape 54"/>
          <p:cNvSpPr/>
          <p:nvPr/>
        </p:nvSpPr>
        <p:spPr>
          <a:xfrm>
            <a:off x="2033588" y="3605213"/>
            <a:ext cx="85725" cy="85725"/>
          </a:xfrm>
          <a:prstGeom prst="ellipse">
            <a:avLst/>
          </a:prstGeom>
          <a:solidFill>
            <a:srgbClr val="EA002C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2286000" y="3562350"/>
            <a:ext cx="89725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위례 정착 · 빈 온도대 채우기</a:t>
            </a:r>
            <a:endParaRPr lang="en-US" sz="1088" dirty="0"/>
          </a:p>
        </p:txBody>
      </p:sp>
      <p:sp>
        <p:nvSpPr>
          <p:cNvPr id="58" name="Text 56"/>
          <p:cNvSpPr txBox="1"/>
          <p:nvPr/>
        </p:nvSpPr>
        <p:spPr>
          <a:xfrm>
            <a:off x="2286000" y="3752850"/>
            <a:ext cx="8972550" cy="151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96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2주마다 시험하고 결과를 도구에 넣습니다. 20~25℃ 1회, 15~20℃ 3회처럼 얇은 온도대부터 채웁니다.</a:t>
            </a:r>
            <a:endParaRPr lang="en-US" sz="825" dirty="0"/>
          </a:p>
        </p:txBody>
      </p:sp>
      <p:sp>
        <p:nvSpPr>
          <p:cNvPr id="59" name="Shape 57"/>
          <p:cNvSpPr/>
          <p:nvPr/>
        </p:nvSpPr>
        <p:spPr>
          <a:xfrm>
            <a:off x="2047875" y="3981450"/>
            <a:ext cx="57150" cy="57150"/>
          </a:xfrm>
          <a:prstGeom prst="ellipse">
            <a:avLst/>
          </a:prstGeom>
          <a:solidFill>
            <a:srgbClr val="C4CAD1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2286000" y="3924300"/>
            <a:ext cx="89725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대기압 예보 자동 취득</a:t>
            </a:r>
            <a:endParaRPr lang="en-US" sz="1088" dirty="0"/>
          </a:p>
        </p:txBody>
      </p:sp>
      <p:sp>
        <p:nvSpPr>
          <p:cNvPr id="61" name="Text 59"/>
          <p:cNvSpPr txBox="1"/>
          <p:nvPr/>
        </p:nvSpPr>
        <p:spPr>
          <a:xfrm>
            <a:off x="2286000" y="4114800"/>
            <a:ext cx="8972550" cy="151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96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지금은 예보 파일을 손으로 올립니다. 이 한 단계를 자동화하면 날짜만 넣으면 끝입니다.</a:t>
            </a:r>
            <a:endParaRPr lang="en-US" sz="825" dirty="0"/>
          </a:p>
        </p:txBody>
      </p:sp>
      <p:sp>
        <p:nvSpPr>
          <p:cNvPr id="62" name="Shape 60"/>
          <p:cNvSpPr/>
          <p:nvPr/>
        </p:nvSpPr>
        <p:spPr>
          <a:xfrm>
            <a:off x="2286000" y="4210050"/>
            <a:ext cx="89725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876300" y="4305300"/>
            <a:ext cx="10477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2027 상반기</a:t>
            </a:r>
            <a:endParaRPr lang="en-US" sz="863" dirty="0"/>
          </a:p>
        </p:txBody>
      </p:sp>
      <p:sp>
        <p:nvSpPr>
          <p:cNvPr id="64" name="Shape 62"/>
          <p:cNvSpPr/>
          <p:nvPr/>
        </p:nvSpPr>
        <p:spPr>
          <a:xfrm>
            <a:off x="2033588" y="4329113"/>
            <a:ext cx="85725" cy="85725"/>
          </a:xfrm>
          <a:prstGeom prst="ellipse">
            <a:avLst/>
          </a:prstGeom>
          <a:solidFill>
            <a:srgbClr val="EA002C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2286000" y="4286250"/>
            <a:ext cx="89725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 구간 전체 실적 확보 · 회귀 모델 재선정</a:t>
            </a:r>
            <a:endParaRPr lang="en-US" sz="1088" dirty="0"/>
          </a:p>
        </p:txBody>
      </p:sp>
      <p:sp>
        <p:nvSpPr>
          <p:cNvPr id="66" name="Text 64"/>
          <p:cNvSpPr txBox="1"/>
          <p:nvPr/>
        </p:nvSpPr>
        <p:spPr>
          <a:xfrm>
            <a:off x="2286000" y="4476750"/>
            <a:ext cx="8972550" cy="303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96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겨울과 여름이 한 번 더 지나면 신고 구간 전체에 실적이 붙습니다. 그 데이터로 후보 7가지를 다시 채점(LOOCV)해 최적 회귀 모델을 다시 고릅니다 — 지금 1등이 계속 1등이라는 보장은 없습니다.</a:t>
            </a:r>
            <a:endParaRPr lang="en-US" sz="825" dirty="0"/>
          </a:p>
        </p:txBody>
      </p:sp>
      <p:sp>
        <p:nvSpPr>
          <p:cNvPr id="67" name="Shape 65"/>
          <p:cNvSpPr/>
          <p:nvPr/>
        </p:nvSpPr>
        <p:spPr>
          <a:xfrm>
            <a:off x="2286000" y="4724400"/>
            <a:ext cx="89725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876300" y="4819650"/>
            <a:ext cx="10477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2027 하반기</a:t>
            </a:r>
            <a:endParaRPr lang="en-US" sz="863" dirty="0"/>
          </a:p>
        </p:txBody>
      </p:sp>
      <p:sp>
        <p:nvSpPr>
          <p:cNvPr id="69" name="Shape 67"/>
          <p:cNvSpPr/>
          <p:nvPr/>
        </p:nvSpPr>
        <p:spPr>
          <a:xfrm>
            <a:off x="2033588" y="4843463"/>
            <a:ext cx="85725" cy="85725"/>
          </a:xfrm>
          <a:prstGeom prst="ellipse">
            <a:avLst/>
          </a:prstGeom>
          <a:solidFill>
            <a:srgbClr val="EA002C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2286000" y="4800600"/>
            <a:ext cx="89725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입찰하는 다른 사업소로 · 파주 · 여주 · 하남</a:t>
            </a:r>
            <a:endParaRPr lang="en-US" sz="1088" dirty="0"/>
          </a:p>
        </p:txBody>
      </p:sp>
      <p:sp>
        <p:nvSpPr>
          <p:cNvPr id="71" name="Text 69"/>
          <p:cNvSpPr txBox="1"/>
          <p:nvPr/>
        </p:nvSpPr>
        <p:spPr>
          <a:xfrm>
            <a:off x="2286000" y="4991100"/>
            <a:ext cx="8972550" cy="303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96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도구와 절차는 그대로 옮기고 특성 곡선표만 그 사업소 것으로 바꿔 넣습니다 — 곡선은 코드가 아니라 온도 61줄 표 파일로 읽습니다. 보정 곡선은 그 사업소 실적으로 새로 쌓습니다.</a:t>
            </a:r>
            <a:endParaRPr lang="en-US" sz="825" dirty="0"/>
          </a:p>
        </p:txBody>
      </p:sp>
      <p:sp>
        <p:nvSpPr>
          <p:cNvPr id="72" name="Shape 70"/>
          <p:cNvSpPr/>
          <p:nvPr/>
        </p:nvSpPr>
        <p:spPr>
          <a:xfrm>
            <a:off x="2286000" y="5238750"/>
            <a:ext cx="89725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876300" y="5334000"/>
            <a:ext cx="10477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2028</a:t>
            </a:r>
            <a:endParaRPr lang="en-US" sz="863" dirty="0"/>
          </a:p>
        </p:txBody>
      </p:sp>
      <p:sp>
        <p:nvSpPr>
          <p:cNvPr id="74" name="Shape 72"/>
          <p:cNvSpPr/>
          <p:nvPr/>
        </p:nvSpPr>
        <p:spPr>
          <a:xfrm>
            <a:off x="2033588" y="5357813"/>
            <a:ext cx="85725" cy="85725"/>
          </a:xfrm>
          <a:prstGeom prst="ellipse">
            <a:avLst/>
          </a:prstGeom>
          <a:solidFill>
            <a:srgbClr val="EA002C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2286000" y="5314950"/>
            <a:ext cx="89725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대정비 전후 구분</a:t>
            </a:r>
            <a:endParaRPr lang="en-US" sz="1088" dirty="0"/>
          </a:p>
        </p:txBody>
      </p:sp>
      <p:sp>
        <p:nvSpPr>
          <p:cNvPr id="76" name="Text 74"/>
          <p:cNvSpPr txBox="1"/>
          <p:nvPr/>
        </p:nvSpPr>
        <p:spPr>
          <a:xfrm>
            <a:off x="2286000" y="5505450"/>
            <a:ext cx="8972550" cy="151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96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대정비를 하면 출력 특성이 달라집니다. 정비 이력을 회차에 표시해 두고 정비 뒤 실적으로 곡선을 다시 세웁니다.</a:t>
            </a:r>
            <a:endParaRPr lang="en-US" sz="825" dirty="0"/>
          </a:p>
        </p:txBody>
      </p:sp>
      <p:sp>
        <p:nvSpPr>
          <p:cNvPr id="77" name="Shape 75"/>
          <p:cNvSpPr/>
          <p:nvPr/>
        </p:nvSpPr>
        <p:spPr>
          <a:xfrm>
            <a:off x="2047875" y="5734050"/>
            <a:ext cx="57150" cy="57150"/>
          </a:xfrm>
          <a:prstGeom prst="ellipse">
            <a:avLst/>
          </a:prstGeom>
          <a:solidFill>
            <a:srgbClr val="C4CAD1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2286000" y="5676900"/>
            <a:ext cx="89725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사업소 표준 절차로</a:t>
            </a:r>
            <a:endParaRPr lang="en-US" sz="1088" dirty="0"/>
          </a:p>
        </p:txBody>
      </p:sp>
      <p:sp>
        <p:nvSpPr>
          <p:cNvPr id="79" name="Text 77"/>
          <p:cNvSpPr txBox="1"/>
          <p:nvPr/>
        </p:nvSpPr>
        <p:spPr>
          <a:xfrm>
            <a:off x="2286000" y="5867400"/>
            <a:ext cx="8972550" cy="151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96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시험부터 신고까지의 순서를 표준 절차서로 정리합니다. 담당자가 바뀌어도 같은 숫자가 나오게 합니다.</a:t>
            </a:r>
            <a:endParaRPr lang="en-US" sz="825" dirty="0"/>
          </a:p>
        </p:txBody>
      </p:sp>
      <p:sp>
        <p:nvSpPr>
          <p:cNvPr id="80" name="Shape 78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83" name="Text 81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 만들고 끝나는 도구가 아닙니다. 쌓일수록 촘촘해지고, 다른 사업소로 넓힐 수 있습니다.</a:t>
            </a:r>
            <a:endParaRPr lang="en-US" sz="1163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돌아보면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825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어려웠던 점</a:t>
            </a:r>
            <a:endParaRPr lang="en-US" sz="2475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 본 적 없는 일이었습니다. 막히는 데가 많았고, 하나씩 뚫으면서 배웠습니다.</a:t>
            </a:r>
            <a:endParaRPr lang="en-US" sz="1275" dirty="0"/>
          </a:p>
        </p:txBody>
      </p:sp>
      <p:sp>
        <p:nvSpPr>
          <p:cNvPr id="8" name="Shape 6"/>
          <p:cNvSpPr/>
          <p:nvPr/>
        </p:nvSpPr>
        <p:spPr>
          <a:xfrm>
            <a:off x="685800" y="1781175"/>
            <a:ext cx="5295900" cy="10953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1657350"/>
            <a:ext cx="13049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191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1" name="Text 9"/>
          <p:cNvSpPr txBox="1"/>
          <p:nvPr/>
        </p:nvSpPr>
        <p:spPr>
          <a:xfrm>
            <a:off x="1009650" y="1714500"/>
            <a:ext cx="8667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시작한 계기</a:t>
            </a:r>
            <a:endParaRPr lang="en-US" sz="1013" dirty="0"/>
          </a:p>
        </p:txBody>
      </p:sp>
      <p:sp>
        <p:nvSpPr>
          <p:cNvPr id="12" name="Text 10"/>
          <p:cNvSpPr txBox="1"/>
          <p:nvPr/>
        </p:nvSpPr>
        <p:spPr>
          <a:xfrm>
            <a:off x="876300" y="2019300"/>
            <a:ext cx="491490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분야를 공부해서 직접 풀어 보고 싶었습니다.</a:t>
            </a:r>
            <a:endParaRPr lang="en-US" sz="1125" dirty="0"/>
          </a:p>
        </p:txBody>
      </p:sp>
      <p:sp>
        <p:nvSpPr>
          <p:cNvPr id="13" name="Text 11"/>
          <p:cNvSpPr txBox="1"/>
          <p:nvPr/>
        </p:nvSpPr>
        <p:spPr>
          <a:xfrm>
            <a:off x="876300" y="2247900"/>
            <a:ext cx="4914900" cy="635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1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업무를 줄이는 것만 생각했다면 엑셀을 손보고 끝냈을 것입니다. AI 를 써서 해 본 적 없는 분야를 공부하고 스스로 풀어내는 성취감을 맛보고 싶었습니다. 그 마음이 끝까지 가게 한 힘이었습니다.</a:t>
            </a:r>
            <a:endParaRPr lang="en-US" sz="863" dirty="0"/>
          </a:p>
        </p:txBody>
      </p:sp>
      <p:sp>
        <p:nvSpPr>
          <p:cNvPr id="14" name="Shape 12"/>
          <p:cNvSpPr/>
          <p:nvPr/>
        </p:nvSpPr>
        <p:spPr>
          <a:xfrm>
            <a:off x="6134100" y="1781175"/>
            <a:ext cx="5372100" cy="10953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34100" y="1657350"/>
            <a:ext cx="11620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2674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17" name="Text 15"/>
          <p:cNvSpPr txBox="1"/>
          <p:nvPr/>
        </p:nvSpPr>
        <p:spPr>
          <a:xfrm>
            <a:off x="6457950" y="1714500"/>
            <a:ext cx="7239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분담</a:t>
            </a:r>
            <a:endParaRPr lang="en-US" sz="1013" dirty="0"/>
          </a:p>
        </p:txBody>
      </p:sp>
      <p:sp>
        <p:nvSpPr>
          <p:cNvPr id="18" name="Text 16"/>
          <p:cNvSpPr txBox="1"/>
          <p:nvPr/>
        </p:nvSpPr>
        <p:spPr>
          <a:xfrm>
            <a:off x="10887075" y="1847850"/>
            <a:ext cx="5048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사람</a:t>
            </a:r>
            <a:endParaRPr lang="en-US" sz="825" dirty="0"/>
          </a:p>
        </p:txBody>
      </p:sp>
      <p:sp>
        <p:nvSpPr>
          <p:cNvPr id="19" name="Shape 17"/>
          <p:cNvSpPr/>
          <p:nvPr/>
        </p:nvSpPr>
        <p:spPr>
          <a:xfrm>
            <a:off x="6324600" y="2038350"/>
            <a:ext cx="38100" cy="190500"/>
          </a:xfrm>
          <a:prstGeom prst="rect">
            <a:avLst/>
          </a:prstGeom>
          <a:solidFill>
            <a:srgbClr val="6E778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77000" y="2019300"/>
            <a:ext cx="224790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정상우M</a:t>
            </a:r>
            <a:endParaRPr lang="en-US" sz="1125" dirty="0"/>
          </a:p>
        </p:txBody>
      </p:sp>
      <p:sp>
        <p:nvSpPr>
          <p:cNvPr id="21" name="Text 19"/>
          <p:cNvSpPr txBox="1"/>
          <p:nvPr/>
        </p:nvSpPr>
        <p:spPr>
          <a:xfrm>
            <a:off x="6477000" y="2228850"/>
            <a:ext cx="22479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6E77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취합 · 분석</a:t>
            </a:r>
            <a:endParaRPr lang="en-US" sz="863" dirty="0"/>
          </a:p>
        </p:txBody>
      </p:sp>
      <p:sp>
        <p:nvSpPr>
          <p:cNvPr id="22" name="Text 20"/>
          <p:cNvSpPr txBox="1"/>
          <p:nvPr/>
        </p:nvSpPr>
        <p:spPr>
          <a:xfrm>
            <a:off x="6477000" y="2400300"/>
            <a:ext cx="2247900" cy="424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결과를 모아 정리하고, 병행운전에서 문제점과 개선사항을 찾아 넘겼습니다.</a:t>
            </a:r>
            <a:endParaRPr lang="en-US" sz="825" dirty="0"/>
          </a:p>
        </p:txBody>
      </p:sp>
      <p:sp>
        <p:nvSpPr>
          <p:cNvPr id="23" name="Shape 21"/>
          <p:cNvSpPr/>
          <p:nvPr/>
        </p:nvSpPr>
        <p:spPr>
          <a:xfrm>
            <a:off x="8782050" y="2000250"/>
            <a:ext cx="0" cy="8001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934450" y="2038350"/>
            <a:ext cx="38100" cy="1905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086850" y="2019300"/>
            <a:ext cx="224790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주현M</a:t>
            </a:r>
            <a:endParaRPr lang="en-US" sz="1125" dirty="0"/>
          </a:p>
        </p:txBody>
      </p:sp>
      <p:sp>
        <p:nvSpPr>
          <p:cNvPr id="26" name="Text 24"/>
          <p:cNvSpPr txBox="1"/>
          <p:nvPr/>
        </p:nvSpPr>
        <p:spPr>
          <a:xfrm>
            <a:off x="9086850" y="2228850"/>
            <a:ext cx="22479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개발 · 반영</a:t>
            </a:r>
            <a:endParaRPr lang="en-US" sz="863" dirty="0"/>
          </a:p>
        </p:txBody>
      </p:sp>
      <p:sp>
        <p:nvSpPr>
          <p:cNvPr id="27" name="Text 25"/>
          <p:cNvSpPr txBox="1"/>
          <p:nvPr/>
        </p:nvSpPr>
        <p:spPr>
          <a:xfrm>
            <a:off x="9086850" y="2400300"/>
            <a:ext cx="2247900" cy="424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받은 문제점과 개선사항을 도구에 고쳐 넣었습니다. 시운전에서 드러난 것도 그때그때 반영했습니다.</a:t>
            </a:r>
            <a:endParaRPr lang="en-US" sz="825" dirty="0"/>
          </a:p>
        </p:txBody>
      </p:sp>
      <p:sp>
        <p:nvSpPr>
          <p:cNvPr id="28" name="Shape 26"/>
          <p:cNvSpPr/>
          <p:nvPr/>
        </p:nvSpPr>
        <p:spPr>
          <a:xfrm>
            <a:off x="685800" y="3114675"/>
            <a:ext cx="10820400" cy="29813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85800" y="2990850"/>
            <a:ext cx="18859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19150" y="30480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38" dirty="0"/>
          </a:p>
        </p:txBody>
      </p:sp>
      <p:sp>
        <p:nvSpPr>
          <p:cNvPr id="31" name="Text 29"/>
          <p:cNvSpPr txBox="1"/>
          <p:nvPr/>
        </p:nvSpPr>
        <p:spPr>
          <a:xfrm>
            <a:off x="1009650" y="3048000"/>
            <a:ext cx="14478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막혔던 곳 다섯 군데</a:t>
            </a:r>
            <a:endParaRPr lang="en-US" sz="1013" dirty="0"/>
          </a:p>
        </p:txBody>
      </p:sp>
      <p:sp>
        <p:nvSpPr>
          <p:cNvPr id="32" name="Text 30"/>
          <p:cNvSpPr txBox="1"/>
          <p:nvPr/>
        </p:nvSpPr>
        <p:spPr>
          <a:xfrm>
            <a:off x="9582150" y="3181350"/>
            <a:ext cx="18097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막혔던 것 → 한 일 → 남은 것</a:t>
            </a:r>
            <a:endParaRPr lang="en-US" sz="825" dirty="0"/>
          </a:p>
        </p:txBody>
      </p:sp>
      <p:sp>
        <p:nvSpPr>
          <p:cNvPr id="33" name="Text 31"/>
          <p:cNvSpPr txBox="1"/>
          <p:nvPr/>
        </p:nvSpPr>
        <p:spPr>
          <a:xfrm>
            <a:off x="876300" y="3352800"/>
            <a:ext cx="285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막혔던 것</a:t>
            </a:r>
            <a:endParaRPr lang="en-US" sz="788" dirty="0"/>
          </a:p>
        </p:txBody>
      </p:sp>
      <p:sp>
        <p:nvSpPr>
          <p:cNvPr id="34" name="Text 32"/>
          <p:cNvSpPr txBox="1"/>
          <p:nvPr/>
        </p:nvSpPr>
        <p:spPr>
          <a:xfrm>
            <a:off x="3848100" y="3352800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한 일</a:t>
            </a:r>
            <a:endParaRPr lang="en-US" sz="788" dirty="0"/>
          </a:p>
        </p:txBody>
      </p:sp>
      <p:sp>
        <p:nvSpPr>
          <p:cNvPr id="35" name="Text 33"/>
          <p:cNvSpPr txBox="1"/>
          <p:nvPr/>
        </p:nvSpPr>
        <p:spPr>
          <a:xfrm>
            <a:off x="8763000" y="3352800"/>
            <a:ext cx="24955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남은 것</a:t>
            </a:r>
            <a:endParaRPr lang="en-US" sz="788" dirty="0"/>
          </a:p>
        </p:txBody>
      </p:sp>
      <p:sp>
        <p:nvSpPr>
          <p:cNvPr id="36" name="Shape 34"/>
          <p:cNvSpPr/>
          <p:nvPr/>
        </p:nvSpPr>
        <p:spPr>
          <a:xfrm>
            <a:off x="876300" y="3505200"/>
            <a:ext cx="1038225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76300" y="3600450"/>
            <a:ext cx="2857500" cy="309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 본 적 없는 분야였다</a:t>
            </a:r>
            <a:endParaRPr lang="en-US" sz="938" dirty="0"/>
          </a:p>
        </p:txBody>
      </p:sp>
      <p:sp>
        <p:nvSpPr>
          <p:cNvPr id="38" name="Text 36"/>
          <p:cNvSpPr txBox="1"/>
          <p:nvPr/>
        </p:nvSpPr>
        <p:spPr>
          <a:xfrm>
            <a:off x="3848100" y="3600450"/>
            <a:ext cx="4762500" cy="443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예측·보정 모델도, 공급가능용량 테스트 절차도 우리 일이 아니었습니다. AI 를 길잡이로 삼아 공부하고, 담당자에게 자문을 구하고, 시험을 직접 해 봤습니다.</a:t>
            </a:r>
            <a:endParaRPr lang="en-US" sz="863" dirty="0"/>
          </a:p>
        </p:txBody>
      </p:sp>
      <p:sp>
        <p:nvSpPr>
          <p:cNvPr id="39" name="Shape 37"/>
          <p:cNvSpPr/>
          <p:nvPr/>
        </p:nvSpPr>
        <p:spPr>
          <a:xfrm>
            <a:off x="8763000" y="3619500"/>
            <a:ext cx="38100" cy="2857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8915400" y="3600450"/>
            <a:ext cx="234315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절차를 우리 말로 설명할 수 있게 됐습니다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876300" y="40195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76300" y="4095750"/>
            <a:ext cx="2857500" cy="309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RiMS 에서 값을 어떻게 받아오나</a:t>
            </a:r>
            <a:endParaRPr lang="en-US" sz="938" dirty="0"/>
          </a:p>
        </p:txBody>
      </p:sp>
      <p:sp>
        <p:nvSpPr>
          <p:cNvPr id="43" name="Text 41"/>
          <p:cNvSpPr txBox="1"/>
          <p:nvPr/>
        </p:nvSpPr>
        <p:spPr>
          <a:xfrm>
            <a:off x="3848100" y="4095750"/>
            <a:ext cx="4762500" cy="443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엑셀에 붙어 있던 기능을 뜯어 봤습니다. 같은 방식으로 붙이고 값이 오가는지 먼저 시험했습니다.</a:t>
            </a:r>
            <a:endParaRPr lang="en-US" sz="863" dirty="0"/>
          </a:p>
        </p:txBody>
      </p:sp>
      <p:sp>
        <p:nvSpPr>
          <p:cNvPr id="44" name="Shape 42"/>
          <p:cNvSpPr/>
          <p:nvPr/>
        </p:nvSpPr>
        <p:spPr>
          <a:xfrm>
            <a:off x="8763000" y="4114800"/>
            <a:ext cx="38100" cy="2857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8915400" y="4095750"/>
            <a:ext cx="234315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계측값을 RiMS 에서 자동으로 받습니다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876300" y="45148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876300" y="4591050"/>
            <a:ext cx="2857500" cy="309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회귀 모델을 써야 하나</a:t>
            </a:r>
            <a:endParaRPr lang="en-US" sz="938" dirty="0"/>
          </a:p>
        </p:txBody>
      </p:sp>
      <p:sp>
        <p:nvSpPr>
          <p:cNvPr id="48" name="Text 46"/>
          <p:cNvSpPr txBox="1"/>
          <p:nvPr/>
        </p:nvSpPr>
        <p:spPr>
          <a:xfrm>
            <a:off x="3848100" y="4591050"/>
            <a:ext cx="4762500" cy="443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7가지를 놓고 같은 데이터로 겨루게 했습니다. 사람이 아니라 성적이 골랐습니다.</a:t>
            </a:r>
            <a:endParaRPr lang="en-US" sz="863" dirty="0"/>
          </a:p>
        </p:txBody>
      </p:sp>
      <p:sp>
        <p:nvSpPr>
          <p:cNvPr id="49" name="Shape 47"/>
          <p:cNvSpPr/>
          <p:nvPr/>
        </p:nvSpPr>
        <p:spPr>
          <a:xfrm>
            <a:off x="8763000" y="4610100"/>
            <a:ext cx="38100" cy="2857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8915400" y="4591050"/>
            <a:ext cx="234315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성적으로 고른 회귀 모델 하나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876300" y="50101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76300" y="5086350"/>
            <a:ext cx="2857500" cy="309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시험이 적어서 곡선을 믿을 수 있나</a:t>
            </a:r>
            <a:endParaRPr lang="en-US" sz="938" dirty="0"/>
          </a:p>
        </p:txBody>
      </p:sp>
      <p:sp>
        <p:nvSpPr>
          <p:cNvPr id="53" name="Text 51"/>
          <p:cNvSpPr txBox="1"/>
          <p:nvPr/>
        </p:nvSpPr>
        <p:spPr>
          <a:xfrm>
            <a:off x="3848100" y="5086350"/>
            <a:ext cx="4762500" cy="443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회를 가리고 나머지로 그 회를 맞혀 보는 검사를 도구 안에 넣었습니다.</a:t>
            </a:r>
            <a:endParaRPr lang="en-US" sz="863" dirty="0"/>
          </a:p>
        </p:txBody>
      </p:sp>
      <p:sp>
        <p:nvSpPr>
          <p:cNvPr id="54" name="Shape 52"/>
          <p:cNvSpPr/>
          <p:nvPr/>
        </p:nvSpPr>
        <p:spPr>
          <a:xfrm>
            <a:off x="8763000" y="5105400"/>
            <a:ext cx="38100" cy="2857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915400" y="5086350"/>
            <a:ext cx="234315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실적이 늘 때마다 다시 검사합니다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876300" y="55054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876300" y="5581650"/>
            <a:ext cx="2857500" cy="309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우리가 만든 계산이 맞는지</a:t>
            </a:r>
            <a:endParaRPr lang="en-US" sz="938" dirty="0"/>
          </a:p>
        </p:txBody>
      </p:sp>
      <p:sp>
        <p:nvSpPr>
          <p:cNvPr id="58" name="Text 56"/>
          <p:cNvSpPr txBox="1"/>
          <p:nvPr/>
        </p:nvSpPr>
        <p:spPr>
          <a:xfrm>
            <a:off x="3848100" y="5581650"/>
            <a:ext cx="4762500" cy="443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엑셀과 답이 같은지 온도마다 하나씩 맞춰 봤습니다. 어긋난 여섯 군데를 찾아 고쳤습니다.</a:t>
            </a:r>
            <a:endParaRPr lang="en-US" sz="863" dirty="0"/>
          </a:p>
        </p:txBody>
      </p:sp>
      <p:sp>
        <p:nvSpPr>
          <p:cNvPr id="59" name="Shape 57"/>
          <p:cNvSpPr/>
          <p:nvPr/>
        </p:nvSpPr>
        <p:spPr>
          <a:xfrm>
            <a:off x="8763000" y="5600700"/>
            <a:ext cx="38100" cy="2857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8915400" y="5581650"/>
            <a:ext cx="234315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엑셀과 같은 답을 냅니다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64" name="Text 62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 본 적 없는 분야를 공부해서 도구 하나로 풀어냈습니다. 그 과정이 이 과제의 절반입니다.</a:t>
            </a:r>
            <a:endParaRPr lang="en-US" sz="1163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825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342900"/>
            <a:ext cx="6667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나래에너지서비스 위례사업소   ·   2026. 09.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85800" y="14287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2962275"/>
            <a:ext cx="438150" cy="2857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3228975"/>
            <a:ext cx="8572500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20"/>
              </a:lnSpc>
              <a:buNone/>
            </a:pPr>
            <a:r>
              <a:rPr lang="en-US" sz="43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435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4124325"/>
            <a:ext cx="3810000" cy="3543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90"/>
              </a:lnSpc>
              <a:buNone/>
            </a:pPr>
            <a:r>
              <a:rPr lang="en-US" sz="2325" b="1" spc="20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 &amp; A</a:t>
            </a:r>
            <a:endParaRPr lang="en-US" sz="2325" dirty="0"/>
          </a:p>
        </p:txBody>
      </p:sp>
      <p:sp>
        <p:nvSpPr>
          <p:cNvPr id="8" name="Shape 6"/>
          <p:cNvSpPr/>
          <p:nvPr/>
        </p:nvSpPr>
        <p:spPr>
          <a:xfrm>
            <a:off x="685800" y="60388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6305550"/>
            <a:ext cx="571500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주현M   ·   정상우M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743700" y="6324600"/>
            <a:ext cx="4762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60"/>
              </a:lnSpc>
              <a:buNone/>
            </a:pPr>
            <a:r>
              <a:rPr lang="en-US" sz="900" spc="14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위례열병합발전소  ·  공급가능용량 입찰 산정 Tool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나래에너지서비스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공급가능용량 산정 Tool — 최종 발표</dc:title>
  <dc:subject>위례열병합발전소 공급가능용량 산정 체계 개선</dc:subject>
  <dc:creator>주현M, 정상우M</dc:creator>
  <cp:lastModifiedBy>주현M, 정상우M</cp:lastModifiedBy>
  <cp:revision>1</cp:revision>
  <dcterms:created xsi:type="dcterms:W3CDTF">2026-09-18T07:09:11Z</dcterms:created>
  <dcterms:modified xsi:type="dcterms:W3CDTF">2026-09-18T07:09:11Z</dcterms:modified>
</cp:coreProperties>
</file>