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478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왜 했는지, 뒤의 다섯 항목이 무엇을 어떻게 바꿨는지입니다.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1257300" y="201930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3543300" y="206692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공급가능용량 산정 방식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53400" y="207645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63" dirty="0"/>
          </a:p>
        </p:txBody>
      </p:sp>
      <p:sp>
        <p:nvSpPr>
          <p:cNvPr id="9" name="Text 7"/>
          <p:cNvSpPr txBox="1"/>
          <p:nvPr/>
        </p:nvSpPr>
        <p:spPr>
          <a:xfrm>
            <a:off x="10972800" y="205740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24193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54317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75" dirty="0"/>
          </a:p>
        </p:txBody>
      </p:sp>
      <p:sp>
        <p:nvSpPr>
          <p:cNvPr id="12" name="Text 10"/>
          <p:cNvSpPr txBox="1"/>
          <p:nvPr/>
        </p:nvSpPr>
        <p:spPr>
          <a:xfrm>
            <a:off x="1257300" y="250507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3543300" y="255270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· 일괄 보정 · 예측 오차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153400" y="256222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 정의</a:t>
            </a:r>
            <a:endParaRPr lang="en-US" sz="863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54317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85800" y="29051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02895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75" dirty="0"/>
          </a:p>
        </p:txBody>
      </p:sp>
      <p:sp>
        <p:nvSpPr>
          <p:cNvPr id="18" name="Text 16"/>
          <p:cNvSpPr txBox="1"/>
          <p:nvPr/>
        </p:nvSpPr>
        <p:spPr>
          <a:xfrm>
            <a:off x="1257300" y="299085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303847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53400" y="304800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302895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3390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51472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75" dirty="0"/>
          </a:p>
        </p:txBody>
      </p:sp>
      <p:sp>
        <p:nvSpPr>
          <p:cNvPr id="24" name="Text 22"/>
          <p:cNvSpPr txBox="1"/>
          <p:nvPr/>
        </p:nvSpPr>
        <p:spPr>
          <a:xfrm>
            <a:off x="1257300" y="347662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575" dirty="0"/>
          </a:p>
        </p:txBody>
      </p:sp>
      <p:sp>
        <p:nvSpPr>
          <p:cNvPr id="25" name="Text 23"/>
          <p:cNvSpPr txBox="1"/>
          <p:nvPr/>
        </p:nvSpPr>
        <p:spPr>
          <a:xfrm>
            <a:off x="3543300" y="352425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보정 모델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53377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 방안 및 모델 개발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351472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685800" y="38766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00050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1257300" y="396240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</a:t>
            </a:r>
            <a:endParaRPr lang="en-US" sz="1575" dirty="0"/>
          </a:p>
        </p:txBody>
      </p:sp>
      <p:sp>
        <p:nvSpPr>
          <p:cNvPr id="31" name="Text 29"/>
          <p:cNvSpPr txBox="1"/>
          <p:nvPr/>
        </p:nvSpPr>
        <p:spPr>
          <a:xfrm>
            <a:off x="3543300" y="401002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정확도와 업무 시간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401955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 효과</a:t>
            </a:r>
            <a:endParaRPr lang="en-US" sz="863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400050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43624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48627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444817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3543300" y="449580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450532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448627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25" dirty="0"/>
          </a:p>
        </p:txBody>
      </p:sp>
      <p:sp>
        <p:nvSpPr>
          <p:cNvPr id="40" name="Shape 38"/>
          <p:cNvSpPr/>
          <p:nvPr/>
        </p:nvSpPr>
        <p:spPr>
          <a:xfrm>
            <a:off x="685800" y="48482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97205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93395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관리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3543300" y="498157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쌓이면 스스로 갱신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499110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모니터링 체계 구축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97205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685800" y="53340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85800" y="545782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1257300" y="541972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75" dirty="0"/>
          </a:p>
        </p:txBody>
      </p:sp>
      <p:sp>
        <p:nvSpPr>
          <p:cNvPr id="49" name="Text 47"/>
          <p:cNvSpPr txBox="1"/>
          <p:nvPr/>
        </p:nvSpPr>
        <p:spPr>
          <a:xfrm>
            <a:off x="3543300" y="546735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정착과 수평 전개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547687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 계획 및 수평 전개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10972800" y="545782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484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본사 보고 항목입니다. 읽는 순서만 바꿨습니다.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공급가능용량 산정 방식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엑셀 네 개에 차례로 옮겨 담아 신고할 숫자를 만들었습니다.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9621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420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506075" y="1857375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시험 결과 받아오기</a:t>
            </a:r>
            <a:endParaRPr lang="en-US" sz="1013" dirty="0"/>
          </a:p>
        </p:txBody>
      </p:sp>
      <p:sp>
        <p:nvSpPr>
          <p:cNvPr id="21" name="Shape 19"/>
          <p:cNvSpPr/>
          <p:nvPr/>
        </p:nvSpPr>
        <p:spPr>
          <a:xfrm>
            <a:off x="8382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2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344695"/>
            <a:ext cx="2343150" cy="758909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85825" y="2335170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82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넣으면 계측값 14개를 시스템에서 끌어옵니다.</a:t>
            </a:r>
            <a:endParaRPr lang="en-US" sz="863" dirty="0"/>
          </a:p>
        </p:txBody>
      </p:sp>
      <p:sp>
        <p:nvSpPr>
          <p:cNvPr id="25" name="Text 22"/>
          <p:cNvSpPr txBox="1"/>
          <p:nvPr/>
        </p:nvSpPr>
        <p:spPr>
          <a:xfrm>
            <a:off x="33051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3"/>
          <p:cNvSpPr txBox="1"/>
          <p:nvPr/>
        </p:nvSpPr>
        <p:spPr>
          <a:xfrm>
            <a:off x="34861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 이론값 계산</a:t>
            </a:r>
            <a:endParaRPr lang="en-US" sz="1013" dirty="0"/>
          </a:p>
        </p:txBody>
      </p:sp>
      <p:sp>
        <p:nvSpPr>
          <p:cNvPr id="27" name="Shape 24"/>
          <p:cNvSpPr/>
          <p:nvPr/>
        </p:nvSpPr>
        <p:spPr>
          <a:xfrm>
            <a:off x="34861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8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896" y="2343150"/>
            <a:ext cx="899958" cy="762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55371" y="2333625"/>
            <a:ext cx="919008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861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대기압을 넣으면 영하 20도부터 40도까지 61개 값이 나옵니다.</a:t>
            </a:r>
            <a:endParaRPr lang="en-US" sz="863" dirty="0"/>
          </a:p>
        </p:txBody>
      </p:sp>
      <p:sp>
        <p:nvSpPr>
          <p:cNvPr id="31" name="Text 27"/>
          <p:cNvSpPr txBox="1"/>
          <p:nvPr/>
        </p:nvSpPr>
        <p:spPr>
          <a:xfrm>
            <a:off x="595312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2" name="Text 28"/>
          <p:cNvSpPr txBox="1"/>
          <p:nvPr/>
        </p:nvSpPr>
        <p:spPr>
          <a:xfrm>
            <a:off x="61341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보정값 더하기</a:t>
            </a:r>
            <a:endParaRPr lang="en-US" sz="1013" dirty="0"/>
          </a:p>
        </p:txBody>
      </p:sp>
      <p:sp>
        <p:nvSpPr>
          <p:cNvPr id="33" name="Shape 29"/>
          <p:cNvSpPr/>
          <p:nvPr/>
        </p:nvSpPr>
        <p:spPr>
          <a:xfrm>
            <a:off x="61341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34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2474879"/>
            <a:ext cx="2343150" cy="498543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6181725" y="2465354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341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생긴 차이를 61개 값에 모두 더합니다.</a:t>
            </a:r>
            <a:endParaRPr lang="en-US" sz="863" dirty="0"/>
          </a:p>
        </p:txBody>
      </p:sp>
      <p:sp>
        <p:nvSpPr>
          <p:cNvPr id="37" name="Text 32"/>
          <p:cNvSpPr txBox="1"/>
          <p:nvPr/>
        </p:nvSpPr>
        <p:spPr>
          <a:xfrm>
            <a:off x="86010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8" name="Text 33"/>
          <p:cNvSpPr txBox="1"/>
          <p:nvPr/>
        </p:nvSpPr>
        <p:spPr>
          <a:xfrm>
            <a:off x="87820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온도 프로파일 완성</a:t>
            </a:r>
            <a:endParaRPr lang="en-US" sz="1013" dirty="0"/>
          </a:p>
        </p:txBody>
      </p:sp>
      <p:sp>
        <p:nvSpPr>
          <p:cNvPr id="39" name="Shape 34"/>
          <p:cNvSpPr/>
          <p:nvPr/>
        </p:nvSpPr>
        <p:spPr>
          <a:xfrm>
            <a:off x="87820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40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7838" y="2343150"/>
            <a:ext cx="1285875" cy="762000"/>
          </a:xfrm>
          <a:prstGeom prst="rect">
            <a:avLst/>
          </a:prstGeom>
        </p:spPr>
      </p:pic>
      <p:sp>
        <p:nvSpPr>
          <p:cNvPr id="41" name="Shape 35"/>
          <p:cNvSpPr/>
          <p:nvPr/>
        </p:nvSpPr>
        <p:spPr>
          <a:xfrm>
            <a:off x="9358313" y="2333625"/>
            <a:ext cx="1304925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7820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표를 그대로 옮겨 붙이면 그날 신고할 숫자가 됩니다.</a:t>
            </a:r>
            <a:endParaRPr lang="en-US" sz="863" dirty="0"/>
          </a:p>
        </p:txBody>
      </p:sp>
      <p:sp>
        <p:nvSpPr>
          <p:cNvPr id="43" name="Shape 37"/>
          <p:cNvSpPr/>
          <p:nvPr/>
        </p:nvSpPr>
        <p:spPr>
          <a:xfrm>
            <a:off x="685800" y="3848100"/>
            <a:ext cx="10820400" cy="20955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95325" y="3857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5" name="Shape 39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95325" y="3857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857250" y="39243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8" name="Text 42"/>
          <p:cNvSpPr txBox="1"/>
          <p:nvPr/>
        </p:nvSpPr>
        <p:spPr>
          <a:xfrm>
            <a:off x="1085850" y="3924300"/>
            <a:ext cx="89344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정하는 방법</a:t>
            </a:r>
            <a:endParaRPr lang="en-US" sz="1013" dirty="0"/>
          </a:p>
        </p:txBody>
      </p:sp>
      <p:sp>
        <p:nvSpPr>
          <p:cNvPr id="49" name="Text 43"/>
          <p:cNvSpPr txBox="1"/>
          <p:nvPr/>
        </p:nvSpPr>
        <p:spPr>
          <a:xfrm>
            <a:off x="10020300" y="3933825"/>
            <a:ext cx="1352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1곳 → 61개 온도</a:t>
            </a:r>
            <a:endParaRPr lang="en-US" sz="825" dirty="0"/>
          </a:p>
        </p:txBody>
      </p:sp>
      <p:sp>
        <p:nvSpPr>
          <p:cNvPr id="50" name="Text 44"/>
          <p:cNvSpPr txBox="1"/>
          <p:nvPr/>
        </p:nvSpPr>
        <p:spPr>
          <a:xfrm>
            <a:off x="914400" y="4191000"/>
            <a:ext cx="666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나온 차이 하나를 61개 온도에 모두 같은 크기로 더했습니다.</a:t>
            </a:r>
            <a:endParaRPr lang="en-US" sz="975" dirty="0"/>
          </a:p>
        </p:txBody>
      </p:sp>
      <p:sp>
        <p:nvSpPr>
          <p:cNvPr id="51" name="Shape 45"/>
          <p:cNvSpPr/>
          <p:nvPr/>
        </p:nvSpPr>
        <p:spPr>
          <a:xfrm>
            <a:off x="1866900" y="5524500"/>
            <a:ext cx="8877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28750" y="54578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53" name="Shape 47"/>
          <p:cNvSpPr/>
          <p:nvPr/>
        </p:nvSpPr>
        <p:spPr>
          <a:xfrm>
            <a:off x="1866900" y="51816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1428750" y="51149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88" dirty="0"/>
          </a:p>
        </p:txBody>
      </p:sp>
      <p:sp>
        <p:nvSpPr>
          <p:cNvPr id="55" name="Shape 49"/>
          <p:cNvSpPr/>
          <p:nvPr/>
        </p:nvSpPr>
        <p:spPr>
          <a:xfrm>
            <a:off x="1866900" y="48387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1428750" y="47720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88" dirty="0"/>
          </a:p>
        </p:txBody>
      </p:sp>
      <p:sp>
        <p:nvSpPr>
          <p:cNvPr id="57" name="Shape 51"/>
          <p:cNvSpPr/>
          <p:nvPr/>
        </p:nvSpPr>
        <p:spPr>
          <a:xfrm>
            <a:off x="1866900" y="44958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1428750" y="44291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788" dirty="0"/>
          </a:p>
        </p:txBody>
      </p:sp>
      <p:sp>
        <p:nvSpPr>
          <p:cNvPr id="59" name="Text 53"/>
          <p:cNvSpPr txBox="1"/>
          <p:nvPr/>
        </p:nvSpPr>
        <p:spPr>
          <a:xfrm>
            <a:off x="914400" y="4457700"/>
            <a:ext cx="4381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750" dirty="0"/>
          </a:p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750" dirty="0"/>
          </a:p>
        </p:txBody>
      </p:sp>
      <p:sp>
        <p:nvSpPr>
          <p:cNvPr id="60" name="Shape 54"/>
          <p:cNvSpPr/>
          <p:nvPr/>
        </p:nvSpPr>
        <p:spPr>
          <a:xfrm>
            <a:off x="1862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Shape 55"/>
          <p:cNvSpPr/>
          <p:nvPr/>
        </p:nvSpPr>
        <p:spPr>
          <a:xfrm>
            <a:off x="2008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2" name="Shape 56"/>
          <p:cNvSpPr/>
          <p:nvPr/>
        </p:nvSpPr>
        <p:spPr>
          <a:xfrm>
            <a:off x="2154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3" name="Shape 57"/>
          <p:cNvSpPr/>
          <p:nvPr/>
        </p:nvSpPr>
        <p:spPr>
          <a:xfrm>
            <a:off x="2300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4" name="Shape 58"/>
          <p:cNvSpPr/>
          <p:nvPr/>
        </p:nvSpPr>
        <p:spPr>
          <a:xfrm>
            <a:off x="24463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5" name="Shape 59"/>
          <p:cNvSpPr/>
          <p:nvPr/>
        </p:nvSpPr>
        <p:spPr>
          <a:xfrm>
            <a:off x="2592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6" name="Shape 60"/>
          <p:cNvSpPr/>
          <p:nvPr/>
        </p:nvSpPr>
        <p:spPr>
          <a:xfrm>
            <a:off x="2738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7" name="Shape 61"/>
          <p:cNvSpPr/>
          <p:nvPr/>
        </p:nvSpPr>
        <p:spPr>
          <a:xfrm>
            <a:off x="2884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8" name="Shape 62"/>
          <p:cNvSpPr/>
          <p:nvPr/>
        </p:nvSpPr>
        <p:spPr>
          <a:xfrm>
            <a:off x="3030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9" name="Shape 63"/>
          <p:cNvSpPr/>
          <p:nvPr/>
        </p:nvSpPr>
        <p:spPr>
          <a:xfrm>
            <a:off x="3176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0" name="Shape 64"/>
          <p:cNvSpPr/>
          <p:nvPr/>
        </p:nvSpPr>
        <p:spPr>
          <a:xfrm>
            <a:off x="3322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1" name="Shape 65"/>
          <p:cNvSpPr/>
          <p:nvPr/>
        </p:nvSpPr>
        <p:spPr>
          <a:xfrm>
            <a:off x="3468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2" name="Shape 66"/>
          <p:cNvSpPr/>
          <p:nvPr/>
        </p:nvSpPr>
        <p:spPr>
          <a:xfrm>
            <a:off x="3614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3" name="Shape 67"/>
          <p:cNvSpPr/>
          <p:nvPr/>
        </p:nvSpPr>
        <p:spPr>
          <a:xfrm>
            <a:off x="3760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4" name="Shape 68"/>
          <p:cNvSpPr/>
          <p:nvPr/>
        </p:nvSpPr>
        <p:spPr>
          <a:xfrm>
            <a:off x="3906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5" name="Shape 69"/>
          <p:cNvSpPr/>
          <p:nvPr/>
        </p:nvSpPr>
        <p:spPr>
          <a:xfrm>
            <a:off x="4052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6" name="Shape 70"/>
          <p:cNvSpPr/>
          <p:nvPr/>
        </p:nvSpPr>
        <p:spPr>
          <a:xfrm>
            <a:off x="4198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7" name="Shape 71"/>
          <p:cNvSpPr/>
          <p:nvPr/>
        </p:nvSpPr>
        <p:spPr>
          <a:xfrm>
            <a:off x="4344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8" name="Shape 72"/>
          <p:cNvSpPr/>
          <p:nvPr/>
        </p:nvSpPr>
        <p:spPr>
          <a:xfrm>
            <a:off x="4491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9" name="Shape 73"/>
          <p:cNvSpPr/>
          <p:nvPr/>
        </p:nvSpPr>
        <p:spPr>
          <a:xfrm>
            <a:off x="4637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Shape 74"/>
          <p:cNvSpPr/>
          <p:nvPr/>
        </p:nvSpPr>
        <p:spPr>
          <a:xfrm>
            <a:off x="4783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1" name="Shape 75"/>
          <p:cNvSpPr/>
          <p:nvPr/>
        </p:nvSpPr>
        <p:spPr>
          <a:xfrm>
            <a:off x="4929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2" name="Shape 76"/>
          <p:cNvSpPr/>
          <p:nvPr/>
        </p:nvSpPr>
        <p:spPr>
          <a:xfrm>
            <a:off x="5075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3" name="Shape 77"/>
          <p:cNvSpPr/>
          <p:nvPr/>
        </p:nvSpPr>
        <p:spPr>
          <a:xfrm>
            <a:off x="5221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Shape 78"/>
          <p:cNvSpPr/>
          <p:nvPr/>
        </p:nvSpPr>
        <p:spPr>
          <a:xfrm>
            <a:off x="5367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5" name="Shape 79"/>
          <p:cNvSpPr/>
          <p:nvPr/>
        </p:nvSpPr>
        <p:spPr>
          <a:xfrm>
            <a:off x="5513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6" name="Shape 80"/>
          <p:cNvSpPr/>
          <p:nvPr/>
        </p:nvSpPr>
        <p:spPr>
          <a:xfrm>
            <a:off x="5659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7" name="Shape 81"/>
          <p:cNvSpPr/>
          <p:nvPr/>
        </p:nvSpPr>
        <p:spPr>
          <a:xfrm>
            <a:off x="5805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Shape 82"/>
          <p:cNvSpPr/>
          <p:nvPr/>
        </p:nvSpPr>
        <p:spPr>
          <a:xfrm>
            <a:off x="5951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9" name="Shape 83"/>
          <p:cNvSpPr/>
          <p:nvPr/>
        </p:nvSpPr>
        <p:spPr>
          <a:xfrm>
            <a:off x="6097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0" name="Shape 84"/>
          <p:cNvSpPr/>
          <p:nvPr/>
        </p:nvSpPr>
        <p:spPr>
          <a:xfrm>
            <a:off x="6243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1" name="Shape 85"/>
          <p:cNvSpPr/>
          <p:nvPr/>
        </p:nvSpPr>
        <p:spPr>
          <a:xfrm>
            <a:off x="6389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2" name="Shape 86"/>
          <p:cNvSpPr/>
          <p:nvPr/>
        </p:nvSpPr>
        <p:spPr>
          <a:xfrm>
            <a:off x="6535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3" name="Shape 87"/>
          <p:cNvSpPr/>
          <p:nvPr/>
        </p:nvSpPr>
        <p:spPr>
          <a:xfrm>
            <a:off x="6681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4" name="Shape 88"/>
          <p:cNvSpPr/>
          <p:nvPr/>
        </p:nvSpPr>
        <p:spPr>
          <a:xfrm>
            <a:off x="6827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5" name="Shape 89"/>
          <p:cNvSpPr/>
          <p:nvPr/>
        </p:nvSpPr>
        <p:spPr>
          <a:xfrm>
            <a:off x="6973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Shape 90"/>
          <p:cNvSpPr/>
          <p:nvPr/>
        </p:nvSpPr>
        <p:spPr>
          <a:xfrm>
            <a:off x="7119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7" name="Shape 91"/>
          <p:cNvSpPr/>
          <p:nvPr/>
        </p:nvSpPr>
        <p:spPr>
          <a:xfrm>
            <a:off x="7265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8" name="Shape 92"/>
          <p:cNvSpPr/>
          <p:nvPr/>
        </p:nvSpPr>
        <p:spPr>
          <a:xfrm>
            <a:off x="7412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9" name="Shape 93"/>
          <p:cNvSpPr/>
          <p:nvPr/>
        </p:nvSpPr>
        <p:spPr>
          <a:xfrm>
            <a:off x="7558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0" name="Shape 94"/>
          <p:cNvSpPr/>
          <p:nvPr/>
        </p:nvSpPr>
        <p:spPr>
          <a:xfrm>
            <a:off x="7704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1" name="Shape 95"/>
          <p:cNvSpPr/>
          <p:nvPr/>
        </p:nvSpPr>
        <p:spPr>
          <a:xfrm>
            <a:off x="7850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2" name="Shape 96"/>
          <p:cNvSpPr/>
          <p:nvPr/>
        </p:nvSpPr>
        <p:spPr>
          <a:xfrm>
            <a:off x="79962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3" name="Shape 97"/>
          <p:cNvSpPr/>
          <p:nvPr/>
        </p:nvSpPr>
        <p:spPr>
          <a:xfrm>
            <a:off x="8142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4" name="Shape 98"/>
          <p:cNvSpPr/>
          <p:nvPr/>
        </p:nvSpPr>
        <p:spPr>
          <a:xfrm>
            <a:off x="8288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5" name="Shape 99"/>
          <p:cNvSpPr/>
          <p:nvPr/>
        </p:nvSpPr>
        <p:spPr>
          <a:xfrm>
            <a:off x="8434388" y="4838700"/>
            <a:ext cx="85725" cy="6858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6" name="Shape 100"/>
          <p:cNvSpPr/>
          <p:nvPr/>
        </p:nvSpPr>
        <p:spPr>
          <a:xfrm>
            <a:off x="8580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7" name="Shape 101"/>
          <p:cNvSpPr/>
          <p:nvPr/>
        </p:nvSpPr>
        <p:spPr>
          <a:xfrm>
            <a:off x="8726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8" name="Shape 102"/>
          <p:cNvSpPr/>
          <p:nvPr/>
        </p:nvSpPr>
        <p:spPr>
          <a:xfrm>
            <a:off x="8872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9" name="Shape 103"/>
          <p:cNvSpPr/>
          <p:nvPr/>
        </p:nvSpPr>
        <p:spPr>
          <a:xfrm>
            <a:off x="9018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0" name="Shape 104"/>
          <p:cNvSpPr/>
          <p:nvPr/>
        </p:nvSpPr>
        <p:spPr>
          <a:xfrm>
            <a:off x="9164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1" name="Shape 105"/>
          <p:cNvSpPr/>
          <p:nvPr/>
        </p:nvSpPr>
        <p:spPr>
          <a:xfrm>
            <a:off x="9310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2" name="Shape 106"/>
          <p:cNvSpPr/>
          <p:nvPr/>
        </p:nvSpPr>
        <p:spPr>
          <a:xfrm>
            <a:off x="9456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3" name="Shape 107"/>
          <p:cNvSpPr/>
          <p:nvPr/>
        </p:nvSpPr>
        <p:spPr>
          <a:xfrm>
            <a:off x="9602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4" name="Shape 108"/>
          <p:cNvSpPr/>
          <p:nvPr/>
        </p:nvSpPr>
        <p:spPr>
          <a:xfrm>
            <a:off x="9748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5" name="Shape 109"/>
          <p:cNvSpPr/>
          <p:nvPr/>
        </p:nvSpPr>
        <p:spPr>
          <a:xfrm>
            <a:off x="9894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6" name="Shape 110"/>
          <p:cNvSpPr/>
          <p:nvPr/>
        </p:nvSpPr>
        <p:spPr>
          <a:xfrm>
            <a:off x="10040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7" name="Shape 111"/>
          <p:cNvSpPr/>
          <p:nvPr/>
        </p:nvSpPr>
        <p:spPr>
          <a:xfrm>
            <a:off x="10186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8" name="Shape 112"/>
          <p:cNvSpPr/>
          <p:nvPr/>
        </p:nvSpPr>
        <p:spPr>
          <a:xfrm>
            <a:off x="10333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9" name="Shape 113"/>
          <p:cNvSpPr/>
          <p:nvPr/>
        </p:nvSpPr>
        <p:spPr>
          <a:xfrm>
            <a:off x="10479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0" name="Shape 114"/>
          <p:cNvSpPr/>
          <p:nvPr/>
        </p:nvSpPr>
        <p:spPr>
          <a:xfrm>
            <a:off x="10625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1" name="Text 115"/>
          <p:cNvSpPr txBox="1"/>
          <p:nvPr/>
        </p:nvSpPr>
        <p:spPr>
          <a:xfrm>
            <a:off x="1676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</a:t>
            </a:r>
            <a:endParaRPr lang="en-US" sz="788" dirty="0"/>
          </a:p>
        </p:txBody>
      </p:sp>
      <p:sp>
        <p:nvSpPr>
          <p:cNvPr id="122" name="Text 116"/>
          <p:cNvSpPr txBox="1"/>
          <p:nvPr/>
        </p:nvSpPr>
        <p:spPr>
          <a:xfrm>
            <a:off x="3136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</a:t>
            </a:r>
            <a:endParaRPr lang="en-US" sz="788" dirty="0"/>
          </a:p>
        </p:txBody>
      </p:sp>
      <p:sp>
        <p:nvSpPr>
          <p:cNvPr id="123" name="Text 117"/>
          <p:cNvSpPr txBox="1"/>
          <p:nvPr/>
        </p:nvSpPr>
        <p:spPr>
          <a:xfrm>
            <a:off x="4597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124" name="Text 118"/>
          <p:cNvSpPr txBox="1"/>
          <p:nvPr/>
        </p:nvSpPr>
        <p:spPr>
          <a:xfrm>
            <a:off x="6057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88" dirty="0"/>
          </a:p>
        </p:txBody>
      </p:sp>
      <p:sp>
        <p:nvSpPr>
          <p:cNvPr id="125" name="Text 119"/>
          <p:cNvSpPr txBox="1"/>
          <p:nvPr/>
        </p:nvSpPr>
        <p:spPr>
          <a:xfrm>
            <a:off x="7518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+20</a:t>
            </a:r>
            <a:endParaRPr lang="en-US" sz="788" dirty="0"/>
          </a:p>
        </p:txBody>
      </p:sp>
      <p:sp>
        <p:nvSpPr>
          <p:cNvPr id="126" name="Text 120"/>
          <p:cNvSpPr txBox="1"/>
          <p:nvPr/>
        </p:nvSpPr>
        <p:spPr>
          <a:xfrm>
            <a:off x="8978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+30</a:t>
            </a:r>
            <a:endParaRPr lang="en-US" sz="788" dirty="0"/>
          </a:p>
        </p:txBody>
      </p:sp>
      <p:sp>
        <p:nvSpPr>
          <p:cNvPr id="127" name="Text 121"/>
          <p:cNvSpPr txBox="1"/>
          <p:nvPr/>
        </p:nvSpPr>
        <p:spPr>
          <a:xfrm>
            <a:off x="10439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+40</a:t>
            </a:r>
            <a:endParaRPr lang="en-US" sz="788" dirty="0"/>
          </a:p>
        </p:txBody>
      </p:sp>
      <p:sp>
        <p:nvSpPr>
          <p:cNvPr id="128" name="Text 122"/>
          <p:cNvSpPr txBox="1"/>
          <p:nvPr/>
        </p:nvSpPr>
        <p:spPr>
          <a:xfrm>
            <a:off x="10915650" y="5581650"/>
            <a:ext cx="228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788" dirty="0"/>
          </a:p>
        </p:txBody>
      </p:sp>
      <p:sp>
        <p:nvSpPr>
          <p:cNvPr id="129" name="Shape 123"/>
          <p:cNvSpPr/>
          <p:nvPr/>
        </p:nvSpPr>
        <p:spPr>
          <a:xfrm>
            <a:off x="8477250" y="4610100"/>
            <a:ext cx="0" cy="190500"/>
          </a:xfrm>
          <a:prstGeom prst="line">
            <a:avLst/>
          </a:prstGeom>
          <a:noFill/>
          <a:ln w="12700">
            <a:solidFill>
              <a:srgbClr val="EFB13C"/>
            </a:solidFill>
            <a:prstDash val="solid"/>
          </a:ln>
        </p:spPr>
      </p:sp>
      <p:sp>
        <p:nvSpPr>
          <p:cNvPr id="130" name="Text 124"/>
          <p:cNvSpPr txBox="1"/>
          <p:nvPr/>
        </p:nvSpPr>
        <p:spPr>
          <a:xfrm>
            <a:off x="7048500" y="44386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온도만 실제로 시험</a:t>
            </a:r>
            <a:endParaRPr lang="en-US" sz="975" dirty="0"/>
          </a:p>
        </p:txBody>
      </p:sp>
      <p:sp>
        <p:nvSpPr>
          <p:cNvPr id="131" name="Shape 125"/>
          <p:cNvSpPr/>
          <p:nvPr/>
        </p:nvSpPr>
        <p:spPr>
          <a:xfrm>
            <a:off x="2000250" y="4514850"/>
            <a:ext cx="133350" cy="666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32" name="Text 126"/>
          <p:cNvSpPr txBox="1"/>
          <p:nvPr/>
        </p:nvSpPr>
        <p:spPr>
          <a:xfrm>
            <a:off x="2190750" y="4476750"/>
            <a:ext cx="3810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60개 온도는 시험하지 않고 같은 값</a:t>
            </a:r>
            <a:endParaRPr lang="en-US" sz="938" dirty="0"/>
          </a:p>
        </p:txBody>
      </p:sp>
      <p:sp>
        <p:nvSpPr>
          <p:cNvPr id="133" name="Shape 1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4" name="Text 1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35" name="Text 1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해보지 않은 온도는 알 방법이 없었으니, 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문제는 세 가지였습니다. 절차가 번거롭고, 보정값이 하나로 고정되며, 그래서 예측이 어긋났습니다.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876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회차마다 되풀이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32956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23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2350" y="2286000"/>
            <a:ext cx="3429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1950" dirty="0"/>
          </a:p>
        </p:txBody>
      </p:sp>
      <p:sp>
        <p:nvSpPr>
          <p:cNvPr id="26" name="Text 24"/>
          <p:cNvSpPr txBox="1"/>
          <p:nvPr/>
        </p:nvSpPr>
        <p:spPr>
          <a:xfrm>
            <a:off x="39433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594360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03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넣는 값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103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30" name="Text 28"/>
          <p:cNvSpPr txBox="1"/>
          <p:nvPr/>
        </p:nvSpPr>
        <p:spPr>
          <a:xfrm>
            <a:off x="64389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곳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85915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582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85825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950" dirty="0"/>
          </a:p>
        </p:txBody>
      </p:sp>
      <p:sp>
        <p:nvSpPr>
          <p:cNvPr id="34" name="Text 32"/>
          <p:cNvSpPr txBox="1"/>
          <p:nvPr/>
        </p:nvSpPr>
        <p:spPr>
          <a:xfrm>
            <a:off x="90868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685800" y="2762250"/>
            <a:ext cx="44767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5325" y="2771775"/>
            <a:ext cx="44577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7" name="Shape 35"/>
          <p:cNvSpPr/>
          <p:nvPr/>
        </p:nvSpPr>
        <p:spPr>
          <a:xfrm>
            <a:off x="685800" y="3048000"/>
            <a:ext cx="44767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532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25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1085850" y="2838450"/>
            <a:ext cx="2381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보정</a:t>
            </a:r>
            <a:endParaRPr lang="en-US" sz="1013" dirty="0"/>
          </a:p>
        </p:txBody>
      </p:sp>
      <p:sp>
        <p:nvSpPr>
          <p:cNvPr id="41" name="Text 39"/>
          <p:cNvSpPr txBox="1"/>
          <p:nvPr/>
        </p:nvSpPr>
        <p:spPr>
          <a:xfrm>
            <a:off x="3467100" y="2847975"/>
            <a:ext cx="1562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~ 4월 13회 · 단위 MW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952500" y="3124200"/>
            <a:ext cx="3276600" cy="2286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3" name="Shape 41"/>
          <p:cNvSpPr/>
          <p:nvPr/>
        </p:nvSpPr>
        <p:spPr>
          <a:xfrm>
            <a:off x="952500" y="335280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38225" y="32004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743075" y="3200400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2905125" y="3200400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적용한 보정값</a:t>
            </a:r>
            <a:endParaRPr lang="en-US" sz="938" dirty="0"/>
          </a:p>
        </p:txBody>
      </p:sp>
      <p:sp>
        <p:nvSpPr>
          <p:cNvPr id="47" name="Shape 45"/>
          <p:cNvSpPr/>
          <p:nvPr/>
        </p:nvSpPr>
        <p:spPr>
          <a:xfrm>
            <a:off x="952500" y="35337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38225" y="33718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1743075" y="33718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2905125" y="33718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952500" y="35337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2500" y="37147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38225" y="35528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1743075" y="35528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2905125" y="35528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952500" y="38957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38225" y="37338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743075" y="37338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2905125" y="37338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0" name="Shape 58"/>
          <p:cNvSpPr/>
          <p:nvPr/>
        </p:nvSpPr>
        <p:spPr>
          <a:xfrm>
            <a:off x="952500" y="38957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52500" y="40767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8225" y="39147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743075" y="39147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863" dirty="0"/>
          </a:p>
        </p:txBody>
      </p:sp>
      <p:sp>
        <p:nvSpPr>
          <p:cNvPr id="64" name="Text 62"/>
          <p:cNvSpPr txBox="1"/>
          <p:nvPr/>
        </p:nvSpPr>
        <p:spPr>
          <a:xfrm>
            <a:off x="2905125" y="39147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952500" y="42576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8225" y="40957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743075" y="40957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863" dirty="0"/>
          </a:p>
        </p:txBody>
      </p:sp>
      <p:sp>
        <p:nvSpPr>
          <p:cNvPr id="68" name="Text 66"/>
          <p:cNvSpPr txBox="1"/>
          <p:nvPr/>
        </p:nvSpPr>
        <p:spPr>
          <a:xfrm>
            <a:off x="2905125" y="40957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952500" y="42576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2500" y="44386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38225" y="42767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2" name="Text 70"/>
          <p:cNvSpPr txBox="1"/>
          <p:nvPr/>
        </p:nvSpPr>
        <p:spPr>
          <a:xfrm>
            <a:off x="1743075" y="42767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863" dirty="0"/>
          </a:p>
        </p:txBody>
      </p:sp>
      <p:sp>
        <p:nvSpPr>
          <p:cNvPr id="73" name="Text 71"/>
          <p:cNvSpPr txBox="1"/>
          <p:nvPr/>
        </p:nvSpPr>
        <p:spPr>
          <a:xfrm>
            <a:off x="2905125" y="42767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952500" y="46196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038225" y="44577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743075" y="44577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63" dirty="0"/>
          </a:p>
        </p:txBody>
      </p:sp>
      <p:sp>
        <p:nvSpPr>
          <p:cNvPr id="77" name="Text 75"/>
          <p:cNvSpPr txBox="1"/>
          <p:nvPr/>
        </p:nvSpPr>
        <p:spPr>
          <a:xfrm>
            <a:off x="2905125" y="44577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8" name="Shape 76"/>
          <p:cNvSpPr/>
          <p:nvPr/>
        </p:nvSpPr>
        <p:spPr>
          <a:xfrm>
            <a:off x="952500" y="46196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52500" y="48006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38225" y="46386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1743075" y="46386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2905125" y="46386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952500" y="49815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38225" y="48196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1743075" y="48196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2905125" y="48196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7" name="Shape 85"/>
          <p:cNvSpPr/>
          <p:nvPr/>
        </p:nvSpPr>
        <p:spPr>
          <a:xfrm>
            <a:off x="952500" y="49815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952500" y="51625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38225" y="50006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0" name="Text 88"/>
          <p:cNvSpPr txBox="1"/>
          <p:nvPr/>
        </p:nvSpPr>
        <p:spPr>
          <a:xfrm>
            <a:off x="1743075" y="50006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863" dirty="0"/>
          </a:p>
        </p:txBody>
      </p:sp>
      <p:sp>
        <p:nvSpPr>
          <p:cNvPr id="91" name="Text 89"/>
          <p:cNvSpPr txBox="1"/>
          <p:nvPr/>
        </p:nvSpPr>
        <p:spPr>
          <a:xfrm>
            <a:off x="2905125" y="50006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2" name="Shape 90"/>
          <p:cNvSpPr/>
          <p:nvPr/>
        </p:nvSpPr>
        <p:spPr>
          <a:xfrm>
            <a:off x="952500" y="53435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38225" y="51816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4" name="Text 92"/>
          <p:cNvSpPr txBox="1"/>
          <p:nvPr/>
        </p:nvSpPr>
        <p:spPr>
          <a:xfrm>
            <a:off x="1743075" y="51816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863" dirty="0"/>
          </a:p>
        </p:txBody>
      </p:sp>
      <p:sp>
        <p:nvSpPr>
          <p:cNvPr id="95" name="Text 93"/>
          <p:cNvSpPr txBox="1"/>
          <p:nvPr/>
        </p:nvSpPr>
        <p:spPr>
          <a:xfrm>
            <a:off x="2905125" y="51816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6" name="Shape 94"/>
          <p:cNvSpPr/>
          <p:nvPr/>
        </p:nvSpPr>
        <p:spPr>
          <a:xfrm>
            <a:off x="952500" y="53435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952500" y="55245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1038225" y="5362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9" name="Text 97"/>
          <p:cNvSpPr txBox="1"/>
          <p:nvPr/>
        </p:nvSpPr>
        <p:spPr>
          <a:xfrm>
            <a:off x="1743075" y="5362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863" dirty="0"/>
          </a:p>
        </p:txBody>
      </p:sp>
      <p:sp>
        <p:nvSpPr>
          <p:cNvPr id="100" name="Text 98"/>
          <p:cNvSpPr txBox="1"/>
          <p:nvPr/>
        </p:nvSpPr>
        <p:spPr>
          <a:xfrm>
            <a:off x="2905125" y="5362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1" name="Shape 99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038225" y="55435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1743075" y="55435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863" dirty="0"/>
          </a:p>
        </p:txBody>
      </p:sp>
      <p:sp>
        <p:nvSpPr>
          <p:cNvPr id="104" name="Text 102"/>
          <p:cNvSpPr txBox="1"/>
          <p:nvPr/>
        </p:nvSpPr>
        <p:spPr>
          <a:xfrm>
            <a:off x="2905125" y="55435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5" name="Shape 103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38225" y="5743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7" name="Text 105"/>
          <p:cNvSpPr txBox="1"/>
          <p:nvPr/>
        </p:nvSpPr>
        <p:spPr>
          <a:xfrm>
            <a:off x="1743075" y="5743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863" dirty="0"/>
          </a:p>
        </p:txBody>
      </p:sp>
      <p:sp>
        <p:nvSpPr>
          <p:cNvPr id="108" name="Text 106"/>
          <p:cNvSpPr txBox="1"/>
          <p:nvPr/>
        </p:nvSpPr>
        <p:spPr>
          <a:xfrm>
            <a:off x="2905125" y="5743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863" dirty="0"/>
          </a:p>
        </p:txBody>
      </p:sp>
      <p:sp>
        <p:nvSpPr>
          <p:cNvPr id="109" name="Shape 107"/>
          <p:cNvSpPr/>
          <p:nvPr/>
        </p:nvSpPr>
        <p:spPr>
          <a:xfrm>
            <a:off x="5314950" y="2762250"/>
            <a:ext cx="61912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24475" y="2771775"/>
            <a:ext cx="61722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314950" y="3048000"/>
            <a:ext cx="61912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2447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48640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14" name="Text 112"/>
          <p:cNvSpPr txBox="1"/>
          <p:nvPr/>
        </p:nvSpPr>
        <p:spPr>
          <a:xfrm>
            <a:off x="5715000" y="2838450"/>
            <a:ext cx="37242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오차</a:t>
            </a:r>
            <a:endParaRPr lang="en-US" sz="1013" dirty="0"/>
          </a:p>
        </p:txBody>
      </p:sp>
      <p:sp>
        <p:nvSpPr>
          <p:cNvPr id="115" name="Text 113"/>
          <p:cNvSpPr txBox="1"/>
          <p:nvPr/>
        </p:nvSpPr>
        <p:spPr>
          <a:xfrm>
            <a:off x="9439275" y="2847975"/>
            <a:ext cx="19335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차이 MW</a:t>
            </a:r>
            <a:endParaRPr lang="en-US" sz="825" dirty="0"/>
          </a:p>
        </p:txBody>
      </p:sp>
      <p:sp>
        <p:nvSpPr>
          <p:cNvPr id="116" name="Shape 114"/>
          <p:cNvSpPr/>
          <p:nvPr/>
        </p:nvSpPr>
        <p:spPr>
          <a:xfrm>
            <a:off x="5924550" y="32766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24550" y="35433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924550" y="38100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924550" y="43434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24550" y="4076700"/>
            <a:ext cx="53149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486400" y="32099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22" name="Text 120"/>
          <p:cNvSpPr txBox="1"/>
          <p:nvPr/>
        </p:nvSpPr>
        <p:spPr>
          <a:xfrm>
            <a:off x="5486400" y="37433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5486400" y="40100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24" name="Text 122"/>
          <p:cNvSpPr txBox="1"/>
          <p:nvPr/>
        </p:nvSpPr>
        <p:spPr>
          <a:xfrm>
            <a:off x="5486400" y="42767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3131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1036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76085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73990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89039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86944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101993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9898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5924550" y="3913013"/>
            <a:ext cx="53149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34" name="Text 132"/>
          <p:cNvSpPr txBox="1"/>
          <p:nvPr/>
        </p:nvSpPr>
        <p:spPr>
          <a:xfrm>
            <a:off x="9033510" y="3741563"/>
            <a:ext cx="1714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보정값</a:t>
            </a:r>
            <a:endParaRPr lang="en-US" sz="825" dirty="0"/>
          </a:p>
        </p:txBody>
      </p:sp>
      <p:sp>
        <p:nvSpPr>
          <p:cNvPr id="135" name="Shape 133"/>
          <p:cNvSpPr/>
          <p:nvPr/>
        </p:nvSpPr>
        <p:spPr>
          <a:xfrm>
            <a:off x="6039422" y="318597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97715" y="321750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531674" y="34634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790754" y="366816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062788" y="368676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92328" y="371723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321868" y="374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438454" y="363309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516178" y="380524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736396" y="370610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930706" y="37267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969568" y="358742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08430" y="36170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150924" y="35589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163878" y="3648294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8241602" y="367649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8435912" y="36912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448866" y="36688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044750" y="387445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537002" y="418969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562910" y="426803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575864" y="408768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614726" y="40957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834944" y="42272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003345" y="43727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197655" y="415609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197655" y="408101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262426" y="427904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288333" y="427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391966" y="41072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482644" y="409041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0521506" y="42184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534459" y="390832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534459" y="39563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0534459" y="41512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638091" y="400387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664000" y="42042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767632" y="399980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961941" y="390906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1195114" y="395413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505450" y="4752975"/>
            <a:ext cx="38100" cy="2476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5638800" y="47244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1088" dirty="0"/>
          </a:p>
        </p:txBody>
      </p:sp>
      <p:sp>
        <p:nvSpPr>
          <p:cNvPr id="177" name="Text 175"/>
          <p:cNvSpPr txBox="1"/>
          <p:nvPr/>
        </p:nvSpPr>
        <p:spPr>
          <a:xfrm>
            <a:off x="6210300" y="47339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있는데 적게 신고했습니다. 팔 수 있는 양을 못 팔았습니다.</a:t>
            </a:r>
            <a:endParaRPr lang="en-US" sz="938" dirty="0"/>
          </a:p>
        </p:txBody>
      </p:sp>
      <p:sp>
        <p:nvSpPr>
          <p:cNvPr id="178" name="Shape 176"/>
          <p:cNvSpPr/>
          <p:nvPr/>
        </p:nvSpPr>
        <p:spPr>
          <a:xfrm>
            <a:off x="5505450" y="5172075"/>
            <a:ext cx="38100" cy="2476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638800" y="51435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1088" dirty="0"/>
          </a:p>
        </p:txBody>
      </p:sp>
      <p:sp>
        <p:nvSpPr>
          <p:cNvPr id="180" name="Text 178"/>
          <p:cNvSpPr txBox="1"/>
          <p:nvPr/>
        </p:nvSpPr>
        <p:spPr>
          <a:xfrm>
            <a:off x="6210300" y="51530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신고했습니다. 신고값을 못 채우면 정산에서 불이익을 받습니다.</a:t>
            </a:r>
            <a:endParaRPr lang="en-US" sz="938" dirty="0"/>
          </a:p>
        </p:txBody>
      </p:sp>
      <p:sp>
        <p:nvSpPr>
          <p:cNvPr id="181" name="Shape 179"/>
          <p:cNvSpPr/>
          <p:nvPr/>
        </p:nvSpPr>
        <p:spPr>
          <a:xfrm>
            <a:off x="5505450" y="5591175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638800" y="55626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88" dirty="0"/>
          </a:p>
        </p:txBody>
      </p:sp>
      <p:sp>
        <p:nvSpPr>
          <p:cNvPr id="183" name="Text 181"/>
          <p:cNvSpPr txBox="1"/>
          <p:nvPr/>
        </p:nvSpPr>
        <p:spPr>
          <a:xfrm>
            <a:off x="6210300" y="55721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신고값을 못 채웠고, 가장 크게 어긋난 날은 10.8 MW 였습니다.</a:t>
            </a:r>
            <a:endParaRPr lang="en-US" sz="938" dirty="0"/>
          </a:p>
        </p:txBody>
      </p:sp>
      <p:sp>
        <p:nvSpPr>
          <p:cNvPr id="184" name="Shape 18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86" name="Text 18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번거롭고, 온도마다 다른 것을 하나로 맞추려니 맞을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영향을 줄 만한 것 네 가지를 놓고 하나씩 넣어 봤습니다. 남은 것은 온도 하나였습니다.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866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296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382250" y="1857375"/>
            <a:ext cx="990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4개 → 1개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38200" y="2152650"/>
            <a:ext cx="2457450" cy="571500"/>
          </a:xfrm>
          <a:prstGeom prst="rect">
            <a:avLst/>
          </a:prstGeom>
          <a:ln w="20320">
            <a:solidFill>
              <a:srgbClr val="EFB1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5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9715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남았습니다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9715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온도만으로 대부분 설명됐습니다.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861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195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3619500" y="2438400"/>
            <a:ext cx="1223820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95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36195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 나빠지지만 온도를 걷어내면 사라집니다.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3410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74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6267450" y="2438400"/>
            <a:ext cx="591503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74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2674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이론식이 이미 반영하고 있었습니다.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7820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154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습도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8915400" y="2438400"/>
            <a:ext cx="867585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154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9154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넣어도 예측이 나아지지 않았습니다.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85800" y="3752850"/>
            <a:ext cx="52959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5325" y="37623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85800" y="40386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3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72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1085850" y="3829050"/>
            <a:ext cx="4762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진공도를 세 번 접었다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76300" y="4133850"/>
            <a:ext cx="49149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 복수기 진공이 나빠지면 출력이 덜 나옵니다. 그럴듯했고 숫자도 강하게 나왔습니다. 그래서 세 번 다르게 확인했습니다.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47625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600200" y="47625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탓인지 설비 탓인지 갈라 봤습니다.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4495800" y="47625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508635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600200" y="508635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연도를 나눠 봤습니다.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4495800" y="508635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해만 그랬습니다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876300" y="54102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600200" y="54102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걷어내고 다시 봤습니다.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4495800" y="54102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사라졌습니다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876300" y="5753100"/>
            <a:ext cx="4914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 다 일부 회차만 골라 보면 그렇게 보이는 것이었습니다.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6134100" y="3752850"/>
            <a:ext cx="53721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43625" y="37623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8" name="Shape 56"/>
          <p:cNvSpPr/>
          <p:nvPr/>
        </p:nvSpPr>
        <p:spPr>
          <a:xfrm>
            <a:off x="6134100" y="40386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436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055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6534150" y="3829050"/>
            <a:ext cx="4838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결론을 한 번 뒤집었다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6324600" y="4133850"/>
            <a:ext cx="49911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상반기 시험이 유별나게 낮았습니다. 설비 시기가 달라서라고 결론내고 문서까지 썼습니다.</a:t>
            </a:r>
            <a:endParaRPr lang="en-US" sz="975" dirty="0"/>
          </a:p>
        </p:txBody>
      </p:sp>
      <p:sp>
        <p:nvSpPr>
          <p:cNvPr id="63" name="Shape 61"/>
          <p:cNvSpPr/>
          <p:nvPr/>
        </p:nvSpPr>
        <p:spPr>
          <a:xfrm>
            <a:off x="6324600" y="4762500"/>
            <a:ext cx="38100" cy="876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515100" y="4762500"/>
            <a:ext cx="48006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파 보니 원인이 달랐습니다.</a:t>
            </a:r>
            <a:endParaRPr lang="en-US" sz="1088" dirty="0"/>
          </a:p>
        </p:txBody>
      </p:sp>
      <p:sp>
        <p:nvSpPr>
          <p:cNvPr id="65" name="Text 63"/>
          <p:cNvSpPr txBox="1"/>
          <p:nvPr/>
        </p:nvSpPr>
        <p:spPr>
          <a:xfrm>
            <a:off x="6515100" y="5010150"/>
            <a:ext cx="4800600" cy="767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를 올리지 않고 시험한 회차였습니다. 출력이 4~6 MW 낮게 나와 미달로 잘못 볼 수 있었습니다. 결론을 철회하고, 지금은 이런 회차가 들어오면 도구가 누적에 반영하지 않습니다.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8" name="Text 6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그럴듯해 보이는 것을 하나씩 무너뜨린 끝에 온도만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보정 모델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계산식은 그대로 두고, 계산값과 실제의 차이만 온도별로 배우게 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3810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3790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3810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276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것과 두고 온 것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52650"/>
            <a:ext cx="3429000" cy="704850"/>
          </a:xfrm>
          <a:prstGeom prst="rect">
            <a:avLst/>
          </a:prstGeom>
          <a:ln w="17780">
            <a:solidFill>
              <a:srgbClr val="718B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9650" y="2247900"/>
            <a:ext cx="1905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둔 것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1009650" y="2438400"/>
            <a:ext cx="3143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1009650" y="2647950"/>
            <a:ext cx="3143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식입니다. 손대지 않았습니다.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9146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81100" y="2952750"/>
            <a:ext cx="3048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계산값과 실제의 차이만 넘깁니다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76300" y="3219450"/>
            <a:ext cx="3429000" cy="704850"/>
          </a:xfrm>
          <a:prstGeom prst="rect">
            <a:avLst/>
          </a:prstGeom>
          <a:ln w="20320">
            <a:solidFill>
              <a:srgbClr val="EFB1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9650" y="3314700"/>
            <a:ext cx="1905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만든 것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1009650" y="3505200"/>
            <a:ext cx="3143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1009650" y="3714750"/>
            <a:ext cx="3143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40회를 학습해 온도마다 다른 값을 줍니다.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48200" y="1771650"/>
            <a:ext cx="6858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57725" y="1781175"/>
            <a:ext cx="6838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8200" y="2057400"/>
            <a:ext cx="6858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577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96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5048250" y="1847850"/>
            <a:ext cx="4943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9991725" y="1857375"/>
            <a:ext cx="1381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−10 ~ 40℃ · 단위 MW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5105400" y="2750820"/>
            <a:ext cx="6172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24400" y="268414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105400" y="2994660"/>
            <a:ext cx="6172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24400" y="292798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105400" y="3238500"/>
            <a:ext cx="6172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724400" y="317182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105400" y="3482340"/>
            <a:ext cx="6172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724400" y="341566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6134100" y="36957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334250" y="36957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8534400" y="36957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9734550" y="36957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10934700" y="36957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105400" y="3088843"/>
            <a:ext cx="61722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9525000" y="2907868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하나로 고정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5143500" y="2703271"/>
            <a:ext cx="24003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83530" y="2703271"/>
            <a:ext cx="24003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623560" y="2703271"/>
            <a:ext cx="24003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63590" y="2703271"/>
            <a:ext cx="24003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103620" y="2703271"/>
            <a:ext cx="240030" cy="7924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43650" y="2782519"/>
            <a:ext cx="240030" cy="304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83680" y="2785567"/>
            <a:ext cx="240030" cy="6766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823710" y="2853233"/>
            <a:ext cx="240030" cy="5425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3740" y="2907487"/>
            <a:ext cx="240030" cy="243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303770" y="2923337"/>
            <a:ext cx="240030" cy="853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543800" y="2894686"/>
            <a:ext cx="240030" cy="2865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7783830" y="2870911"/>
            <a:ext cx="240030" cy="237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23860" y="2870911"/>
            <a:ext cx="240030" cy="670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63890" y="2877617"/>
            <a:ext cx="240030" cy="5303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503920" y="2930652"/>
            <a:ext cx="240030" cy="9875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43950" y="3029407"/>
            <a:ext cx="240030" cy="12618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83980" y="3155594"/>
            <a:ext cx="240030" cy="1225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24010" y="3278124"/>
            <a:ext cx="240030" cy="8839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64040" y="3366516"/>
            <a:ext cx="240030" cy="3413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9704070" y="3378098"/>
            <a:ext cx="240030" cy="2255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9944100" y="3314090"/>
            <a:ext cx="240030" cy="6400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10184130" y="3231794"/>
            <a:ext cx="240030" cy="8229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10424160" y="3158033"/>
            <a:ext cx="240030" cy="7376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10664190" y="3109874"/>
            <a:ext cx="240030" cy="4815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904220" y="3109874"/>
            <a:ext cx="240030" cy="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7046" y="2420798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7" name="Shape 75"/>
          <p:cNvSpPr/>
          <p:nvPr/>
        </p:nvSpPr>
        <p:spPr>
          <a:xfrm>
            <a:off x="6141053" y="2449632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8" name="Shape 76"/>
          <p:cNvSpPr/>
          <p:nvPr/>
        </p:nvSpPr>
        <p:spPr>
          <a:xfrm>
            <a:off x="6543104" y="2674513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9" name="Shape 77"/>
          <p:cNvSpPr/>
          <p:nvPr/>
        </p:nvSpPr>
        <p:spPr>
          <a:xfrm>
            <a:off x="6783134" y="2861661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0" name="Shape 78"/>
          <p:cNvSpPr/>
          <p:nvPr/>
        </p:nvSpPr>
        <p:spPr>
          <a:xfrm>
            <a:off x="7035165" y="2878668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1" name="Shape 79"/>
          <p:cNvSpPr/>
          <p:nvPr/>
        </p:nvSpPr>
        <p:spPr>
          <a:xfrm>
            <a:off x="7155180" y="2906527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2" name="Shape 80"/>
          <p:cNvSpPr/>
          <p:nvPr/>
        </p:nvSpPr>
        <p:spPr>
          <a:xfrm>
            <a:off x="7275195" y="2932374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3" name="Shape 81"/>
          <p:cNvSpPr/>
          <p:nvPr/>
        </p:nvSpPr>
        <p:spPr>
          <a:xfrm>
            <a:off x="7383209" y="2829596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4" name="Shape 82"/>
          <p:cNvSpPr/>
          <p:nvPr/>
        </p:nvSpPr>
        <p:spPr>
          <a:xfrm>
            <a:off x="7455218" y="2986994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5" name="Shape 83"/>
          <p:cNvSpPr/>
          <p:nvPr/>
        </p:nvSpPr>
        <p:spPr>
          <a:xfrm>
            <a:off x="7659243" y="2896347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6" name="Shape 84"/>
          <p:cNvSpPr/>
          <p:nvPr/>
        </p:nvSpPr>
        <p:spPr>
          <a:xfrm>
            <a:off x="7839265" y="2915244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7" name="Shape 85"/>
          <p:cNvSpPr/>
          <p:nvPr/>
        </p:nvSpPr>
        <p:spPr>
          <a:xfrm>
            <a:off x="7875270" y="2787838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8" name="Shape 86"/>
          <p:cNvSpPr/>
          <p:nvPr/>
        </p:nvSpPr>
        <p:spPr>
          <a:xfrm>
            <a:off x="7911274" y="2814965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9" name="Shape 87"/>
          <p:cNvSpPr/>
          <p:nvPr/>
        </p:nvSpPr>
        <p:spPr>
          <a:xfrm>
            <a:off x="8043291" y="2761808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0" name="Shape 88"/>
          <p:cNvSpPr/>
          <p:nvPr/>
        </p:nvSpPr>
        <p:spPr>
          <a:xfrm>
            <a:off x="8055293" y="2843494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1" name="Shape 89"/>
          <p:cNvSpPr/>
          <p:nvPr/>
        </p:nvSpPr>
        <p:spPr>
          <a:xfrm>
            <a:off x="8127302" y="2869281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2" name="Shape 90"/>
          <p:cNvSpPr/>
          <p:nvPr/>
        </p:nvSpPr>
        <p:spPr>
          <a:xfrm>
            <a:off x="8307324" y="2882814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3" name="Shape 91"/>
          <p:cNvSpPr/>
          <p:nvPr/>
        </p:nvSpPr>
        <p:spPr>
          <a:xfrm>
            <a:off x="8319326" y="2862270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4" name="Shape 92"/>
          <p:cNvSpPr/>
          <p:nvPr/>
        </p:nvSpPr>
        <p:spPr>
          <a:xfrm>
            <a:off x="8871395" y="3050271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5" name="Shape 93"/>
          <p:cNvSpPr/>
          <p:nvPr/>
        </p:nvSpPr>
        <p:spPr>
          <a:xfrm>
            <a:off x="9327452" y="3338490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6" name="Shape 94"/>
          <p:cNvSpPr/>
          <p:nvPr/>
        </p:nvSpPr>
        <p:spPr>
          <a:xfrm>
            <a:off x="9351455" y="3410118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7" name="Shape 95"/>
          <p:cNvSpPr/>
          <p:nvPr/>
        </p:nvSpPr>
        <p:spPr>
          <a:xfrm>
            <a:off x="9363456" y="3245221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8" name="Shape 96"/>
          <p:cNvSpPr/>
          <p:nvPr/>
        </p:nvSpPr>
        <p:spPr>
          <a:xfrm>
            <a:off x="9399461" y="3252597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9" name="Shape 97"/>
          <p:cNvSpPr/>
          <p:nvPr/>
        </p:nvSpPr>
        <p:spPr>
          <a:xfrm>
            <a:off x="9603486" y="3372810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0" name="Shape 98"/>
          <p:cNvSpPr/>
          <p:nvPr/>
        </p:nvSpPr>
        <p:spPr>
          <a:xfrm>
            <a:off x="9759505" y="3505886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1" name="Shape 99"/>
          <p:cNvSpPr/>
          <p:nvPr/>
        </p:nvSpPr>
        <p:spPr>
          <a:xfrm>
            <a:off x="9939528" y="3307766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939528" y="3239125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999536" y="3420176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023539" y="3416945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119551" y="3263143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203561" y="3247720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239566" y="3364824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251567" y="3081238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251567" y="3125130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251567" y="3303377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347579" y="3168594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371582" y="3351779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467594" y="3164876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647617" y="3081909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863644" y="3123118"/>
            <a:ext cx="57150" cy="5715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105400" y="3848100"/>
            <a:ext cx="6172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선이 도구가 배운 곡선이고 흰 점이 실제 시험 결과입니다.</a:t>
            </a:r>
            <a:endParaRPr lang="en-US" sz="863" dirty="0"/>
          </a:p>
        </p:txBody>
      </p:sp>
      <p:sp>
        <p:nvSpPr>
          <p:cNvPr id="117" name="Shape 115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22" name="Text 120"/>
          <p:cNvSpPr txBox="1"/>
          <p:nvPr/>
        </p:nvSpPr>
        <p:spPr>
          <a:xfrm>
            <a:off x="1085850" y="4171950"/>
            <a:ext cx="96012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어떤 모델을 써야 하는지 몰랐다</a:t>
            </a:r>
            <a:endParaRPr lang="en-US" sz="1013" dirty="0"/>
          </a:p>
        </p:txBody>
      </p:sp>
      <p:sp>
        <p:nvSpPr>
          <p:cNvPr id="123" name="Text 121"/>
          <p:cNvSpPr txBox="1"/>
          <p:nvPr/>
        </p:nvSpPr>
        <p:spPr>
          <a:xfrm>
            <a:off x="10687050" y="4181475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</a:t>
            </a:r>
            <a:endParaRPr lang="en-US" sz="825" dirty="0"/>
          </a:p>
        </p:txBody>
      </p:sp>
      <p:sp>
        <p:nvSpPr>
          <p:cNvPr id="124" name="Text 122"/>
          <p:cNvSpPr txBox="1"/>
          <p:nvPr/>
        </p:nvSpPr>
        <p:spPr>
          <a:xfrm>
            <a:off x="876300" y="4476750"/>
            <a:ext cx="447675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모델이라는 것을 처음 다뤘습니다. 무엇을 써야 하는지 몰라서, 후보를 늘어놓고 같은 데이터로 겨루게 했습니다. 한 회를 가리고 나머지로 그 회를 맞혀 보는 방식입니다. 사람이 고른 것이 아니라 성적이 골랐습니다.</a:t>
            </a:r>
            <a:endParaRPr lang="en-US" sz="975" dirty="0"/>
          </a:p>
        </p:txBody>
      </p:sp>
      <p:sp>
        <p:nvSpPr>
          <p:cNvPr id="125" name="Text 123"/>
          <p:cNvSpPr txBox="1"/>
          <p:nvPr/>
        </p:nvSpPr>
        <p:spPr>
          <a:xfrm>
            <a:off x="5467350" y="44577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RBF</a:t>
            </a:r>
            <a:endParaRPr lang="en-US" sz="863" dirty="0"/>
          </a:p>
        </p:txBody>
      </p:sp>
      <p:sp>
        <p:nvSpPr>
          <p:cNvPr id="126" name="Shape 124"/>
          <p:cNvSpPr/>
          <p:nvPr/>
        </p:nvSpPr>
        <p:spPr>
          <a:xfrm>
            <a:off x="6667500" y="4476750"/>
            <a:ext cx="115443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7898130" y="44577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128" name="Text 126"/>
          <p:cNvSpPr txBox="1"/>
          <p:nvPr/>
        </p:nvSpPr>
        <p:spPr>
          <a:xfrm>
            <a:off x="10001250" y="4457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1위. 이것을 씁니다</a:t>
            </a:r>
            <a:endParaRPr lang="en-US" sz="863" dirty="0"/>
          </a:p>
        </p:txBody>
      </p:sp>
      <p:sp>
        <p:nvSpPr>
          <p:cNvPr id="129" name="Text 127"/>
          <p:cNvSpPr txBox="1"/>
          <p:nvPr/>
        </p:nvSpPr>
        <p:spPr>
          <a:xfrm>
            <a:off x="5467350" y="46577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RQ</a:t>
            </a:r>
            <a:endParaRPr lang="en-US" sz="863" dirty="0"/>
          </a:p>
        </p:txBody>
      </p:sp>
      <p:sp>
        <p:nvSpPr>
          <p:cNvPr id="130" name="Shape 128"/>
          <p:cNvSpPr/>
          <p:nvPr/>
        </p:nvSpPr>
        <p:spPr>
          <a:xfrm>
            <a:off x="6667500" y="4676775"/>
            <a:ext cx="12001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7943850" y="46577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132" name="Text 130"/>
          <p:cNvSpPr txBox="1"/>
          <p:nvPr/>
        </p:nvSpPr>
        <p:spPr>
          <a:xfrm>
            <a:off x="5467350" y="48577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5/2</a:t>
            </a:r>
            <a:endParaRPr lang="en-US" sz="863" dirty="0"/>
          </a:p>
        </p:txBody>
      </p:sp>
      <p:sp>
        <p:nvSpPr>
          <p:cNvPr id="133" name="Shape 131"/>
          <p:cNvSpPr/>
          <p:nvPr/>
        </p:nvSpPr>
        <p:spPr>
          <a:xfrm>
            <a:off x="6667500" y="4876800"/>
            <a:ext cx="125730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001000" y="48577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825" dirty="0"/>
          </a:p>
        </p:txBody>
      </p:sp>
      <p:sp>
        <p:nvSpPr>
          <p:cNvPr id="135" name="Text 133"/>
          <p:cNvSpPr txBox="1"/>
          <p:nvPr/>
        </p:nvSpPr>
        <p:spPr>
          <a:xfrm>
            <a:off x="5467350" y="505777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3/2</a:t>
            </a:r>
            <a:endParaRPr lang="en-US" sz="863" dirty="0"/>
          </a:p>
        </p:txBody>
      </p:sp>
      <p:sp>
        <p:nvSpPr>
          <p:cNvPr id="136" name="Shape 134"/>
          <p:cNvSpPr/>
          <p:nvPr/>
        </p:nvSpPr>
        <p:spPr>
          <a:xfrm>
            <a:off x="6667500" y="5076825"/>
            <a:ext cx="139446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8138160" y="505777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</a:t>
            </a:r>
            <a:endParaRPr lang="en-US" sz="825" dirty="0"/>
          </a:p>
        </p:txBody>
      </p:sp>
      <p:sp>
        <p:nvSpPr>
          <p:cNvPr id="138" name="Text 136"/>
          <p:cNvSpPr txBox="1"/>
          <p:nvPr/>
        </p:nvSpPr>
        <p:spPr>
          <a:xfrm>
            <a:off x="5467350" y="52578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endParaRPr lang="en-US" sz="863" dirty="0"/>
          </a:p>
        </p:txBody>
      </p:sp>
      <p:sp>
        <p:nvSpPr>
          <p:cNvPr id="139" name="Shape 137"/>
          <p:cNvSpPr/>
          <p:nvPr/>
        </p:nvSpPr>
        <p:spPr>
          <a:xfrm>
            <a:off x="6667500" y="5276850"/>
            <a:ext cx="18859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8629650" y="52578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825" dirty="0"/>
          </a:p>
        </p:txBody>
      </p:sp>
      <p:sp>
        <p:nvSpPr>
          <p:cNvPr id="141" name="Text 139"/>
          <p:cNvSpPr txBox="1"/>
          <p:nvPr/>
        </p:nvSpPr>
        <p:spPr>
          <a:xfrm>
            <a:off x="5467350" y="54578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63" dirty="0"/>
          </a:p>
        </p:txBody>
      </p:sp>
      <p:sp>
        <p:nvSpPr>
          <p:cNvPr id="142" name="Shape 140"/>
          <p:cNvSpPr/>
          <p:nvPr/>
        </p:nvSpPr>
        <p:spPr>
          <a:xfrm>
            <a:off x="6667500" y="5476875"/>
            <a:ext cx="250317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246870" y="54578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</a:t>
            </a:r>
            <a:endParaRPr lang="en-US" sz="825" dirty="0"/>
          </a:p>
        </p:txBody>
      </p:sp>
      <p:sp>
        <p:nvSpPr>
          <p:cNvPr id="144" name="Text 142"/>
          <p:cNvSpPr txBox="1"/>
          <p:nvPr/>
        </p:nvSpPr>
        <p:spPr>
          <a:xfrm>
            <a:off x="5467350" y="56578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145" name="Shape 143"/>
          <p:cNvSpPr/>
          <p:nvPr/>
        </p:nvSpPr>
        <p:spPr>
          <a:xfrm>
            <a:off x="6667500" y="5676900"/>
            <a:ext cx="31432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9886950" y="56578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</a:t>
            </a:r>
            <a:endParaRPr lang="en-US" sz="825" dirty="0"/>
          </a:p>
        </p:txBody>
      </p:sp>
      <p:sp>
        <p:nvSpPr>
          <p:cNvPr id="147" name="Text 145"/>
          <p:cNvSpPr txBox="1"/>
          <p:nvPr/>
        </p:nvSpPr>
        <p:spPr>
          <a:xfrm>
            <a:off x="5467350" y="5867400"/>
            <a:ext cx="4191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막대가 짧을수록 잘 맞힌 것입니다. 단위 MW.</a:t>
            </a:r>
            <a:endParaRPr lang="en-US" sz="825" dirty="0"/>
          </a:p>
        </p:txBody>
      </p:sp>
      <p:sp>
        <p:nvSpPr>
          <p:cNvPr id="148" name="Shape 14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50" name="Text 14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계산식은 그대로 두었으니, 다른 발전소로도 그대로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정확도와 업무 시간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40회에 종전 방식과 새 방식을 각각 적용해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5200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정확도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1857375"/>
            <a:ext cx="933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채점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438400"/>
            <a:ext cx="35242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285875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1552575" y="2343150"/>
            <a:ext cx="6667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2257425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8763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6" name="Shape 24"/>
          <p:cNvSpPr/>
          <p:nvPr/>
        </p:nvSpPr>
        <p:spPr>
          <a:xfrm>
            <a:off x="876300" y="3009900"/>
            <a:ext cx="6381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3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67% 줄었습니다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8763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3.9 MW</a:t>
            </a:r>
            <a:endParaRPr lang="en-US" sz="863" dirty="0"/>
          </a:p>
        </p:txBody>
      </p:sp>
      <p:sp>
        <p:nvSpPr>
          <p:cNvPr id="29" name="Shape 27"/>
          <p:cNvSpPr/>
          <p:nvPr/>
        </p:nvSpPr>
        <p:spPr>
          <a:xfrm>
            <a:off x="2952750" y="21526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861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신고값을 못 채운 횟수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086100" y="2438400"/>
            <a:ext cx="2476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3390900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3657600" y="2343150"/>
            <a:ext cx="2476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700" dirty="0"/>
          </a:p>
        </p:txBody>
      </p:sp>
      <p:sp>
        <p:nvSpPr>
          <p:cNvPr id="34" name="Text 32"/>
          <p:cNvSpPr txBox="1"/>
          <p:nvPr/>
        </p:nvSpPr>
        <p:spPr>
          <a:xfrm>
            <a:off x="3943350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30861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6100" y="3009900"/>
            <a:ext cx="5238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0861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 줄었습니다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0861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15 회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5162550" y="21526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959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295900" y="2438400"/>
            <a:ext cx="2476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5600700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43" name="Text 41"/>
          <p:cNvSpPr txBox="1"/>
          <p:nvPr/>
        </p:nvSpPr>
        <p:spPr>
          <a:xfrm>
            <a:off x="5867400" y="2343150"/>
            <a:ext cx="2476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700" dirty="0"/>
          </a:p>
        </p:txBody>
      </p:sp>
      <p:sp>
        <p:nvSpPr>
          <p:cNvPr id="44" name="Text 42"/>
          <p:cNvSpPr txBox="1"/>
          <p:nvPr/>
        </p:nvSpPr>
        <p:spPr>
          <a:xfrm>
            <a:off x="6153150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5" name="Shape 43"/>
          <p:cNvSpPr/>
          <p:nvPr/>
        </p:nvSpPr>
        <p:spPr>
          <a:xfrm>
            <a:off x="52959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6" name="Shape 44"/>
          <p:cNvSpPr/>
          <p:nvPr/>
        </p:nvSpPr>
        <p:spPr>
          <a:xfrm>
            <a:off x="5295900" y="3009900"/>
            <a:ext cx="2571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2959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87% 줄었습니다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52959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70 MW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3657600"/>
            <a:ext cx="6286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방식으로 채점했습니다. 실제 신고 이력이 아니라 같은 데이터에 두 방식을 적용해 본 값입니다.</a:t>
            </a:r>
            <a:endParaRPr lang="en-US" sz="863" dirty="0"/>
          </a:p>
        </p:txBody>
      </p:sp>
      <p:sp>
        <p:nvSpPr>
          <p:cNvPr id="50" name="Shape 48"/>
          <p:cNvSpPr/>
          <p:nvPr/>
        </p:nvSpPr>
        <p:spPr>
          <a:xfrm>
            <a:off x="7505700" y="1771650"/>
            <a:ext cx="40005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2" name="Shape 50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7905750" y="1847850"/>
            <a:ext cx="266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처리</a:t>
            </a:r>
            <a:endParaRPr lang="en-US" sz="1013" dirty="0"/>
          </a:p>
        </p:txBody>
      </p:sp>
      <p:sp>
        <p:nvSpPr>
          <p:cNvPr id="56" name="Text 54"/>
          <p:cNvSpPr txBox="1"/>
          <p:nvPr/>
        </p:nvSpPr>
        <p:spPr>
          <a:xfrm>
            <a:off x="10572750" y="1857375"/>
            <a:ext cx="800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기준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7696200" y="22098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7696200" y="2400300"/>
            <a:ext cx="314325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275" dirty="0"/>
          </a:p>
        </p:txBody>
      </p:sp>
      <p:sp>
        <p:nvSpPr>
          <p:cNvPr id="59" name="Text 57"/>
          <p:cNvSpPr txBox="1"/>
          <p:nvPr/>
        </p:nvSpPr>
        <p:spPr>
          <a:xfrm>
            <a:off x="8086725" y="24193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8353425" y="2381250"/>
            <a:ext cx="292417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7696200" y="264795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696200" y="27432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7696200" y="2933700"/>
            <a:ext cx="41910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</a:t>
            </a:r>
            <a:endParaRPr lang="en-US" sz="1275" dirty="0"/>
          </a:p>
        </p:txBody>
      </p:sp>
      <p:sp>
        <p:nvSpPr>
          <p:cNvPr id="64" name="Text 62"/>
          <p:cNvSpPr txBox="1"/>
          <p:nvPr/>
        </p:nvSpPr>
        <p:spPr>
          <a:xfrm>
            <a:off x="8191500" y="29527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Text 63"/>
          <p:cNvSpPr txBox="1"/>
          <p:nvPr/>
        </p:nvSpPr>
        <p:spPr>
          <a:xfrm>
            <a:off x="8458200" y="2914650"/>
            <a:ext cx="2819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7696200" y="318135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696200" y="32766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넣는 값</a:t>
            </a:r>
            <a:endParaRPr lang="en-US" sz="938" dirty="0"/>
          </a:p>
        </p:txBody>
      </p:sp>
      <p:sp>
        <p:nvSpPr>
          <p:cNvPr id="68" name="Text 66"/>
          <p:cNvSpPr txBox="1"/>
          <p:nvPr/>
        </p:nvSpPr>
        <p:spPr>
          <a:xfrm>
            <a:off x="7696200" y="3467100"/>
            <a:ext cx="314325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</a:t>
            </a:r>
            <a:endParaRPr lang="en-US" sz="1275" dirty="0"/>
          </a:p>
        </p:txBody>
      </p:sp>
      <p:sp>
        <p:nvSpPr>
          <p:cNvPr id="69" name="Text 67"/>
          <p:cNvSpPr txBox="1"/>
          <p:nvPr/>
        </p:nvSpPr>
        <p:spPr>
          <a:xfrm>
            <a:off x="8086725" y="34861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70" name="Text 68"/>
          <p:cNvSpPr txBox="1"/>
          <p:nvPr/>
        </p:nvSpPr>
        <p:spPr>
          <a:xfrm>
            <a:off x="8353425" y="3448050"/>
            <a:ext cx="292417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</a:t>
            </a:r>
            <a:endParaRPr lang="en-US" sz="1350" dirty="0"/>
          </a:p>
        </p:txBody>
      </p:sp>
      <p:sp>
        <p:nvSpPr>
          <p:cNvPr id="71" name="Text 69"/>
          <p:cNvSpPr txBox="1"/>
          <p:nvPr/>
        </p:nvSpPr>
        <p:spPr>
          <a:xfrm>
            <a:off x="7696200" y="3771900"/>
            <a:ext cx="3619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넣고 실행하면 끝납니다.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74" name="Shape 72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77" name="Text 75"/>
          <p:cNvSpPr txBox="1"/>
          <p:nvPr/>
        </p:nvSpPr>
        <p:spPr>
          <a:xfrm>
            <a:off x="1085850" y="417195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우리 계산이 엑셀과 달랐다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876300" y="4476750"/>
            <a:ext cx="5143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만든 도구가 기존 엑셀과 같은 답을 내는지 맞춰 보는 과정에서 드러났습니다. 적용할 대기압을 우리는 7일 평균으로 계산하고 있었는데, 엑셀 수식을 뜯어 보니 3일차부터 7일차까지 5일 평균이었습니다.</a:t>
            </a:r>
            <a:endParaRPr lang="en-US" sz="1013" dirty="0"/>
          </a:p>
        </p:txBody>
      </p:sp>
      <p:sp>
        <p:nvSpPr>
          <p:cNvPr id="79" name="Shape 77"/>
          <p:cNvSpPr/>
          <p:nvPr/>
        </p:nvSpPr>
        <p:spPr>
          <a:xfrm>
            <a:off x="6324600" y="4438650"/>
            <a:ext cx="38100" cy="1238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15100" y="4438650"/>
            <a:ext cx="48006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처방도 한 번 틀렸습니다.</a:t>
            </a:r>
            <a:endParaRPr lang="en-US" sz="1125" dirty="0"/>
          </a:p>
        </p:txBody>
      </p:sp>
      <p:sp>
        <p:nvSpPr>
          <p:cNvPr id="81" name="Text 79"/>
          <p:cNvSpPr txBox="1"/>
          <p:nvPr/>
        </p:nvSpPr>
        <p:spPr>
          <a:xfrm>
            <a:off x="6515100" y="4705350"/>
            <a:ext cx="4800600" cy="959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"사용자가 고를 수 있게 선택 항목을 주자" 고 했습니다. 그런데 실무는 하나로 정해져 있어서 고를 여지가 없었습니다. 선택 항목을 빼고 규칙을 엑셀 수식과 똑같이 맞췄습니다. 지금은 수식이 바뀌면 시험이 먼저 잡아냅니다.</a:t>
            </a:r>
            <a:endParaRPr lang="en-US" sz="97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좋아진 것보다, 그 숫자가 왜 그런지 말할 수 있게 된 것이 더 큽니다.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일이라 막히는 데가 많았습니다. 세 가지가 특히 오래 걸렸습니다.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9070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8002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764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8002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669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669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시스템에서 값을 어떻게 받아오나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876300" y="21717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34315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시작 시각을 한 칸에 넣으면 그때부터 한 시간 평균을 채우는 구조였습니다. 도구가 같은 방식으로 그 엑셀을 열어 값을 받아오게 했습니다.</a:t>
            </a:r>
            <a:endParaRPr lang="en-US" sz="938" dirty="0"/>
          </a:p>
        </p:txBody>
      </p:sp>
      <p:sp>
        <p:nvSpPr>
          <p:cNvPr id="21" name="Shape 19"/>
          <p:cNvSpPr/>
          <p:nvPr/>
        </p:nvSpPr>
        <p:spPr>
          <a:xfrm>
            <a:off x="6096000" y="21526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24600" y="21717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232410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자동으로 받습니다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8915400" y="21526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2171700"/>
            <a:ext cx="2209800" cy="95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늦게 오는 문제와, 같은 항목을 두 방법으로 뽑으면 값이 다른 문제가 또 있었습니다. 32회분을 양쪽으로 다 뽑아 대조해서 맞는 쪽을 정했습니다.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318135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325" y="31908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85800" y="34671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5325" y="31908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7250" y="32575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1085850" y="325755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76300" y="356235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73380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보게 했습니다. 이 검사를 도구에 넣어서 시험이 쌓일 때마다 다시 돌리고, 더 잘 맞는 방식으로 다시 고르게 했습니다.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6096000" y="35433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24600" y="356235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371475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 때마다 다시 검사합니다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915400" y="35433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0" y="3562350"/>
            <a:ext cx="2209800" cy="95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중간에 곡선을 엉뚱한 구간까지 맞추고 있던 것을 발견했습니다. 그 탓에 0~4도 보정이 2.25 MW 부풀려져 있었습니다. 고치고 시험으로 못박았습니다.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685800" y="457200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5325" y="45815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85800" y="48577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325" y="45815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7250" y="46482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1085850" y="46482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76300" y="49530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512445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하나씩 맞춰 봤습니다. 다르면 왜 다른지 찾았습니다.</a:t>
            </a:r>
            <a:endParaRPr lang="en-US" sz="938" dirty="0"/>
          </a:p>
        </p:txBody>
      </p:sp>
      <p:sp>
        <p:nvSpPr>
          <p:cNvPr id="47" name="Shape 45"/>
          <p:cNvSpPr/>
          <p:nvPr/>
        </p:nvSpPr>
        <p:spPr>
          <a:xfrm>
            <a:off x="6096000" y="49339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324600" y="49530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6324600" y="510540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군데를 고쳤습니다</a:t>
            </a:r>
            <a:endParaRPr lang="en-US" sz="1125" dirty="0"/>
          </a:p>
        </p:txBody>
      </p:sp>
      <p:sp>
        <p:nvSpPr>
          <p:cNvPr id="50" name="Shape 48"/>
          <p:cNvSpPr/>
          <p:nvPr/>
        </p:nvSpPr>
        <p:spPr>
          <a:xfrm>
            <a:off x="8915400" y="49339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44000" y="4953000"/>
            <a:ext cx="2209800" cy="95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신뢰도를 잘못 계산한 것, 비교 기준이 잘못된 것, 대기압 파일이 특정 모양에서 깨지는 것, 자료 경로가 설치본에서 어긋난 것 등입니다. 검토서에 적은 우리 지적 두 건이 오독이었던 것도 찾아 정정했습니다.</a:t>
            </a:r>
            <a:endParaRPr lang="en-US" sz="863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자리마다 도구에 검사를 하나씩 심어 두었습니다.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관리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쌓이면 스스로 갱신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계산하지 않습니다. 시험 결과를 넣으면 곡선이 스스로 다시 배웁니다.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028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회차가 도는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입력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2190750"/>
            <a:ext cx="19050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시험을 한다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36004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3867150" y="2190750"/>
            <a:ext cx="19050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넣는다</a:t>
            </a:r>
            <a:endParaRPr lang="en-US" sz="1163" dirty="0"/>
          </a:p>
        </p:txBody>
      </p:sp>
      <p:sp>
        <p:nvSpPr>
          <p:cNvPr id="25" name="Text 23"/>
          <p:cNvSpPr txBox="1"/>
          <p:nvPr/>
        </p:nvSpPr>
        <p:spPr>
          <a:xfrm>
            <a:off x="588645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62865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6553200" y="2190750"/>
            <a:ext cx="19050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다시 배운다</a:t>
            </a:r>
            <a:endParaRPr lang="en-US" sz="1163" dirty="0"/>
          </a:p>
        </p:txBody>
      </p:sp>
      <p:sp>
        <p:nvSpPr>
          <p:cNvPr id="28" name="Text 26"/>
          <p:cNvSpPr txBox="1"/>
          <p:nvPr/>
        </p:nvSpPr>
        <p:spPr>
          <a:xfrm>
            <a:off x="85725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89725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239250" y="2190750"/>
            <a:ext cx="19050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반영된다</a:t>
            </a:r>
            <a:endParaRPr lang="en-US" sz="1163" dirty="0"/>
          </a:p>
        </p:txBody>
      </p:sp>
      <p:sp>
        <p:nvSpPr>
          <p:cNvPr id="31" name="Shape 29"/>
          <p:cNvSpPr/>
          <p:nvPr/>
        </p:nvSpPr>
        <p:spPr>
          <a:xfrm>
            <a:off x="685800" y="2914650"/>
            <a:ext cx="6667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5325" y="2924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3" name="Shape 31"/>
          <p:cNvSpPr/>
          <p:nvPr/>
        </p:nvSpPr>
        <p:spPr>
          <a:xfrm>
            <a:off x="685800" y="3200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53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72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6" name="Text 34"/>
          <p:cNvSpPr txBox="1"/>
          <p:nvPr/>
        </p:nvSpPr>
        <p:spPr>
          <a:xfrm>
            <a:off x="1085850" y="2990850"/>
            <a:ext cx="5495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6581775" y="3000375"/>
            <a:ext cx="6381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</a:t>
            </a:r>
            <a:endParaRPr lang="en-US" sz="825" dirty="0"/>
          </a:p>
        </p:txBody>
      </p:sp>
      <p:pic>
        <p:nvPicPr>
          <p:cNvPr id="3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5048" y="3276600"/>
            <a:ext cx="3289005" cy="22098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2365523" y="3267075"/>
            <a:ext cx="3308055" cy="22288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6300" y="5581650"/>
            <a:ext cx="6286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넣고 실행하면 61개 온도의 신고값이 한 번에 나옵니다.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505700" y="2914650"/>
            <a:ext cx="4000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15225" y="2924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3" name="Shape 40"/>
          <p:cNvSpPr/>
          <p:nvPr/>
        </p:nvSpPr>
        <p:spPr>
          <a:xfrm>
            <a:off x="7505700" y="3200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5152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6771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7905750" y="2990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회차를 걸러냅니다</a:t>
            </a:r>
            <a:endParaRPr lang="en-US" sz="1013" dirty="0"/>
          </a:p>
        </p:txBody>
      </p:sp>
      <p:sp>
        <p:nvSpPr>
          <p:cNvPr id="47" name="Shape 44"/>
          <p:cNvSpPr/>
          <p:nvPr/>
        </p:nvSpPr>
        <p:spPr>
          <a:xfrm>
            <a:off x="7696200" y="33337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886700" y="33147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를 올리지 않은 시험</a:t>
            </a:r>
            <a:endParaRPr lang="en-US" sz="975" dirty="0"/>
          </a:p>
        </p:txBody>
      </p:sp>
      <p:sp>
        <p:nvSpPr>
          <p:cNvPr id="49" name="Text 46"/>
          <p:cNvSpPr txBox="1"/>
          <p:nvPr/>
        </p:nvSpPr>
        <p:spPr>
          <a:xfrm>
            <a:off x="7886700" y="35242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넣지 않습니다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7886700" y="37528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결론을 뒤집게 만든 그 회차입니다.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7696200" y="41719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86700" y="41529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범위를 벗어난 온도</a:t>
            </a:r>
            <a:endParaRPr lang="en-US" sz="975" dirty="0"/>
          </a:p>
        </p:txBody>
      </p:sp>
      <p:sp>
        <p:nvSpPr>
          <p:cNvPr id="53" name="Text 50"/>
          <p:cNvSpPr txBox="1"/>
          <p:nvPr/>
        </p:nvSpPr>
        <p:spPr>
          <a:xfrm>
            <a:off x="7886700" y="43624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끝값을 그대로 씁니다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7886700" y="45910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배우지 않은 구간을 멋대로 늘려 쓰지 않습니다.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7696200" y="50101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886700" y="49911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회차만 골라 만든 관계</a:t>
            </a:r>
            <a:endParaRPr lang="en-US" sz="975" dirty="0"/>
          </a:p>
        </p:txBody>
      </p:sp>
      <p:sp>
        <p:nvSpPr>
          <p:cNvPr id="57" name="Text 54"/>
          <p:cNvSpPr txBox="1"/>
          <p:nvPr/>
        </p:nvSpPr>
        <p:spPr>
          <a:xfrm>
            <a:off x="7886700" y="52006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검사가 걸러냅니다</a:t>
            </a:r>
            <a:endParaRPr lang="en-US" sz="1125" dirty="0"/>
          </a:p>
        </p:txBody>
      </p:sp>
      <p:sp>
        <p:nvSpPr>
          <p:cNvPr id="58" name="Text 55"/>
          <p:cNvSpPr txBox="1"/>
          <p:nvPr/>
        </p:nvSpPr>
        <p:spPr>
          <a:xfrm>
            <a:off x="7886700" y="54292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진공도에서 세 번 걸렸던 착각입니다.</a:t>
            </a:r>
            <a:endParaRPr lang="en-US" sz="863" dirty="0"/>
          </a:p>
        </p:txBody>
      </p:sp>
      <p:sp>
        <p:nvSpPr>
          <p:cNvPr id="59" name="Shape 5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1" name="Text 5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놓칠 수 있는 자리를 도구가 대신 봅니다.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정착과 수평 전개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계속합니다. 회차가 쌓이면 예측은 더 정확해집니다. 이미 그러고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514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쌓일수록 나아지고 있습니다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600575" y="1857375"/>
            <a:ext cx="2619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순서대로 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333500" y="3133725"/>
            <a:ext cx="1219200" cy="18192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3350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14650" y="3133725"/>
            <a:ext cx="1219200" cy="18192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1465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29146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26회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95800" y="4229100"/>
            <a:ext cx="1219200" cy="7239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95800" y="40005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44958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~ 33회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76950" y="4000500"/>
            <a:ext cx="1219200" cy="9525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76950" y="37719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60769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~ 40회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43000" y="49530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857500"/>
            <a:ext cx="4381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  MW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5334000"/>
            <a:ext cx="6286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구간 2.26 에서 1.19 로 47% 줄었습니다. 시험이 늘어난 것 말고 바뀐 것은 없습니다.</a:t>
            </a:r>
            <a:endParaRPr lang="en-US" sz="975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5695950"/>
            <a:ext cx="62865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그 앞보다 조금 올라간 것은 겨울 회차가 적게 섞인 탓입니다. 있는 대로 적었습니다.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7505700" y="1771650"/>
            <a:ext cx="4000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905750" y="1847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할 일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7696200" y="22098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63" dirty="0"/>
          </a:p>
        </p:txBody>
      </p:sp>
      <p:sp>
        <p:nvSpPr>
          <p:cNvPr id="43" name="Text 41"/>
          <p:cNvSpPr txBox="1"/>
          <p:nvPr/>
        </p:nvSpPr>
        <p:spPr>
          <a:xfrm>
            <a:off x="7696200" y="24003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96200" y="26670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그 결과를 도구에 넣습니다. 회차가 쌓이는 만큼 곡선이 좋아집니다.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7696200" y="32385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96200" y="34290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7696200" y="36195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사업소로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7696200" y="38862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계산식은 손대지 않았으니 그대로 옮겨 쓸 수 있습니다. 그 사업소의 시험 결과만 따로 쌓으면 됩니다.</a:t>
            </a:r>
            <a:endParaRPr lang="en-US" sz="938" dirty="0"/>
          </a:p>
        </p:txBody>
      </p:sp>
      <p:sp>
        <p:nvSpPr>
          <p:cNvPr id="49" name="Shape 47"/>
          <p:cNvSpPr/>
          <p:nvPr/>
        </p:nvSpPr>
        <p:spPr>
          <a:xfrm>
            <a:off x="7696200" y="44577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696200" y="46482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48387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696200" y="51054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넣고 신고하는 순서를 사업소 표준으로 정리합니다.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아니라, 쓸수록 나아지는 도구입니다.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685800" y="2324100"/>
            <a:ext cx="10820400" cy="3009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325" y="2333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609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5325" y="2333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7250" y="2400300"/>
            <a:ext cx="88106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9667875" y="2409825"/>
            <a:ext cx="17049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흰 점은 실제 시험</a:t>
            </a:r>
            <a:endParaRPr lang="en-US" sz="825" dirty="0"/>
          </a:p>
        </p:txBody>
      </p:sp>
      <p:sp>
        <p:nvSpPr>
          <p:cNvPr id="13" name="Shape 11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7" name="Shape 15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9" name="Shape 17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9" name="Shape 77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0" name="Shape 78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1" name="Shape 79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2" name="Shape 80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3" name="Shape 81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4" name="Shape 82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6" name="Shape 84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7" name="Shape 85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8" name="Shape 86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9" name="Shape 87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0" name="Shape 88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1" name="Shape 89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2" name="Shape 90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3" name="Shape 91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4" name="Shape 92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5" name="Shape 93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6" name="Shape 94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7" name="Shape 95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8" name="Shape 96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9" name="Shape 97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1" name="Shape 99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85800" y="62293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743700" y="62484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2026-09-16T10:39:59Z</dcterms:created>
  <dcterms:modified xsi:type="dcterms:W3CDTF">2026-09-16T10:39:59Z</dcterms:modified>
</cp:coreProperties>
</file>