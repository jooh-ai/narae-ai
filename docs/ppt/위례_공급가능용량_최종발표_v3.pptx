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533400"/>
            <a:ext cx="2133600" cy="600075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3" name="Image 0" descr="/home/user/Narae-AI/docs/ppt/assets/ci_nara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9150" y="657225"/>
            <a:ext cx="1866900" cy="352425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7696200" y="704850"/>
            <a:ext cx="381000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72"/>
              </a:lnSpc>
              <a:buNone/>
            </a:pPr>
            <a:r>
              <a:rPr lang="en-US" sz="938" spc="200" kern="0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개선과제 최종 보고</a:t>
            </a:r>
            <a:endParaRPr lang="en-US" sz="938" dirty="0"/>
          </a:p>
        </p:txBody>
      </p:sp>
      <p:sp>
        <p:nvSpPr>
          <p:cNvPr id="5" name="Shape 2"/>
          <p:cNvSpPr/>
          <p:nvPr/>
        </p:nvSpPr>
        <p:spPr>
          <a:xfrm>
            <a:off x="685800" y="14287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85800" y="2247900"/>
            <a:ext cx="4381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685800" y="25146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산정 자동화 및</a:t>
            </a:r>
            <a:endParaRPr lang="en-US" sz="3300" dirty="0"/>
          </a:p>
        </p:txBody>
      </p:sp>
      <p:sp>
        <p:nvSpPr>
          <p:cNvPr id="8" name="Text 5"/>
          <p:cNvSpPr txBox="1"/>
          <p:nvPr/>
        </p:nvSpPr>
        <p:spPr>
          <a:xfrm>
            <a:off x="685800" y="3048000"/>
            <a:ext cx="9525000" cy="5364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4224"/>
              </a:lnSpc>
              <a:buNone/>
            </a:pPr>
            <a:r>
              <a:rPr lang="en-US" sz="33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보정 모델 개발</a:t>
            </a:r>
            <a:endParaRPr lang="en-US" sz="3300" dirty="0"/>
          </a:p>
        </p:txBody>
      </p:sp>
      <p:sp>
        <p:nvSpPr>
          <p:cNvPr id="9" name="Text 6"/>
          <p:cNvSpPr txBox="1"/>
          <p:nvPr/>
        </p:nvSpPr>
        <p:spPr>
          <a:xfrm>
            <a:off x="685800" y="3733800"/>
            <a:ext cx="9525000" cy="24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13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프로파일 생성 절차 통합과 누적 40회 실적 기반 보정 곡선 적용</a:t>
            </a:r>
            <a:endParaRPr lang="en-US" sz="1275" dirty="0"/>
          </a:p>
        </p:txBody>
      </p:sp>
      <p:sp>
        <p:nvSpPr>
          <p:cNvPr id="10" name="Shape 7"/>
          <p:cNvSpPr/>
          <p:nvPr/>
        </p:nvSpPr>
        <p:spPr>
          <a:xfrm>
            <a:off x="685800" y="430530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685800" y="46482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소  속</a:t>
            </a:r>
            <a:endParaRPr lang="en-US" sz="863" dirty="0"/>
          </a:p>
        </p:txBody>
      </p:sp>
      <p:sp>
        <p:nvSpPr>
          <p:cNvPr id="12" name="Shape 9"/>
          <p:cNvSpPr/>
          <p:nvPr/>
        </p:nvSpPr>
        <p:spPr>
          <a:xfrm>
            <a:off x="1600200" y="46291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1809750" y="46291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나래에너지서비스 위례사업소</a:t>
            </a:r>
            <a:endParaRPr lang="en-US" sz="12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50101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부  서</a:t>
            </a:r>
            <a:endParaRPr lang="en-US" sz="863" dirty="0"/>
          </a:p>
        </p:txBody>
      </p:sp>
      <p:sp>
        <p:nvSpPr>
          <p:cNvPr id="15" name="Shape 12"/>
          <p:cNvSpPr/>
          <p:nvPr/>
        </p:nvSpPr>
        <p:spPr>
          <a:xfrm>
            <a:off x="1600200" y="49911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1809750" y="49911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</a:t>
            </a:r>
            <a:endParaRPr lang="en-US" sz="1200" dirty="0"/>
          </a:p>
        </p:txBody>
      </p:sp>
      <p:sp>
        <p:nvSpPr>
          <p:cNvPr id="17" name="Text 14"/>
          <p:cNvSpPr txBox="1"/>
          <p:nvPr/>
        </p:nvSpPr>
        <p:spPr>
          <a:xfrm>
            <a:off x="685800" y="537210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 성 자</a:t>
            </a:r>
            <a:endParaRPr lang="en-US" sz="863" dirty="0"/>
          </a:p>
        </p:txBody>
      </p:sp>
      <p:sp>
        <p:nvSpPr>
          <p:cNvPr id="18" name="Shape 15"/>
          <p:cNvSpPr/>
          <p:nvPr/>
        </p:nvSpPr>
        <p:spPr>
          <a:xfrm>
            <a:off x="1600200" y="535305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1809750" y="535305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·  정상우M</a:t>
            </a:r>
            <a:endParaRPr lang="en-US" sz="1200" dirty="0"/>
          </a:p>
        </p:txBody>
      </p:sp>
      <p:sp>
        <p:nvSpPr>
          <p:cNvPr id="20" name="Text 17"/>
          <p:cNvSpPr txBox="1"/>
          <p:nvPr/>
        </p:nvSpPr>
        <p:spPr>
          <a:xfrm>
            <a:off x="685800" y="5734050"/>
            <a:ext cx="762000" cy="1369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8"/>
              </a:lnSpc>
              <a:buNone/>
            </a:pPr>
            <a:r>
              <a:rPr lang="en-US" sz="863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작성일자</a:t>
            </a:r>
            <a:endParaRPr lang="en-US" sz="863" dirty="0"/>
          </a:p>
        </p:txBody>
      </p:sp>
      <p:sp>
        <p:nvSpPr>
          <p:cNvPr id="21" name="Shape 18"/>
          <p:cNvSpPr/>
          <p:nvPr/>
        </p:nvSpPr>
        <p:spPr>
          <a:xfrm>
            <a:off x="1600200" y="5715000"/>
            <a:ext cx="0" cy="19050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Text 19"/>
          <p:cNvSpPr txBox="1"/>
          <p:nvPr/>
        </p:nvSpPr>
        <p:spPr>
          <a:xfrm>
            <a:off x="1809750" y="5715000"/>
            <a:ext cx="666750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2026. 09.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685800" y="60388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4" name="Text 21"/>
          <p:cNvSpPr txBox="1"/>
          <p:nvPr/>
        </p:nvSpPr>
        <p:spPr>
          <a:xfrm>
            <a:off x="685800" y="6305550"/>
            <a:ext cx="76200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90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25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914400"/>
            <a:ext cx="10287000" cy="4320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402"/>
              </a:lnSpc>
              <a:buNone/>
            </a:pPr>
            <a:r>
              <a:rPr lang="en-US" sz="27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목차</a:t>
            </a:r>
            <a:endParaRPr lang="en-US" sz="27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44780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문제에서 시작해 개선효과와 확산까지 하나로 잇습니다.</a:t>
            </a:r>
            <a:endParaRPr lang="en-US" sz="127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9526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257300" y="19145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3448050" y="19621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8058150" y="19716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개요 및 추진 배경</a:t>
            </a:r>
            <a:endParaRPr lang="en-US" sz="825" dirty="0"/>
          </a:p>
        </p:txBody>
      </p:sp>
      <p:sp>
        <p:nvSpPr>
          <p:cNvPr id="10" name="Text 8"/>
          <p:cNvSpPr txBox="1"/>
          <p:nvPr/>
        </p:nvSpPr>
        <p:spPr>
          <a:xfrm>
            <a:off x="10972800" y="19526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2383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23526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257300" y="23145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3448050" y="23622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1013" dirty="0"/>
          </a:p>
        </p:txBody>
      </p:sp>
      <p:sp>
        <p:nvSpPr>
          <p:cNvPr id="15" name="Text 13"/>
          <p:cNvSpPr txBox="1"/>
          <p:nvPr/>
        </p:nvSpPr>
        <p:spPr>
          <a:xfrm>
            <a:off x="8058150" y="23717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현황 파악 및 문제정의</a:t>
            </a:r>
            <a:endParaRPr lang="en-US" sz="825" dirty="0"/>
          </a:p>
        </p:txBody>
      </p:sp>
      <p:sp>
        <p:nvSpPr>
          <p:cNvPr id="16" name="Text 14"/>
          <p:cNvSpPr txBox="1"/>
          <p:nvPr/>
        </p:nvSpPr>
        <p:spPr>
          <a:xfrm>
            <a:off x="10972800" y="23526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26384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685800" y="27527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1257300" y="27146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3448050" y="27622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1013" dirty="0"/>
          </a:p>
        </p:txBody>
      </p:sp>
      <p:sp>
        <p:nvSpPr>
          <p:cNvPr id="21" name="Text 19"/>
          <p:cNvSpPr txBox="1"/>
          <p:nvPr/>
        </p:nvSpPr>
        <p:spPr>
          <a:xfrm>
            <a:off x="8058150" y="27717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데이터 분석 및 원인 규명</a:t>
            </a:r>
            <a:endParaRPr lang="en-US" sz="825" dirty="0"/>
          </a:p>
        </p:txBody>
      </p:sp>
      <p:sp>
        <p:nvSpPr>
          <p:cNvPr id="22" name="Text 20"/>
          <p:cNvSpPr txBox="1"/>
          <p:nvPr/>
        </p:nvSpPr>
        <p:spPr>
          <a:xfrm>
            <a:off x="10972800" y="27527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85800" y="30384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685800" y="31527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1257300" y="31146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26" name="Text 24"/>
          <p:cNvSpPr txBox="1"/>
          <p:nvPr/>
        </p:nvSpPr>
        <p:spPr>
          <a:xfrm>
            <a:off x="3448050" y="31623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1013" dirty="0"/>
          </a:p>
        </p:txBody>
      </p:sp>
      <p:sp>
        <p:nvSpPr>
          <p:cNvPr id="27" name="Text 25"/>
          <p:cNvSpPr txBox="1"/>
          <p:nvPr/>
        </p:nvSpPr>
        <p:spPr>
          <a:xfrm>
            <a:off x="8058150" y="31718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해결방안 도출</a:t>
            </a:r>
            <a:endParaRPr lang="en-US" sz="825" dirty="0"/>
          </a:p>
        </p:txBody>
      </p:sp>
      <p:sp>
        <p:nvSpPr>
          <p:cNvPr id="28" name="Text 26"/>
          <p:cNvSpPr txBox="1"/>
          <p:nvPr/>
        </p:nvSpPr>
        <p:spPr>
          <a:xfrm>
            <a:off x="10972800" y="31527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685800" y="34385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685800" y="35528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1257300" y="35147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1500" dirty="0"/>
          </a:p>
        </p:txBody>
      </p:sp>
      <p:sp>
        <p:nvSpPr>
          <p:cNvPr id="32" name="Text 30"/>
          <p:cNvSpPr txBox="1"/>
          <p:nvPr/>
        </p:nvSpPr>
        <p:spPr>
          <a:xfrm>
            <a:off x="3448050" y="35623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1013" dirty="0"/>
          </a:p>
        </p:txBody>
      </p:sp>
      <p:sp>
        <p:nvSpPr>
          <p:cNvPr id="33" name="Text 31"/>
          <p:cNvSpPr txBox="1"/>
          <p:nvPr/>
        </p:nvSpPr>
        <p:spPr>
          <a:xfrm>
            <a:off x="8058150" y="35718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예측/보정 모델 개발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10972800" y="35528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85800" y="38385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685800" y="39528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257300" y="39147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1500" dirty="0"/>
          </a:p>
        </p:txBody>
      </p:sp>
      <p:sp>
        <p:nvSpPr>
          <p:cNvPr id="38" name="Text 36"/>
          <p:cNvSpPr txBox="1"/>
          <p:nvPr/>
        </p:nvSpPr>
        <p:spPr>
          <a:xfrm>
            <a:off x="3448050" y="39624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1013" dirty="0"/>
          </a:p>
        </p:txBody>
      </p:sp>
      <p:sp>
        <p:nvSpPr>
          <p:cNvPr id="39" name="Text 37"/>
          <p:cNvSpPr txBox="1"/>
          <p:nvPr/>
        </p:nvSpPr>
        <p:spPr>
          <a:xfrm>
            <a:off x="8058150" y="39719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⑤ 향후 추이 분석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10972800" y="39528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685800" y="42386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685800" y="43529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</a:t>
            </a:r>
            <a:endParaRPr lang="en-US" sz="1200" dirty="0"/>
          </a:p>
        </p:txBody>
      </p:sp>
      <p:sp>
        <p:nvSpPr>
          <p:cNvPr id="43" name="Text 41"/>
          <p:cNvSpPr txBox="1"/>
          <p:nvPr/>
        </p:nvSpPr>
        <p:spPr>
          <a:xfrm>
            <a:off x="1257300" y="43148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44" name="Text 42"/>
          <p:cNvSpPr txBox="1"/>
          <p:nvPr/>
        </p:nvSpPr>
        <p:spPr>
          <a:xfrm>
            <a:off x="3448050" y="43624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정량 — 시간 · 정확도 · 요금</a:t>
            </a:r>
            <a:endParaRPr lang="en-US" sz="1013" dirty="0"/>
          </a:p>
        </p:txBody>
      </p:sp>
      <p:sp>
        <p:nvSpPr>
          <p:cNvPr id="45" name="Text 43"/>
          <p:cNvSpPr txBox="1"/>
          <p:nvPr/>
        </p:nvSpPr>
        <p:spPr>
          <a:xfrm>
            <a:off x="8058150" y="43719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(정량)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10972800" y="43529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050" dirty="0"/>
          </a:p>
        </p:txBody>
      </p:sp>
      <p:sp>
        <p:nvSpPr>
          <p:cNvPr id="47" name="Shape 45"/>
          <p:cNvSpPr/>
          <p:nvPr/>
        </p:nvSpPr>
        <p:spPr>
          <a:xfrm>
            <a:off x="685800" y="46386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685800" y="475297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08</a:t>
            </a:r>
            <a:endParaRPr lang="en-US" sz="1200" dirty="0"/>
          </a:p>
        </p:txBody>
      </p:sp>
      <p:sp>
        <p:nvSpPr>
          <p:cNvPr id="49" name="Text 47"/>
          <p:cNvSpPr txBox="1"/>
          <p:nvPr/>
        </p:nvSpPr>
        <p:spPr>
          <a:xfrm>
            <a:off x="1257300" y="471487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1500" dirty="0"/>
          </a:p>
        </p:txBody>
      </p:sp>
      <p:sp>
        <p:nvSpPr>
          <p:cNvPr id="50" name="Text 48"/>
          <p:cNvSpPr txBox="1"/>
          <p:nvPr/>
        </p:nvSpPr>
        <p:spPr>
          <a:xfrm>
            <a:off x="3448050" y="476250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정성 — 일하는 방식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8058150" y="477202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⑥ 개선효과 (정성)</a:t>
            </a:r>
            <a:endParaRPr lang="en-US" sz="825" dirty="0"/>
          </a:p>
        </p:txBody>
      </p:sp>
      <p:sp>
        <p:nvSpPr>
          <p:cNvPr id="52" name="Text 50"/>
          <p:cNvSpPr txBox="1"/>
          <p:nvPr/>
        </p:nvSpPr>
        <p:spPr>
          <a:xfrm>
            <a:off x="10972800" y="475297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1050" dirty="0"/>
          </a:p>
        </p:txBody>
      </p:sp>
      <p:sp>
        <p:nvSpPr>
          <p:cNvPr id="53" name="Shape 51"/>
          <p:cNvSpPr/>
          <p:nvPr/>
        </p:nvSpPr>
        <p:spPr>
          <a:xfrm>
            <a:off x="685800" y="503872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685800" y="5153025"/>
            <a:ext cx="4191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40"/>
              </a:lnSpc>
              <a:buNone/>
            </a:pPr>
            <a:r>
              <a:rPr lang="en-US" sz="12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09</a:t>
            </a:r>
            <a:endParaRPr lang="en-US" sz="1200" dirty="0"/>
          </a:p>
        </p:txBody>
      </p:sp>
      <p:sp>
        <p:nvSpPr>
          <p:cNvPr id="55" name="Text 53"/>
          <p:cNvSpPr txBox="1"/>
          <p:nvPr/>
        </p:nvSpPr>
        <p:spPr>
          <a:xfrm>
            <a:off x="1257300" y="5114925"/>
            <a:ext cx="2000250" cy="2476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50"/>
              </a:lnSpc>
              <a:buNone/>
            </a:pPr>
            <a:r>
              <a:rPr lang="en-US" sz="15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1500" dirty="0"/>
          </a:p>
        </p:txBody>
      </p:sp>
      <p:sp>
        <p:nvSpPr>
          <p:cNvPr id="56" name="Text 54"/>
          <p:cNvSpPr txBox="1"/>
          <p:nvPr/>
        </p:nvSpPr>
        <p:spPr>
          <a:xfrm>
            <a:off x="3448050" y="5162550"/>
            <a:ext cx="4191000" cy="1671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6"/>
              </a:lnSpc>
              <a:buNone/>
            </a:pPr>
            <a:r>
              <a:rPr lang="en-US" sz="101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 향상과 수평 전개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058150" y="5172075"/>
            <a:ext cx="276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⑦ 향후계획 및 수평전개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10972800" y="5153025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1050" dirty="0"/>
          </a:p>
        </p:txBody>
      </p:sp>
      <p:sp>
        <p:nvSpPr>
          <p:cNvPr id="59" name="Shape 57"/>
          <p:cNvSpPr/>
          <p:nvPr/>
        </p:nvSpPr>
        <p:spPr>
          <a:xfrm>
            <a:off x="685800" y="5438775"/>
            <a:ext cx="10820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0" name="Text 58"/>
          <p:cNvSpPr txBox="1"/>
          <p:nvPr/>
        </p:nvSpPr>
        <p:spPr>
          <a:xfrm>
            <a:off x="685800" y="5600700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참고</a:t>
            </a:r>
            <a:endParaRPr lang="en-US" sz="863" dirty="0"/>
          </a:p>
        </p:txBody>
      </p:sp>
      <p:sp>
        <p:nvSpPr>
          <p:cNvPr id="61" name="Text 59"/>
          <p:cNvSpPr txBox="1"/>
          <p:nvPr/>
        </p:nvSpPr>
        <p:spPr>
          <a:xfrm>
            <a:off x="1257300" y="5562600"/>
            <a:ext cx="2000250" cy="21050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58"/>
              </a:lnSpc>
              <a:buNone/>
            </a:pPr>
            <a:r>
              <a:rPr lang="en-US" sz="12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1275" dirty="0"/>
          </a:p>
        </p:txBody>
      </p:sp>
      <p:sp>
        <p:nvSpPr>
          <p:cNvPr id="62" name="Text 60"/>
          <p:cNvSpPr txBox="1"/>
          <p:nvPr/>
        </p:nvSpPr>
        <p:spPr>
          <a:xfrm>
            <a:off x="3448050" y="5610225"/>
            <a:ext cx="4191000" cy="16097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8"/>
              </a:lnSpc>
              <a:buNone/>
            </a:pPr>
            <a:r>
              <a:rPr lang="en-US" sz="97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 · 막혔던 곳 · 역할 분담</a:t>
            </a:r>
            <a:endParaRPr lang="en-US" sz="975" dirty="0"/>
          </a:p>
        </p:txBody>
      </p:sp>
      <p:sp>
        <p:nvSpPr>
          <p:cNvPr id="63" name="Text 61"/>
          <p:cNvSpPr txBox="1"/>
          <p:nvPr/>
        </p:nvSpPr>
        <p:spPr>
          <a:xfrm>
            <a:off x="10972800" y="5600700"/>
            <a:ext cx="533400" cy="17335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365"/>
              </a:lnSpc>
              <a:buNone/>
            </a:pPr>
            <a:r>
              <a:rPr lang="en-US" sz="10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1050" dirty="0"/>
          </a:p>
        </p:txBody>
      </p:sp>
      <p:sp>
        <p:nvSpPr>
          <p:cNvPr id="64" name="Shape 62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3"/>
          <p:cNvSpPr txBox="1"/>
          <p:nvPr/>
        </p:nvSpPr>
        <p:spPr>
          <a:xfrm>
            <a:off x="685800" y="63246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오른쪽 작은 글씨는 권장 발표 구성 항목입니다.</a:t>
            </a:r>
            <a:endParaRPr lang="en-US" sz="938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추진 배경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과제를 시작한 이유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발전소는 전기를 팔기 전에 얼마나 낼 수 있는지 미리 신고해야 합니다. 그 숫자를 만드는 일입니다.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80022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7640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33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3355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신고하는 숫자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248775" y="1866900"/>
            <a:ext cx="2143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발전운영팀 업무 · 우리는 정비기술팀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704850" y="20383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신고 출력(MW) · 가로 외기온도(℃) · 추우면 많이, 더우면 적게</a:t>
            </a:r>
            <a:endParaRPr lang="en-US" sz="750" dirty="0"/>
          </a:p>
        </p:txBody>
      </p:sp>
      <p:sp>
        <p:nvSpPr>
          <p:cNvPr id="21" name="Shape 19"/>
          <p:cNvSpPr/>
          <p:nvPr/>
        </p:nvSpPr>
        <p:spPr>
          <a:xfrm>
            <a:off x="1162050" y="2952750"/>
            <a:ext cx="31242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162050" y="2209800"/>
            <a:ext cx="0" cy="74295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1219200" y="2323855"/>
            <a:ext cx="118110" cy="77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1337310" y="2317815"/>
            <a:ext cx="118110" cy="60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 flipV="1">
            <a:off x="1455420" y="2313706"/>
            <a:ext cx="118110" cy="410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1573530" y="2301129"/>
            <a:ext cx="118110" cy="125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1691640" y="2286000"/>
            <a:ext cx="118110" cy="1512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1809750" y="2286000"/>
            <a:ext cx="118110" cy="104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1927860" y="2296460"/>
            <a:ext cx="118110" cy="113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045970" y="2307854"/>
            <a:ext cx="118110" cy="1276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164080" y="2320617"/>
            <a:ext cx="118110" cy="1450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2282190" y="2335124"/>
            <a:ext cx="118110" cy="15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00300" y="2351063"/>
            <a:ext cx="118110" cy="1762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518410" y="2368683"/>
            <a:ext cx="118110" cy="236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636520" y="2392342"/>
            <a:ext cx="118110" cy="258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2754630" y="2418180"/>
            <a:ext cx="118110" cy="272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2872740" y="2445388"/>
            <a:ext cx="118110" cy="2963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2990850" y="2475025"/>
            <a:ext cx="118110" cy="3225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108960" y="2507276"/>
            <a:ext cx="118110" cy="3480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227070" y="2542080"/>
            <a:ext cx="118110" cy="2808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3345180" y="2570160"/>
            <a:ext cx="118110" cy="3916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>
            <a:off x="3463290" y="2609322"/>
            <a:ext cx="118110" cy="4233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3581400" y="2651659"/>
            <a:ext cx="118110" cy="4675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>
            <a:off x="3699510" y="2698417"/>
            <a:ext cx="118110" cy="504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817620" y="2748911"/>
            <a:ext cx="118110" cy="5286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3935730" y="2801771"/>
            <a:ext cx="118110" cy="5379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4053840" y="2855564"/>
            <a:ext cx="118110" cy="5908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704850" y="2228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460 MW</a:t>
            </a:r>
            <a:endParaRPr lang="en-US" sz="713" dirty="0"/>
          </a:p>
        </p:txBody>
      </p:sp>
      <p:sp>
        <p:nvSpPr>
          <p:cNvPr id="49" name="Text 47"/>
          <p:cNvSpPr txBox="1"/>
          <p:nvPr/>
        </p:nvSpPr>
        <p:spPr>
          <a:xfrm>
            <a:off x="704850" y="285750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359 MW</a:t>
            </a:r>
            <a:endParaRPr lang="en-US" sz="713" dirty="0"/>
          </a:p>
        </p:txBody>
      </p:sp>
      <p:sp>
        <p:nvSpPr>
          <p:cNvPr id="50" name="Text 48"/>
          <p:cNvSpPr txBox="1"/>
          <p:nvPr/>
        </p:nvSpPr>
        <p:spPr>
          <a:xfrm>
            <a:off x="100965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−10℃</a:t>
            </a:r>
            <a:endParaRPr lang="en-US" sz="713" dirty="0"/>
          </a:p>
        </p:txBody>
      </p:sp>
      <p:sp>
        <p:nvSpPr>
          <p:cNvPr id="51" name="Text 49"/>
          <p:cNvSpPr txBox="1"/>
          <p:nvPr/>
        </p:nvSpPr>
        <p:spPr>
          <a:xfrm>
            <a:off x="16002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13" dirty="0"/>
          </a:p>
        </p:txBody>
      </p:sp>
      <p:sp>
        <p:nvSpPr>
          <p:cNvPr id="52" name="Text 50"/>
          <p:cNvSpPr txBox="1"/>
          <p:nvPr/>
        </p:nvSpPr>
        <p:spPr>
          <a:xfrm>
            <a:off x="27813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13" dirty="0"/>
          </a:p>
        </p:txBody>
      </p:sp>
      <p:sp>
        <p:nvSpPr>
          <p:cNvPr id="53" name="Text 51"/>
          <p:cNvSpPr txBox="1"/>
          <p:nvPr/>
        </p:nvSpPr>
        <p:spPr>
          <a:xfrm>
            <a:off x="3962400" y="2990850"/>
            <a:ext cx="419100" cy="1085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855"/>
              </a:lnSpc>
              <a:buNone/>
            </a:pPr>
            <a:r>
              <a:rPr lang="en-US" sz="713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40℃</a:t>
            </a:r>
            <a:endParaRPr lang="en-US" sz="713" dirty="0"/>
          </a:p>
        </p:txBody>
      </p:sp>
      <p:sp>
        <p:nvSpPr>
          <p:cNvPr id="54" name="Text 52"/>
          <p:cNvSpPr txBox="1"/>
          <p:nvPr/>
        </p:nvSpPr>
        <p:spPr>
          <a:xfrm>
            <a:off x="2152650" y="2190750"/>
            <a:ext cx="14287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계산값 곡선</a:t>
            </a:r>
            <a:endParaRPr lang="en-US" sz="788" dirty="0"/>
          </a:p>
        </p:txBody>
      </p:sp>
      <p:sp>
        <p:nvSpPr>
          <p:cNvPr id="55" name="Shape 53"/>
          <p:cNvSpPr/>
          <p:nvPr/>
        </p:nvSpPr>
        <p:spPr>
          <a:xfrm>
            <a:off x="459105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6" name="Text 54"/>
          <p:cNvSpPr txBox="1"/>
          <p:nvPr/>
        </p:nvSpPr>
        <p:spPr>
          <a:xfrm>
            <a:off x="4857750" y="2038350"/>
            <a:ext cx="3143250" cy="3867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3"/>
              </a:lnSpc>
              <a:buNone/>
            </a:pPr>
            <a:r>
              <a:rPr lang="en-US" sz="105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추울 때와 더울 때 낼 수 있는 양이 다릅니다.</a:t>
            </a:r>
            <a:endParaRPr lang="en-US" sz="1050" dirty="0"/>
          </a:p>
        </p:txBody>
      </p:sp>
      <p:sp>
        <p:nvSpPr>
          <p:cNvPr id="57" name="Text 55"/>
          <p:cNvSpPr txBox="1"/>
          <p:nvPr/>
        </p:nvSpPr>
        <p:spPr>
          <a:xfrm>
            <a:off x="4857750" y="2457450"/>
            <a:ext cx="3143250" cy="3333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영하 20도 ~ 40도까지 온도 61개 숫자를 따로 신고합니다.</a:t>
            </a:r>
            <a:endParaRPr lang="en-US" sz="938" dirty="0"/>
          </a:p>
        </p:txBody>
      </p:sp>
      <p:sp>
        <p:nvSpPr>
          <p:cNvPr id="58" name="Shape 56"/>
          <p:cNvSpPr/>
          <p:nvPr/>
        </p:nvSpPr>
        <p:spPr>
          <a:xfrm>
            <a:off x="8305800" y="2019300"/>
            <a:ext cx="0" cy="10287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9" name="Text 57"/>
          <p:cNvSpPr txBox="1"/>
          <p:nvPr/>
        </p:nvSpPr>
        <p:spPr>
          <a:xfrm>
            <a:off x="8553450" y="2038350"/>
            <a:ext cx="2762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숫자가 어긋나면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553450" y="226695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많이 신고하고 출력을 못 내면</a:t>
            </a:r>
            <a:endParaRPr lang="en-US" sz="900" dirty="0"/>
          </a:p>
        </p:txBody>
      </p:sp>
      <p:sp>
        <p:nvSpPr>
          <p:cNvPr id="61" name="Text 59"/>
          <p:cNvSpPr txBox="1"/>
          <p:nvPr/>
        </p:nvSpPr>
        <p:spPr>
          <a:xfrm>
            <a:off x="8553450" y="243840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FF6F0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패널티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553450" y="2705100"/>
            <a:ext cx="27622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적게 신고하면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8553450" y="2876550"/>
            <a:ext cx="2762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차이만큼 CP 용량요금 손실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685800" y="3381375"/>
            <a:ext cx="52959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685800" y="3257550"/>
            <a:ext cx="15240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6" name="Text 64"/>
          <p:cNvSpPr txBox="1"/>
          <p:nvPr/>
        </p:nvSpPr>
        <p:spPr>
          <a:xfrm>
            <a:off x="8191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7" name="Text 65"/>
          <p:cNvSpPr txBox="1"/>
          <p:nvPr/>
        </p:nvSpPr>
        <p:spPr>
          <a:xfrm>
            <a:off x="1009650" y="3314700"/>
            <a:ext cx="1085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과제 선정 이유</a:t>
            </a:r>
            <a:endParaRPr lang="en-US" sz="1013" dirty="0"/>
          </a:p>
        </p:txBody>
      </p:sp>
      <p:sp>
        <p:nvSpPr>
          <p:cNvPr id="68" name="Text 66"/>
          <p:cNvSpPr txBox="1"/>
          <p:nvPr/>
        </p:nvSpPr>
        <p:spPr>
          <a:xfrm>
            <a:off x="4714875" y="3448050"/>
            <a:ext cx="1152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정비기술팀 두 사람</a:t>
            </a:r>
            <a:endParaRPr lang="en-US" sz="825" dirty="0"/>
          </a:p>
        </p:txBody>
      </p:sp>
      <p:sp>
        <p:nvSpPr>
          <p:cNvPr id="69" name="Text 67"/>
          <p:cNvSpPr txBox="1"/>
          <p:nvPr/>
        </p:nvSpPr>
        <p:spPr>
          <a:xfrm>
            <a:off x="876300" y="36195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직접 풀어 보고 싶었습니다.</a:t>
            </a:r>
            <a:endParaRPr lang="en-US" sz="1125" dirty="0"/>
          </a:p>
        </p:txBody>
      </p:sp>
      <p:sp>
        <p:nvSpPr>
          <p:cNvPr id="70" name="Text 68"/>
          <p:cNvSpPr txBox="1"/>
          <p:nvPr/>
        </p:nvSpPr>
        <p:spPr>
          <a:xfrm>
            <a:off x="876300" y="3848100"/>
            <a:ext cx="49149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</a:t>
            </a:r>
            <a:endParaRPr lang="en-US" sz="900" dirty="0"/>
          </a:p>
        </p:txBody>
      </p:sp>
      <p:sp>
        <p:nvSpPr>
          <p:cNvPr id="71" name="Shape 69"/>
          <p:cNvSpPr/>
          <p:nvPr/>
        </p:nvSpPr>
        <p:spPr>
          <a:xfrm>
            <a:off x="876300" y="4229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1028700" y="4210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4191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 로 새 분야를 경험하고 싶었다</a:t>
            </a:r>
            <a:endParaRPr lang="en-US" sz="1088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4400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모델은 해 본 적이 없었습니다. AI 를 길잡이로 삼아 직접 공부하고 풀어내는 성취감을 맛보고 싶었습니다.</a:t>
            </a:r>
            <a:endParaRPr lang="en-US" sz="863" dirty="0"/>
          </a:p>
        </p:txBody>
      </p:sp>
      <p:sp>
        <p:nvSpPr>
          <p:cNvPr id="75" name="Shape 73"/>
          <p:cNvSpPr/>
          <p:nvPr/>
        </p:nvSpPr>
        <p:spPr>
          <a:xfrm>
            <a:off x="876300" y="48006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1028700" y="47815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7" name="Text 75"/>
          <p:cNvSpPr txBox="1"/>
          <p:nvPr/>
        </p:nvSpPr>
        <p:spPr>
          <a:xfrm>
            <a:off x="1238250" y="47625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비효율이 눈에 먼저 보였다</a:t>
            </a:r>
            <a:endParaRPr lang="en-US" sz="1088" dirty="0"/>
          </a:p>
        </p:txBody>
      </p:sp>
      <p:sp>
        <p:nvSpPr>
          <p:cNvPr id="78" name="Text 76"/>
          <p:cNvSpPr txBox="1"/>
          <p:nvPr/>
        </p:nvSpPr>
        <p:spPr>
          <a:xfrm>
            <a:off x="1238250" y="49720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공급가능용량 테스트는 발전운영팀 업무입니다. 곁에서 보니 엑셀 파일 네 개를 오가는 일이 번거로워 보였습니다.</a:t>
            </a:r>
            <a:endParaRPr lang="en-US" sz="863" dirty="0"/>
          </a:p>
        </p:txBody>
      </p:sp>
      <p:sp>
        <p:nvSpPr>
          <p:cNvPr id="79" name="Shape 77"/>
          <p:cNvSpPr/>
          <p:nvPr/>
        </p:nvSpPr>
        <p:spPr>
          <a:xfrm>
            <a:off x="876300" y="5372100"/>
            <a:ext cx="38100" cy="4381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0" name="Text 78"/>
          <p:cNvSpPr txBox="1"/>
          <p:nvPr/>
        </p:nvSpPr>
        <p:spPr>
          <a:xfrm>
            <a:off x="1028700" y="53530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81" name="Text 79"/>
          <p:cNvSpPr txBox="1"/>
          <p:nvPr/>
        </p:nvSpPr>
        <p:spPr>
          <a:xfrm>
            <a:off x="1238250" y="5334000"/>
            <a:ext cx="4552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수익으로 이어진다</a:t>
            </a:r>
            <a:endParaRPr lang="en-US" sz="1088" dirty="0"/>
          </a:p>
        </p:txBody>
      </p:sp>
      <p:sp>
        <p:nvSpPr>
          <p:cNvPr id="82" name="Text 80"/>
          <p:cNvSpPr txBox="1"/>
          <p:nvPr/>
        </p:nvSpPr>
        <p:spPr>
          <a:xfrm>
            <a:off x="1238250" y="5543550"/>
            <a:ext cx="4552950" cy="29575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숫자가 정확해지면 CP 용량요금 손실이 그만큼 줄어듭니다.</a:t>
            </a:r>
            <a:endParaRPr lang="en-US" sz="863" dirty="0"/>
          </a:p>
        </p:txBody>
      </p:sp>
      <p:sp>
        <p:nvSpPr>
          <p:cNvPr id="83" name="Shape 81"/>
          <p:cNvSpPr/>
          <p:nvPr/>
        </p:nvSpPr>
        <p:spPr>
          <a:xfrm>
            <a:off x="6134100" y="3381375"/>
            <a:ext cx="5372100" cy="25622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>
            <a:off x="6134100" y="32575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5" name="Text 83"/>
          <p:cNvSpPr txBox="1"/>
          <p:nvPr/>
        </p:nvSpPr>
        <p:spPr>
          <a:xfrm>
            <a:off x="6267450" y="3314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86" name="Text 84"/>
          <p:cNvSpPr txBox="1"/>
          <p:nvPr/>
        </p:nvSpPr>
        <p:spPr>
          <a:xfrm>
            <a:off x="6457950" y="33147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절차</a:t>
            </a:r>
            <a:endParaRPr lang="en-US" sz="1013" dirty="0"/>
          </a:p>
        </p:txBody>
      </p:sp>
      <p:sp>
        <p:nvSpPr>
          <p:cNvPr id="87" name="Text 85"/>
          <p:cNvSpPr txBox="1"/>
          <p:nvPr/>
        </p:nvSpPr>
        <p:spPr>
          <a:xfrm>
            <a:off x="9572625" y="344805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 · 한 회에 1시간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63246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① 계측값 받아오기</a:t>
            </a:r>
            <a:endParaRPr lang="en-US" sz="938" dirty="0"/>
          </a:p>
        </p:txBody>
      </p:sp>
      <p:sp>
        <p:nvSpPr>
          <p:cNvPr id="89" name="Shape 87"/>
          <p:cNvSpPr/>
          <p:nvPr/>
        </p:nvSpPr>
        <p:spPr>
          <a:xfrm>
            <a:off x="63246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0" name="Image 0" descr="/home/user/Narae-AI/docs/ppt/assets/엑셀1-1_날짜, 시간 입력 후(RiMS 데이터 가져오기)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74148" y="3848100"/>
            <a:ext cx="1882154" cy="609600"/>
          </a:xfrm>
          <a:prstGeom prst="rect">
            <a:avLst/>
          </a:prstGeom>
        </p:spPr>
      </p:pic>
      <p:sp>
        <p:nvSpPr>
          <p:cNvPr id="91" name="Shape 88"/>
          <p:cNvSpPr/>
          <p:nvPr/>
        </p:nvSpPr>
        <p:spPr>
          <a:xfrm>
            <a:off x="6564623" y="3838575"/>
            <a:ext cx="1901204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2" name="Text 89"/>
          <p:cNvSpPr txBox="1"/>
          <p:nvPr/>
        </p:nvSpPr>
        <p:spPr>
          <a:xfrm>
            <a:off x="8915400" y="361950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② 온도별로 계산</a:t>
            </a:r>
            <a:endParaRPr lang="en-US" sz="938" dirty="0"/>
          </a:p>
        </p:txBody>
      </p:sp>
      <p:sp>
        <p:nvSpPr>
          <p:cNvPr id="93" name="Shape 90"/>
          <p:cNvSpPr/>
          <p:nvPr/>
        </p:nvSpPr>
        <p:spPr>
          <a:xfrm>
            <a:off x="8915400" y="381000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4" name="Image 1" descr="/home/user/Narae-AI/docs/ppt/assets/엑셀2-1_G열 대기압 입력 후 온도별 이론값 생성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746042" y="3848100"/>
            <a:ext cx="719966" cy="609600"/>
          </a:xfrm>
          <a:prstGeom prst="rect">
            <a:avLst/>
          </a:prstGeom>
        </p:spPr>
      </p:pic>
      <p:sp>
        <p:nvSpPr>
          <p:cNvPr id="95" name="Shape 91"/>
          <p:cNvSpPr/>
          <p:nvPr/>
        </p:nvSpPr>
        <p:spPr>
          <a:xfrm>
            <a:off x="9736517" y="3838575"/>
            <a:ext cx="739016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96" name="Text 92"/>
          <p:cNvSpPr txBox="1"/>
          <p:nvPr/>
        </p:nvSpPr>
        <p:spPr>
          <a:xfrm>
            <a:off x="63246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③ 차이를 더하기</a:t>
            </a:r>
            <a:endParaRPr lang="en-US" sz="938" dirty="0"/>
          </a:p>
        </p:txBody>
      </p:sp>
      <p:sp>
        <p:nvSpPr>
          <p:cNvPr id="97" name="Shape 93"/>
          <p:cNvSpPr/>
          <p:nvPr/>
        </p:nvSpPr>
        <p:spPr>
          <a:xfrm>
            <a:off x="63246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98" name="Image 2" descr="/home/user/Narae-AI/docs/ppt/assets/엑셀2-2_IGV Turn up 적용 및, 테스트 온도 지점의 실제 출력과 이론값 비교하여 BTL(보정값) 적용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72225" y="4995559"/>
            <a:ext cx="2286000" cy="486383"/>
          </a:xfrm>
          <a:prstGeom prst="rect">
            <a:avLst/>
          </a:prstGeom>
        </p:spPr>
      </p:pic>
      <p:sp>
        <p:nvSpPr>
          <p:cNvPr id="99" name="Shape 94"/>
          <p:cNvSpPr/>
          <p:nvPr/>
        </p:nvSpPr>
        <p:spPr>
          <a:xfrm>
            <a:off x="6362700" y="4986034"/>
            <a:ext cx="2305050" cy="505433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0" name="Text 95"/>
          <p:cNvSpPr txBox="1"/>
          <p:nvPr/>
        </p:nvSpPr>
        <p:spPr>
          <a:xfrm>
            <a:off x="8915400" y="4705350"/>
            <a:ext cx="2381250" cy="1488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2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④ 표 완성</a:t>
            </a:r>
            <a:endParaRPr lang="en-US" sz="938" dirty="0"/>
          </a:p>
        </p:txBody>
      </p:sp>
      <p:sp>
        <p:nvSpPr>
          <p:cNvPr id="101" name="Shape 96"/>
          <p:cNvSpPr/>
          <p:nvPr/>
        </p:nvSpPr>
        <p:spPr>
          <a:xfrm>
            <a:off x="8915400" y="4895850"/>
            <a:ext cx="2381250" cy="685800"/>
          </a:xfrm>
          <a:prstGeom prst="rect">
            <a:avLst/>
          </a:prstGeom>
          <a:ln w="12700">
            <a:solidFill>
              <a:srgbClr val="DEE3E9"/>
            </a:solidFill>
            <a:prstDash val="solid"/>
          </a:ln>
        </p:spPr>
      </p:sp>
      <p:pic>
        <p:nvPicPr>
          <p:cNvPr id="102" name="Image 3" descr="/home/user/Narae-AI/docs/ppt/assets/xl_profile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1675" y="4933950"/>
            <a:ext cx="1028700" cy="609600"/>
          </a:xfrm>
          <a:prstGeom prst="rect">
            <a:avLst/>
          </a:prstGeom>
        </p:spPr>
      </p:pic>
      <p:sp>
        <p:nvSpPr>
          <p:cNvPr id="103" name="Shape 97"/>
          <p:cNvSpPr/>
          <p:nvPr/>
        </p:nvSpPr>
        <p:spPr>
          <a:xfrm>
            <a:off x="9582150" y="4924425"/>
            <a:ext cx="1047750" cy="6286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104" name="Text 98"/>
          <p:cNvSpPr txBox="1"/>
          <p:nvPr/>
        </p:nvSpPr>
        <p:spPr>
          <a:xfrm>
            <a:off x="6324600" y="5772150"/>
            <a:ext cx="49911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값은 손으로 옮겼습니다. 옮겨 적는 값이 61개였습니다.</a:t>
            </a:r>
            <a:endParaRPr lang="en-US" sz="863" dirty="0"/>
          </a:p>
        </p:txBody>
      </p:sp>
      <p:sp>
        <p:nvSpPr>
          <p:cNvPr id="105" name="Shape 9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06" name="Shape 10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07" name="Text 10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08" name="Text 10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 보고 싶었고, 마침 눈에 보이던 비효율이 그 대상이었습니다.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문제점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방식의 문제점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번거로웠고, 더하는 값을 하나로 끝냈습니다. 그래서 신고한 숫자가 어긋났습니다.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번거로운 절차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000625" y="1847850"/>
            <a:ext cx="8667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회에 1시간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</a:t>
            </a:r>
            <a:endParaRPr lang="en-US" sz="863" dirty="0"/>
          </a:p>
        </p:txBody>
      </p:sp>
      <p:sp>
        <p:nvSpPr>
          <p:cNvPr id="21" name="Text 19"/>
          <p:cNvSpPr txBox="1"/>
          <p:nvPr/>
        </p:nvSpPr>
        <p:spPr>
          <a:xfrm>
            <a:off x="8763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2100" dirty="0"/>
          </a:p>
        </p:txBody>
      </p:sp>
      <p:sp>
        <p:nvSpPr>
          <p:cNvPr id="22" name="Text 20"/>
          <p:cNvSpPr txBox="1"/>
          <p:nvPr/>
        </p:nvSpPr>
        <p:spPr>
          <a:xfrm>
            <a:off x="11144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3" name="Shape 21"/>
          <p:cNvSpPr/>
          <p:nvPr/>
        </p:nvSpPr>
        <p:spPr>
          <a:xfrm>
            <a:off x="238125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253365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손으로 옮긴 값</a:t>
            </a:r>
            <a:endParaRPr lang="en-US" sz="863" dirty="0"/>
          </a:p>
        </p:txBody>
      </p:sp>
      <p:sp>
        <p:nvSpPr>
          <p:cNvPr id="25" name="Text 23"/>
          <p:cNvSpPr txBox="1"/>
          <p:nvPr/>
        </p:nvSpPr>
        <p:spPr>
          <a:xfrm>
            <a:off x="2533650" y="2190750"/>
            <a:ext cx="361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61</a:t>
            </a:r>
            <a:endParaRPr lang="en-US" sz="2100" dirty="0"/>
          </a:p>
        </p:txBody>
      </p:sp>
      <p:sp>
        <p:nvSpPr>
          <p:cNvPr id="26" name="Text 24"/>
          <p:cNvSpPr txBox="1"/>
          <p:nvPr/>
        </p:nvSpPr>
        <p:spPr>
          <a:xfrm>
            <a:off x="2933700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27" name="Shape 25"/>
          <p:cNvSpPr/>
          <p:nvPr/>
        </p:nvSpPr>
        <p:spPr>
          <a:xfrm>
            <a:off x="4038600" y="2000250"/>
            <a:ext cx="0" cy="4572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191000" y="2019300"/>
            <a:ext cx="15621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자동으로 되는 것</a:t>
            </a:r>
            <a:endParaRPr lang="en-US" sz="863" dirty="0"/>
          </a:p>
        </p:txBody>
      </p:sp>
      <p:sp>
        <p:nvSpPr>
          <p:cNvPr id="29" name="Text 27"/>
          <p:cNvSpPr txBox="1"/>
          <p:nvPr/>
        </p:nvSpPr>
        <p:spPr>
          <a:xfrm>
            <a:off x="4191000" y="2190750"/>
            <a:ext cx="200025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2100" dirty="0"/>
          </a:p>
        </p:txBody>
      </p:sp>
      <p:sp>
        <p:nvSpPr>
          <p:cNvPr id="30" name="Text 28"/>
          <p:cNvSpPr txBox="1"/>
          <p:nvPr/>
        </p:nvSpPr>
        <p:spPr>
          <a:xfrm>
            <a:off x="4429125" y="2305050"/>
            <a:ext cx="381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</a:t>
            </a:r>
            <a:endParaRPr lang="en-US" sz="938" dirty="0"/>
          </a:p>
        </p:txBody>
      </p:sp>
      <p:sp>
        <p:nvSpPr>
          <p:cNvPr id="31" name="Shape 29"/>
          <p:cNvSpPr/>
          <p:nvPr/>
        </p:nvSpPr>
        <p:spPr>
          <a:xfrm>
            <a:off x="6134100" y="1781175"/>
            <a:ext cx="5372100" cy="981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4" name="Text 32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목표</a:t>
            </a:r>
            <a:endParaRPr lang="en-US" sz="1013" dirty="0"/>
          </a:p>
        </p:txBody>
      </p:sp>
      <p:sp>
        <p:nvSpPr>
          <p:cNvPr id="35" name="Text 33"/>
          <p:cNvSpPr txBox="1"/>
          <p:nvPr/>
        </p:nvSpPr>
        <p:spPr>
          <a:xfrm>
            <a:off x="10296525" y="1847850"/>
            <a:ext cx="10953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두 가지만 한다</a:t>
            </a:r>
            <a:endParaRPr lang="en-US" sz="825" dirty="0"/>
          </a:p>
        </p:txBody>
      </p:sp>
      <p:sp>
        <p:nvSpPr>
          <p:cNvPr id="36" name="Shape 34"/>
          <p:cNvSpPr/>
          <p:nvPr/>
        </p:nvSpPr>
        <p:spPr>
          <a:xfrm>
            <a:off x="63246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7" name="Text 35"/>
          <p:cNvSpPr txBox="1"/>
          <p:nvPr/>
        </p:nvSpPr>
        <p:spPr>
          <a:xfrm>
            <a:off x="64770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하나로 합치기</a:t>
            </a:r>
            <a:endParaRPr lang="en-US" sz="1163" dirty="0"/>
          </a:p>
        </p:txBody>
      </p:sp>
      <p:sp>
        <p:nvSpPr>
          <p:cNvPr id="38" name="Text 36"/>
          <p:cNvSpPr txBox="1"/>
          <p:nvPr/>
        </p:nvSpPr>
        <p:spPr>
          <a:xfrm>
            <a:off x="64770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파일 4개로 하던 일을 도구 하나로 합친다.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915400" y="2019300"/>
            <a:ext cx="38100" cy="4000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9067800" y="2000250"/>
            <a:ext cx="22860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다르게</a:t>
            </a:r>
            <a:endParaRPr lang="en-US" sz="1163" dirty="0"/>
          </a:p>
        </p:txBody>
      </p:sp>
      <p:sp>
        <p:nvSpPr>
          <p:cNvPr id="41" name="Text 39"/>
          <p:cNvSpPr txBox="1"/>
          <p:nvPr/>
        </p:nvSpPr>
        <p:spPr>
          <a:xfrm>
            <a:off x="9067800" y="2209800"/>
            <a:ext cx="2286000" cy="2847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실적을 쌓아, 더하는 값을 온도마다 다르게 만든다.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685800" y="3038475"/>
            <a:ext cx="10820400" cy="30575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14650"/>
            <a:ext cx="3467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718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71800"/>
            <a:ext cx="3028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값은 하나, 실제 차이는 매번 달랐다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9096375" y="3105150"/>
            <a:ext cx="22955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왼쪽 기존 실적 7일 · 오른쪽 누적 40회</a:t>
            </a:r>
            <a:endParaRPr lang="en-US" sz="825" dirty="0"/>
          </a:p>
        </p:txBody>
      </p:sp>
      <p:sp>
        <p:nvSpPr>
          <p:cNvPr id="47" name="Text 45"/>
          <p:cNvSpPr txBox="1"/>
          <p:nvPr/>
        </p:nvSpPr>
        <p:spPr>
          <a:xfrm>
            <a:off x="876300" y="3276600"/>
            <a:ext cx="3810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실적 시트 · 단위 MW · 데이터 취득 16~17시</a:t>
            </a:r>
            <a:endParaRPr lang="en-US" sz="825" dirty="0"/>
          </a:p>
        </p:txBody>
      </p:sp>
      <p:sp>
        <p:nvSpPr>
          <p:cNvPr id="48" name="Shape 46"/>
          <p:cNvSpPr/>
          <p:nvPr/>
        </p:nvSpPr>
        <p:spPr>
          <a:xfrm>
            <a:off x="876300" y="3448050"/>
            <a:ext cx="3810000" cy="2095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49" name="Text 47"/>
          <p:cNvSpPr txBox="1"/>
          <p:nvPr/>
        </p:nvSpPr>
        <p:spPr>
          <a:xfrm>
            <a:off x="962025" y="35242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149542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938" dirty="0"/>
          </a:p>
        </p:txBody>
      </p:sp>
      <p:sp>
        <p:nvSpPr>
          <p:cNvPr id="51" name="Text 49"/>
          <p:cNvSpPr txBox="1"/>
          <p:nvPr/>
        </p:nvSpPr>
        <p:spPr>
          <a:xfrm>
            <a:off x="2314575" y="35242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endParaRPr lang="en-US" sz="938" dirty="0"/>
          </a:p>
        </p:txBody>
      </p:sp>
      <p:sp>
        <p:nvSpPr>
          <p:cNvPr id="52" name="Text 50"/>
          <p:cNvSpPr txBox="1"/>
          <p:nvPr/>
        </p:nvSpPr>
        <p:spPr>
          <a:xfrm>
            <a:off x="3133725" y="3524250"/>
            <a:ext cx="7620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4067175" y="3524250"/>
            <a:ext cx="533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</a:t>
            </a:r>
            <a:endParaRPr lang="en-US" sz="938" dirty="0"/>
          </a:p>
        </p:txBody>
      </p:sp>
      <p:sp>
        <p:nvSpPr>
          <p:cNvPr id="54" name="Shape 52"/>
          <p:cNvSpPr/>
          <p:nvPr/>
        </p:nvSpPr>
        <p:spPr>
          <a:xfrm>
            <a:off x="876300" y="38195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5" name="Text 53"/>
          <p:cNvSpPr txBox="1"/>
          <p:nvPr/>
        </p:nvSpPr>
        <p:spPr>
          <a:xfrm>
            <a:off x="962025" y="36671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49542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439.8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2314575" y="36671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448.5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3133725" y="36671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+8.7</a:t>
            </a:r>
            <a:endParaRPr lang="en-US" sz="825" dirty="0"/>
          </a:p>
        </p:txBody>
      </p:sp>
      <p:sp>
        <p:nvSpPr>
          <p:cNvPr id="59" name="Text 57"/>
          <p:cNvSpPr txBox="1"/>
          <p:nvPr/>
        </p:nvSpPr>
        <p:spPr>
          <a:xfrm>
            <a:off x="4067175" y="36671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0" name="Shape 58"/>
          <p:cNvSpPr/>
          <p:nvPr/>
        </p:nvSpPr>
        <p:spPr>
          <a:xfrm>
            <a:off x="876300" y="38195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61" name="Shape 59"/>
          <p:cNvSpPr/>
          <p:nvPr/>
        </p:nvSpPr>
        <p:spPr>
          <a:xfrm>
            <a:off x="876300" y="39814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2" name="Text 60"/>
          <p:cNvSpPr txBox="1"/>
          <p:nvPr/>
        </p:nvSpPr>
        <p:spPr>
          <a:xfrm>
            <a:off x="962025" y="38290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2/25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49542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2314575" y="38290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430.8</a:t>
            </a:r>
            <a:endParaRPr lang="en-US" sz="825" dirty="0"/>
          </a:p>
        </p:txBody>
      </p:sp>
      <p:sp>
        <p:nvSpPr>
          <p:cNvPr id="65" name="Text 63"/>
          <p:cNvSpPr txBox="1"/>
          <p:nvPr/>
        </p:nvSpPr>
        <p:spPr>
          <a:xfrm>
            <a:off x="3133725" y="38290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+6.0</a:t>
            </a:r>
            <a:endParaRPr lang="en-US" sz="825" dirty="0"/>
          </a:p>
        </p:txBody>
      </p:sp>
      <p:sp>
        <p:nvSpPr>
          <p:cNvPr id="66" name="Text 64"/>
          <p:cNvSpPr txBox="1"/>
          <p:nvPr/>
        </p:nvSpPr>
        <p:spPr>
          <a:xfrm>
            <a:off x="4067175" y="38290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67" name="Shape 65"/>
          <p:cNvSpPr/>
          <p:nvPr/>
        </p:nvSpPr>
        <p:spPr>
          <a:xfrm>
            <a:off x="876300" y="41433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8" name="Text 66"/>
          <p:cNvSpPr txBox="1"/>
          <p:nvPr/>
        </p:nvSpPr>
        <p:spPr>
          <a:xfrm>
            <a:off x="962025" y="39909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3/4</a:t>
            </a:r>
            <a:endParaRPr lang="en-US" sz="938" dirty="0"/>
          </a:p>
        </p:txBody>
      </p:sp>
      <p:sp>
        <p:nvSpPr>
          <p:cNvPr id="69" name="Text 67"/>
          <p:cNvSpPr txBox="1"/>
          <p:nvPr/>
        </p:nvSpPr>
        <p:spPr>
          <a:xfrm>
            <a:off x="149542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432.1</a:t>
            </a:r>
            <a:endParaRPr lang="en-US" sz="825" dirty="0"/>
          </a:p>
        </p:txBody>
      </p:sp>
      <p:sp>
        <p:nvSpPr>
          <p:cNvPr id="70" name="Text 68"/>
          <p:cNvSpPr txBox="1"/>
          <p:nvPr/>
        </p:nvSpPr>
        <p:spPr>
          <a:xfrm>
            <a:off x="2314575" y="39909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440.1</a:t>
            </a:r>
            <a:endParaRPr lang="en-US" sz="825" dirty="0"/>
          </a:p>
        </p:txBody>
      </p:sp>
      <p:sp>
        <p:nvSpPr>
          <p:cNvPr id="71" name="Text 69"/>
          <p:cNvSpPr txBox="1"/>
          <p:nvPr/>
        </p:nvSpPr>
        <p:spPr>
          <a:xfrm>
            <a:off x="3133725" y="39909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+8.0</a:t>
            </a:r>
            <a:endParaRPr lang="en-US" sz="825" dirty="0"/>
          </a:p>
        </p:txBody>
      </p:sp>
      <p:sp>
        <p:nvSpPr>
          <p:cNvPr id="72" name="Text 70"/>
          <p:cNvSpPr txBox="1"/>
          <p:nvPr/>
        </p:nvSpPr>
        <p:spPr>
          <a:xfrm>
            <a:off x="4067175" y="39909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73" name="Shape 71"/>
          <p:cNvSpPr/>
          <p:nvPr/>
        </p:nvSpPr>
        <p:spPr>
          <a:xfrm>
            <a:off x="876300" y="414337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74" name="Shape 72"/>
          <p:cNvSpPr/>
          <p:nvPr/>
        </p:nvSpPr>
        <p:spPr>
          <a:xfrm>
            <a:off x="876300" y="430530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75" name="Text 73"/>
          <p:cNvSpPr txBox="1"/>
          <p:nvPr/>
        </p:nvSpPr>
        <p:spPr>
          <a:xfrm>
            <a:off x="962025" y="415290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3/18</a:t>
            </a:r>
            <a:endParaRPr lang="en-US" sz="938" dirty="0"/>
          </a:p>
        </p:txBody>
      </p:sp>
      <p:sp>
        <p:nvSpPr>
          <p:cNvPr id="76" name="Text 74"/>
          <p:cNvSpPr txBox="1"/>
          <p:nvPr/>
        </p:nvSpPr>
        <p:spPr>
          <a:xfrm>
            <a:off x="149542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431.7</a:t>
            </a:r>
            <a:endParaRPr lang="en-US" sz="825" dirty="0"/>
          </a:p>
        </p:txBody>
      </p:sp>
      <p:sp>
        <p:nvSpPr>
          <p:cNvPr id="77" name="Text 75"/>
          <p:cNvSpPr txBox="1"/>
          <p:nvPr/>
        </p:nvSpPr>
        <p:spPr>
          <a:xfrm>
            <a:off x="2314575" y="415290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438.6</a:t>
            </a:r>
            <a:endParaRPr lang="en-US" sz="825" dirty="0"/>
          </a:p>
        </p:txBody>
      </p:sp>
      <p:sp>
        <p:nvSpPr>
          <p:cNvPr id="78" name="Text 76"/>
          <p:cNvSpPr txBox="1"/>
          <p:nvPr/>
        </p:nvSpPr>
        <p:spPr>
          <a:xfrm>
            <a:off x="3133725" y="415290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+6.9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4067175" y="415290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0" name="Shape 78"/>
          <p:cNvSpPr/>
          <p:nvPr/>
        </p:nvSpPr>
        <p:spPr>
          <a:xfrm>
            <a:off x="876300" y="446722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1" name="Text 79"/>
          <p:cNvSpPr txBox="1"/>
          <p:nvPr/>
        </p:nvSpPr>
        <p:spPr>
          <a:xfrm>
            <a:off x="962025" y="431482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3/24</a:t>
            </a:r>
            <a:endParaRPr lang="en-US" sz="938" dirty="0"/>
          </a:p>
        </p:txBody>
      </p:sp>
      <p:sp>
        <p:nvSpPr>
          <p:cNvPr id="82" name="Text 80"/>
          <p:cNvSpPr txBox="1"/>
          <p:nvPr/>
        </p:nvSpPr>
        <p:spPr>
          <a:xfrm>
            <a:off x="149542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421.0</a:t>
            </a:r>
            <a:endParaRPr lang="en-US" sz="825" dirty="0"/>
          </a:p>
        </p:txBody>
      </p:sp>
      <p:sp>
        <p:nvSpPr>
          <p:cNvPr id="83" name="Text 81"/>
          <p:cNvSpPr txBox="1"/>
          <p:nvPr/>
        </p:nvSpPr>
        <p:spPr>
          <a:xfrm>
            <a:off x="2314575" y="431482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424.8</a:t>
            </a:r>
            <a:endParaRPr lang="en-US" sz="825" dirty="0"/>
          </a:p>
        </p:txBody>
      </p:sp>
      <p:sp>
        <p:nvSpPr>
          <p:cNvPr id="84" name="Text 82"/>
          <p:cNvSpPr txBox="1"/>
          <p:nvPr/>
        </p:nvSpPr>
        <p:spPr>
          <a:xfrm>
            <a:off x="3133725" y="431482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+3.8</a:t>
            </a:r>
            <a:endParaRPr lang="en-US" sz="825" dirty="0"/>
          </a:p>
        </p:txBody>
      </p:sp>
      <p:sp>
        <p:nvSpPr>
          <p:cNvPr id="85" name="Text 83"/>
          <p:cNvSpPr txBox="1"/>
          <p:nvPr/>
        </p:nvSpPr>
        <p:spPr>
          <a:xfrm>
            <a:off x="4067175" y="431482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825" dirty="0"/>
          </a:p>
        </p:txBody>
      </p:sp>
      <p:sp>
        <p:nvSpPr>
          <p:cNvPr id="86" name="Shape 84"/>
          <p:cNvSpPr/>
          <p:nvPr/>
        </p:nvSpPr>
        <p:spPr>
          <a:xfrm>
            <a:off x="876300" y="4467225"/>
            <a:ext cx="3810000" cy="161925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87" name="Shape 85"/>
          <p:cNvSpPr/>
          <p:nvPr/>
        </p:nvSpPr>
        <p:spPr>
          <a:xfrm>
            <a:off x="876300" y="4629150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8" name="Text 86"/>
          <p:cNvSpPr txBox="1"/>
          <p:nvPr/>
        </p:nvSpPr>
        <p:spPr>
          <a:xfrm>
            <a:off x="962025" y="44767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4/2</a:t>
            </a:r>
            <a:endParaRPr lang="en-US" sz="938" dirty="0"/>
          </a:p>
        </p:txBody>
      </p:sp>
      <p:sp>
        <p:nvSpPr>
          <p:cNvPr id="89" name="Text 87"/>
          <p:cNvSpPr txBox="1"/>
          <p:nvPr/>
        </p:nvSpPr>
        <p:spPr>
          <a:xfrm>
            <a:off x="149542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419.2</a:t>
            </a:r>
            <a:endParaRPr lang="en-US" sz="825" dirty="0"/>
          </a:p>
        </p:txBody>
      </p:sp>
      <p:sp>
        <p:nvSpPr>
          <p:cNvPr id="90" name="Text 88"/>
          <p:cNvSpPr txBox="1"/>
          <p:nvPr/>
        </p:nvSpPr>
        <p:spPr>
          <a:xfrm>
            <a:off x="2314575" y="4476750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423.8</a:t>
            </a:r>
            <a:endParaRPr lang="en-US" sz="825" dirty="0"/>
          </a:p>
        </p:txBody>
      </p:sp>
      <p:sp>
        <p:nvSpPr>
          <p:cNvPr id="91" name="Text 89"/>
          <p:cNvSpPr txBox="1"/>
          <p:nvPr/>
        </p:nvSpPr>
        <p:spPr>
          <a:xfrm>
            <a:off x="3133725" y="4476750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1A1A1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+4.6</a:t>
            </a:r>
            <a:endParaRPr lang="en-US" sz="825" dirty="0"/>
          </a:p>
        </p:txBody>
      </p:sp>
      <p:sp>
        <p:nvSpPr>
          <p:cNvPr id="92" name="Text 90"/>
          <p:cNvSpPr txBox="1"/>
          <p:nvPr/>
        </p:nvSpPr>
        <p:spPr>
          <a:xfrm>
            <a:off x="4067175" y="4476750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+5</a:t>
            </a:r>
            <a:endParaRPr lang="en-US" sz="825" dirty="0"/>
          </a:p>
        </p:txBody>
      </p:sp>
      <p:sp>
        <p:nvSpPr>
          <p:cNvPr id="93" name="Shape 91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962025" y="4638675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4/15</a:t>
            </a:r>
            <a:endParaRPr lang="en-US" sz="938" dirty="0"/>
          </a:p>
        </p:txBody>
      </p:sp>
      <p:sp>
        <p:nvSpPr>
          <p:cNvPr id="95" name="Text 93"/>
          <p:cNvSpPr txBox="1"/>
          <p:nvPr/>
        </p:nvSpPr>
        <p:spPr>
          <a:xfrm>
            <a:off x="149542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398.1</a:t>
            </a:r>
            <a:endParaRPr lang="en-US" sz="825" dirty="0"/>
          </a:p>
        </p:txBody>
      </p:sp>
      <p:sp>
        <p:nvSpPr>
          <p:cNvPr id="96" name="Text 94"/>
          <p:cNvSpPr txBox="1"/>
          <p:nvPr/>
        </p:nvSpPr>
        <p:spPr>
          <a:xfrm>
            <a:off x="2314575" y="4638675"/>
            <a:ext cx="6477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393.5</a:t>
            </a:r>
            <a:endParaRPr lang="en-US" sz="825" dirty="0"/>
          </a:p>
        </p:txBody>
      </p:sp>
      <p:sp>
        <p:nvSpPr>
          <p:cNvPr id="97" name="Text 95"/>
          <p:cNvSpPr txBox="1"/>
          <p:nvPr/>
        </p:nvSpPr>
        <p:spPr>
          <a:xfrm>
            <a:off x="3133725" y="4638675"/>
            <a:ext cx="7620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</a:t>
            </a:r>
            <a:endParaRPr lang="en-US" sz="825" dirty="0"/>
          </a:p>
        </p:txBody>
      </p:sp>
      <p:sp>
        <p:nvSpPr>
          <p:cNvPr id="98" name="Text 96"/>
          <p:cNvSpPr txBox="1"/>
          <p:nvPr/>
        </p:nvSpPr>
        <p:spPr>
          <a:xfrm>
            <a:off x="4067175" y="4638675"/>
            <a:ext cx="5334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</a:t>
            </a:r>
            <a:endParaRPr lang="en-US" sz="825" dirty="0"/>
          </a:p>
        </p:txBody>
      </p:sp>
      <p:sp>
        <p:nvSpPr>
          <p:cNvPr id="99" name="Shape 97"/>
          <p:cNvSpPr/>
          <p:nvPr/>
        </p:nvSpPr>
        <p:spPr>
          <a:xfrm>
            <a:off x="876300" y="4791075"/>
            <a:ext cx="3810000" cy="0"/>
          </a:xfrm>
          <a:prstGeom prst="line">
            <a:avLst/>
          </a:prstGeom>
          <a:noFill/>
          <a:ln w="15240">
            <a:solidFill>
              <a:srgbClr val="C9D0D8"/>
            </a:solidFill>
            <a:prstDash val="solid"/>
          </a:ln>
        </p:spPr>
      </p:sp>
      <p:sp>
        <p:nvSpPr>
          <p:cNvPr id="100" name="Text 98"/>
          <p:cNvSpPr txBox="1"/>
          <p:nvPr/>
        </p:nvSpPr>
        <p:spPr>
          <a:xfrm>
            <a:off x="962025" y="4819650"/>
            <a:ext cx="361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범위</a:t>
            </a:r>
            <a:endParaRPr lang="en-US" sz="938" dirty="0"/>
          </a:p>
        </p:txBody>
      </p:sp>
      <p:sp>
        <p:nvSpPr>
          <p:cNvPr id="101" name="Text 99"/>
          <p:cNvSpPr txBox="1"/>
          <p:nvPr/>
        </p:nvSpPr>
        <p:spPr>
          <a:xfrm>
            <a:off x="149542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2" name="Text 100"/>
          <p:cNvSpPr txBox="1"/>
          <p:nvPr/>
        </p:nvSpPr>
        <p:spPr>
          <a:xfrm>
            <a:off x="2314575" y="4819650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endParaRPr lang="en-US" sz="938" dirty="0"/>
          </a:p>
        </p:txBody>
      </p:sp>
      <p:sp>
        <p:nvSpPr>
          <p:cNvPr id="103" name="Text 101"/>
          <p:cNvSpPr txBox="1"/>
          <p:nvPr/>
        </p:nvSpPr>
        <p:spPr>
          <a:xfrm>
            <a:off x="3133725" y="4819650"/>
            <a:ext cx="762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−4.6 ~ +8.7</a:t>
            </a:r>
            <a:endParaRPr lang="en-US" sz="788" dirty="0"/>
          </a:p>
        </p:txBody>
      </p:sp>
      <p:sp>
        <p:nvSpPr>
          <p:cNvPr id="104" name="Text 102"/>
          <p:cNvSpPr txBox="1"/>
          <p:nvPr/>
        </p:nvSpPr>
        <p:spPr>
          <a:xfrm>
            <a:off x="4067175" y="4819650"/>
            <a:ext cx="5334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+2 ~ +5</a:t>
            </a:r>
            <a:endParaRPr lang="en-US" sz="788" dirty="0"/>
          </a:p>
        </p:txBody>
      </p:sp>
      <p:sp>
        <p:nvSpPr>
          <p:cNvPr id="105" name="Text 103"/>
          <p:cNvSpPr txBox="1"/>
          <p:nvPr/>
        </p:nvSpPr>
        <p:spPr>
          <a:xfrm>
            <a:off x="876300" y="5200650"/>
            <a:ext cx="381000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그날 온도·대기압·습도로 계산한 값, </a:t>
            </a:r>
            <a:pPr algn="l" indent="0" marL="0">
              <a:lnSpc>
                <a:spcPts val="1155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실제값</a:t>
            </a:r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은 시험에서 실제로 낸 값입니다. 차이는 날마다 −4.6 ~ +8.7 로 흔들리는데, 더한 값은 시즌 내내 거의 하나였습니다.</a:t>
            </a:r>
            <a:endParaRPr lang="en-US" sz="825" dirty="0"/>
          </a:p>
        </p:txBody>
      </p:sp>
      <p:sp>
        <p:nvSpPr>
          <p:cNvPr id="106" name="Shape 104"/>
          <p:cNvSpPr/>
          <p:nvPr/>
        </p:nvSpPr>
        <p:spPr>
          <a:xfrm>
            <a:off x="5219700" y="363283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7" name="Shape 105"/>
          <p:cNvSpPr/>
          <p:nvPr/>
        </p:nvSpPr>
        <p:spPr>
          <a:xfrm>
            <a:off x="5219700" y="391477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5219700" y="419671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>
            <a:off x="5219700" y="4760595"/>
            <a:ext cx="58674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>
            <a:off x="5219700" y="4478655"/>
            <a:ext cx="5867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11" name="Text 109"/>
          <p:cNvSpPr txBox="1"/>
          <p:nvPr/>
        </p:nvSpPr>
        <p:spPr>
          <a:xfrm>
            <a:off x="4838700" y="356616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+12</a:t>
            </a:r>
            <a:endParaRPr lang="en-US" sz="750" dirty="0"/>
          </a:p>
        </p:txBody>
      </p:sp>
      <p:sp>
        <p:nvSpPr>
          <p:cNvPr id="112" name="Text 110"/>
          <p:cNvSpPr txBox="1"/>
          <p:nvPr/>
        </p:nvSpPr>
        <p:spPr>
          <a:xfrm>
            <a:off x="4838700" y="384810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+8</a:t>
            </a:r>
            <a:endParaRPr lang="en-US" sz="750" dirty="0"/>
          </a:p>
        </p:txBody>
      </p:sp>
      <p:sp>
        <p:nvSpPr>
          <p:cNvPr id="113" name="Text 111"/>
          <p:cNvSpPr txBox="1"/>
          <p:nvPr/>
        </p:nvSpPr>
        <p:spPr>
          <a:xfrm>
            <a:off x="4838700" y="413004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+4</a:t>
            </a:r>
            <a:endParaRPr lang="en-US" sz="750" dirty="0"/>
          </a:p>
        </p:txBody>
      </p:sp>
      <p:sp>
        <p:nvSpPr>
          <p:cNvPr id="114" name="Text 112"/>
          <p:cNvSpPr txBox="1"/>
          <p:nvPr/>
        </p:nvSpPr>
        <p:spPr>
          <a:xfrm>
            <a:off x="4838700" y="441198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</a:t>
            </a:r>
            <a:endParaRPr lang="en-US" sz="750" dirty="0"/>
          </a:p>
        </p:txBody>
      </p:sp>
      <p:sp>
        <p:nvSpPr>
          <p:cNvPr id="115" name="Text 113"/>
          <p:cNvSpPr txBox="1"/>
          <p:nvPr/>
        </p:nvSpPr>
        <p:spPr>
          <a:xfrm>
            <a:off x="4838700" y="4693920"/>
            <a:ext cx="3048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-4</a:t>
            </a:r>
            <a:endParaRPr lang="en-US" sz="750" dirty="0"/>
          </a:p>
        </p:txBody>
      </p:sp>
      <p:sp>
        <p:nvSpPr>
          <p:cNvPr id="116" name="Text 114"/>
          <p:cNvSpPr txBox="1"/>
          <p:nvPr/>
        </p:nvSpPr>
        <p:spPr>
          <a:xfrm>
            <a:off x="5562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50" dirty="0"/>
          </a:p>
        </p:txBody>
      </p:sp>
      <p:sp>
        <p:nvSpPr>
          <p:cNvPr id="117" name="Text 115"/>
          <p:cNvSpPr txBox="1"/>
          <p:nvPr/>
        </p:nvSpPr>
        <p:spPr>
          <a:xfrm>
            <a:off x="6896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50" dirty="0"/>
          </a:p>
        </p:txBody>
      </p:sp>
      <p:sp>
        <p:nvSpPr>
          <p:cNvPr id="118" name="Text 116"/>
          <p:cNvSpPr txBox="1"/>
          <p:nvPr/>
        </p:nvSpPr>
        <p:spPr>
          <a:xfrm>
            <a:off x="8229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50" dirty="0"/>
          </a:p>
        </p:txBody>
      </p:sp>
      <p:sp>
        <p:nvSpPr>
          <p:cNvPr id="119" name="Text 117"/>
          <p:cNvSpPr txBox="1"/>
          <p:nvPr/>
        </p:nvSpPr>
        <p:spPr>
          <a:xfrm>
            <a:off x="95631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50" dirty="0"/>
          </a:p>
        </p:txBody>
      </p:sp>
      <p:sp>
        <p:nvSpPr>
          <p:cNvPr id="120" name="Text 118"/>
          <p:cNvSpPr txBox="1"/>
          <p:nvPr/>
        </p:nvSpPr>
        <p:spPr>
          <a:xfrm>
            <a:off x="10896600" y="4939665"/>
            <a:ext cx="381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00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50" dirty="0"/>
          </a:p>
        </p:txBody>
      </p:sp>
      <p:sp>
        <p:nvSpPr>
          <p:cNvPr id="121" name="Shape 119"/>
          <p:cNvSpPr/>
          <p:nvPr/>
        </p:nvSpPr>
        <p:spPr>
          <a:xfrm>
            <a:off x="5219700" y="4305614"/>
            <a:ext cx="5867400" cy="0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122" name="Text 120"/>
          <p:cNvSpPr txBox="1"/>
          <p:nvPr/>
        </p:nvSpPr>
        <p:spPr>
          <a:xfrm>
            <a:off x="9753600" y="4143689"/>
            <a:ext cx="16002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더한 값 (늘 하나)</a:t>
            </a:r>
            <a:endParaRPr lang="en-US" sz="825" dirty="0"/>
          </a:p>
        </p:txBody>
      </p:sp>
      <p:sp>
        <p:nvSpPr>
          <p:cNvPr id="123" name="Shape 121"/>
          <p:cNvSpPr/>
          <p:nvPr/>
        </p:nvSpPr>
        <p:spPr>
          <a:xfrm>
            <a:off x="5473065" y="353955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4" name="Shape 122"/>
          <p:cNvSpPr/>
          <p:nvPr/>
        </p:nvSpPr>
        <p:spPr>
          <a:xfrm>
            <a:off x="5533073" y="35728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5" name="Shape 123"/>
          <p:cNvSpPr/>
          <p:nvPr/>
        </p:nvSpPr>
        <p:spPr>
          <a:xfrm>
            <a:off x="5979795" y="38329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6" name="Shape 124"/>
          <p:cNvSpPr/>
          <p:nvPr/>
        </p:nvSpPr>
        <p:spPr>
          <a:xfrm>
            <a:off x="6246495" y="40493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7" name="Shape 125"/>
          <p:cNvSpPr/>
          <p:nvPr/>
        </p:nvSpPr>
        <p:spPr>
          <a:xfrm>
            <a:off x="6526530" y="406897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8" name="Shape 126"/>
          <p:cNvSpPr/>
          <p:nvPr/>
        </p:nvSpPr>
        <p:spPr>
          <a:xfrm>
            <a:off x="6659880" y="410118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29" name="Shape 127"/>
          <p:cNvSpPr/>
          <p:nvPr/>
        </p:nvSpPr>
        <p:spPr>
          <a:xfrm>
            <a:off x="6793230" y="41310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0" name="Shape 128"/>
          <p:cNvSpPr/>
          <p:nvPr/>
        </p:nvSpPr>
        <p:spPr>
          <a:xfrm>
            <a:off x="6913245" y="401222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1" name="Shape 129"/>
          <p:cNvSpPr/>
          <p:nvPr/>
        </p:nvSpPr>
        <p:spPr>
          <a:xfrm>
            <a:off x="6993255" y="41942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2" name="Shape 130"/>
          <p:cNvSpPr/>
          <p:nvPr/>
        </p:nvSpPr>
        <p:spPr>
          <a:xfrm>
            <a:off x="7219950" y="408941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3" name="Shape 131"/>
          <p:cNvSpPr/>
          <p:nvPr/>
        </p:nvSpPr>
        <p:spPr>
          <a:xfrm>
            <a:off x="7419975" y="411126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4" name="Shape 132"/>
          <p:cNvSpPr/>
          <p:nvPr/>
        </p:nvSpPr>
        <p:spPr>
          <a:xfrm>
            <a:off x="7459980" y="39639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5" name="Shape 133"/>
          <p:cNvSpPr/>
          <p:nvPr/>
        </p:nvSpPr>
        <p:spPr>
          <a:xfrm>
            <a:off x="7499985" y="39953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6" name="Shape 134"/>
          <p:cNvSpPr/>
          <p:nvPr/>
        </p:nvSpPr>
        <p:spPr>
          <a:xfrm>
            <a:off x="7646670" y="393385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7" name="Shape 135"/>
          <p:cNvSpPr/>
          <p:nvPr/>
        </p:nvSpPr>
        <p:spPr>
          <a:xfrm>
            <a:off x="7660005" y="402830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8" name="Shape 136"/>
          <p:cNvSpPr/>
          <p:nvPr/>
        </p:nvSpPr>
        <p:spPr>
          <a:xfrm>
            <a:off x="7740015" y="405811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39" name="Shape 137"/>
          <p:cNvSpPr/>
          <p:nvPr/>
        </p:nvSpPr>
        <p:spPr>
          <a:xfrm>
            <a:off x="7940040" y="407376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0" name="Shape 138"/>
          <p:cNvSpPr/>
          <p:nvPr/>
        </p:nvSpPr>
        <p:spPr>
          <a:xfrm>
            <a:off x="7953375" y="405000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1" name="Shape 139"/>
          <p:cNvSpPr/>
          <p:nvPr/>
        </p:nvSpPr>
        <p:spPr>
          <a:xfrm>
            <a:off x="8566785" y="426738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2" name="Shape 140"/>
          <p:cNvSpPr/>
          <p:nvPr/>
        </p:nvSpPr>
        <p:spPr>
          <a:xfrm>
            <a:off x="9073515" y="460063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3" name="Shape 141"/>
          <p:cNvSpPr/>
          <p:nvPr/>
        </p:nvSpPr>
        <p:spPr>
          <a:xfrm>
            <a:off x="9100185" y="468345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4" name="Shape 142"/>
          <p:cNvSpPr/>
          <p:nvPr/>
        </p:nvSpPr>
        <p:spPr>
          <a:xfrm>
            <a:off x="9113520" y="44927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5" name="Shape 143"/>
          <p:cNvSpPr/>
          <p:nvPr/>
        </p:nvSpPr>
        <p:spPr>
          <a:xfrm>
            <a:off x="9153525" y="4501325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6" name="Shape 144"/>
          <p:cNvSpPr/>
          <p:nvPr/>
        </p:nvSpPr>
        <p:spPr>
          <a:xfrm>
            <a:off x="9380220" y="464032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7" name="Shape 145"/>
          <p:cNvSpPr/>
          <p:nvPr/>
        </p:nvSpPr>
        <p:spPr>
          <a:xfrm>
            <a:off x="9553575" y="479419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8" name="Shape 146"/>
          <p:cNvSpPr/>
          <p:nvPr/>
        </p:nvSpPr>
        <p:spPr>
          <a:xfrm>
            <a:off x="9753600" y="4565113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49" name="Shape 147"/>
          <p:cNvSpPr/>
          <p:nvPr/>
        </p:nvSpPr>
        <p:spPr>
          <a:xfrm>
            <a:off x="9753600" y="448574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0" name="Shape 148"/>
          <p:cNvSpPr/>
          <p:nvPr/>
        </p:nvSpPr>
        <p:spPr>
          <a:xfrm>
            <a:off x="9820275" y="469508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1" name="Shape 149"/>
          <p:cNvSpPr/>
          <p:nvPr/>
        </p:nvSpPr>
        <p:spPr>
          <a:xfrm>
            <a:off x="9846945" y="4691352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2" name="Shape 150"/>
          <p:cNvSpPr/>
          <p:nvPr/>
        </p:nvSpPr>
        <p:spPr>
          <a:xfrm>
            <a:off x="9953625" y="4513518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3" name="Shape 151"/>
          <p:cNvSpPr/>
          <p:nvPr/>
        </p:nvSpPr>
        <p:spPr>
          <a:xfrm>
            <a:off x="10046970" y="449568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4" name="Shape 152"/>
          <p:cNvSpPr/>
          <p:nvPr/>
        </p:nvSpPr>
        <p:spPr>
          <a:xfrm>
            <a:off x="10086975" y="463108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5" name="Shape 153"/>
          <p:cNvSpPr/>
          <p:nvPr/>
        </p:nvSpPr>
        <p:spPr>
          <a:xfrm>
            <a:off x="10100310" y="4303191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6" name="Shape 154"/>
          <p:cNvSpPr/>
          <p:nvPr/>
        </p:nvSpPr>
        <p:spPr>
          <a:xfrm>
            <a:off x="10100310" y="4353940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7" name="Shape 155"/>
          <p:cNvSpPr/>
          <p:nvPr/>
        </p:nvSpPr>
        <p:spPr>
          <a:xfrm>
            <a:off x="10100310" y="4560039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8" name="Shape 156"/>
          <p:cNvSpPr/>
          <p:nvPr/>
        </p:nvSpPr>
        <p:spPr>
          <a:xfrm>
            <a:off x="10206990" y="4404196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59" name="Shape 157"/>
          <p:cNvSpPr/>
          <p:nvPr/>
        </p:nvSpPr>
        <p:spPr>
          <a:xfrm>
            <a:off x="10233660" y="461600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0" name="Shape 158"/>
          <p:cNvSpPr/>
          <p:nvPr/>
        </p:nvSpPr>
        <p:spPr>
          <a:xfrm>
            <a:off x="10340340" y="439989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1" name="Shape 159"/>
          <p:cNvSpPr/>
          <p:nvPr/>
        </p:nvSpPr>
        <p:spPr>
          <a:xfrm>
            <a:off x="10540365" y="4303967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2" name="Shape 160"/>
          <p:cNvSpPr/>
          <p:nvPr/>
        </p:nvSpPr>
        <p:spPr>
          <a:xfrm>
            <a:off x="10780395" y="4351614"/>
            <a:ext cx="53340" cy="5334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63" name="Text 161"/>
          <p:cNvSpPr txBox="1"/>
          <p:nvPr/>
        </p:nvSpPr>
        <p:spPr>
          <a:xfrm>
            <a:off x="4838700" y="5111115"/>
            <a:ext cx="53340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가로 외기온도 ℃ · 세로 실제 차이 MW · 점 하나가 시험 한 번</a:t>
            </a:r>
            <a:endParaRPr lang="en-US" sz="788" dirty="0"/>
          </a:p>
        </p:txBody>
      </p:sp>
      <p:sp>
        <p:nvSpPr>
          <p:cNvPr id="164" name="Shape 162"/>
          <p:cNvSpPr/>
          <p:nvPr/>
        </p:nvSpPr>
        <p:spPr>
          <a:xfrm>
            <a:off x="4838700" y="5295900"/>
            <a:ext cx="38100" cy="7239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165" name="Text 163"/>
          <p:cNvSpPr txBox="1"/>
          <p:nvPr/>
        </p:nvSpPr>
        <p:spPr>
          <a:xfrm>
            <a:off x="5010150" y="5295900"/>
            <a:ext cx="6248400" cy="19335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22"/>
              </a:lnSpc>
              <a:buNone/>
            </a:pPr>
            <a:r>
              <a:rPr lang="en-US" sz="108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겨울에는 적게 신고하고, 여름에는 못 내는데 많이 신고하게 됩니다.</a:t>
            </a:r>
            <a:endParaRPr lang="en-US" sz="1088" dirty="0"/>
          </a:p>
        </p:txBody>
      </p:sp>
      <p:sp>
        <p:nvSpPr>
          <p:cNvPr id="166" name="Text 164"/>
          <p:cNvSpPr txBox="1"/>
          <p:nvPr/>
        </p:nvSpPr>
        <p:spPr>
          <a:xfrm>
            <a:off x="5010150" y="5543550"/>
            <a:ext cx="6248400" cy="3452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15회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 신고한 만큼 못 냈습니다. 가장 크게 어긋난 회차는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10.8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였습니다.</a:t>
            </a:r>
            <a:endParaRPr lang="en-US" sz="938" dirty="0"/>
          </a:p>
        </p:txBody>
      </p:sp>
      <p:sp>
        <p:nvSpPr>
          <p:cNvPr id="167" name="Shape 165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169" name="Text 167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170" name="Text 168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잘못 고른 것이 아니라, 하나로 끝내는 구조가 문제였습니다.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원인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원인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출력에 영향을 줄 수 있는 값 네 개를 후보로 놓고, 하나씩 넣어 보며 확인했습니다.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10820400" cy="2124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9621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5240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넣어 본 것과 남은 것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639300" y="1847850"/>
            <a:ext cx="17526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방법 · 입력만 바꿔 채점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2019300"/>
            <a:ext cx="10382250" cy="247650"/>
          </a:xfrm>
          <a:prstGeom prst="rect">
            <a:avLst/>
          </a:prstGeom>
          <a:solidFill>
            <a:srgbClr val="1B3C6E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962025" y="2095500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넣은 값</a:t>
            </a:r>
            <a:endParaRPr lang="en-US" sz="938" dirty="0"/>
          </a:p>
        </p:txBody>
      </p:sp>
      <p:sp>
        <p:nvSpPr>
          <p:cNvPr id="22" name="Text 20"/>
          <p:cNvSpPr txBox="1"/>
          <p:nvPr/>
        </p:nvSpPr>
        <p:spPr>
          <a:xfrm>
            <a:off x="2638425" y="2095500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평균 오차</a:t>
            </a:r>
            <a:endParaRPr lang="en-US" sz="938" dirty="0"/>
          </a:p>
        </p:txBody>
      </p:sp>
      <p:sp>
        <p:nvSpPr>
          <p:cNvPr id="23" name="Text 21"/>
          <p:cNvSpPr txBox="1"/>
          <p:nvPr/>
        </p:nvSpPr>
        <p:spPr>
          <a:xfrm>
            <a:off x="3476625" y="2095500"/>
            <a:ext cx="8763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기준과 차이</a:t>
            </a:r>
            <a:endParaRPr lang="en-US" sz="938" dirty="0"/>
          </a:p>
        </p:txBody>
      </p:sp>
      <p:sp>
        <p:nvSpPr>
          <p:cNvPr id="24" name="Text 22"/>
          <p:cNvSpPr txBox="1"/>
          <p:nvPr/>
        </p:nvSpPr>
        <p:spPr>
          <a:xfrm>
            <a:off x="4524375" y="2095500"/>
            <a:ext cx="571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판정</a:t>
            </a:r>
            <a:endParaRPr lang="en-US" sz="938" dirty="0"/>
          </a:p>
        </p:txBody>
      </p:sp>
      <p:sp>
        <p:nvSpPr>
          <p:cNvPr id="25" name="Text 23"/>
          <p:cNvSpPr txBox="1"/>
          <p:nvPr/>
        </p:nvSpPr>
        <p:spPr>
          <a:xfrm>
            <a:off x="5267325" y="2095500"/>
            <a:ext cx="5905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까닭</a:t>
            </a:r>
            <a:endParaRPr lang="en-US" sz="938" dirty="0"/>
          </a:p>
        </p:txBody>
      </p:sp>
      <p:sp>
        <p:nvSpPr>
          <p:cNvPr id="26" name="Shape 24"/>
          <p:cNvSpPr/>
          <p:nvPr/>
        </p:nvSpPr>
        <p:spPr>
          <a:xfrm>
            <a:off x="876300" y="2266950"/>
            <a:ext cx="10382250" cy="228600"/>
          </a:xfrm>
          <a:prstGeom prst="rect">
            <a:avLst/>
          </a:prstGeom>
          <a:solidFill>
            <a:srgbClr val="FDEBEE"/>
          </a:solidFill>
          <a:ln/>
        </p:spPr>
      </p:sp>
      <p:sp>
        <p:nvSpPr>
          <p:cNvPr id="27" name="Shape 25"/>
          <p:cNvSpPr/>
          <p:nvPr/>
        </p:nvSpPr>
        <p:spPr>
          <a:xfrm>
            <a:off x="876300" y="2495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2025" y="23098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온도만</a:t>
            </a:r>
            <a:endParaRPr lang="en-US" sz="938" dirty="0"/>
          </a:p>
        </p:txBody>
      </p:sp>
      <p:sp>
        <p:nvSpPr>
          <p:cNvPr id="29" name="Text 27"/>
          <p:cNvSpPr txBox="1"/>
          <p:nvPr/>
        </p:nvSpPr>
        <p:spPr>
          <a:xfrm>
            <a:off x="2638425" y="23098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</a:t>
            </a:r>
            <a:endParaRPr lang="en-US" sz="938" dirty="0"/>
          </a:p>
        </p:txBody>
      </p:sp>
      <p:sp>
        <p:nvSpPr>
          <p:cNvPr id="30" name="Text 28"/>
          <p:cNvSpPr txBox="1"/>
          <p:nvPr/>
        </p:nvSpPr>
        <p:spPr>
          <a:xfrm>
            <a:off x="3476625" y="23098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4524375" y="23098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63" dirty="0"/>
          </a:p>
        </p:txBody>
      </p:sp>
      <p:sp>
        <p:nvSpPr>
          <p:cNvPr id="32" name="Text 30"/>
          <p:cNvSpPr txBox="1"/>
          <p:nvPr/>
        </p:nvSpPr>
        <p:spPr>
          <a:xfrm>
            <a:off x="5267325" y="23098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</a:t>
            </a:r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85%</a:t>
            </a:r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를 이것만으로 설명합니다</a:t>
            </a:r>
            <a:endParaRPr lang="en-US" sz="863" dirty="0"/>
          </a:p>
        </p:txBody>
      </p:sp>
      <p:sp>
        <p:nvSpPr>
          <p:cNvPr id="33" name="Shape 31"/>
          <p:cNvSpPr/>
          <p:nvPr/>
        </p:nvSpPr>
        <p:spPr>
          <a:xfrm>
            <a:off x="876300" y="24955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34" name="Shape 32"/>
          <p:cNvSpPr/>
          <p:nvPr/>
        </p:nvSpPr>
        <p:spPr>
          <a:xfrm>
            <a:off x="876300" y="2724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962025" y="25384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상대습도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2638425" y="25384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1.29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3476625" y="25384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−0.01</a:t>
            </a:r>
            <a:endParaRPr lang="en-US" sz="825" dirty="0"/>
          </a:p>
        </p:txBody>
      </p:sp>
      <p:sp>
        <p:nvSpPr>
          <p:cNvPr id="38" name="Text 36"/>
          <p:cNvSpPr txBox="1"/>
          <p:nvPr/>
        </p:nvSpPr>
        <p:spPr>
          <a:xfrm>
            <a:off x="4524375" y="25384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39" name="Text 37"/>
          <p:cNvSpPr txBox="1"/>
          <p:nvPr/>
        </p:nvSpPr>
        <p:spPr>
          <a:xfrm>
            <a:off x="5267325" y="25384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0.01 나아졌지만 흔들림 ±0.08 보다 작습니다</a:t>
            </a:r>
            <a:endParaRPr lang="en-US" sz="863" dirty="0"/>
          </a:p>
        </p:txBody>
      </p:sp>
      <p:sp>
        <p:nvSpPr>
          <p:cNvPr id="40" name="Shape 38"/>
          <p:cNvSpPr/>
          <p:nvPr/>
        </p:nvSpPr>
        <p:spPr>
          <a:xfrm>
            <a:off x="876300" y="29527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962025" y="27670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대기압</a:t>
            </a:r>
            <a:endParaRPr lang="en-US" sz="938" dirty="0"/>
          </a:p>
        </p:txBody>
      </p:sp>
      <p:sp>
        <p:nvSpPr>
          <p:cNvPr id="42" name="Text 40"/>
          <p:cNvSpPr txBox="1"/>
          <p:nvPr/>
        </p:nvSpPr>
        <p:spPr>
          <a:xfrm>
            <a:off x="2638425" y="27670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1.33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476625" y="27670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+0.03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4524375" y="27670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5267325" y="27670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계산식이 이미 쓰고 있습니다 (두 번 반영)</a:t>
            </a:r>
            <a:endParaRPr lang="en-US" sz="863" dirty="0"/>
          </a:p>
        </p:txBody>
      </p:sp>
      <p:sp>
        <p:nvSpPr>
          <p:cNvPr id="46" name="Shape 44"/>
          <p:cNvSpPr/>
          <p:nvPr/>
        </p:nvSpPr>
        <p:spPr>
          <a:xfrm>
            <a:off x="876300" y="2952750"/>
            <a:ext cx="10382250" cy="228600"/>
          </a:xfrm>
          <a:prstGeom prst="rect">
            <a:avLst/>
          </a:prstGeom>
          <a:solidFill>
            <a:srgbClr val="F2F5F9"/>
          </a:solidFill>
          <a:ln/>
        </p:spPr>
      </p:sp>
      <p:sp>
        <p:nvSpPr>
          <p:cNvPr id="47" name="Shape 45"/>
          <p:cNvSpPr/>
          <p:nvPr/>
        </p:nvSpPr>
        <p:spPr>
          <a:xfrm>
            <a:off x="876300" y="31813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8" name="Text 46"/>
          <p:cNvSpPr txBox="1"/>
          <p:nvPr/>
        </p:nvSpPr>
        <p:spPr>
          <a:xfrm>
            <a:off x="962025" y="29956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복수기 진공도</a:t>
            </a:r>
            <a:endParaRPr lang="en-US" sz="938" dirty="0"/>
          </a:p>
        </p:txBody>
      </p:sp>
      <p:sp>
        <p:nvSpPr>
          <p:cNvPr id="49" name="Text 47"/>
          <p:cNvSpPr txBox="1"/>
          <p:nvPr/>
        </p:nvSpPr>
        <p:spPr>
          <a:xfrm>
            <a:off x="2638425" y="29956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1.40</a:t>
            </a:r>
            <a:endParaRPr lang="en-US" sz="938" dirty="0"/>
          </a:p>
        </p:txBody>
      </p:sp>
      <p:sp>
        <p:nvSpPr>
          <p:cNvPr id="50" name="Text 48"/>
          <p:cNvSpPr txBox="1"/>
          <p:nvPr/>
        </p:nvSpPr>
        <p:spPr>
          <a:xfrm>
            <a:off x="3476625" y="29956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+0.10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4524375" y="29956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5267325" y="29956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같이 움직입니다 (겹침 0.95)</a:t>
            </a:r>
            <a:endParaRPr lang="en-US" sz="863" dirty="0"/>
          </a:p>
        </p:txBody>
      </p:sp>
      <p:sp>
        <p:nvSpPr>
          <p:cNvPr id="53" name="Shape 51"/>
          <p:cNvSpPr/>
          <p:nvPr/>
        </p:nvSpPr>
        <p:spPr>
          <a:xfrm>
            <a:off x="876300" y="34099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4" name="Text 52"/>
          <p:cNvSpPr txBox="1"/>
          <p:nvPr/>
        </p:nvSpPr>
        <p:spPr>
          <a:xfrm>
            <a:off x="962025" y="3224213"/>
            <a:ext cx="15049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＋ 네 개 전부</a:t>
            </a:r>
            <a:endParaRPr lang="en-US" sz="938" dirty="0"/>
          </a:p>
        </p:txBody>
      </p:sp>
      <p:sp>
        <p:nvSpPr>
          <p:cNvPr id="55" name="Text 53"/>
          <p:cNvSpPr txBox="1"/>
          <p:nvPr/>
        </p:nvSpPr>
        <p:spPr>
          <a:xfrm>
            <a:off x="2638425" y="3224213"/>
            <a:ext cx="66675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1.44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3476625" y="3224213"/>
            <a:ext cx="876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+0.14</a:t>
            </a:r>
            <a:endParaRPr lang="en-US" sz="825" dirty="0"/>
          </a:p>
        </p:txBody>
      </p:sp>
      <p:sp>
        <p:nvSpPr>
          <p:cNvPr id="57" name="Text 55"/>
          <p:cNvSpPr txBox="1"/>
          <p:nvPr/>
        </p:nvSpPr>
        <p:spPr>
          <a:xfrm>
            <a:off x="4524375" y="3224213"/>
            <a:ext cx="571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제외</a:t>
            </a:r>
            <a:endParaRPr lang="en-US" sz="863" dirty="0"/>
          </a:p>
        </p:txBody>
      </p:sp>
      <p:sp>
        <p:nvSpPr>
          <p:cNvPr id="58" name="Text 56"/>
          <p:cNvSpPr txBox="1"/>
          <p:nvPr/>
        </p:nvSpPr>
        <p:spPr>
          <a:xfrm>
            <a:off x="5267325" y="3224213"/>
            <a:ext cx="5905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넣을수록 나빠졌습니다</a:t>
            </a:r>
            <a:endParaRPr lang="en-US" sz="86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3505200"/>
            <a:ext cx="1038225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작을수록 잘 맞힌 것입니다. 회차마다 흔들리는 폭이 ±0.08 이므로 그보다 작은 차이는 차이로 볼 수 없습니다. 한 회를 가리고 나머지로 그 회를 맞혀 보는 방식으로 채점했습니다.</a:t>
            </a:r>
            <a:endParaRPr lang="en-US" sz="788" dirty="0"/>
          </a:p>
        </p:txBody>
      </p:sp>
      <p:sp>
        <p:nvSpPr>
          <p:cNvPr id="60" name="Shape 58"/>
          <p:cNvSpPr/>
          <p:nvPr/>
        </p:nvSpPr>
        <p:spPr>
          <a:xfrm>
            <a:off x="685800" y="4143375"/>
            <a:ext cx="52959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85800" y="4019550"/>
            <a:ext cx="20288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2" name="Text 60"/>
          <p:cNvSpPr txBox="1"/>
          <p:nvPr/>
        </p:nvSpPr>
        <p:spPr>
          <a:xfrm>
            <a:off x="8191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3" name="Text 61"/>
          <p:cNvSpPr txBox="1"/>
          <p:nvPr/>
        </p:nvSpPr>
        <p:spPr>
          <a:xfrm>
            <a:off x="1009650" y="4076700"/>
            <a:ext cx="15906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 온도가 남은 이유</a:t>
            </a:r>
            <a:endParaRPr lang="en-US" sz="1013" dirty="0"/>
          </a:p>
        </p:txBody>
      </p:sp>
      <p:sp>
        <p:nvSpPr>
          <p:cNvPr id="64" name="Shape 62"/>
          <p:cNvSpPr/>
          <p:nvPr/>
        </p:nvSpPr>
        <p:spPr>
          <a:xfrm>
            <a:off x="876300" y="4400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5" name="Text 63"/>
          <p:cNvSpPr txBox="1"/>
          <p:nvPr/>
        </p:nvSpPr>
        <p:spPr>
          <a:xfrm>
            <a:off x="1028700" y="4381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1238250" y="4362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혼자서 대부분을 설명한다</a:t>
            </a:r>
            <a:endParaRPr lang="en-US" sz="1125" dirty="0"/>
          </a:p>
        </p:txBody>
      </p:sp>
      <p:sp>
        <p:nvSpPr>
          <p:cNvPr id="67" name="Text 65"/>
          <p:cNvSpPr txBox="1"/>
          <p:nvPr/>
        </p:nvSpPr>
        <p:spPr>
          <a:xfrm>
            <a:off x="1238250" y="4572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차이의 85% 가 온도로 설명됩니다. 추우면 커지고 더우면 작아집니다.</a:t>
            </a:r>
            <a:endParaRPr lang="en-US" sz="863" dirty="0"/>
          </a:p>
        </p:txBody>
      </p:sp>
      <p:sp>
        <p:nvSpPr>
          <p:cNvPr id="68" name="Shape 66"/>
          <p:cNvSpPr/>
          <p:nvPr/>
        </p:nvSpPr>
        <p:spPr>
          <a:xfrm>
            <a:off x="876300" y="49720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9" name="Text 67"/>
          <p:cNvSpPr txBox="1"/>
          <p:nvPr/>
        </p:nvSpPr>
        <p:spPr>
          <a:xfrm>
            <a:off x="1028700" y="49530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1238250" y="49339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방향이 분명하다</a:t>
            </a:r>
            <a:endParaRPr lang="en-US" sz="1125" dirty="0"/>
          </a:p>
        </p:txBody>
      </p:sp>
      <p:sp>
        <p:nvSpPr>
          <p:cNvPr id="71" name="Text 69"/>
          <p:cNvSpPr txBox="1"/>
          <p:nvPr/>
        </p:nvSpPr>
        <p:spPr>
          <a:xfrm>
            <a:off x="1238250" y="51435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차이가 반대로 움직입니다 (겹침 0.84). 네 후보 가운데 가장 뚜렷합니다.</a:t>
            </a:r>
            <a:endParaRPr lang="en-US" sz="863" dirty="0"/>
          </a:p>
        </p:txBody>
      </p:sp>
      <p:sp>
        <p:nvSpPr>
          <p:cNvPr id="72" name="Shape 70"/>
          <p:cNvSpPr/>
          <p:nvPr/>
        </p:nvSpPr>
        <p:spPr>
          <a:xfrm>
            <a:off x="876300" y="554355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73" name="Text 71"/>
          <p:cNvSpPr txBox="1"/>
          <p:nvPr/>
        </p:nvSpPr>
        <p:spPr>
          <a:xfrm>
            <a:off x="1028700" y="552450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74" name="Text 72"/>
          <p:cNvSpPr txBox="1"/>
          <p:nvPr/>
        </p:nvSpPr>
        <p:spPr>
          <a:xfrm>
            <a:off x="1238250" y="5505450"/>
            <a:ext cx="45529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미리 알 수 있는 값이다</a:t>
            </a:r>
            <a:endParaRPr lang="en-US" sz="1125" dirty="0"/>
          </a:p>
        </p:txBody>
      </p:sp>
      <p:sp>
        <p:nvSpPr>
          <p:cNvPr id="75" name="Text 73"/>
          <p:cNvSpPr txBox="1"/>
          <p:nvPr/>
        </p:nvSpPr>
        <p:spPr>
          <a:xfrm>
            <a:off x="1238250" y="5715000"/>
            <a:ext cx="455295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08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신고는 영하 20도부터 40도까지 온도마다 내야 합니다. 입력이 온도여야 표를 만들 수 있습니다.</a:t>
            </a:r>
            <a:endParaRPr lang="en-US" sz="863" dirty="0"/>
          </a:p>
        </p:txBody>
      </p:sp>
      <p:sp>
        <p:nvSpPr>
          <p:cNvPr id="76" name="Shape 74"/>
          <p:cNvSpPr/>
          <p:nvPr/>
        </p:nvSpPr>
        <p:spPr>
          <a:xfrm>
            <a:off x="6134100" y="4143375"/>
            <a:ext cx="5372100" cy="19526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>
            <a:off x="6134100" y="4019550"/>
            <a:ext cx="26098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8" name="Text 76"/>
          <p:cNvSpPr txBox="1"/>
          <p:nvPr/>
        </p:nvSpPr>
        <p:spPr>
          <a:xfrm>
            <a:off x="6267450" y="40767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79" name="Text 77"/>
          <p:cNvSpPr txBox="1"/>
          <p:nvPr/>
        </p:nvSpPr>
        <p:spPr>
          <a:xfrm>
            <a:off x="6457950" y="4076700"/>
            <a:ext cx="21717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 · 결론을 뒤집었다</a:t>
            </a:r>
            <a:endParaRPr lang="en-US" sz="1013" dirty="0"/>
          </a:p>
        </p:txBody>
      </p:sp>
      <p:sp>
        <p:nvSpPr>
          <p:cNvPr id="80" name="Text 78"/>
          <p:cNvSpPr txBox="1"/>
          <p:nvPr/>
        </p:nvSpPr>
        <p:spPr>
          <a:xfrm>
            <a:off x="6324600" y="4381500"/>
            <a:ext cx="4991100" cy="3590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14"/>
              </a:lnSpc>
              <a:buNone/>
            </a:pPr>
            <a:r>
              <a:rPr lang="en-US" sz="97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봄 시험 몇 회가 유별나게 낮았습니다. 설비가 늙었다고 보고 문서까지 썼습니다.</a:t>
            </a:r>
            <a:endParaRPr lang="en-US" sz="975" dirty="0"/>
          </a:p>
        </p:txBody>
      </p:sp>
      <p:sp>
        <p:nvSpPr>
          <p:cNvPr id="81" name="Shape 79"/>
          <p:cNvSpPr/>
          <p:nvPr/>
        </p:nvSpPr>
        <p:spPr>
          <a:xfrm>
            <a:off x="6324600" y="4819650"/>
            <a:ext cx="38100" cy="914400"/>
          </a:xfrm>
          <a:prstGeom prst="rect">
            <a:avLst/>
          </a:prstGeom>
          <a:solidFill>
            <a:srgbClr val="FF6F0F"/>
          </a:solidFill>
          <a:ln/>
        </p:spPr>
      </p:sp>
      <p:sp>
        <p:nvSpPr>
          <p:cNvPr id="82" name="Text 80"/>
          <p:cNvSpPr txBox="1"/>
          <p:nvPr/>
        </p:nvSpPr>
        <p:spPr>
          <a:xfrm>
            <a:off x="6515100" y="4800600"/>
            <a:ext cx="480060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설비 문제가 아니었습니다.</a:t>
            </a:r>
            <a:endParaRPr lang="en-US" sz="1163" dirty="0"/>
          </a:p>
        </p:txBody>
      </p:sp>
      <p:sp>
        <p:nvSpPr>
          <p:cNvPr id="83" name="Text 81"/>
          <p:cNvSpPr txBox="1"/>
          <p:nvPr/>
        </p:nvSpPr>
        <p:spPr>
          <a:xfrm>
            <a:off x="6515100" y="5029200"/>
            <a:ext cx="4800600" cy="6629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시험은 </a:t>
            </a:r>
            <a:pPr algn="l"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출력을 끝까지 올린 상태</a:t>
            </a:r>
            <a:pPr algn="l"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 해야 합니다. 가스터빈 입구 날개를 더 여는 조작입니다(IGV turn-up). 그 조작을 하지 않고 측정한 날이었습니다. 덜 올린 채로 쟀으니 낮게 나온 것입니다.</a:t>
            </a:r>
            <a:endParaRPr lang="en-US" sz="900" dirty="0"/>
          </a:p>
        </p:txBody>
      </p:sp>
      <p:sp>
        <p:nvSpPr>
          <p:cNvPr id="84" name="Text 82"/>
          <p:cNvSpPr txBox="1"/>
          <p:nvPr/>
        </p:nvSpPr>
        <p:spPr>
          <a:xfrm>
            <a:off x="6324600" y="5810250"/>
            <a:ext cx="4991100" cy="30861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보고 결론을 거뒀습니다. 지금은 그런 날의 시험을 도구가 걸러냅니다.</a:t>
            </a:r>
            <a:endParaRPr lang="en-US" sz="900" dirty="0"/>
          </a:p>
        </p:txBody>
      </p:sp>
      <p:sp>
        <p:nvSpPr>
          <p:cNvPr id="85" name="Shape 8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86" name="Shape 8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87" name="Text 8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88" name="Text 8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후보를 하나씩 접고 나니 외기 온도만 남았습니다.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방안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하나는 흩어진 과정을 도구 하나로 합친 것입니다. 다른 하나는 더하는 값을 온도마다 다르게 한 것입니다.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바꾼 것 두 가지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72600" y="1790700"/>
            <a:ext cx="20193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계산식은 손대지 않았습니다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8763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287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2573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흩어진 과정을 합쳤다</a:t>
            </a:r>
            <a:endParaRPr lang="en-US" sz="1125" dirty="0"/>
          </a:p>
        </p:txBody>
      </p:sp>
      <p:sp>
        <p:nvSpPr>
          <p:cNvPr id="23" name="Text 21"/>
          <p:cNvSpPr txBox="1"/>
          <p:nvPr/>
        </p:nvSpPr>
        <p:spPr>
          <a:xfrm>
            <a:off x="3714750" y="1990725"/>
            <a:ext cx="60007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</a:t>
            </a:r>
            <a:endParaRPr lang="en-US" sz="975" dirty="0"/>
          </a:p>
        </p:txBody>
      </p:sp>
      <p:sp>
        <p:nvSpPr>
          <p:cNvPr id="24" name="Text 22"/>
          <p:cNvSpPr txBox="1"/>
          <p:nvPr/>
        </p:nvSpPr>
        <p:spPr>
          <a:xfrm>
            <a:off x="437197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600575" y="1971675"/>
            <a:ext cx="12382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1개</a:t>
            </a:r>
            <a:endParaRPr lang="en-US" sz="1088" dirty="0"/>
          </a:p>
        </p:txBody>
      </p:sp>
      <p:sp>
        <p:nvSpPr>
          <p:cNvPr id="26" name="Shape 24"/>
          <p:cNvSpPr/>
          <p:nvPr/>
        </p:nvSpPr>
        <p:spPr>
          <a:xfrm>
            <a:off x="5981700" y="1943100"/>
            <a:ext cx="0" cy="32385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6172200" y="19621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6324600" y="1981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29" name="Text 27"/>
          <p:cNvSpPr txBox="1"/>
          <p:nvPr/>
        </p:nvSpPr>
        <p:spPr>
          <a:xfrm>
            <a:off x="6553200" y="1962150"/>
            <a:ext cx="238125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더하는 값을 온도마다 다르게</a:t>
            </a:r>
            <a:endParaRPr lang="en-US" sz="1125" dirty="0"/>
          </a:p>
        </p:txBody>
      </p:sp>
      <p:sp>
        <p:nvSpPr>
          <p:cNvPr id="30" name="Text 28"/>
          <p:cNvSpPr txBox="1"/>
          <p:nvPr/>
        </p:nvSpPr>
        <p:spPr>
          <a:xfrm>
            <a:off x="9010650" y="1990725"/>
            <a:ext cx="466725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값 1개</a:t>
            </a:r>
            <a:endParaRPr lang="en-US" sz="975" dirty="0"/>
          </a:p>
        </p:txBody>
      </p:sp>
      <p:sp>
        <p:nvSpPr>
          <p:cNvPr id="31" name="Text 29"/>
          <p:cNvSpPr txBox="1"/>
          <p:nvPr/>
        </p:nvSpPr>
        <p:spPr>
          <a:xfrm>
            <a:off x="9534525" y="1990725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9763125" y="1971675"/>
            <a:ext cx="150495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108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온도별 곡선</a:t>
            </a:r>
            <a:endParaRPr lang="en-US" sz="1088" dirty="0"/>
          </a:p>
        </p:txBody>
      </p:sp>
      <p:sp>
        <p:nvSpPr>
          <p:cNvPr id="33" name="Shape 31"/>
          <p:cNvSpPr/>
          <p:nvPr/>
        </p:nvSpPr>
        <p:spPr>
          <a:xfrm>
            <a:off x="685800" y="26003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685800" y="2476500"/>
            <a:ext cx="2324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819150" y="2533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1009650" y="2533650"/>
            <a:ext cx="1885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출력곡선 비교</a:t>
            </a:r>
            <a:endParaRPr lang="en-US" sz="1013" dirty="0"/>
          </a:p>
        </p:txBody>
      </p:sp>
      <p:pic>
        <p:nvPicPr>
          <p:cNvPr id="37" name="Image 0" descr="/home/user/Narae-AI/docs/ppt/assets/tool_win_curve_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838450"/>
            <a:ext cx="8572500" cy="3009900"/>
          </a:xfrm>
          <a:prstGeom prst="rect">
            <a:avLst/>
          </a:prstGeom>
        </p:spPr>
      </p:pic>
      <p:sp>
        <p:nvSpPr>
          <p:cNvPr id="38" name="Shape 35"/>
          <p:cNvSpPr/>
          <p:nvPr/>
        </p:nvSpPr>
        <p:spPr>
          <a:xfrm>
            <a:off x="866775" y="2828925"/>
            <a:ext cx="8591550" cy="302895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39" name="Text 36"/>
          <p:cNvSpPr txBox="1"/>
          <p:nvPr/>
        </p:nvSpPr>
        <p:spPr>
          <a:xfrm>
            <a:off x="9639300" y="28384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 칸</a:t>
            </a:r>
            <a:endParaRPr lang="en-US" sz="825" dirty="0"/>
          </a:p>
        </p:txBody>
      </p:sp>
      <p:sp>
        <p:nvSpPr>
          <p:cNvPr id="40" name="Text 37"/>
          <p:cNvSpPr txBox="1"/>
          <p:nvPr/>
        </p:nvSpPr>
        <p:spPr>
          <a:xfrm>
            <a:off x="9639300" y="30099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이론값(점선)과 도구가 신고하는 값(빨간 선)</a:t>
            </a:r>
            <a:endParaRPr lang="en-US" sz="825" dirty="0"/>
          </a:p>
        </p:txBody>
      </p:sp>
      <p:sp>
        <p:nvSpPr>
          <p:cNvPr id="41" name="Text 38"/>
          <p:cNvSpPr txBox="1"/>
          <p:nvPr/>
        </p:nvSpPr>
        <p:spPr>
          <a:xfrm>
            <a:off x="9639300" y="37528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아래 칸</a:t>
            </a:r>
            <a:endParaRPr lang="en-US" sz="825" dirty="0"/>
          </a:p>
        </p:txBody>
      </p:sp>
      <p:sp>
        <p:nvSpPr>
          <p:cNvPr id="42" name="Text 39"/>
          <p:cNvSpPr txBox="1"/>
          <p:nvPr/>
        </p:nvSpPr>
        <p:spPr>
          <a:xfrm>
            <a:off x="9639300" y="39243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더할 값(보정값)과 시험 실적 점</a:t>
            </a:r>
            <a:endParaRPr lang="en-US" sz="825" dirty="0"/>
          </a:p>
        </p:txBody>
      </p:sp>
      <p:sp>
        <p:nvSpPr>
          <p:cNvPr id="43" name="Text 40"/>
          <p:cNvSpPr txBox="1"/>
          <p:nvPr/>
        </p:nvSpPr>
        <p:spPr>
          <a:xfrm>
            <a:off x="9639300" y="4667250"/>
            <a:ext cx="1619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읽는 법</a:t>
            </a:r>
            <a:endParaRPr lang="en-US" sz="825" dirty="0"/>
          </a:p>
        </p:txBody>
      </p:sp>
      <p:sp>
        <p:nvSpPr>
          <p:cNvPr id="44" name="Text 41"/>
          <p:cNvSpPr txBox="1"/>
          <p:nvPr/>
        </p:nvSpPr>
        <p:spPr>
          <a:xfrm>
            <a:off x="9639300" y="4838700"/>
            <a:ext cx="1619250" cy="586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선이 벌어진 만큼이 그 온도에서 더하는 값입니다</a:t>
            </a:r>
            <a:endParaRPr lang="en-US" sz="825" dirty="0"/>
          </a:p>
        </p:txBody>
      </p:sp>
      <p:sp>
        <p:nvSpPr>
          <p:cNvPr id="45" name="Text 42"/>
          <p:cNvSpPr txBox="1"/>
          <p:nvPr/>
        </p:nvSpPr>
        <p:spPr>
          <a:xfrm>
            <a:off x="876300" y="5905500"/>
            <a:ext cx="10382250" cy="1285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이 보정 곡선을 무엇으로 그리는지 — 후보 회귀 모델 7가지를 겨루게 해서 고른 과정은 다음 장에 있습니다.</a:t>
            </a:r>
            <a:endParaRPr lang="en-US" sz="750" dirty="0"/>
          </a:p>
        </p:txBody>
      </p:sp>
      <p:sp>
        <p:nvSpPr>
          <p:cNvPr id="46" name="Shape 4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7" name="Shape 4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8" name="Text 4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9" name="Text 4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계산식을 그대로 두었으니 다른 발전소에도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해결 방안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회귀 모델 선정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하는지 우리가 정할 수 없었습니다. 후보 7가지를 같은 데이터로 겨루게 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781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6002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1620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 성적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324975" y="1790700"/>
            <a:ext cx="2066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데이터 · 같은 채점 · 단위 MW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2495550" y="1981200"/>
            <a:ext cx="0" cy="1219200"/>
          </a:xfrm>
          <a:prstGeom prst="line">
            <a:avLst/>
          </a:prstGeom>
          <a:noFill/>
          <a:ln w="12700">
            <a:solidFill>
              <a:srgbClr val="C4CAD1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76300" y="20002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RBF</a:t>
            </a:r>
            <a:endParaRPr lang="en-US" sz="863" dirty="0"/>
          </a:p>
        </p:txBody>
      </p:sp>
      <p:sp>
        <p:nvSpPr>
          <p:cNvPr id="22" name="Shape 20"/>
          <p:cNvSpPr/>
          <p:nvPr/>
        </p:nvSpPr>
        <p:spPr>
          <a:xfrm>
            <a:off x="2495550" y="2028825"/>
            <a:ext cx="47625" cy="857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5486400" y="20002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1.301</a:t>
            </a:r>
            <a:endParaRPr lang="en-US" sz="825" dirty="0"/>
          </a:p>
        </p:txBody>
      </p:sp>
      <p:sp>
        <p:nvSpPr>
          <p:cNvPr id="24" name="Text 22"/>
          <p:cNvSpPr txBox="1"/>
          <p:nvPr/>
        </p:nvSpPr>
        <p:spPr>
          <a:xfrm>
            <a:off x="6115050" y="20002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기준</a:t>
            </a:r>
            <a:endParaRPr lang="en-US" sz="825" dirty="0"/>
          </a:p>
        </p:txBody>
      </p:sp>
      <p:sp>
        <p:nvSpPr>
          <p:cNvPr id="25" name="Text 23"/>
          <p:cNvSpPr txBox="1"/>
          <p:nvPr/>
        </p:nvSpPr>
        <p:spPr>
          <a:xfrm>
            <a:off x="6858000" y="20002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★ 선정</a:t>
            </a:r>
            <a:endParaRPr lang="en-US" sz="825" dirty="0"/>
          </a:p>
        </p:txBody>
      </p:sp>
      <p:sp>
        <p:nvSpPr>
          <p:cNvPr id="26" name="Text 24"/>
          <p:cNvSpPr txBox="1"/>
          <p:nvPr/>
        </p:nvSpPr>
        <p:spPr>
          <a:xfrm>
            <a:off x="876300" y="21717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RQ</a:t>
            </a:r>
            <a:endParaRPr lang="en-US" sz="863" dirty="0"/>
          </a:p>
        </p:txBody>
      </p:sp>
      <p:sp>
        <p:nvSpPr>
          <p:cNvPr id="27" name="Shape 25"/>
          <p:cNvSpPr/>
          <p:nvPr/>
        </p:nvSpPr>
        <p:spPr>
          <a:xfrm>
            <a:off x="2505075" y="2209800"/>
            <a:ext cx="666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28" name="Text 26"/>
          <p:cNvSpPr txBox="1"/>
          <p:nvPr/>
        </p:nvSpPr>
        <p:spPr>
          <a:xfrm>
            <a:off x="5486400" y="21717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1.305</a:t>
            </a:r>
            <a:endParaRPr lang="en-US" sz="825" dirty="0"/>
          </a:p>
        </p:txBody>
      </p:sp>
      <p:sp>
        <p:nvSpPr>
          <p:cNvPr id="29" name="Text 27"/>
          <p:cNvSpPr txBox="1"/>
          <p:nvPr/>
        </p:nvSpPr>
        <p:spPr>
          <a:xfrm>
            <a:off x="6115050" y="21717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+0.004</a:t>
            </a:r>
            <a:endParaRPr lang="en-US" sz="825" dirty="0"/>
          </a:p>
        </p:txBody>
      </p:sp>
      <p:sp>
        <p:nvSpPr>
          <p:cNvPr id="30" name="Text 28"/>
          <p:cNvSpPr txBox="1"/>
          <p:nvPr/>
        </p:nvSpPr>
        <p:spPr>
          <a:xfrm>
            <a:off x="6858000" y="21717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여러 굵기의 파동을 섞은 곡선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876300" y="23431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5/2</a:t>
            </a:r>
            <a:endParaRPr lang="en-US" sz="863" dirty="0"/>
          </a:p>
        </p:txBody>
      </p:sp>
      <p:sp>
        <p:nvSpPr>
          <p:cNvPr id="32" name="Shape 30"/>
          <p:cNvSpPr/>
          <p:nvPr/>
        </p:nvSpPr>
        <p:spPr>
          <a:xfrm>
            <a:off x="2505075" y="2381250"/>
            <a:ext cx="1524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3" name="Text 31"/>
          <p:cNvSpPr txBox="1"/>
          <p:nvPr/>
        </p:nvSpPr>
        <p:spPr>
          <a:xfrm>
            <a:off x="5486400" y="23431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1.310</a:t>
            </a:r>
            <a:endParaRPr lang="en-US" sz="825" dirty="0"/>
          </a:p>
        </p:txBody>
      </p:sp>
      <p:sp>
        <p:nvSpPr>
          <p:cNvPr id="34" name="Text 32"/>
          <p:cNvSpPr txBox="1"/>
          <p:nvPr/>
        </p:nvSpPr>
        <p:spPr>
          <a:xfrm>
            <a:off x="6115050" y="23431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+0.009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6858000" y="23431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조금 덜 부드러운 곡선</a:t>
            </a:r>
            <a:endParaRPr lang="en-US" sz="825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25146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Matérn 3/2</a:t>
            </a:r>
            <a:endParaRPr lang="en-US" sz="863" dirty="0"/>
          </a:p>
        </p:txBody>
      </p:sp>
      <p:sp>
        <p:nvSpPr>
          <p:cNvPr id="37" name="Shape 35"/>
          <p:cNvSpPr/>
          <p:nvPr/>
        </p:nvSpPr>
        <p:spPr>
          <a:xfrm>
            <a:off x="2505075" y="2552700"/>
            <a:ext cx="3429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5486400" y="25146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1.322</a:t>
            </a:r>
            <a:endParaRPr lang="en-US" sz="825" dirty="0"/>
          </a:p>
        </p:txBody>
      </p:sp>
      <p:sp>
        <p:nvSpPr>
          <p:cNvPr id="39" name="Text 37"/>
          <p:cNvSpPr txBox="1"/>
          <p:nvPr/>
        </p:nvSpPr>
        <p:spPr>
          <a:xfrm>
            <a:off x="6115050" y="25146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+0.021</a:t>
            </a:r>
            <a:endParaRPr lang="en-US" sz="825" dirty="0"/>
          </a:p>
        </p:txBody>
      </p:sp>
      <p:sp>
        <p:nvSpPr>
          <p:cNvPr id="40" name="Text 38"/>
          <p:cNvSpPr txBox="1"/>
          <p:nvPr/>
        </p:nvSpPr>
        <p:spPr>
          <a:xfrm>
            <a:off x="6858000" y="25146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더 덜 부드러운 곡선</a:t>
            </a:r>
            <a:endParaRPr lang="en-US" sz="825" dirty="0"/>
          </a:p>
        </p:txBody>
      </p:sp>
      <p:sp>
        <p:nvSpPr>
          <p:cNvPr id="41" name="Text 39"/>
          <p:cNvSpPr txBox="1"/>
          <p:nvPr/>
        </p:nvSpPr>
        <p:spPr>
          <a:xfrm>
            <a:off x="876300" y="26860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GP · 지수</a:t>
            </a:r>
            <a:endParaRPr lang="en-US" sz="863" dirty="0"/>
          </a:p>
        </p:txBody>
      </p:sp>
      <p:sp>
        <p:nvSpPr>
          <p:cNvPr id="42" name="Shape 40"/>
          <p:cNvSpPr/>
          <p:nvPr/>
        </p:nvSpPr>
        <p:spPr>
          <a:xfrm>
            <a:off x="2505075" y="2724150"/>
            <a:ext cx="104775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3" name="Text 41"/>
          <p:cNvSpPr txBox="1"/>
          <p:nvPr/>
        </p:nvSpPr>
        <p:spPr>
          <a:xfrm>
            <a:off x="5486400" y="26860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1.365</a:t>
            </a:r>
            <a:endParaRPr lang="en-US" sz="825" dirty="0"/>
          </a:p>
        </p:txBody>
      </p:sp>
      <p:sp>
        <p:nvSpPr>
          <p:cNvPr id="44" name="Text 42"/>
          <p:cNvSpPr txBox="1"/>
          <p:nvPr/>
        </p:nvSpPr>
        <p:spPr>
          <a:xfrm>
            <a:off x="6115050" y="26860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+0.064</a:t>
            </a:r>
            <a:endParaRPr lang="en-US" sz="825" dirty="0"/>
          </a:p>
        </p:txBody>
      </p:sp>
      <p:sp>
        <p:nvSpPr>
          <p:cNvPr id="45" name="Text 43"/>
          <p:cNvSpPr txBox="1"/>
          <p:nvPr/>
        </p:nvSpPr>
        <p:spPr>
          <a:xfrm>
            <a:off x="6858000" y="26860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꺾임을 허용하는 곡선</a:t>
            </a:r>
            <a:endParaRPr lang="en-US" sz="825" dirty="0"/>
          </a:p>
        </p:txBody>
      </p:sp>
      <p:sp>
        <p:nvSpPr>
          <p:cNvPr id="46" name="Text 44"/>
          <p:cNvSpPr txBox="1"/>
          <p:nvPr/>
        </p:nvSpPr>
        <p:spPr>
          <a:xfrm>
            <a:off x="876300" y="285750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커널회귀</a:t>
            </a:r>
            <a:endParaRPr lang="en-US" sz="863" dirty="0"/>
          </a:p>
        </p:txBody>
      </p:sp>
      <p:sp>
        <p:nvSpPr>
          <p:cNvPr id="47" name="Shape 45"/>
          <p:cNvSpPr/>
          <p:nvPr/>
        </p:nvSpPr>
        <p:spPr>
          <a:xfrm>
            <a:off x="2505075" y="2895600"/>
            <a:ext cx="1933575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48" name="Text 46"/>
          <p:cNvSpPr txBox="1"/>
          <p:nvPr/>
        </p:nvSpPr>
        <p:spPr>
          <a:xfrm>
            <a:off x="5486400" y="28575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1.419</a:t>
            </a:r>
            <a:endParaRPr lang="en-US" sz="825" dirty="0"/>
          </a:p>
        </p:txBody>
      </p:sp>
      <p:sp>
        <p:nvSpPr>
          <p:cNvPr id="49" name="Text 47"/>
          <p:cNvSpPr txBox="1"/>
          <p:nvPr/>
        </p:nvSpPr>
        <p:spPr>
          <a:xfrm>
            <a:off x="6115050" y="285750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+0.118</a:t>
            </a:r>
            <a:endParaRPr lang="en-US" sz="825" dirty="0"/>
          </a:p>
        </p:txBody>
      </p:sp>
      <p:sp>
        <p:nvSpPr>
          <p:cNvPr id="50" name="Text 48"/>
          <p:cNvSpPr txBox="1"/>
          <p:nvPr/>
        </p:nvSpPr>
        <p:spPr>
          <a:xfrm>
            <a:off x="6858000" y="285750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가까운 시험에 무게를 더 주는 평균</a:t>
            </a:r>
            <a:endParaRPr lang="en-US" sz="825" dirty="0"/>
          </a:p>
        </p:txBody>
      </p:sp>
      <p:sp>
        <p:nvSpPr>
          <p:cNvPr id="51" name="Text 49"/>
          <p:cNvSpPr txBox="1"/>
          <p:nvPr/>
        </p:nvSpPr>
        <p:spPr>
          <a:xfrm>
            <a:off x="876300" y="3028950"/>
            <a:ext cx="15049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구간평균</a:t>
            </a:r>
            <a:endParaRPr lang="en-US" sz="863" dirty="0"/>
          </a:p>
        </p:txBody>
      </p:sp>
      <p:sp>
        <p:nvSpPr>
          <p:cNvPr id="52" name="Shape 50"/>
          <p:cNvSpPr/>
          <p:nvPr/>
        </p:nvSpPr>
        <p:spPr>
          <a:xfrm>
            <a:off x="2505075" y="3067050"/>
            <a:ext cx="2857500" cy="66675"/>
          </a:xfrm>
          <a:prstGeom prst="rect">
            <a:avLst/>
          </a:prstGeom>
          <a:solidFill>
            <a:srgbClr val="C4CAD1"/>
          </a:solidFill>
          <a:ln/>
        </p:spPr>
      </p:sp>
      <p:sp>
        <p:nvSpPr>
          <p:cNvPr id="53" name="Text 51"/>
          <p:cNvSpPr txBox="1"/>
          <p:nvPr/>
        </p:nvSpPr>
        <p:spPr>
          <a:xfrm>
            <a:off x="5486400" y="302895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1.475</a:t>
            </a:r>
            <a:endParaRPr lang="en-US" sz="825" dirty="0"/>
          </a:p>
        </p:txBody>
      </p:sp>
      <p:sp>
        <p:nvSpPr>
          <p:cNvPr id="54" name="Text 52"/>
          <p:cNvSpPr txBox="1"/>
          <p:nvPr/>
        </p:nvSpPr>
        <p:spPr>
          <a:xfrm>
            <a:off x="6115050" y="3028950"/>
            <a:ext cx="5905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FF6F0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+0.174</a:t>
            </a:r>
            <a:endParaRPr lang="en-US" sz="825" dirty="0"/>
          </a:p>
        </p:txBody>
      </p:sp>
      <p:sp>
        <p:nvSpPr>
          <p:cNvPr id="55" name="Text 53"/>
          <p:cNvSpPr txBox="1"/>
          <p:nvPr/>
        </p:nvSpPr>
        <p:spPr>
          <a:xfrm>
            <a:off x="6858000" y="3028950"/>
            <a:ext cx="4000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구간을 나눠 그 안의 평균을 씀 — 가장 단순</a:t>
            </a:r>
            <a:endParaRPr lang="en-US" sz="825" dirty="0"/>
          </a:p>
        </p:txBody>
      </p:sp>
      <p:sp>
        <p:nvSpPr>
          <p:cNvPr id="56" name="Text 54"/>
          <p:cNvSpPr txBox="1"/>
          <p:nvPr/>
        </p:nvSpPr>
        <p:spPr>
          <a:xfrm>
            <a:off x="876300" y="323850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이름 · 막대는 1등과의 차이(오른쪽으로 갈수록 더 틀린 것) · 가운데 숫자가 평균 오차 · 채점은 시험 39회를 한 회씩 가려 맞혀 보는 방식</a:t>
            </a:r>
            <a:endParaRPr lang="en-US" sz="750" dirty="0"/>
          </a:p>
        </p:txBody>
      </p:sp>
      <p:sp>
        <p:nvSpPr>
          <p:cNvPr id="57" name="Text 55"/>
          <p:cNvSpPr txBox="1"/>
          <p:nvPr/>
        </p:nvSpPr>
        <p:spPr>
          <a:xfrm>
            <a:off x="876300" y="3409950"/>
            <a:ext cx="1038225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GP = 가우시안 프로세스. 값 하나를 내는 것이 아니라 곡선 전체를 후보로 두고 실적에 가장 잘 맞는 곡선을 고릅니다. 뒤에 붙은 이름(RBF · Matérn …)은 곡선이 얼마나 부드러운지를 정하는 설정입니다.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685800" y="3743325"/>
            <a:ext cx="10820400" cy="2352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685800" y="36195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19150" y="3676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61" name="Text 59"/>
          <p:cNvSpPr txBox="1"/>
          <p:nvPr/>
        </p:nvSpPr>
        <p:spPr>
          <a:xfrm>
            <a:off x="1009650" y="36766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안에서 고릅니다</a:t>
            </a:r>
            <a:endParaRPr lang="en-US" sz="1013" dirty="0"/>
          </a:p>
        </p:txBody>
      </p:sp>
      <p:sp>
        <p:nvSpPr>
          <p:cNvPr id="62" name="Text 60"/>
          <p:cNvSpPr txBox="1"/>
          <p:nvPr/>
        </p:nvSpPr>
        <p:spPr>
          <a:xfrm>
            <a:off x="8943975" y="3810000"/>
            <a:ext cx="2447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모델 선정 화면 · 위 표와 같은 숫자입니다</a:t>
            </a:r>
            <a:endParaRPr lang="en-US" sz="825" dirty="0"/>
          </a:p>
        </p:txBody>
      </p:sp>
      <p:pic>
        <p:nvPicPr>
          <p:cNvPr id="63" name="Image 0" descr="/home/user/Narae-AI/docs/ppt/assets/tool_win_sel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981450"/>
            <a:ext cx="7410450" cy="2152650"/>
          </a:xfrm>
          <a:prstGeom prst="rect">
            <a:avLst/>
          </a:prstGeom>
        </p:spPr>
      </p:pic>
      <p:sp>
        <p:nvSpPr>
          <p:cNvPr id="64" name="Shape 61"/>
          <p:cNvSpPr/>
          <p:nvPr/>
        </p:nvSpPr>
        <p:spPr>
          <a:xfrm>
            <a:off x="866775" y="3971925"/>
            <a:ext cx="7429500" cy="2171700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65" name="Text 62"/>
          <p:cNvSpPr txBox="1"/>
          <p:nvPr/>
        </p:nvSpPr>
        <p:spPr>
          <a:xfrm>
            <a:off x="8572500" y="39814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왜 도구에 넣었나</a:t>
            </a:r>
            <a:endParaRPr lang="en-US" sz="863" dirty="0"/>
          </a:p>
        </p:txBody>
      </p:sp>
      <p:sp>
        <p:nvSpPr>
          <p:cNvPr id="66" name="Text 63"/>
          <p:cNvSpPr txBox="1"/>
          <p:nvPr/>
        </p:nvSpPr>
        <p:spPr>
          <a:xfrm>
            <a:off x="8572500" y="41529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40회뿐입니다. 실적이 늘면 성적이 바뀔 수 있어 그때마다 다시 채점해야 합니다.</a:t>
            </a:r>
            <a:endParaRPr lang="en-US" sz="825" dirty="0"/>
          </a:p>
        </p:txBody>
      </p:sp>
      <p:sp>
        <p:nvSpPr>
          <p:cNvPr id="67" name="Text 64"/>
          <p:cNvSpPr txBox="1"/>
          <p:nvPr/>
        </p:nvSpPr>
        <p:spPr>
          <a:xfrm>
            <a:off x="8572500" y="47053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어떻게 채점하나</a:t>
            </a:r>
            <a:endParaRPr lang="en-US" sz="863" dirty="0"/>
          </a:p>
        </p:txBody>
      </p:sp>
      <p:sp>
        <p:nvSpPr>
          <p:cNvPr id="68" name="Text 65"/>
          <p:cNvSpPr txBox="1"/>
          <p:nvPr/>
        </p:nvSpPr>
        <p:spPr>
          <a:xfrm>
            <a:off x="8572500" y="48768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봅니다. 전 회차를 돌아가며 반복해 평균을 냅니다.</a:t>
            </a:r>
            <a:endParaRPr lang="en-US" sz="825" dirty="0"/>
          </a:p>
        </p:txBody>
      </p:sp>
      <p:sp>
        <p:nvSpPr>
          <p:cNvPr id="69" name="Text 66"/>
          <p:cNvSpPr txBox="1"/>
          <p:nvPr/>
        </p:nvSpPr>
        <p:spPr>
          <a:xfrm>
            <a:off x="8572500" y="5429250"/>
            <a:ext cx="26860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앞서면 바꾼다</a:t>
            </a:r>
            <a:endParaRPr lang="en-US" sz="863" dirty="0"/>
          </a:p>
        </p:txBody>
      </p:sp>
      <p:sp>
        <p:nvSpPr>
          <p:cNvPr id="70" name="Text 67"/>
          <p:cNvSpPr txBox="1"/>
          <p:nvPr/>
        </p:nvSpPr>
        <p:spPr>
          <a:xfrm>
            <a:off x="8572500" y="5600700"/>
            <a:ext cx="268605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모델이 앞서면 그때 바꿉니다. 지금은 GP·RBF 가 앞섭니다.</a:t>
            </a:r>
            <a:endParaRPr lang="en-US" sz="825" dirty="0"/>
          </a:p>
        </p:txBody>
      </p:sp>
      <p:sp>
        <p:nvSpPr>
          <p:cNvPr id="71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2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3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4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고른 것이 아니라 성적이 골랐습니다. 그 채점이 도구 안에 들어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모니터링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넉 달 병행 운전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방식과 나란히 돌렸습니다. 예측을 먼저 적어 두고 시험이 끝난 뒤 실제와 맞춰 봤습니다.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회차 순서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10639425" y="1790700"/>
            <a:ext cx="7524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2주에 한 번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75" dirty="0"/>
          </a:p>
        </p:txBody>
      </p:sp>
      <p:sp>
        <p:nvSpPr>
          <p:cNvPr id="21" name="Text 19"/>
          <p:cNvSpPr txBox="1"/>
          <p:nvPr/>
        </p:nvSpPr>
        <p:spPr>
          <a:xfrm>
            <a:off x="10858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시험한다</a:t>
            </a:r>
            <a:endParaRPr lang="en-US" sz="1013" dirty="0"/>
          </a:p>
        </p:txBody>
      </p:sp>
      <p:sp>
        <p:nvSpPr>
          <p:cNvPr id="22" name="Text 20"/>
          <p:cNvSpPr txBox="1"/>
          <p:nvPr/>
        </p:nvSpPr>
        <p:spPr>
          <a:xfrm>
            <a:off x="10858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테스트를 합니다.</a:t>
            </a:r>
            <a:endParaRPr lang="en-US" sz="825" dirty="0"/>
          </a:p>
        </p:txBody>
      </p:sp>
      <p:sp>
        <p:nvSpPr>
          <p:cNvPr id="23" name="Text 21"/>
          <p:cNvSpPr txBox="1"/>
          <p:nvPr/>
        </p:nvSpPr>
        <p:spPr>
          <a:xfrm>
            <a:off x="27813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29908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75" dirty="0"/>
          </a:p>
        </p:txBody>
      </p:sp>
      <p:sp>
        <p:nvSpPr>
          <p:cNvPr id="25" name="Text 23"/>
          <p:cNvSpPr txBox="1"/>
          <p:nvPr/>
        </p:nvSpPr>
        <p:spPr>
          <a:xfrm>
            <a:off x="32004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날짜·시각을 넣는다</a:t>
            </a:r>
            <a:endParaRPr lang="en-US" sz="1013" dirty="0"/>
          </a:p>
        </p:txBody>
      </p:sp>
      <p:sp>
        <p:nvSpPr>
          <p:cNvPr id="26" name="Text 24"/>
          <p:cNvSpPr txBox="1"/>
          <p:nvPr/>
        </p:nvSpPr>
        <p:spPr>
          <a:xfrm>
            <a:off x="32004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도구가 받아옵니다.</a:t>
            </a:r>
            <a:endParaRPr lang="en-US" sz="825" dirty="0"/>
          </a:p>
        </p:txBody>
      </p:sp>
      <p:sp>
        <p:nvSpPr>
          <p:cNvPr id="27" name="Text 25"/>
          <p:cNvSpPr txBox="1"/>
          <p:nvPr/>
        </p:nvSpPr>
        <p:spPr>
          <a:xfrm>
            <a:off x="48958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28" name="Text 26"/>
          <p:cNvSpPr txBox="1"/>
          <p:nvPr/>
        </p:nvSpPr>
        <p:spPr>
          <a:xfrm>
            <a:off x="51054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75" dirty="0"/>
          </a:p>
        </p:txBody>
      </p:sp>
      <p:sp>
        <p:nvSpPr>
          <p:cNvPr id="29" name="Text 27"/>
          <p:cNvSpPr txBox="1"/>
          <p:nvPr/>
        </p:nvSpPr>
        <p:spPr>
          <a:xfrm>
            <a:off x="53149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그날의 차이가 쌓인다</a:t>
            </a:r>
            <a:endParaRPr lang="en-US" sz="1013" dirty="0"/>
          </a:p>
        </p:txBody>
      </p:sp>
      <p:sp>
        <p:nvSpPr>
          <p:cNvPr id="30" name="Text 28"/>
          <p:cNvSpPr txBox="1"/>
          <p:nvPr/>
        </p:nvSpPr>
        <p:spPr>
          <a:xfrm>
            <a:off x="53149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 − 계산 = 점 하나가 늘어납니다.</a:t>
            </a:r>
            <a:endParaRPr lang="en-US" sz="825" dirty="0"/>
          </a:p>
        </p:txBody>
      </p:sp>
      <p:sp>
        <p:nvSpPr>
          <p:cNvPr id="31" name="Text 29"/>
          <p:cNvSpPr txBox="1"/>
          <p:nvPr/>
        </p:nvSpPr>
        <p:spPr>
          <a:xfrm>
            <a:off x="701040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721995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75" dirty="0"/>
          </a:p>
        </p:txBody>
      </p:sp>
      <p:sp>
        <p:nvSpPr>
          <p:cNvPr id="33" name="Text 31"/>
          <p:cNvSpPr txBox="1"/>
          <p:nvPr/>
        </p:nvSpPr>
        <p:spPr>
          <a:xfrm>
            <a:off x="742950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곡선을 다시 그린다</a:t>
            </a:r>
            <a:endParaRPr lang="en-US" sz="1013" dirty="0"/>
          </a:p>
        </p:txBody>
      </p:sp>
      <p:sp>
        <p:nvSpPr>
          <p:cNvPr id="34" name="Text 32"/>
          <p:cNvSpPr txBox="1"/>
          <p:nvPr/>
        </p:nvSpPr>
        <p:spPr>
          <a:xfrm>
            <a:off x="742950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쌓인 점 전부로 곡선을 다시 그립니다.</a:t>
            </a:r>
            <a:endParaRPr lang="en-US" sz="825" dirty="0"/>
          </a:p>
        </p:txBody>
      </p:sp>
      <p:sp>
        <p:nvSpPr>
          <p:cNvPr id="35" name="Text 33"/>
          <p:cNvSpPr txBox="1"/>
          <p:nvPr/>
        </p:nvSpPr>
        <p:spPr>
          <a:xfrm>
            <a:off x="9124950" y="19621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9334500" y="1962150"/>
            <a:ext cx="17145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</a:t>
            </a:r>
            <a:endParaRPr lang="en-US" sz="975" dirty="0"/>
          </a:p>
        </p:txBody>
      </p:sp>
      <p:sp>
        <p:nvSpPr>
          <p:cNvPr id="37" name="Text 35"/>
          <p:cNvSpPr txBox="1"/>
          <p:nvPr/>
        </p:nvSpPr>
        <p:spPr>
          <a:xfrm>
            <a:off x="9544050" y="1943100"/>
            <a:ext cx="16954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신고에 쓴다</a:t>
            </a:r>
            <a:endParaRPr lang="en-US" sz="1013" dirty="0"/>
          </a:p>
        </p:txBody>
      </p:sp>
      <p:sp>
        <p:nvSpPr>
          <p:cNvPr id="38" name="Text 36"/>
          <p:cNvSpPr txBox="1"/>
          <p:nvPr/>
        </p:nvSpPr>
        <p:spPr>
          <a:xfrm>
            <a:off x="9544050" y="2152650"/>
            <a:ext cx="1695450" cy="2828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61개 표를 새로 만듭니다.</a:t>
            </a:r>
            <a:endParaRPr lang="en-US" sz="825" dirty="0"/>
          </a:p>
        </p:txBody>
      </p:sp>
      <p:sp>
        <p:nvSpPr>
          <p:cNvPr id="39" name="Shape 37"/>
          <p:cNvSpPr/>
          <p:nvPr/>
        </p:nvSpPr>
        <p:spPr>
          <a:xfrm>
            <a:off x="876300" y="255270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876300" y="2628900"/>
            <a:ext cx="8572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병행 운전</a:t>
            </a:r>
            <a:endParaRPr lang="en-US" sz="863" dirty="0"/>
          </a:p>
        </p:txBody>
      </p:sp>
      <p:sp>
        <p:nvSpPr>
          <p:cNvPr id="41" name="Text 39"/>
          <p:cNvSpPr txBox="1"/>
          <p:nvPr/>
        </p:nvSpPr>
        <p:spPr>
          <a:xfrm>
            <a:off x="1809750" y="2628900"/>
            <a:ext cx="9448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2026-04-15 ~ 2026-08-26 에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9회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. 평균 어긋난 폭은 </a:t>
            </a:r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1.23 MW</a:t>
            </a:r>
            <a:pPr algn="l" indent="0" marL="0">
              <a:lnSpc>
                <a:spcPts val="121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, 치우침은 -0.04 MW 로 한쪽으로 쏠리지 않았습니다.</a:t>
            </a:r>
            <a:endParaRPr lang="en-US" sz="938" dirty="0"/>
          </a:p>
        </p:txBody>
      </p:sp>
      <p:sp>
        <p:nvSpPr>
          <p:cNvPr id="42" name="Shape 40"/>
          <p:cNvSpPr/>
          <p:nvPr/>
        </p:nvSpPr>
        <p:spPr>
          <a:xfrm>
            <a:off x="685800" y="3057525"/>
            <a:ext cx="10820400" cy="30384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685800" y="29337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4" name="Text 42"/>
          <p:cNvSpPr txBox="1"/>
          <p:nvPr/>
        </p:nvSpPr>
        <p:spPr>
          <a:xfrm>
            <a:off x="819150" y="29908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5" name="Text 43"/>
          <p:cNvSpPr txBox="1"/>
          <p:nvPr/>
        </p:nvSpPr>
        <p:spPr>
          <a:xfrm>
            <a:off x="1009650" y="29908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돌린 결과</a:t>
            </a:r>
            <a:endParaRPr lang="en-US" sz="1013" dirty="0"/>
          </a:p>
        </p:txBody>
      </p:sp>
      <p:sp>
        <p:nvSpPr>
          <p:cNvPr id="46" name="Text 44"/>
          <p:cNvSpPr txBox="1"/>
          <p:nvPr/>
        </p:nvSpPr>
        <p:spPr>
          <a:xfrm>
            <a:off x="8534400" y="3124200"/>
            <a:ext cx="28575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날짜와 시각만 넣고 산정을 누른 결과</a:t>
            </a:r>
            <a:endParaRPr lang="en-US" sz="825" dirty="0"/>
          </a:p>
        </p:txBody>
      </p:sp>
      <p:pic>
        <p:nvPicPr>
          <p:cNvPr id="47" name="Image 0" descr="/home/user/Narae-AI/docs/ppt/assets/tool_win_run_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3295650"/>
            <a:ext cx="8953500" cy="2581275"/>
          </a:xfrm>
          <a:prstGeom prst="rect">
            <a:avLst/>
          </a:prstGeom>
        </p:spPr>
      </p:pic>
      <p:sp>
        <p:nvSpPr>
          <p:cNvPr id="48" name="Shape 45"/>
          <p:cNvSpPr/>
          <p:nvPr/>
        </p:nvSpPr>
        <p:spPr>
          <a:xfrm>
            <a:off x="866775" y="3286125"/>
            <a:ext cx="8972550" cy="2600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49" name="Text 46"/>
          <p:cNvSpPr txBox="1"/>
          <p:nvPr/>
        </p:nvSpPr>
        <p:spPr>
          <a:xfrm>
            <a:off x="9963150" y="3352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이론값</a:t>
            </a:r>
            <a:endParaRPr lang="en-US" sz="863" dirty="0"/>
          </a:p>
        </p:txBody>
      </p:sp>
      <p:sp>
        <p:nvSpPr>
          <p:cNvPr id="50" name="Text 47"/>
          <p:cNvSpPr txBox="1"/>
          <p:nvPr/>
        </p:nvSpPr>
        <p:spPr>
          <a:xfrm>
            <a:off x="9963150" y="3524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제작사 계산식으로 낸 값</a:t>
            </a:r>
            <a:endParaRPr lang="en-US" sz="825" dirty="0"/>
          </a:p>
        </p:txBody>
      </p:sp>
      <p:sp>
        <p:nvSpPr>
          <p:cNvPr id="51" name="Text 48"/>
          <p:cNvSpPr txBox="1"/>
          <p:nvPr/>
        </p:nvSpPr>
        <p:spPr>
          <a:xfrm>
            <a:off x="9963150" y="4114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보정값</a:t>
            </a:r>
            <a:endParaRPr lang="en-US" sz="863" dirty="0"/>
          </a:p>
        </p:txBody>
      </p:sp>
      <p:sp>
        <p:nvSpPr>
          <p:cNvPr id="52" name="Text 49"/>
          <p:cNvSpPr txBox="1"/>
          <p:nvPr/>
        </p:nvSpPr>
        <p:spPr>
          <a:xfrm>
            <a:off x="9963150" y="4286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온도마다 다른 더할 값</a:t>
            </a:r>
            <a:endParaRPr lang="en-US" sz="825" dirty="0"/>
          </a:p>
        </p:txBody>
      </p:sp>
      <p:sp>
        <p:nvSpPr>
          <p:cNvPr id="53" name="Text 50"/>
          <p:cNvSpPr txBox="1"/>
          <p:nvPr/>
        </p:nvSpPr>
        <p:spPr>
          <a:xfrm>
            <a:off x="9963150" y="487680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현실화</a:t>
            </a:r>
            <a:endParaRPr lang="en-US" sz="863" dirty="0"/>
          </a:p>
        </p:txBody>
      </p:sp>
      <p:sp>
        <p:nvSpPr>
          <p:cNvPr id="54" name="Text 51"/>
          <p:cNvSpPr txBox="1"/>
          <p:nvPr/>
        </p:nvSpPr>
        <p:spPr>
          <a:xfrm>
            <a:off x="9963150" y="5048250"/>
            <a:ext cx="1295400" cy="42433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신고하는 값</a:t>
            </a:r>
            <a:endParaRPr lang="en-US" sz="825" dirty="0"/>
          </a:p>
        </p:txBody>
      </p:sp>
      <p:sp>
        <p:nvSpPr>
          <p:cNvPr id="55" name="Text 52"/>
          <p:cNvSpPr txBox="1"/>
          <p:nvPr/>
        </p:nvSpPr>
        <p:spPr>
          <a:xfrm>
            <a:off x="876300" y="5943600"/>
            <a:ext cx="10382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 61구간이 한 표에 나옵니다. 이 표를 그대로 입찰에 씁니다. 쌓인 실적으로 곡선을 다시 고르는 화면은 7장에 있습니다.</a:t>
            </a:r>
            <a:endParaRPr lang="en-US" sz="825" dirty="0"/>
          </a:p>
        </p:txBody>
      </p:sp>
      <p:sp>
        <p:nvSpPr>
          <p:cNvPr id="56" name="Shape 53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57" name="Shape 54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58" name="Text 55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59" name="Text 56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책상 계산이 아니라, 넉 달을 기존 방식과 나란히 돌려 확인한 결과입니다.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정량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시험 39회에 예전 방법과 새 방법을 각각 써서 채점했습니다.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13811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9429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 처리 시간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5181600" y="1847850"/>
            <a:ext cx="68580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 기준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2095500"/>
            <a:ext cx="1257300" cy="32861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588"/>
              </a:lnSpc>
              <a:buNone/>
            </a:pPr>
            <a:r>
              <a:rPr lang="en-US" sz="22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1시간</a:t>
            </a:r>
            <a:endParaRPr lang="en-US" sz="2250" dirty="0"/>
          </a:p>
        </p:txBody>
      </p:sp>
      <p:sp>
        <p:nvSpPr>
          <p:cNvPr id="21" name="Text 19"/>
          <p:cNvSpPr txBox="1"/>
          <p:nvPr/>
        </p:nvSpPr>
        <p:spPr>
          <a:xfrm>
            <a:off x="2228850" y="2190750"/>
            <a:ext cx="285750" cy="2057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0"/>
              </a:lnSpc>
              <a:buNone/>
            </a:pPr>
            <a:r>
              <a:rPr lang="en-US" sz="13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350" dirty="0"/>
          </a:p>
        </p:txBody>
      </p:sp>
      <p:sp>
        <p:nvSpPr>
          <p:cNvPr id="22" name="Text 20"/>
          <p:cNvSpPr txBox="1"/>
          <p:nvPr/>
        </p:nvSpPr>
        <p:spPr>
          <a:xfrm>
            <a:off x="2628900" y="2019300"/>
            <a:ext cx="990600" cy="48196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795"/>
              </a:lnSpc>
              <a:buNone/>
            </a:pPr>
            <a:r>
              <a:rPr lang="en-US" sz="33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5분</a:t>
            </a:r>
            <a:endParaRPr lang="en-US" sz="3300" dirty="0"/>
          </a:p>
        </p:txBody>
      </p:sp>
      <p:sp>
        <p:nvSpPr>
          <p:cNvPr id="23" name="Text 21"/>
          <p:cNvSpPr txBox="1"/>
          <p:nvPr/>
        </p:nvSpPr>
        <p:spPr>
          <a:xfrm>
            <a:off x="3676650" y="2286000"/>
            <a:ext cx="571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안팎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591050" y="20383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4800600" y="2076450"/>
            <a:ext cx="85725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92%</a:t>
            </a:r>
            <a:endParaRPr lang="en-US" sz="1650" dirty="0"/>
          </a:p>
        </p:txBody>
      </p:sp>
      <p:sp>
        <p:nvSpPr>
          <p:cNvPr id="26" name="Text 24"/>
          <p:cNvSpPr txBox="1"/>
          <p:nvPr/>
        </p:nvSpPr>
        <p:spPr>
          <a:xfrm>
            <a:off x="4800600" y="2343150"/>
            <a:ext cx="952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줄었습니다</a:t>
            </a:r>
            <a:endParaRPr lang="en-US" sz="938" dirty="0"/>
          </a:p>
        </p:txBody>
      </p:sp>
      <p:sp>
        <p:nvSpPr>
          <p:cNvPr id="27" name="Text 25"/>
          <p:cNvSpPr txBox="1"/>
          <p:nvPr/>
        </p:nvSpPr>
        <p:spPr>
          <a:xfrm>
            <a:off x="876300" y="2933700"/>
            <a:ext cx="4914900" cy="3214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 4개를 오가며 61개 값을 옮기던 일이, 날짜와 시각을 넣는 일로 바뀌었습니다.</a:t>
            </a:r>
            <a:endParaRPr lang="en-US" sz="938" dirty="0"/>
          </a:p>
        </p:txBody>
      </p:sp>
      <p:sp>
        <p:nvSpPr>
          <p:cNvPr id="28" name="Shape 26"/>
          <p:cNvSpPr/>
          <p:nvPr/>
        </p:nvSpPr>
        <p:spPr>
          <a:xfrm>
            <a:off x="6134100" y="1781175"/>
            <a:ext cx="5372100" cy="13049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341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64579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 정확도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163050" y="1847850"/>
            <a:ext cx="22288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39회 · 왼쪽 종전 → 오른쪽 도구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6324600" y="20478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틀리는 폭</a:t>
            </a:r>
            <a:endParaRPr lang="en-US" sz="900" dirty="0"/>
          </a:p>
        </p:txBody>
      </p:sp>
      <p:sp>
        <p:nvSpPr>
          <p:cNvPr id="34" name="Text 32"/>
          <p:cNvSpPr txBox="1"/>
          <p:nvPr/>
        </p:nvSpPr>
        <p:spPr>
          <a:xfrm>
            <a:off x="8267700" y="2038350"/>
            <a:ext cx="3048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3.9</a:t>
            </a:r>
            <a:endParaRPr lang="en-US" sz="1125" dirty="0"/>
          </a:p>
        </p:txBody>
      </p:sp>
      <p:sp>
        <p:nvSpPr>
          <p:cNvPr id="35" name="Text 33"/>
          <p:cNvSpPr txBox="1"/>
          <p:nvPr/>
        </p:nvSpPr>
        <p:spPr>
          <a:xfrm>
            <a:off x="8629650" y="20574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36" name="Text 34"/>
          <p:cNvSpPr txBox="1"/>
          <p:nvPr/>
        </p:nvSpPr>
        <p:spPr>
          <a:xfrm>
            <a:off x="8858250" y="2019300"/>
            <a:ext cx="40957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1.3</a:t>
            </a:r>
            <a:endParaRPr lang="en-US" sz="1575" dirty="0"/>
          </a:p>
        </p:txBody>
      </p:sp>
      <p:sp>
        <p:nvSpPr>
          <p:cNvPr id="37" name="Text 35"/>
          <p:cNvSpPr txBox="1"/>
          <p:nvPr/>
        </p:nvSpPr>
        <p:spPr>
          <a:xfrm>
            <a:off x="9305925" y="20764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38" name="Text 36"/>
          <p:cNvSpPr txBox="1"/>
          <p:nvPr/>
        </p:nvSpPr>
        <p:spPr>
          <a:xfrm>
            <a:off x="10668000" y="20478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67%↓</a:t>
            </a:r>
            <a:endParaRPr lang="en-US" sz="938" dirty="0"/>
          </a:p>
        </p:txBody>
      </p:sp>
      <p:sp>
        <p:nvSpPr>
          <p:cNvPr id="39" name="Shape 37"/>
          <p:cNvSpPr/>
          <p:nvPr/>
        </p:nvSpPr>
        <p:spPr>
          <a:xfrm>
            <a:off x="6324600" y="23050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0" name="Text 38"/>
          <p:cNvSpPr txBox="1"/>
          <p:nvPr/>
        </p:nvSpPr>
        <p:spPr>
          <a:xfrm>
            <a:off x="6324600" y="23907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신고한 만큼 못 낸 횟수</a:t>
            </a:r>
            <a:endParaRPr lang="en-US" sz="900" dirty="0"/>
          </a:p>
        </p:txBody>
      </p:sp>
      <p:sp>
        <p:nvSpPr>
          <p:cNvPr id="41" name="Text 39"/>
          <p:cNvSpPr txBox="1"/>
          <p:nvPr/>
        </p:nvSpPr>
        <p:spPr>
          <a:xfrm>
            <a:off x="8267700" y="23812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15</a:t>
            </a:r>
            <a:endParaRPr lang="en-US" sz="1125" dirty="0"/>
          </a:p>
        </p:txBody>
      </p:sp>
      <p:sp>
        <p:nvSpPr>
          <p:cNvPr id="42" name="Text 40"/>
          <p:cNvSpPr txBox="1"/>
          <p:nvPr/>
        </p:nvSpPr>
        <p:spPr>
          <a:xfrm>
            <a:off x="8543925" y="24003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43" name="Text 41"/>
          <p:cNvSpPr txBox="1"/>
          <p:nvPr/>
        </p:nvSpPr>
        <p:spPr>
          <a:xfrm>
            <a:off x="8772525" y="23622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575" dirty="0"/>
          </a:p>
        </p:txBody>
      </p:sp>
      <p:sp>
        <p:nvSpPr>
          <p:cNvPr id="44" name="Text 42"/>
          <p:cNvSpPr txBox="1"/>
          <p:nvPr/>
        </p:nvSpPr>
        <p:spPr>
          <a:xfrm>
            <a:off x="8972550" y="24193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회</a:t>
            </a:r>
            <a:endParaRPr lang="en-US" sz="863" dirty="0"/>
          </a:p>
        </p:txBody>
      </p:sp>
      <p:sp>
        <p:nvSpPr>
          <p:cNvPr id="45" name="Text 43"/>
          <p:cNvSpPr txBox="1"/>
          <p:nvPr/>
        </p:nvSpPr>
        <p:spPr>
          <a:xfrm>
            <a:off x="10668000" y="23907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73%↓</a:t>
            </a:r>
            <a:endParaRPr lang="en-US" sz="938" dirty="0"/>
          </a:p>
        </p:txBody>
      </p:sp>
      <p:sp>
        <p:nvSpPr>
          <p:cNvPr id="46" name="Shape 44"/>
          <p:cNvSpPr/>
          <p:nvPr/>
        </p:nvSpPr>
        <p:spPr>
          <a:xfrm>
            <a:off x="6324600" y="2647950"/>
            <a:ext cx="49911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6324600" y="2733675"/>
            <a:ext cx="18669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높게 신고한 양 합계</a:t>
            </a:r>
            <a:endParaRPr lang="en-US" sz="900" dirty="0"/>
          </a:p>
        </p:txBody>
      </p:sp>
      <p:sp>
        <p:nvSpPr>
          <p:cNvPr id="48" name="Text 46"/>
          <p:cNvSpPr txBox="1"/>
          <p:nvPr/>
        </p:nvSpPr>
        <p:spPr>
          <a:xfrm>
            <a:off x="8267700" y="2724150"/>
            <a:ext cx="219075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70</a:t>
            </a:r>
            <a:endParaRPr lang="en-US" sz="1125" dirty="0"/>
          </a:p>
        </p:txBody>
      </p:sp>
      <p:sp>
        <p:nvSpPr>
          <p:cNvPr id="49" name="Text 47"/>
          <p:cNvSpPr txBox="1"/>
          <p:nvPr/>
        </p:nvSpPr>
        <p:spPr>
          <a:xfrm>
            <a:off x="8543925" y="2743200"/>
            <a:ext cx="1905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50" name="Text 48"/>
          <p:cNvSpPr txBox="1"/>
          <p:nvPr/>
        </p:nvSpPr>
        <p:spPr>
          <a:xfrm>
            <a:off x="8772525" y="2705100"/>
            <a:ext cx="161925" cy="2400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0"/>
              </a:lnSpc>
              <a:buNone/>
            </a:pPr>
            <a:r>
              <a:rPr lang="en-US" sz="157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</a:t>
            </a:r>
            <a:endParaRPr lang="en-US" sz="1575" dirty="0"/>
          </a:p>
        </p:txBody>
      </p:sp>
      <p:sp>
        <p:nvSpPr>
          <p:cNvPr id="51" name="Text 49"/>
          <p:cNvSpPr txBox="1"/>
          <p:nvPr/>
        </p:nvSpPr>
        <p:spPr>
          <a:xfrm>
            <a:off x="8972550" y="2762250"/>
            <a:ext cx="32385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MW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10668000" y="2733675"/>
            <a:ext cx="6477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87%↓</a:t>
            </a:r>
            <a:endParaRPr lang="en-US" sz="938" dirty="0"/>
          </a:p>
        </p:txBody>
      </p:sp>
      <p:sp>
        <p:nvSpPr>
          <p:cNvPr id="53" name="Shape 51"/>
          <p:cNvSpPr/>
          <p:nvPr/>
        </p:nvSpPr>
        <p:spPr>
          <a:xfrm>
            <a:off x="685800" y="3324225"/>
            <a:ext cx="10820400" cy="9429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>
            <a:off x="685800" y="3200400"/>
            <a:ext cx="19431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19150" y="32575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6" name="Text 54"/>
          <p:cNvSpPr txBox="1"/>
          <p:nvPr/>
        </p:nvSpPr>
        <p:spPr>
          <a:xfrm>
            <a:off x="1009650" y="3257550"/>
            <a:ext cx="15049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정확도를 어떻게 쟀나</a:t>
            </a:r>
            <a:endParaRPr lang="en-US" sz="1013" dirty="0"/>
          </a:p>
        </p:txBody>
      </p:sp>
      <p:sp>
        <p:nvSpPr>
          <p:cNvPr id="57" name="Text 55"/>
          <p:cNvSpPr txBox="1"/>
          <p:nvPr/>
        </p:nvSpPr>
        <p:spPr>
          <a:xfrm>
            <a:off x="8486775" y="3390900"/>
            <a:ext cx="29051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실제로 신고한 기록이 아니라 되돌려 본 채점입니다</a:t>
            </a:r>
            <a:endParaRPr lang="en-US" sz="825" dirty="0"/>
          </a:p>
        </p:txBody>
      </p:sp>
      <p:sp>
        <p:nvSpPr>
          <p:cNvPr id="58" name="Text 56"/>
          <p:cNvSpPr txBox="1"/>
          <p:nvPr/>
        </p:nvSpPr>
        <p:spPr>
          <a:xfrm>
            <a:off x="8763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00" dirty="0"/>
          </a:p>
        </p:txBody>
      </p:sp>
      <p:sp>
        <p:nvSpPr>
          <p:cNvPr id="59" name="Text 57"/>
          <p:cNvSpPr txBox="1"/>
          <p:nvPr/>
        </p:nvSpPr>
        <p:spPr>
          <a:xfrm>
            <a:off x="10668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가린다</a:t>
            </a:r>
            <a:endParaRPr lang="en-US" sz="975" dirty="0"/>
          </a:p>
        </p:txBody>
      </p:sp>
      <p:sp>
        <p:nvSpPr>
          <p:cNvPr id="60" name="Text 58"/>
          <p:cNvSpPr txBox="1"/>
          <p:nvPr/>
        </p:nvSpPr>
        <p:spPr>
          <a:xfrm>
            <a:off x="10668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 가운데 한 회를 빼 둡니다.</a:t>
            </a:r>
            <a:endParaRPr lang="en-US" sz="788" dirty="0"/>
          </a:p>
        </p:txBody>
      </p:sp>
      <p:sp>
        <p:nvSpPr>
          <p:cNvPr id="61" name="Text 59"/>
          <p:cNvSpPr txBox="1"/>
          <p:nvPr/>
        </p:nvSpPr>
        <p:spPr>
          <a:xfrm>
            <a:off x="32956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2" name="Text 60"/>
          <p:cNvSpPr txBox="1"/>
          <p:nvPr/>
        </p:nvSpPr>
        <p:spPr>
          <a:xfrm>
            <a:off x="35052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00" dirty="0"/>
          </a:p>
        </p:txBody>
      </p:sp>
      <p:sp>
        <p:nvSpPr>
          <p:cNvPr id="63" name="Text 61"/>
          <p:cNvSpPr txBox="1"/>
          <p:nvPr/>
        </p:nvSpPr>
        <p:spPr>
          <a:xfrm>
            <a:off x="36957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나머지로 맞혀 본다</a:t>
            </a:r>
            <a:endParaRPr lang="en-US" sz="975" dirty="0"/>
          </a:p>
        </p:txBody>
      </p:sp>
      <p:sp>
        <p:nvSpPr>
          <p:cNvPr id="64" name="Text 62"/>
          <p:cNvSpPr txBox="1"/>
          <p:nvPr/>
        </p:nvSpPr>
        <p:spPr>
          <a:xfrm>
            <a:off x="36957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가린 회차의 온도만 주고 보정값을 예측하게 합니다.</a:t>
            </a:r>
            <a:endParaRPr lang="en-US" sz="788" dirty="0"/>
          </a:p>
        </p:txBody>
      </p:sp>
      <p:sp>
        <p:nvSpPr>
          <p:cNvPr id="65" name="Text 63"/>
          <p:cNvSpPr txBox="1"/>
          <p:nvPr/>
        </p:nvSpPr>
        <p:spPr>
          <a:xfrm>
            <a:off x="59245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66" name="Text 64"/>
          <p:cNvSpPr txBox="1"/>
          <p:nvPr/>
        </p:nvSpPr>
        <p:spPr>
          <a:xfrm>
            <a:off x="61341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00" dirty="0"/>
          </a:p>
        </p:txBody>
      </p:sp>
      <p:sp>
        <p:nvSpPr>
          <p:cNvPr id="67" name="Text 65"/>
          <p:cNvSpPr txBox="1"/>
          <p:nvPr/>
        </p:nvSpPr>
        <p:spPr>
          <a:xfrm>
            <a:off x="63246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실제와 견준다</a:t>
            </a:r>
            <a:endParaRPr lang="en-US" sz="975" dirty="0"/>
          </a:p>
        </p:txBody>
      </p:sp>
      <p:sp>
        <p:nvSpPr>
          <p:cNvPr id="68" name="Text 66"/>
          <p:cNvSpPr txBox="1"/>
          <p:nvPr/>
        </p:nvSpPr>
        <p:spPr>
          <a:xfrm>
            <a:off x="63246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예측한 값과 그날 실제 값의 차이를 적습니다.</a:t>
            </a:r>
            <a:endParaRPr lang="en-US" sz="788" dirty="0"/>
          </a:p>
        </p:txBody>
      </p:sp>
      <p:sp>
        <p:nvSpPr>
          <p:cNvPr id="69" name="Text 67"/>
          <p:cNvSpPr txBox="1"/>
          <p:nvPr/>
        </p:nvSpPr>
        <p:spPr>
          <a:xfrm>
            <a:off x="8553450" y="3562350"/>
            <a:ext cx="1714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900" dirty="0"/>
          </a:p>
        </p:txBody>
      </p:sp>
      <p:sp>
        <p:nvSpPr>
          <p:cNvPr id="70" name="Text 68"/>
          <p:cNvSpPr txBox="1"/>
          <p:nvPr/>
        </p:nvSpPr>
        <p:spPr>
          <a:xfrm>
            <a:off x="8763000" y="3562350"/>
            <a:ext cx="1524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00" dirty="0"/>
          </a:p>
        </p:txBody>
      </p:sp>
      <p:sp>
        <p:nvSpPr>
          <p:cNvPr id="71" name="Text 69"/>
          <p:cNvSpPr txBox="1"/>
          <p:nvPr/>
        </p:nvSpPr>
        <p:spPr>
          <a:xfrm>
            <a:off x="8953500" y="3543300"/>
            <a:ext cx="22098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돌아가며 반복</a:t>
            </a:r>
            <a:endParaRPr lang="en-US" sz="975" dirty="0"/>
          </a:p>
        </p:txBody>
      </p:sp>
      <p:sp>
        <p:nvSpPr>
          <p:cNvPr id="72" name="Text 70"/>
          <p:cNvSpPr txBox="1"/>
          <p:nvPr/>
        </p:nvSpPr>
        <p:spPr>
          <a:xfrm>
            <a:off x="8953500" y="3733800"/>
            <a:ext cx="2209800" cy="26003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번씩 다 가려 보고 평균을 냅니다.</a:t>
            </a:r>
            <a:endParaRPr lang="en-US" sz="788" dirty="0"/>
          </a:p>
        </p:txBody>
      </p:sp>
      <p:sp>
        <p:nvSpPr>
          <p:cNvPr id="73" name="Text 71"/>
          <p:cNvSpPr txBox="1"/>
          <p:nvPr/>
        </p:nvSpPr>
        <p:spPr>
          <a:xfrm>
            <a:off x="876300" y="4095750"/>
            <a:ext cx="10382250" cy="2571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13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종전 방식도 같은 회차에 「늘 같은 값 하나」를 더해 똑같이 채점했습니다. 그래서 두 값을 나란히 견줄 수 있습니다. 40회 가운데 39회를 썼습니다 — 한 회차는 그 온도 구간에 시험이 그것뿐이어서 가리면 비교 대상 방식 하나가 답을 못 냅니다.</a:t>
            </a:r>
            <a:endParaRPr lang="en-US" sz="750" dirty="0"/>
          </a:p>
        </p:txBody>
      </p:sp>
      <p:sp>
        <p:nvSpPr>
          <p:cNvPr id="74" name="Shape 72"/>
          <p:cNvSpPr/>
          <p:nvPr/>
        </p:nvSpPr>
        <p:spPr>
          <a:xfrm>
            <a:off x="685800" y="4505325"/>
            <a:ext cx="10820400" cy="1590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685800" y="438150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76" name="Text 74"/>
          <p:cNvSpPr txBox="1"/>
          <p:nvPr/>
        </p:nvSpPr>
        <p:spPr>
          <a:xfrm>
            <a:off x="819150" y="44386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938" dirty="0"/>
          </a:p>
        </p:txBody>
      </p:sp>
      <p:sp>
        <p:nvSpPr>
          <p:cNvPr id="77" name="Text 75"/>
          <p:cNvSpPr txBox="1"/>
          <p:nvPr/>
        </p:nvSpPr>
        <p:spPr>
          <a:xfrm>
            <a:off x="1009650" y="443865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돈으로 보면</a:t>
            </a:r>
            <a:endParaRPr lang="en-US" sz="1013" dirty="0"/>
          </a:p>
        </p:txBody>
      </p:sp>
      <p:sp>
        <p:nvSpPr>
          <p:cNvPr id="78" name="Text 76"/>
          <p:cNvSpPr txBox="1"/>
          <p:nvPr/>
        </p:nvSpPr>
        <p:spPr>
          <a:xfrm>
            <a:off x="10534650" y="45720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기준</a:t>
            </a:r>
            <a:endParaRPr lang="en-US" sz="825" dirty="0"/>
          </a:p>
        </p:txBody>
      </p:sp>
      <p:sp>
        <p:nvSpPr>
          <p:cNvPr id="79" name="Text 77"/>
          <p:cNvSpPr txBox="1"/>
          <p:nvPr/>
        </p:nvSpPr>
        <p:spPr>
          <a:xfrm>
            <a:off x="876300" y="4743450"/>
            <a:ext cx="4000500" cy="1485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신고해서 못 받던 용량요금 (한 해)</a:t>
            </a:r>
            <a:endParaRPr lang="en-US" sz="900" dirty="0"/>
          </a:p>
        </p:txBody>
      </p:sp>
      <p:sp>
        <p:nvSpPr>
          <p:cNvPr id="80" name="Text 78"/>
          <p:cNvSpPr txBox="1"/>
          <p:nvPr/>
        </p:nvSpPr>
        <p:spPr>
          <a:xfrm>
            <a:off x="876300" y="4933950"/>
            <a:ext cx="1714500" cy="24098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97"/>
              </a:lnSpc>
              <a:buNone/>
            </a:pPr>
            <a:r>
              <a:rPr lang="en-US" sz="1650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9,702만원</a:t>
            </a:r>
            <a:endParaRPr lang="en-US" sz="1650" dirty="0"/>
          </a:p>
        </p:txBody>
      </p:sp>
      <p:sp>
        <p:nvSpPr>
          <p:cNvPr id="81" name="Text 79"/>
          <p:cNvSpPr txBox="1"/>
          <p:nvPr/>
        </p:nvSpPr>
        <p:spPr>
          <a:xfrm>
            <a:off x="2647950" y="5010150"/>
            <a:ext cx="2667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1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125" dirty="0"/>
          </a:p>
        </p:txBody>
      </p:sp>
      <p:sp>
        <p:nvSpPr>
          <p:cNvPr id="82" name="Text 80"/>
          <p:cNvSpPr txBox="1"/>
          <p:nvPr/>
        </p:nvSpPr>
        <p:spPr>
          <a:xfrm>
            <a:off x="2990850" y="4895850"/>
            <a:ext cx="2095500" cy="3067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2415"/>
              </a:lnSpc>
              <a:buNone/>
            </a:pPr>
            <a:r>
              <a:rPr lang="en-US" sz="2100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3,943만원</a:t>
            </a:r>
            <a:endParaRPr lang="en-US" sz="2100" dirty="0"/>
          </a:p>
        </p:txBody>
      </p:sp>
      <p:sp>
        <p:nvSpPr>
          <p:cNvPr id="83" name="Shape 81"/>
          <p:cNvSpPr/>
          <p:nvPr/>
        </p:nvSpPr>
        <p:spPr>
          <a:xfrm>
            <a:off x="876300" y="5334000"/>
            <a:ext cx="381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84" name="Text 82"/>
          <p:cNvSpPr txBox="1"/>
          <p:nvPr/>
        </p:nvSpPr>
        <p:spPr>
          <a:xfrm>
            <a:off x="1047750" y="5314950"/>
            <a:ext cx="4191000" cy="23526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852"/>
              </a:lnSpc>
              <a:buNone/>
            </a:pPr>
            <a:r>
              <a:rPr lang="en-US" sz="1425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해 5,759만원을 되찾습니다</a:t>
            </a:r>
            <a:endParaRPr lang="en-US" sz="1425" dirty="0"/>
          </a:p>
        </p:txBody>
      </p:sp>
      <p:sp>
        <p:nvSpPr>
          <p:cNvPr id="85" name="Text 83"/>
          <p:cNvSpPr txBox="1"/>
          <p:nvPr/>
        </p:nvSpPr>
        <p:spPr>
          <a:xfrm>
            <a:off x="1047750" y="5581650"/>
            <a:ext cx="4191000" cy="14239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1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낮게 신고한 양이 줄어든 만큼입니다.</a:t>
            </a:r>
            <a:endParaRPr lang="en-US" sz="863" dirty="0"/>
          </a:p>
        </p:txBody>
      </p:sp>
      <p:sp>
        <p:nvSpPr>
          <p:cNvPr id="86" name="Shape 84"/>
          <p:cNvSpPr/>
          <p:nvPr/>
        </p:nvSpPr>
        <p:spPr>
          <a:xfrm>
            <a:off x="5772150" y="4724400"/>
            <a:ext cx="0" cy="11430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87" name="Text 85"/>
          <p:cNvSpPr txBox="1"/>
          <p:nvPr/>
        </p:nvSpPr>
        <p:spPr>
          <a:xfrm>
            <a:off x="6096000" y="47434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용량요금 단가</a:t>
            </a:r>
            <a:endParaRPr lang="en-US" sz="863" dirty="0"/>
          </a:p>
        </p:txBody>
      </p:sp>
      <p:sp>
        <p:nvSpPr>
          <p:cNvPr id="88" name="Text 86"/>
          <p:cNvSpPr txBox="1"/>
          <p:nvPr/>
        </p:nvSpPr>
        <p:spPr>
          <a:xfrm>
            <a:off x="7905750" y="47434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150 원/kW·일</a:t>
            </a:r>
            <a:endParaRPr lang="en-US" sz="900" dirty="0"/>
          </a:p>
        </p:txBody>
      </p:sp>
      <p:sp>
        <p:nvSpPr>
          <p:cNvPr id="89" name="Text 87"/>
          <p:cNvSpPr txBox="1"/>
          <p:nvPr/>
        </p:nvSpPr>
        <p:spPr>
          <a:xfrm>
            <a:off x="6096000" y="49911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입찰하는 날</a:t>
            </a:r>
            <a:endParaRPr lang="en-US" sz="863" dirty="0"/>
          </a:p>
        </p:txBody>
      </p:sp>
      <p:sp>
        <p:nvSpPr>
          <p:cNvPr id="90" name="Text 88"/>
          <p:cNvSpPr txBox="1"/>
          <p:nvPr/>
        </p:nvSpPr>
        <p:spPr>
          <a:xfrm>
            <a:off x="7905750" y="49911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335 일 (정비 30일 제외)</a:t>
            </a:r>
            <a:endParaRPr lang="en-US" sz="900" dirty="0"/>
          </a:p>
        </p:txBody>
      </p:sp>
      <p:sp>
        <p:nvSpPr>
          <p:cNvPr id="91" name="Text 89"/>
          <p:cNvSpPr txBox="1"/>
          <p:nvPr/>
        </p:nvSpPr>
        <p:spPr>
          <a:xfrm>
            <a:off x="6096000" y="523875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채점한 시험</a:t>
            </a:r>
            <a:endParaRPr lang="en-US" sz="863" dirty="0"/>
          </a:p>
        </p:txBody>
      </p:sp>
      <p:sp>
        <p:nvSpPr>
          <p:cNvPr id="92" name="Text 90"/>
          <p:cNvSpPr txBox="1"/>
          <p:nvPr/>
        </p:nvSpPr>
        <p:spPr>
          <a:xfrm>
            <a:off x="7905750" y="523875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39 회</a:t>
            </a:r>
            <a:endParaRPr lang="en-US" sz="900" dirty="0"/>
          </a:p>
        </p:txBody>
      </p:sp>
      <p:sp>
        <p:nvSpPr>
          <p:cNvPr id="93" name="Text 91"/>
          <p:cNvSpPr txBox="1"/>
          <p:nvPr/>
        </p:nvSpPr>
        <p:spPr>
          <a:xfrm>
            <a:off x="6096000" y="5486400"/>
            <a:ext cx="17145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넣지 않은 것</a:t>
            </a:r>
            <a:endParaRPr lang="en-US" sz="863" dirty="0"/>
          </a:p>
        </p:txBody>
      </p:sp>
      <p:sp>
        <p:nvSpPr>
          <p:cNvPr id="94" name="Text 92"/>
          <p:cNvSpPr txBox="1"/>
          <p:nvPr/>
        </p:nvSpPr>
        <p:spPr>
          <a:xfrm>
            <a:off x="7905750" y="5486400"/>
            <a:ext cx="34099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전력 판매 수익 · 벌칙금</a:t>
            </a:r>
            <a:endParaRPr lang="en-US" sz="900" dirty="0"/>
          </a:p>
        </p:txBody>
      </p:sp>
      <p:sp>
        <p:nvSpPr>
          <p:cNvPr id="95" name="Text 93"/>
          <p:cNvSpPr txBox="1"/>
          <p:nvPr/>
        </p:nvSpPr>
        <p:spPr>
          <a:xfrm>
            <a:off x="6096000" y="5791200"/>
            <a:ext cx="5219700" cy="1238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75"/>
              </a:lnSpc>
              <a:buNone/>
            </a:pPr>
            <a:r>
              <a:rPr lang="en-US" sz="750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* 단가는 담당자에게 확인 중인 계획값입니다. 확정되면 다시 계산합니다.</a:t>
            </a:r>
            <a:endParaRPr lang="en-US" sz="750" dirty="0"/>
          </a:p>
        </p:txBody>
      </p:sp>
      <p:sp>
        <p:nvSpPr>
          <p:cNvPr id="96" name="Shape 94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98" name="Text 96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99" name="Text 97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일은 줄고 숫자는 맞았습니다. 처음에 세운 목표 두 가지입니다.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06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개선효과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개선 효과 · 정성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숫자로 적기 어렵지만 일하는 방식에서 달라진 것들입니다.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24025"/>
            <a:ext cx="10820400" cy="3495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0020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6573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65735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가늠한다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9705975" y="1790700"/>
            <a:ext cx="16859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화면 · 출력 시뮬레이션</a:t>
            </a:r>
            <a:endParaRPr lang="en-US" sz="825" dirty="0"/>
          </a:p>
        </p:txBody>
      </p:sp>
      <p:sp>
        <p:nvSpPr>
          <p:cNvPr id="20" name="Text 18"/>
          <p:cNvSpPr txBox="1"/>
          <p:nvPr/>
        </p:nvSpPr>
        <p:spPr>
          <a:xfrm>
            <a:off x="876300" y="1943100"/>
            <a:ext cx="89535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온도와 대기압을 넣으면 그 조건의 이론값 · 더할 값 · 신고값이 한 번에 나옵니다.</a:t>
            </a:r>
            <a:endParaRPr lang="en-US" sz="900" dirty="0"/>
          </a:p>
        </p:txBody>
      </p:sp>
      <p:pic>
        <p:nvPicPr>
          <p:cNvPr id="21" name="Image 0" descr="/home/user/Narae-AI/docs/ppt/assets/tool_win_si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6300" y="2171700"/>
            <a:ext cx="8953500" cy="2962275"/>
          </a:xfrm>
          <a:prstGeom prst="rect">
            <a:avLst/>
          </a:prstGeom>
        </p:spPr>
      </p:pic>
      <p:sp>
        <p:nvSpPr>
          <p:cNvPr id="22" name="Shape 19"/>
          <p:cNvSpPr/>
          <p:nvPr/>
        </p:nvSpPr>
        <p:spPr>
          <a:xfrm>
            <a:off x="866775" y="2162175"/>
            <a:ext cx="8972550" cy="2981325"/>
          </a:xfrm>
          <a:prstGeom prst="rect">
            <a:avLst/>
          </a:prstGeom>
          <a:ln w="12700">
            <a:solidFill>
              <a:srgbClr val="C9D0D8"/>
            </a:solidFill>
            <a:prstDash val="solid"/>
          </a:ln>
        </p:spPr>
      </p:sp>
      <p:sp>
        <p:nvSpPr>
          <p:cNvPr id="23" name="Text 20"/>
          <p:cNvSpPr txBox="1"/>
          <p:nvPr/>
        </p:nvSpPr>
        <p:spPr>
          <a:xfrm>
            <a:off x="9963150" y="19621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전에는</a:t>
            </a:r>
            <a:endParaRPr lang="en-US" sz="863" dirty="0"/>
          </a:p>
        </p:txBody>
      </p:sp>
      <p:sp>
        <p:nvSpPr>
          <p:cNvPr id="24" name="Text 21"/>
          <p:cNvSpPr txBox="1"/>
          <p:nvPr/>
        </p:nvSpPr>
        <p:spPr>
          <a:xfrm>
            <a:off x="9963150" y="21336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끝나야 그날 숫자를 알았습니다.</a:t>
            </a:r>
            <a:endParaRPr lang="en-US" sz="825" dirty="0"/>
          </a:p>
        </p:txBody>
      </p:sp>
      <p:sp>
        <p:nvSpPr>
          <p:cNvPr id="25" name="Text 22"/>
          <p:cNvSpPr txBox="1"/>
          <p:nvPr/>
        </p:nvSpPr>
        <p:spPr>
          <a:xfrm>
            <a:off x="9963150" y="29527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지금은</a:t>
            </a:r>
            <a:endParaRPr lang="en-US" sz="863" dirty="0"/>
          </a:p>
        </p:txBody>
      </p:sp>
      <p:sp>
        <p:nvSpPr>
          <p:cNvPr id="26" name="Text 23"/>
          <p:cNvSpPr txBox="1"/>
          <p:nvPr/>
        </p:nvSpPr>
        <p:spPr>
          <a:xfrm>
            <a:off x="9963150" y="31242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전에 미리 대 봅니다.</a:t>
            </a:r>
            <a:endParaRPr lang="en-US" sz="825" dirty="0"/>
          </a:p>
        </p:txBody>
      </p:sp>
      <p:sp>
        <p:nvSpPr>
          <p:cNvPr id="27" name="Text 24"/>
          <p:cNvSpPr txBox="1"/>
          <p:nvPr/>
        </p:nvSpPr>
        <p:spPr>
          <a:xfrm>
            <a:off x="9963150" y="3943350"/>
            <a:ext cx="1295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쓰는 때</a:t>
            </a:r>
            <a:endParaRPr lang="en-US" sz="863" dirty="0"/>
          </a:p>
        </p:txBody>
      </p:sp>
      <p:sp>
        <p:nvSpPr>
          <p:cNvPr id="28" name="Text 25"/>
          <p:cNvSpPr txBox="1"/>
          <p:nvPr/>
        </p:nvSpPr>
        <p:spPr>
          <a:xfrm>
            <a:off x="9963150" y="4114800"/>
            <a:ext cx="1295400" cy="73342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55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계획을 세울 때, 그리고 결과가 이상할 때.</a:t>
            </a:r>
            <a:endParaRPr lang="en-US" sz="825" dirty="0"/>
          </a:p>
        </p:txBody>
      </p:sp>
      <p:sp>
        <p:nvSpPr>
          <p:cNvPr id="29" name="Shape 26"/>
          <p:cNvSpPr/>
          <p:nvPr/>
        </p:nvSpPr>
        <p:spPr>
          <a:xfrm>
            <a:off x="685800" y="5457825"/>
            <a:ext cx="10820400" cy="6381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0" name="Shape 27"/>
          <p:cNvSpPr/>
          <p:nvPr/>
        </p:nvSpPr>
        <p:spPr>
          <a:xfrm>
            <a:off x="685800" y="5334000"/>
            <a:ext cx="174307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1" name="Text 28"/>
          <p:cNvSpPr txBox="1"/>
          <p:nvPr/>
        </p:nvSpPr>
        <p:spPr>
          <a:xfrm>
            <a:off x="819150" y="539115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32" name="Text 29"/>
          <p:cNvSpPr txBox="1"/>
          <p:nvPr/>
        </p:nvSpPr>
        <p:spPr>
          <a:xfrm>
            <a:off x="1009650" y="5391150"/>
            <a:ext cx="130492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 밖에 달라진 것</a:t>
            </a:r>
            <a:endParaRPr lang="en-US" sz="1013" dirty="0"/>
          </a:p>
        </p:txBody>
      </p:sp>
      <p:sp>
        <p:nvSpPr>
          <p:cNvPr id="33" name="Shape 30"/>
          <p:cNvSpPr/>
          <p:nvPr/>
        </p:nvSpPr>
        <p:spPr>
          <a:xfrm>
            <a:off x="8763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4" name="Text 31"/>
          <p:cNvSpPr txBox="1"/>
          <p:nvPr/>
        </p:nvSpPr>
        <p:spPr>
          <a:xfrm>
            <a:off x="10287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사람이 놓치던 것을 도구가 본다</a:t>
            </a:r>
            <a:endParaRPr lang="en-US" sz="1013" dirty="0"/>
          </a:p>
        </p:txBody>
      </p:sp>
      <p:sp>
        <p:nvSpPr>
          <p:cNvPr id="35" name="Text 32"/>
          <p:cNvSpPr txBox="1"/>
          <p:nvPr/>
        </p:nvSpPr>
        <p:spPr>
          <a:xfrm>
            <a:off x="10287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잘못된 시험 세 가지를 도구가 걸러냅니다.</a:t>
            </a:r>
            <a:endParaRPr lang="en-US" sz="825" dirty="0"/>
          </a:p>
        </p:txBody>
      </p:sp>
      <p:sp>
        <p:nvSpPr>
          <p:cNvPr id="36" name="Shape 33"/>
          <p:cNvSpPr/>
          <p:nvPr/>
        </p:nvSpPr>
        <p:spPr>
          <a:xfrm>
            <a:off x="42291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37" name="Shape 34"/>
          <p:cNvSpPr/>
          <p:nvPr/>
        </p:nvSpPr>
        <p:spPr>
          <a:xfrm>
            <a:off x="43815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8" name="Text 35"/>
          <p:cNvSpPr txBox="1"/>
          <p:nvPr/>
        </p:nvSpPr>
        <p:spPr>
          <a:xfrm>
            <a:off x="45339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숫자의 근거가 남는다</a:t>
            </a:r>
            <a:endParaRPr lang="en-US" sz="1013" dirty="0"/>
          </a:p>
        </p:txBody>
      </p:sp>
      <p:sp>
        <p:nvSpPr>
          <p:cNvPr id="39" name="Text 36"/>
          <p:cNvSpPr txBox="1"/>
          <p:nvPr/>
        </p:nvSpPr>
        <p:spPr>
          <a:xfrm>
            <a:off x="45339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어느 회차가 어떻게 쓰였는지 화면에 남습니다.</a:t>
            </a:r>
            <a:endParaRPr lang="en-US" sz="825" dirty="0"/>
          </a:p>
        </p:txBody>
      </p:sp>
      <p:sp>
        <p:nvSpPr>
          <p:cNvPr id="40" name="Shape 37"/>
          <p:cNvSpPr/>
          <p:nvPr/>
        </p:nvSpPr>
        <p:spPr>
          <a:xfrm>
            <a:off x="7734300" y="5676900"/>
            <a:ext cx="0" cy="419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1" name="Shape 38"/>
          <p:cNvSpPr/>
          <p:nvPr/>
        </p:nvSpPr>
        <p:spPr>
          <a:xfrm>
            <a:off x="7886700" y="5715000"/>
            <a:ext cx="38100" cy="1714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2" name="Text 39"/>
          <p:cNvSpPr txBox="1"/>
          <p:nvPr/>
        </p:nvSpPr>
        <p:spPr>
          <a:xfrm>
            <a:off x="8039100" y="5695950"/>
            <a:ext cx="31432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담당자가 바뀌어도 같다</a:t>
            </a:r>
            <a:endParaRPr lang="en-US" sz="1013" dirty="0"/>
          </a:p>
        </p:txBody>
      </p:sp>
      <p:sp>
        <p:nvSpPr>
          <p:cNvPr id="43" name="Text 40"/>
          <p:cNvSpPr txBox="1"/>
          <p:nvPr/>
        </p:nvSpPr>
        <p:spPr>
          <a:xfrm>
            <a:off x="8039100" y="5886450"/>
            <a:ext cx="3143250" cy="1362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절차가 도구 안에 들어 있습니다.</a:t>
            </a:r>
            <a:endParaRPr lang="en-US" sz="825" dirty="0"/>
          </a:p>
        </p:txBody>
      </p:sp>
      <p:sp>
        <p:nvSpPr>
          <p:cNvPr id="44" name="Shape 41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45" name="Shape 42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46" name="Text 43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47" name="Text 44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숫자 말고도, 일하는 방식이 사람 손에서 도구 쪽으로 옮겨 왔습니다.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07  </a:t>
            </a:r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Shape 3"/>
          <p:cNvSpPr/>
          <p:nvPr/>
        </p:nvSpPr>
        <p:spPr>
          <a:xfrm>
            <a:off x="106680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6" name="Shape 4"/>
          <p:cNvSpPr/>
          <p:nvPr/>
        </p:nvSpPr>
        <p:spPr>
          <a:xfrm>
            <a:off x="108013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7" name="Shape 5"/>
          <p:cNvSpPr/>
          <p:nvPr/>
        </p:nvSpPr>
        <p:spPr>
          <a:xfrm>
            <a:off x="109347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8" name="Shape 6"/>
          <p:cNvSpPr/>
          <p:nvPr/>
        </p:nvSpPr>
        <p:spPr>
          <a:xfrm>
            <a:off x="110680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9" name="Shape 7"/>
          <p:cNvSpPr/>
          <p:nvPr/>
        </p:nvSpPr>
        <p:spPr>
          <a:xfrm>
            <a:off x="1120140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0" name="Shape 8"/>
          <p:cNvSpPr/>
          <p:nvPr/>
        </p:nvSpPr>
        <p:spPr>
          <a:xfrm>
            <a:off x="11334750" y="619125"/>
            <a:ext cx="38100" cy="66675"/>
          </a:xfrm>
          <a:prstGeom prst="rect">
            <a:avLst/>
          </a:prstGeom>
          <a:solidFill>
            <a:srgbClr val="C9D0D8"/>
          </a:solidFill>
          <a:ln/>
        </p:spPr>
      </p:sp>
      <p:sp>
        <p:nvSpPr>
          <p:cNvPr id="11" name="Shape 9"/>
          <p:cNvSpPr/>
          <p:nvPr/>
        </p:nvSpPr>
        <p:spPr>
          <a:xfrm>
            <a:off x="11468100" y="571500"/>
            <a:ext cx="38100" cy="1238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11</a:t>
            </a:r>
            <a:endParaRPr lang="en-US" sz="825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향후 계획</a:t>
            </a:r>
            <a:endParaRPr lang="en-US" sz="2475" dirty="0"/>
          </a:p>
        </p:txBody>
      </p:sp>
      <p:sp>
        <p:nvSpPr>
          <p:cNvPr id="14" name="Text 12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가지입니다. 실적을 쌓아 더 정확하게, 그리고 다른 발전소로.</a:t>
            </a:r>
            <a:endParaRPr lang="en-US" sz="1275" dirty="0"/>
          </a:p>
        </p:txBody>
      </p:sp>
      <p:sp>
        <p:nvSpPr>
          <p:cNvPr id="15" name="Shape 13"/>
          <p:cNvSpPr/>
          <p:nvPr/>
        </p:nvSpPr>
        <p:spPr>
          <a:xfrm>
            <a:off x="685800" y="1781175"/>
            <a:ext cx="52959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685800" y="1657350"/>
            <a:ext cx="21717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8" name="Text 16"/>
          <p:cNvSpPr txBox="1"/>
          <p:nvPr/>
        </p:nvSpPr>
        <p:spPr>
          <a:xfrm>
            <a:off x="1009650" y="1714500"/>
            <a:ext cx="17335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실적을 쌓아 더 정확하게</a:t>
            </a:r>
            <a:endParaRPr lang="en-US" sz="1013" dirty="0"/>
          </a:p>
        </p:txBody>
      </p:sp>
      <p:sp>
        <p:nvSpPr>
          <p:cNvPr id="19" name="Text 17"/>
          <p:cNvSpPr txBox="1"/>
          <p:nvPr/>
        </p:nvSpPr>
        <p:spPr>
          <a:xfrm>
            <a:off x="4067175" y="1847850"/>
            <a:ext cx="18002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앞부터 배워 뒤를 맞혀 본 결과</a:t>
            </a:r>
            <a:endParaRPr lang="en-US" sz="825" dirty="0"/>
          </a:p>
        </p:txBody>
      </p:sp>
      <p:sp>
        <p:nvSpPr>
          <p:cNvPr id="20" name="Shape 18"/>
          <p:cNvSpPr/>
          <p:nvPr/>
        </p:nvSpPr>
        <p:spPr>
          <a:xfrm>
            <a:off x="11049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1049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2" name="Text 20"/>
          <p:cNvSpPr txBox="1"/>
          <p:nvPr/>
        </p:nvSpPr>
        <p:spPr>
          <a:xfrm>
            <a:off x="11049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13~19회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2209800" y="2514600"/>
            <a:ext cx="838200" cy="1028700"/>
          </a:xfrm>
          <a:prstGeom prst="rect">
            <a:avLst/>
          </a:prstGeom>
          <a:solidFill>
            <a:srgbClr val="9AA3AC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2209800" y="2305050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6E778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2.26</a:t>
            </a:r>
            <a:endParaRPr lang="en-US" sz="1125" dirty="0"/>
          </a:p>
        </p:txBody>
      </p:sp>
      <p:sp>
        <p:nvSpPr>
          <p:cNvPr id="25" name="Text 23"/>
          <p:cNvSpPr txBox="1"/>
          <p:nvPr/>
        </p:nvSpPr>
        <p:spPr>
          <a:xfrm>
            <a:off x="22098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20~26회</a:t>
            </a:r>
            <a:endParaRPr lang="en-US" sz="825" dirty="0"/>
          </a:p>
        </p:txBody>
      </p:sp>
      <p:sp>
        <p:nvSpPr>
          <p:cNvPr id="26" name="Shape 24"/>
          <p:cNvSpPr/>
          <p:nvPr/>
        </p:nvSpPr>
        <p:spPr>
          <a:xfrm>
            <a:off x="3314700" y="3133725"/>
            <a:ext cx="838200" cy="409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7" name="Text 25"/>
          <p:cNvSpPr txBox="1"/>
          <p:nvPr/>
        </p:nvSpPr>
        <p:spPr>
          <a:xfrm>
            <a:off x="3314700" y="292417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0.91</a:t>
            </a:r>
            <a:endParaRPr lang="en-US" sz="1125" dirty="0"/>
          </a:p>
        </p:txBody>
      </p:sp>
      <p:sp>
        <p:nvSpPr>
          <p:cNvPr id="28" name="Text 26"/>
          <p:cNvSpPr txBox="1"/>
          <p:nvPr/>
        </p:nvSpPr>
        <p:spPr>
          <a:xfrm>
            <a:off x="33147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27~33회</a:t>
            </a:r>
            <a:endParaRPr lang="en-US" sz="825" dirty="0"/>
          </a:p>
        </p:txBody>
      </p:sp>
      <p:sp>
        <p:nvSpPr>
          <p:cNvPr id="29" name="Shape 27"/>
          <p:cNvSpPr/>
          <p:nvPr/>
        </p:nvSpPr>
        <p:spPr>
          <a:xfrm>
            <a:off x="4419600" y="3000375"/>
            <a:ext cx="838200" cy="54292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419600" y="2790825"/>
            <a:ext cx="838200" cy="1714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350"/>
              </a:lnSpc>
              <a:buNone/>
            </a:pPr>
            <a:r>
              <a:rPr lang="en-US" sz="1125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1.19</a:t>
            </a:r>
            <a:endParaRPr lang="en-US" sz="1125" dirty="0"/>
          </a:p>
        </p:txBody>
      </p:sp>
      <p:sp>
        <p:nvSpPr>
          <p:cNvPr id="31" name="Text 29"/>
          <p:cNvSpPr txBox="1"/>
          <p:nvPr/>
        </p:nvSpPr>
        <p:spPr>
          <a:xfrm>
            <a:off x="4419600" y="3619500"/>
            <a:ext cx="838200" cy="13096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1031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34~40회</a:t>
            </a:r>
            <a:endParaRPr lang="en-US" sz="825" dirty="0"/>
          </a:p>
        </p:txBody>
      </p:sp>
      <p:sp>
        <p:nvSpPr>
          <p:cNvPr id="32" name="Shape 30"/>
          <p:cNvSpPr/>
          <p:nvPr/>
        </p:nvSpPr>
        <p:spPr>
          <a:xfrm>
            <a:off x="914400" y="3543300"/>
            <a:ext cx="48768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76300" y="20193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세로 — 틀리는 폭 (MW, 작을수록 좋다)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876300" y="3752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늘어난 것 말고 바꾼 것은 없습니다.</a:t>
            </a:r>
            <a:endParaRPr lang="en-US" sz="938" dirty="0"/>
          </a:p>
        </p:txBody>
      </p:sp>
      <p:sp>
        <p:nvSpPr>
          <p:cNvPr id="35" name="Text 33"/>
          <p:cNvSpPr txBox="1"/>
          <p:nvPr/>
        </p:nvSpPr>
        <p:spPr>
          <a:xfrm>
            <a:off x="876300" y="39433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처음에는 평균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2.26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틀렸고, 지금은 </a:t>
            </a:r>
            <a:pPr algn="l" indent="0" marL="0">
              <a:lnSpc>
                <a:spcPts val="1359"/>
              </a:lnSpc>
              <a:buNone/>
            </a:pPr>
            <a:r>
              <a:rPr lang="en-US" sz="938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1.19 MW</a:t>
            </a:r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입니다.</a:t>
            </a:r>
            <a:endParaRPr lang="en-US" sz="938" dirty="0"/>
          </a:p>
        </p:txBody>
      </p:sp>
      <p:sp>
        <p:nvSpPr>
          <p:cNvPr id="36" name="Text 34"/>
          <p:cNvSpPr txBox="1"/>
          <p:nvPr/>
        </p:nvSpPr>
        <p:spPr>
          <a:xfrm>
            <a:off x="876300" y="4133850"/>
            <a:ext cx="4914900" cy="1726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59"/>
              </a:lnSpc>
              <a:buNone/>
            </a:pPr>
            <a:r>
              <a:rPr lang="en-US" sz="938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앞으로도 2주마다 한 회씩 쌓입니다.</a:t>
            </a:r>
            <a:endParaRPr lang="en-US" sz="938" dirty="0"/>
          </a:p>
        </p:txBody>
      </p:sp>
      <p:sp>
        <p:nvSpPr>
          <p:cNvPr id="37" name="Text 35"/>
          <p:cNvSpPr txBox="1"/>
          <p:nvPr/>
        </p:nvSpPr>
        <p:spPr>
          <a:xfrm>
            <a:off x="876300" y="4343400"/>
            <a:ext cx="4914900" cy="130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24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마지막 구간이 조금 올라간 것은 겨울 시험이 적게 섞인 탓입니다. 있는 대로 적었습니다.</a:t>
            </a:r>
            <a:endParaRPr lang="en-US" sz="788" dirty="0"/>
          </a:p>
        </p:txBody>
      </p:sp>
      <p:sp>
        <p:nvSpPr>
          <p:cNvPr id="38" name="Shape 36"/>
          <p:cNvSpPr/>
          <p:nvPr/>
        </p:nvSpPr>
        <p:spPr>
          <a:xfrm>
            <a:off x="6134100" y="1781175"/>
            <a:ext cx="5372100" cy="27336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134100" y="1657350"/>
            <a:ext cx="14478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41" name="Text 39"/>
          <p:cNvSpPr txBox="1"/>
          <p:nvPr/>
        </p:nvSpPr>
        <p:spPr>
          <a:xfrm>
            <a:off x="6457950" y="1714500"/>
            <a:ext cx="10096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발전소로</a:t>
            </a:r>
            <a:endParaRPr lang="en-US" sz="1013" dirty="0"/>
          </a:p>
        </p:txBody>
      </p:sp>
      <p:sp>
        <p:nvSpPr>
          <p:cNvPr id="42" name="Text 40"/>
          <p:cNvSpPr txBox="1"/>
          <p:nvPr/>
        </p:nvSpPr>
        <p:spPr>
          <a:xfrm>
            <a:off x="10125075" y="1847850"/>
            <a:ext cx="1266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기종이 달라도 됩니다</a:t>
            </a:r>
            <a:endParaRPr lang="en-US" sz="825" dirty="0"/>
          </a:p>
        </p:txBody>
      </p:sp>
      <p:sp>
        <p:nvSpPr>
          <p:cNvPr id="43" name="Text 41"/>
          <p:cNvSpPr txBox="1"/>
          <p:nvPr/>
        </p:nvSpPr>
        <p:spPr>
          <a:xfrm>
            <a:off x="6324600" y="2019300"/>
            <a:ext cx="4991100" cy="166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313"/>
              </a:lnSpc>
              <a:buNone/>
            </a:pPr>
            <a:r>
              <a:rPr lang="en-US" sz="938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다른 발전소는 기종이 달라 특성 곡선이 다릅니다.</a:t>
            </a:r>
            <a:endParaRPr lang="en-US" sz="938" dirty="0"/>
          </a:p>
        </p:txBody>
      </p:sp>
      <p:sp>
        <p:nvSpPr>
          <p:cNvPr id="44" name="Shape 42"/>
          <p:cNvSpPr/>
          <p:nvPr/>
        </p:nvSpPr>
        <p:spPr>
          <a:xfrm>
            <a:off x="6324600" y="2266950"/>
            <a:ext cx="38100" cy="2286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6496050" y="2247900"/>
            <a:ext cx="4819650" cy="19192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옮겨 가는 것은 곡선이 아니라 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</a:t>
            </a:r>
            <a:pPr algn="l" indent="0" marL="0">
              <a:lnSpc>
                <a:spcPts val="1511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입니다.</a:t>
            </a:r>
            <a:endParaRPr lang="en-US" sz="1163" dirty="0"/>
          </a:p>
        </p:txBody>
      </p:sp>
      <p:sp>
        <p:nvSpPr>
          <p:cNvPr id="46" name="Text 44"/>
          <p:cNvSpPr txBox="1"/>
          <p:nvPr/>
        </p:nvSpPr>
        <p:spPr>
          <a:xfrm>
            <a:off x="6324600" y="25717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863" dirty="0"/>
          </a:p>
        </p:txBody>
      </p:sp>
      <p:sp>
        <p:nvSpPr>
          <p:cNvPr id="47" name="Text 45"/>
          <p:cNvSpPr txBox="1"/>
          <p:nvPr/>
        </p:nvSpPr>
        <p:spPr>
          <a:xfrm>
            <a:off x="6534150" y="25527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특성 곡선은 표 파일로 읽는다</a:t>
            </a:r>
            <a:endParaRPr lang="en-US" sz="1013" dirty="0"/>
          </a:p>
        </p:txBody>
      </p:sp>
      <p:sp>
        <p:nvSpPr>
          <p:cNvPr id="48" name="Text 46"/>
          <p:cNvSpPr txBox="1"/>
          <p:nvPr/>
        </p:nvSpPr>
        <p:spPr>
          <a:xfrm>
            <a:off x="6534150" y="27432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곡선을 품고 있지 않습니다. 온도 61줄 표를 읽어 씁니다. 그 발전소 표로 바꿔 넣으면 됩니다 — 제작사 계산식은 손대지 않았습니다.</a:t>
            </a:r>
            <a:endParaRPr lang="en-US" sz="863" dirty="0"/>
          </a:p>
        </p:txBody>
      </p:sp>
      <p:sp>
        <p:nvSpPr>
          <p:cNvPr id="49" name="Text 47"/>
          <p:cNvSpPr txBox="1"/>
          <p:nvPr/>
        </p:nvSpPr>
        <p:spPr>
          <a:xfrm>
            <a:off x="6324600" y="32194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863" dirty="0"/>
          </a:p>
        </p:txBody>
      </p:sp>
      <p:sp>
        <p:nvSpPr>
          <p:cNvPr id="50" name="Text 48"/>
          <p:cNvSpPr txBox="1"/>
          <p:nvPr/>
        </p:nvSpPr>
        <p:spPr>
          <a:xfrm>
            <a:off x="6534150" y="32004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보정 곡선은 새로 쌓는다</a:t>
            </a:r>
            <a:endParaRPr lang="en-US" sz="1013" dirty="0"/>
          </a:p>
        </p:txBody>
      </p:sp>
      <p:sp>
        <p:nvSpPr>
          <p:cNvPr id="51" name="Text 49"/>
          <p:cNvSpPr txBox="1"/>
          <p:nvPr/>
        </p:nvSpPr>
        <p:spPr>
          <a:xfrm>
            <a:off x="6534150" y="33909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위례가 시험 40회로 만든 것처럼, 그 발전소는 그 발전소 실적으로 만듭니다.</a:t>
            </a:r>
            <a:endParaRPr lang="en-US" sz="863" dirty="0"/>
          </a:p>
        </p:txBody>
      </p:sp>
      <p:sp>
        <p:nvSpPr>
          <p:cNvPr id="52" name="Text 50"/>
          <p:cNvSpPr txBox="1"/>
          <p:nvPr/>
        </p:nvSpPr>
        <p:spPr>
          <a:xfrm>
            <a:off x="6324600" y="3867150"/>
            <a:ext cx="1524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863" dirty="0"/>
          </a:p>
        </p:txBody>
      </p:sp>
      <p:sp>
        <p:nvSpPr>
          <p:cNvPr id="53" name="Text 51"/>
          <p:cNvSpPr txBox="1"/>
          <p:nvPr/>
        </p:nvSpPr>
        <p:spPr>
          <a:xfrm>
            <a:off x="6534150" y="3848100"/>
            <a:ext cx="4781550" cy="16073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66"/>
              </a:lnSpc>
              <a:buNone/>
            </a:pPr>
            <a:r>
              <a:rPr lang="en-US" sz="101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그래서 필요한 것은 셋</a:t>
            </a:r>
            <a:endParaRPr lang="en-US" sz="1013" dirty="0"/>
          </a:p>
        </p:txBody>
      </p:sp>
      <p:sp>
        <p:nvSpPr>
          <p:cNvPr id="54" name="Text 52"/>
          <p:cNvSpPr txBox="1"/>
          <p:nvPr/>
        </p:nvSpPr>
        <p:spPr>
          <a:xfrm>
            <a:off x="6534150" y="4038600"/>
            <a:ext cx="478155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· 그 발전소 특성 곡선표 · 그 발전소 시험 실적.</a:t>
            </a:r>
            <a:endParaRPr lang="en-US" sz="863" dirty="0"/>
          </a:p>
        </p:txBody>
      </p:sp>
      <p:sp>
        <p:nvSpPr>
          <p:cNvPr id="55" name="Shape 53"/>
          <p:cNvSpPr/>
          <p:nvPr/>
        </p:nvSpPr>
        <p:spPr>
          <a:xfrm>
            <a:off x="685800" y="4752975"/>
            <a:ext cx="10820400" cy="13430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685800" y="46291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57" name="Text 55"/>
          <p:cNvSpPr txBox="1"/>
          <p:nvPr/>
        </p:nvSpPr>
        <p:spPr>
          <a:xfrm>
            <a:off x="819150" y="46863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1009650" y="46863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언제 무엇을</a:t>
            </a:r>
            <a:endParaRPr lang="en-US" sz="1013" dirty="0"/>
          </a:p>
        </p:txBody>
      </p:sp>
      <p:sp>
        <p:nvSpPr>
          <p:cNvPr id="59" name="Text 57"/>
          <p:cNvSpPr txBox="1"/>
          <p:nvPr/>
        </p:nvSpPr>
        <p:spPr>
          <a:xfrm>
            <a:off x="8763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지금</a:t>
            </a:r>
            <a:endParaRPr lang="en-US" sz="825" dirty="0"/>
          </a:p>
        </p:txBody>
      </p:sp>
      <p:sp>
        <p:nvSpPr>
          <p:cNvPr id="60" name="Text 58"/>
          <p:cNvSpPr txBox="1"/>
          <p:nvPr/>
        </p:nvSpPr>
        <p:spPr>
          <a:xfrm>
            <a:off x="8763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위례에 정착</a:t>
            </a:r>
            <a:endParaRPr lang="en-US" sz="1163" dirty="0"/>
          </a:p>
        </p:txBody>
      </p:sp>
      <p:sp>
        <p:nvSpPr>
          <p:cNvPr id="61" name="Text 59"/>
          <p:cNvSpPr txBox="1"/>
          <p:nvPr/>
        </p:nvSpPr>
        <p:spPr>
          <a:xfrm>
            <a:off x="8763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2주마다 시험하고 결과를 넣습니다. 쌓일수록 곡선이 촘촘해집니다.</a:t>
            </a:r>
            <a:endParaRPr lang="en-US" sz="863" dirty="0"/>
          </a:p>
        </p:txBody>
      </p:sp>
      <p:sp>
        <p:nvSpPr>
          <p:cNvPr id="62" name="Shape 60"/>
          <p:cNvSpPr/>
          <p:nvPr/>
        </p:nvSpPr>
        <p:spPr>
          <a:xfrm>
            <a:off x="42291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3" name="Text 61"/>
          <p:cNvSpPr txBox="1"/>
          <p:nvPr/>
        </p:nvSpPr>
        <p:spPr>
          <a:xfrm>
            <a:off x="43815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다음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43815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구조 발전소로</a:t>
            </a:r>
            <a:endParaRPr lang="en-US" sz="1163" dirty="0"/>
          </a:p>
        </p:txBody>
      </p:sp>
      <p:sp>
        <p:nvSpPr>
          <p:cNvPr id="65" name="Text 63"/>
          <p:cNvSpPr txBox="1"/>
          <p:nvPr/>
        </p:nvSpPr>
        <p:spPr>
          <a:xfrm>
            <a:off x="43815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곡선표를 그 발전소 것으로 바꿔 넣고, 그 발전소 실적으로 보정 곡선을 새로 쌓습니다.</a:t>
            </a:r>
            <a:endParaRPr lang="en-US" sz="863" dirty="0"/>
          </a:p>
        </p:txBody>
      </p:sp>
      <p:sp>
        <p:nvSpPr>
          <p:cNvPr id="66" name="Shape 64"/>
          <p:cNvSpPr/>
          <p:nvPr/>
        </p:nvSpPr>
        <p:spPr>
          <a:xfrm>
            <a:off x="7734300" y="4972050"/>
            <a:ext cx="0" cy="9525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67" name="Text 65"/>
          <p:cNvSpPr txBox="1"/>
          <p:nvPr/>
        </p:nvSpPr>
        <p:spPr>
          <a:xfrm>
            <a:off x="7886700" y="4991100"/>
            <a:ext cx="8572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90"/>
              </a:lnSpc>
              <a:buNone/>
            </a:pPr>
            <a:r>
              <a:rPr lang="en-US" sz="825" b="1" spc="120" kern="0" dirty="0">
                <a:solidFill>
                  <a:srgbClr val="EA002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그다음</a:t>
            </a:r>
            <a:endParaRPr lang="en-US" sz="825" dirty="0"/>
          </a:p>
        </p:txBody>
      </p:sp>
      <p:sp>
        <p:nvSpPr>
          <p:cNvPr id="68" name="Text 66"/>
          <p:cNvSpPr txBox="1"/>
          <p:nvPr/>
        </p:nvSpPr>
        <p:spPr>
          <a:xfrm>
            <a:off x="7886700" y="5162550"/>
            <a:ext cx="3238500" cy="18454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53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절차로 굳히기</a:t>
            </a:r>
            <a:endParaRPr lang="en-US" sz="1163" dirty="0"/>
          </a:p>
        </p:txBody>
      </p:sp>
      <p:sp>
        <p:nvSpPr>
          <p:cNvPr id="69" name="Text 67"/>
          <p:cNvSpPr txBox="1"/>
          <p:nvPr/>
        </p:nvSpPr>
        <p:spPr>
          <a:xfrm>
            <a:off x="7886700" y="5391150"/>
            <a:ext cx="3238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신고 숫자를 내는 순서를 사업소 표준으로 정리합니다.</a:t>
            </a:r>
            <a:endParaRPr lang="en-US" sz="863" dirty="0"/>
          </a:p>
        </p:txBody>
      </p:sp>
      <p:sp>
        <p:nvSpPr>
          <p:cNvPr id="70" name="Shape 68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72" name="Text 70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73" name="Text 71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만들고 끝나는 도구가 아닙니다. 쓸수록 촘촘해지고, 옮겨 심을 수 있습니다.</a:t>
            </a:r>
            <a:endParaRPr lang="en-US" sz="1163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76250" y="323850"/>
            <a:ext cx="76200" cy="4191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685800" y="342900"/>
            <a:ext cx="6667500" cy="154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75" b="1" spc="60" kern="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돌아보면</a:t>
            </a:r>
            <a:endParaRPr lang="en-US" sz="975" dirty="0"/>
          </a:p>
        </p:txBody>
      </p:sp>
      <p:sp>
        <p:nvSpPr>
          <p:cNvPr id="4" name="Text 2"/>
          <p:cNvSpPr txBox="1"/>
          <p:nvPr/>
        </p:nvSpPr>
        <p:spPr>
          <a:xfrm>
            <a:off x="7696200" y="361950"/>
            <a:ext cx="3810000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00"/>
              </a:lnSpc>
              <a:buNone/>
            </a:pPr>
            <a:r>
              <a:rPr lang="en-US" sz="750" spc="16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AI FRONTIER  ·  위례사업소</a:t>
            </a:r>
            <a:endParaRPr lang="en-US" sz="750" dirty="0"/>
          </a:p>
        </p:txBody>
      </p:sp>
      <p:sp>
        <p:nvSpPr>
          <p:cNvPr id="5" name="Text 3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12</a:t>
            </a:r>
            <a:endParaRPr lang="en-US" sz="825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800100"/>
            <a:ext cx="10287000" cy="39605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119"/>
              </a:lnSpc>
              <a:buNone/>
            </a:pPr>
            <a:r>
              <a:rPr lang="en-US" sz="247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어려웠던 점</a:t>
            </a:r>
            <a:endParaRPr lang="en-US" sz="2475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276350"/>
            <a:ext cx="10287000" cy="250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976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일이었습니다. 막히는 데가 많았고, 하나씩 뚫으면서 배웠습니다.</a:t>
            </a:r>
            <a:endParaRPr lang="en-US" sz="1275" dirty="0"/>
          </a:p>
        </p:txBody>
      </p:sp>
      <p:sp>
        <p:nvSpPr>
          <p:cNvPr id="8" name="Shape 6"/>
          <p:cNvSpPr/>
          <p:nvPr/>
        </p:nvSpPr>
        <p:spPr>
          <a:xfrm>
            <a:off x="685800" y="1781175"/>
            <a:ext cx="52959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85800" y="1657350"/>
            <a:ext cx="1304925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8191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938" dirty="0"/>
          </a:p>
        </p:txBody>
      </p:sp>
      <p:sp>
        <p:nvSpPr>
          <p:cNvPr id="11" name="Text 9"/>
          <p:cNvSpPr txBox="1"/>
          <p:nvPr/>
        </p:nvSpPr>
        <p:spPr>
          <a:xfrm>
            <a:off x="1009650" y="1714500"/>
            <a:ext cx="866775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시작한 계기</a:t>
            </a:r>
            <a:endParaRPr lang="en-US" sz="1013" dirty="0"/>
          </a:p>
        </p:txBody>
      </p:sp>
      <p:sp>
        <p:nvSpPr>
          <p:cNvPr id="12" name="Text 10"/>
          <p:cNvSpPr txBox="1"/>
          <p:nvPr/>
        </p:nvSpPr>
        <p:spPr>
          <a:xfrm>
            <a:off x="876300" y="2019300"/>
            <a:ext cx="4914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새 분야를 공부해서 직접 풀어 보고 싶었습니다.</a:t>
            </a:r>
            <a:endParaRPr lang="en-US" sz="1125" dirty="0"/>
          </a:p>
        </p:txBody>
      </p:sp>
      <p:sp>
        <p:nvSpPr>
          <p:cNvPr id="13" name="Text 11"/>
          <p:cNvSpPr txBox="1"/>
          <p:nvPr/>
        </p:nvSpPr>
        <p:spPr>
          <a:xfrm>
            <a:off x="876300" y="2247900"/>
            <a:ext cx="4914900" cy="63531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51"/>
              </a:lnSpc>
              <a:buNone/>
            </a:pPr>
            <a:r>
              <a:rPr lang="en-US" sz="863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업무를 줄이는 것만 생각했다면 엑셀을 손보고 끝냈을 것입니다. AI 를 써서 해 본 적 없는 분야를 공부하고 스스로 풀어내는 성취감을 맛보고 싶었습니다. 그 마음이 끝까지 가게 한 힘이었습니다.</a:t>
            </a:r>
            <a:endParaRPr lang="en-US" sz="863" dirty="0"/>
          </a:p>
        </p:txBody>
      </p:sp>
      <p:sp>
        <p:nvSpPr>
          <p:cNvPr id="14" name="Shape 12"/>
          <p:cNvSpPr/>
          <p:nvPr/>
        </p:nvSpPr>
        <p:spPr>
          <a:xfrm>
            <a:off x="6134100" y="1781175"/>
            <a:ext cx="5372100" cy="10953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6134100" y="1657350"/>
            <a:ext cx="11620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67450" y="17145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938" dirty="0"/>
          </a:p>
        </p:txBody>
      </p:sp>
      <p:sp>
        <p:nvSpPr>
          <p:cNvPr id="17" name="Text 15"/>
          <p:cNvSpPr txBox="1"/>
          <p:nvPr/>
        </p:nvSpPr>
        <p:spPr>
          <a:xfrm>
            <a:off x="6457950" y="1714500"/>
            <a:ext cx="7239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역할 분담</a:t>
            </a:r>
            <a:endParaRPr lang="en-US" sz="1013" dirty="0"/>
          </a:p>
        </p:txBody>
      </p:sp>
      <p:sp>
        <p:nvSpPr>
          <p:cNvPr id="18" name="Text 16"/>
          <p:cNvSpPr txBox="1"/>
          <p:nvPr/>
        </p:nvSpPr>
        <p:spPr>
          <a:xfrm>
            <a:off x="10887075" y="1847850"/>
            <a:ext cx="50482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두 사람</a:t>
            </a:r>
            <a:endParaRPr lang="en-US" sz="825" dirty="0"/>
          </a:p>
        </p:txBody>
      </p:sp>
      <p:sp>
        <p:nvSpPr>
          <p:cNvPr id="19" name="Shape 17"/>
          <p:cNvSpPr/>
          <p:nvPr/>
        </p:nvSpPr>
        <p:spPr>
          <a:xfrm>
            <a:off x="6324600" y="2038350"/>
            <a:ext cx="38100" cy="190500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47700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정상우M</a:t>
            </a:r>
            <a:endParaRPr lang="en-US" sz="1125" dirty="0"/>
          </a:p>
        </p:txBody>
      </p:sp>
      <p:sp>
        <p:nvSpPr>
          <p:cNvPr id="21" name="Text 19"/>
          <p:cNvSpPr txBox="1"/>
          <p:nvPr/>
        </p:nvSpPr>
        <p:spPr>
          <a:xfrm>
            <a:off x="647700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데이터 취합 · 분석</a:t>
            </a:r>
            <a:endParaRPr lang="en-US" sz="863" dirty="0"/>
          </a:p>
        </p:txBody>
      </p:sp>
      <p:sp>
        <p:nvSpPr>
          <p:cNvPr id="22" name="Text 20"/>
          <p:cNvSpPr txBox="1"/>
          <p:nvPr/>
        </p:nvSpPr>
        <p:spPr>
          <a:xfrm>
            <a:off x="647700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결과를 모아 정리하고, 병행운전에서 문제점과 개선사항을 찾아 넘겼습니다.</a:t>
            </a:r>
            <a:endParaRPr lang="en-US" sz="825" dirty="0"/>
          </a:p>
        </p:txBody>
      </p:sp>
      <p:sp>
        <p:nvSpPr>
          <p:cNvPr id="23" name="Shape 21"/>
          <p:cNvSpPr/>
          <p:nvPr/>
        </p:nvSpPr>
        <p:spPr>
          <a:xfrm>
            <a:off x="8782050" y="2000250"/>
            <a:ext cx="0" cy="80010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934450" y="2038350"/>
            <a:ext cx="38100" cy="19050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9086850" y="2019300"/>
            <a:ext cx="2247900" cy="1785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06"/>
              </a:lnSpc>
              <a:buNone/>
            </a:pPr>
            <a:r>
              <a:rPr lang="en-US" sz="1125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</a:t>
            </a:r>
            <a:endParaRPr lang="en-US" sz="1125" dirty="0"/>
          </a:p>
        </p:txBody>
      </p:sp>
      <p:sp>
        <p:nvSpPr>
          <p:cNvPr id="26" name="Text 24"/>
          <p:cNvSpPr txBox="1"/>
          <p:nvPr/>
        </p:nvSpPr>
        <p:spPr>
          <a:xfrm>
            <a:off x="9086850" y="2228850"/>
            <a:ext cx="2247900" cy="1314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35"/>
              </a:lnSpc>
              <a:buNone/>
            </a:pPr>
            <a:r>
              <a:rPr lang="en-US" sz="863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 개발 · 반영</a:t>
            </a:r>
            <a:endParaRPr lang="en-US" sz="863" dirty="0"/>
          </a:p>
        </p:txBody>
      </p:sp>
      <p:sp>
        <p:nvSpPr>
          <p:cNvPr id="27" name="Text 25"/>
          <p:cNvSpPr txBox="1"/>
          <p:nvPr/>
        </p:nvSpPr>
        <p:spPr>
          <a:xfrm>
            <a:off x="9086850" y="2400300"/>
            <a:ext cx="2247900" cy="56578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14"/>
              </a:lnSpc>
              <a:buNone/>
            </a:pPr>
            <a:r>
              <a:rPr lang="en-US" sz="825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받은 문제점과 개선사항을 도구에 고쳐 넣었습니다. 시운전에서 드러난 것도 그때그때 반영했습니다.</a:t>
            </a:r>
            <a:endParaRPr lang="en-US" sz="825" dirty="0"/>
          </a:p>
        </p:txBody>
      </p:sp>
      <p:sp>
        <p:nvSpPr>
          <p:cNvPr id="28" name="Shape 26"/>
          <p:cNvSpPr/>
          <p:nvPr/>
        </p:nvSpPr>
        <p:spPr>
          <a:xfrm>
            <a:off x="685800" y="3114675"/>
            <a:ext cx="10820400" cy="298132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85800" y="2990850"/>
            <a:ext cx="188595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819150" y="3048000"/>
            <a:ext cx="1524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38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938" dirty="0"/>
          </a:p>
        </p:txBody>
      </p:sp>
      <p:sp>
        <p:nvSpPr>
          <p:cNvPr id="31" name="Text 29"/>
          <p:cNvSpPr txBox="1"/>
          <p:nvPr/>
        </p:nvSpPr>
        <p:spPr>
          <a:xfrm>
            <a:off x="1009650" y="3048000"/>
            <a:ext cx="144780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막혔던 곳 다섯 군데</a:t>
            </a:r>
            <a:endParaRPr lang="en-US" sz="1013" dirty="0"/>
          </a:p>
        </p:txBody>
      </p:sp>
      <p:sp>
        <p:nvSpPr>
          <p:cNvPr id="32" name="Text 30"/>
          <p:cNvSpPr txBox="1"/>
          <p:nvPr/>
        </p:nvSpPr>
        <p:spPr>
          <a:xfrm>
            <a:off x="9696450" y="3181350"/>
            <a:ext cx="1695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막힌 것 → 한 일 → 남은 것</a:t>
            </a:r>
            <a:endParaRPr lang="en-US" sz="825" dirty="0"/>
          </a:p>
        </p:txBody>
      </p:sp>
      <p:sp>
        <p:nvSpPr>
          <p:cNvPr id="33" name="Text 31"/>
          <p:cNvSpPr txBox="1"/>
          <p:nvPr/>
        </p:nvSpPr>
        <p:spPr>
          <a:xfrm>
            <a:off x="876300" y="3352800"/>
            <a:ext cx="2857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막혔던 것</a:t>
            </a:r>
            <a:endParaRPr lang="en-US" sz="788" dirty="0"/>
          </a:p>
        </p:txBody>
      </p:sp>
      <p:sp>
        <p:nvSpPr>
          <p:cNvPr id="34" name="Text 32"/>
          <p:cNvSpPr txBox="1"/>
          <p:nvPr/>
        </p:nvSpPr>
        <p:spPr>
          <a:xfrm>
            <a:off x="3848100" y="3352800"/>
            <a:ext cx="476250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한 일</a:t>
            </a:r>
            <a:endParaRPr lang="en-US" sz="788" dirty="0"/>
          </a:p>
        </p:txBody>
      </p:sp>
      <p:sp>
        <p:nvSpPr>
          <p:cNvPr id="35" name="Text 33"/>
          <p:cNvSpPr txBox="1"/>
          <p:nvPr/>
        </p:nvSpPr>
        <p:spPr>
          <a:xfrm>
            <a:off x="8763000" y="3352800"/>
            <a:ext cx="2495550" cy="1250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984"/>
              </a:lnSpc>
              <a:buNone/>
            </a:pPr>
            <a:r>
              <a:rPr lang="en-US" sz="788" b="1" spc="15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남은 것</a:t>
            </a:r>
            <a:endParaRPr lang="en-US" sz="788" dirty="0"/>
          </a:p>
        </p:txBody>
      </p:sp>
      <p:sp>
        <p:nvSpPr>
          <p:cNvPr id="36" name="Shape 34"/>
          <p:cNvSpPr/>
          <p:nvPr/>
        </p:nvSpPr>
        <p:spPr>
          <a:xfrm>
            <a:off x="876300" y="3505200"/>
            <a:ext cx="1038225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876300" y="36004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분야였다</a:t>
            </a:r>
            <a:endParaRPr lang="en-US" sz="938" dirty="0"/>
          </a:p>
        </p:txBody>
      </p:sp>
      <p:sp>
        <p:nvSpPr>
          <p:cNvPr id="38" name="Text 36"/>
          <p:cNvSpPr txBox="1"/>
          <p:nvPr/>
        </p:nvSpPr>
        <p:spPr>
          <a:xfrm>
            <a:off x="3848100" y="36004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예측·보정 모델도, 공급가능용량 테스트 절차도 우리 일이 아니었습니다. AI 를 길잡이로 삼아 공부하고, 담당자에게 자문을 구하고, 시험을 직접 해 봤습니다.</a:t>
            </a:r>
            <a:endParaRPr lang="en-US" sz="863" dirty="0"/>
          </a:p>
        </p:txBody>
      </p:sp>
      <p:sp>
        <p:nvSpPr>
          <p:cNvPr id="39" name="Shape 37"/>
          <p:cNvSpPr/>
          <p:nvPr/>
        </p:nvSpPr>
        <p:spPr>
          <a:xfrm>
            <a:off x="8763000" y="36195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8915400" y="36004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절차를 우리 말로 설명할 수 있게 됐습니다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876300" y="40195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2" name="Text 40"/>
          <p:cNvSpPr txBox="1"/>
          <p:nvPr/>
        </p:nvSpPr>
        <p:spPr>
          <a:xfrm>
            <a:off x="876300" y="40957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RiMS 에서 값을 어떻게 받아오나</a:t>
            </a:r>
            <a:endParaRPr lang="en-US" sz="938" dirty="0"/>
          </a:p>
        </p:txBody>
      </p:sp>
      <p:sp>
        <p:nvSpPr>
          <p:cNvPr id="43" name="Text 41"/>
          <p:cNvSpPr txBox="1"/>
          <p:nvPr/>
        </p:nvSpPr>
        <p:spPr>
          <a:xfrm>
            <a:off x="3848100" y="40957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엑셀에 붙어 있던 기능을 뜯어 봤습니다. 같은 방식으로 붙이고 값이 오가는지 먼저 시험했습니다.</a:t>
            </a:r>
            <a:endParaRPr lang="en-US" sz="863" dirty="0"/>
          </a:p>
        </p:txBody>
      </p:sp>
      <p:sp>
        <p:nvSpPr>
          <p:cNvPr id="44" name="Shape 42"/>
          <p:cNvSpPr/>
          <p:nvPr/>
        </p:nvSpPr>
        <p:spPr>
          <a:xfrm>
            <a:off x="8763000" y="41148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45" name="Text 43"/>
          <p:cNvSpPr txBox="1"/>
          <p:nvPr/>
        </p:nvSpPr>
        <p:spPr>
          <a:xfrm>
            <a:off x="8915400" y="40957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계측값을 RiMS 에서 자동으로 받습니다</a:t>
            </a:r>
            <a:endParaRPr lang="en-US" sz="900" dirty="0"/>
          </a:p>
        </p:txBody>
      </p:sp>
      <p:sp>
        <p:nvSpPr>
          <p:cNvPr id="46" name="Shape 44"/>
          <p:cNvSpPr/>
          <p:nvPr/>
        </p:nvSpPr>
        <p:spPr>
          <a:xfrm>
            <a:off x="876300" y="45148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47" name="Text 45"/>
          <p:cNvSpPr txBox="1"/>
          <p:nvPr/>
        </p:nvSpPr>
        <p:spPr>
          <a:xfrm>
            <a:off x="876300" y="45910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어떤 회귀 모델을 써야 하나</a:t>
            </a:r>
            <a:endParaRPr lang="en-US" sz="938" dirty="0"/>
          </a:p>
        </p:txBody>
      </p:sp>
      <p:sp>
        <p:nvSpPr>
          <p:cNvPr id="48" name="Text 46"/>
          <p:cNvSpPr txBox="1"/>
          <p:nvPr/>
        </p:nvSpPr>
        <p:spPr>
          <a:xfrm>
            <a:off x="3848100" y="45910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후보 7가지를 놓고 같은 데이터로 겨루게 했습니다. 사람이 아니라 성적이 골랐습니다.</a:t>
            </a:r>
            <a:endParaRPr lang="en-US" sz="863" dirty="0"/>
          </a:p>
        </p:txBody>
      </p:sp>
      <p:sp>
        <p:nvSpPr>
          <p:cNvPr id="49" name="Shape 47"/>
          <p:cNvSpPr/>
          <p:nvPr/>
        </p:nvSpPr>
        <p:spPr>
          <a:xfrm>
            <a:off x="8763000" y="46101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0" name="Text 48"/>
          <p:cNvSpPr txBox="1"/>
          <p:nvPr/>
        </p:nvSpPr>
        <p:spPr>
          <a:xfrm>
            <a:off x="8915400" y="45910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성적으로 고른 회귀 모델 하나</a:t>
            </a:r>
            <a:endParaRPr lang="en-US" sz="900" dirty="0"/>
          </a:p>
        </p:txBody>
      </p:sp>
      <p:sp>
        <p:nvSpPr>
          <p:cNvPr id="51" name="Shape 49"/>
          <p:cNvSpPr/>
          <p:nvPr/>
        </p:nvSpPr>
        <p:spPr>
          <a:xfrm>
            <a:off x="876300" y="50101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2" name="Text 50"/>
          <p:cNvSpPr txBox="1"/>
          <p:nvPr/>
        </p:nvSpPr>
        <p:spPr>
          <a:xfrm>
            <a:off x="876300" y="50863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시험이 적어서 곡선을 믿을 수 있나</a:t>
            </a:r>
            <a:endParaRPr lang="en-US" sz="938" dirty="0"/>
          </a:p>
        </p:txBody>
      </p:sp>
      <p:sp>
        <p:nvSpPr>
          <p:cNvPr id="53" name="Text 51"/>
          <p:cNvSpPr txBox="1"/>
          <p:nvPr/>
        </p:nvSpPr>
        <p:spPr>
          <a:xfrm>
            <a:off x="3848100" y="50863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회를 가리고 나머지로 그 회를 맞혀 보는 검사를 도구 안에 넣었습니다.</a:t>
            </a:r>
            <a:endParaRPr lang="en-US" sz="863" dirty="0"/>
          </a:p>
        </p:txBody>
      </p:sp>
      <p:sp>
        <p:nvSpPr>
          <p:cNvPr id="54" name="Shape 52"/>
          <p:cNvSpPr/>
          <p:nvPr/>
        </p:nvSpPr>
        <p:spPr>
          <a:xfrm>
            <a:off x="8763000" y="51054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55" name="Text 53"/>
          <p:cNvSpPr txBox="1"/>
          <p:nvPr/>
        </p:nvSpPr>
        <p:spPr>
          <a:xfrm>
            <a:off x="8915400" y="50863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실적이 늘 때마다 다시 검사합니다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76300" y="5505450"/>
            <a:ext cx="1038225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57" name="Text 55"/>
          <p:cNvSpPr txBox="1"/>
          <p:nvPr/>
        </p:nvSpPr>
        <p:spPr>
          <a:xfrm>
            <a:off x="876300" y="5581650"/>
            <a:ext cx="2857500" cy="30956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9"/>
              </a:lnSpc>
              <a:buNone/>
            </a:pPr>
            <a:r>
              <a:rPr lang="en-US" sz="938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만든 계산이 맞는지</a:t>
            </a:r>
            <a:endParaRPr lang="en-US" sz="938" dirty="0"/>
          </a:p>
        </p:txBody>
      </p:sp>
      <p:sp>
        <p:nvSpPr>
          <p:cNvPr id="58" name="Text 56"/>
          <p:cNvSpPr txBox="1"/>
          <p:nvPr/>
        </p:nvSpPr>
        <p:spPr>
          <a:xfrm>
            <a:off x="3848100" y="5581650"/>
            <a:ext cx="4762500" cy="44362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64"/>
              </a:lnSpc>
              <a:buNone/>
            </a:pPr>
            <a:r>
              <a:rPr lang="en-US" sz="863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기존 엑셀과 답이 같은지 온도마다 하나씩 맞춰 봤습니다. 어긋난 여섯 군데를 찾아 고쳤습니다.</a:t>
            </a:r>
            <a:endParaRPr lang="en-US" sz="863" dirty="0"/>
          </a:p>
        </p:txBody>
      </p:sp>
      <p:sp>
        <p:nvSpPr>
          <p:cNvPr id="59" name="Shape 57"/>
          <p:cNvSpPr/>
          <p:nvPr/>
        </p:nvSpPr>
        <p:spPr>
          <a:xfrm>
            <a:off x="8763000" y="5600700"/>
            <a:ext cx="38100" cy="285750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60" name="Text 58"/>
          <p:cNvSpPr txBox="1"/>
          <p:nvPr/>
        </p:nvSpPr>
        <p:spPr>
          <a:xfrm>
            <a:off x="8915400" y="5581650"/>
            <a:ext cx="234315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70"/>
              </a:lnSpc>
              <a:buNone/>
            </a:pPr>
            <a:r>
              <a:rPr lang="en-US" sz="900" b="1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엑셀과 같은 답을 냅니다</a:t>
            </a:r>
            <a:endParaRPr lang="en-US" sz="900" dirty="0"/>
          </a:p>
        </p:txBody>
      </p:sp>
      <p:sp>
        <p:nvSpPr>
          <p:cNvPr id="61" name="Shape 59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>
            <a:off x="685800" y="6296025"/>
            <a:ext cx="438150" cy="190500"/>
          </a:xfrm>
          <a:prstGeom prst="rect">
            <a:avLst>
              <a:gd name="adj" fmla="val 96000"/>
            </a:avLst>
          </a:prstGeom>
          <a:solidFill>
            <a:srgbClr val="EA002C"/>
          </a:solidFill>
          <a:ln/>
        </p:spPr>
      </p:sp>
      <p:sp>
        <p:nvSpPr>
          <p:cNvPr id="63" name="Text 61"/>
          <p:cNvSpPr txBox="1"/>
          <p:nvPr/>
        </p:nvSpPr>
        <p:spPr>
          <a:xfrm>
            <a:off x="685800" y="6324600"/>
            <a:ext cx="4381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90"/>
              </a:lnSpc>
              <a:buNone/>
            </a:pPr>
            <a:r>
              <a:rPr lang="en-US" sz="825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결론</a:t>
            </a:r>
            <a:endParaRPr lang="en-US" sz="825" dirty="0"/>
          </a:p>
        </p:txBody>
      </p:sp>
      <p:sp>
        <p:nvSpPr>
          <p:cNvPr id="64" name="Text 62"/>
          <p:cNvSpPr txBox="1"/>
          <p:nvPr/>
        </p:nvSpPr>
        <p:spPr>
          <a:xfrm>
            <a:off x="1238250" y="6305550"/>
            <a:ext cx="9601200" cy="2066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627"/>
              </a:lnSpc>
              <a:buNone/>
            </a:pPr>
            <a:r>
              <a:rPr lang="en-US" sz="1163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해 본 적 없는 분야를 공부해서 도구 하나로 풀어냈습니다. 그 과정이 이 과제의 절반입니다.</a:t>
            </a:r>
            <a:endParaRPr lang="en-US" sz="1163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10953750" y="6553200"/>
            <a:ext cx="552450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13</a:t>
            </a:r>
            <a:endParaRPr lang="en-US" sz="825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342900"/>
            <a:ext cx="6667500" cy="14287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125"/>
              </a:lnSpc>
              <a:buNone/>
            </a:pPr>
            <a:r>
              <a:rPr lang="en-US" sz="900" spc="18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나래에너지서비스 위례사업소   ·   2026. 09.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009650"/>
            <a:ext cx="6667500" cy="6720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5292"/>
              </a:lnSpc>
              <a:buNone/>
            </a:pPr>
            <a:r>
              <a:rPr lang="en-US" sz="4200" b="1" dirty="0">
                <a:solidFill>
                  <a:srgbClr val="1A1A1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감사합니다</a:t>
            </a:r>
            <a:endParaRPr lang="en-US" sz="4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809750"/>
            <a:ext cx="8572500" cy="2266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785"/>
              </a:lnSpc>
              <a:buNone/>
            </a:pPr>
            <a:r>
              <a:rPr lang="en-US" sz="1275" dirty="0">
                <a:solidFill>
                  <a:srgbClr val="3333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시험 40회가 만든 곡선입니다.</a:t>
            </a:r>
            <a:endParaRPr lang="en-US" sz="1275" dirty="0"/>
          </a:p>
        </p:txBody>
      </p:sp>
      <p:sp>
        <p:nvSpPr>
          <p:cNvPr id="6" name="Shape 4"/>
          <p:cNvSpPr/>
          <p:nvPr/>
        </p:nvSpPr>
        <p:spPr>
          <a:xfrm>
            <a:off x="685800" y="2447925"/>
            <a:ext cx="10820400" cy="2886075"/>
          </a:xfrm>
          <a:prstGeom prst="rect">
            <a:avLst/>
          </a:prstGeom>
          <a:solidFill>
            <a:srgbClr val="FFFFFF"/>
          </a:solidFill>
          <a:ln w="12700">
            <a:solidFill>
              <a:srgbClr val="C9D0D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685800" y="2324100"/>
            <a:ext cx="1714500" cy="247650"/>
          </a:xfrm>
          <a:prstGeom prst="rect">
            <a:avLst>
              <a:gd name="adj" fmla="val 44308"/>
            </a:avLst>
          </a:prstGeom>
          <a:solidFill>
            <a:srgbClr val="EA002C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819150" y="2381250"/>
            <a:ext cx="1466850" cy="1543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1013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외기온도별 신고 출력</a:t>
            </a:r>
            <a:endParaRPr lang="en-US" sz="1013" dirty="0"/>
          </a:p>
        </p:txBody>
      </p:sp>
      <p:sp>
        <p:nvSpPr>
          <p:cNvPr id="9" name="Text 7"/>
          <p:cNvSpPr txBox="1"/>
          <p:nvPr/>
        </p:nvSpPr>
        <p:spPr>
          <a:xfrm>
            <a:off x="9572625" y="2514600"/>
            <a:ext cx="1819275" cy="1257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90"/>
              </a:lnSpc>
              <a:buNone/>
            </a:pPr>
            <a:r>
              <a:rPr lang="en-US" sz="825" dirty="0">
                <a:solidFill>
                  <a:srgbClr val="8C8C8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단위 MW · 검은 점은 실제 시험</a:t>
            </a:r>
            <a:endParaRPr lang="en-US" sz="825" dirty="0"/>
          </a:p>
        </p:txBody>
      </p:sp>
      <p:sp>
        <p:nvSpPr>
          <p:cNvPr id="10" name="Shape 8"/>
          <p:cNvSpPr/>
          <p:nvPr/>
        </p:nvSpPr>
        <p:spPr>
          <a:xfrm>
            <a:off x="1676400" y="495300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143000" y="488632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350</a:t>
            </a:r>
            <a:endParaRPr lang="en-US" sz="788" dirty="0"/>
          </a:p>
        </p:txBody>
      </p:sp>
      <p:sp>
        <p:nvSpPr>
          <p:cNvPr id="12" name="Shape 10"/>
          <p:cNvSpPr/>
          <p:nvPr/>
        </p:nvSpPr>
        <p:spPr>
          <a:xfrm>
            <a:off x="1676400" y="4516438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1143000" y="4449763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375</a:t>
            </a:r>
            <a:endParaRPr lang="en-US" sz="788" dirty="0"/>
          </a:p>
        </p:txBody>
      </p:sp>
      <p:sp>
        <p:nvSpPr>
          <p:cNvPr id="14" name="Shape 12"/>
          <p:cNvSpPr/>
          <p:nvPr/>
        </p:nvSpPr>
        <p:spPr>
          <a:xfrm>
            <a:off x="1676400" y="4079875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1143000" y="4013200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400</a:t>
            </a:r>
            <a:endParaRPr lang="en-US" sz="788" dirty="0"/>
          </a:p>
        </p:txBody>
      </p:sp>
      <p:sp>
        <p:nvSpPr>
          <p:cNvPr id="16" name="Shape 14"/>
          <p:cNvSpPr/>
          <p:nvPr/>
        </p:nvSpPr>
        <p:spPr>
          <a:xfrm>
            <a:off x="1676400" y="3643313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143000" y="3576638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425</a:t>
            </a:r>
            <a:endParaRPr lang="en-US" sz="788" dirty="0"/>
          </a:p>
        </p:txBody>
      </p:sp>
      <p:sp>
        <p:nvSpPr>
          <p:cNvPr id="18" name="Shape 16"/>
          <p:cNvSpPr/>
          <p:nvPr/>
        </p:nvSpPr>
        <p:spPr>
          <a:xfrm>
            <a:off x="1676400" y="3206750"/>
            <a:ext cx="9601200" cy="0"/>
          </a:xfrm>
          <a:prstGeom prst="line">
            <a:avLst/>
          </a:prstGeom>
          <a:noFill/>
          <a:ln w="12700">
            <a:solidFill>
              <a:srgbClr val="DEE3E9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1143000" y="3140075"/>
            <a:ext cx="43815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450</a:t>
            </a:r>
            <a:endParaRPr lang="en-US" sz="788" dirty="0"/>
          </a:p>
        </p:txBody>
      </p:sp>
      <p:sp>
        <p:nvSpPr>
          <p:cNvPr id="20" name="Text 18"/>
          <p:cNvSpPr txBox="1"/>
          <p:nvPr/>
        </p:nvSpPr>
        <p:spPr>
          <a:xfrm>
            <a:off x="33718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0℃</a:t>
            </a:r>
            <a:endParaRPr lang="en-US" sz="788" dirty="0"/>
          </a:p>
        </p:txBody>
      </p:sp>
      <p:sp>
        <p:nvSpPr>
          <p:cNvPr id="21" name="Text 19"/>
          <p:cNvSpPr txBox="1"/>
          <p:nvPr/>
        </p:nvSpPr>
        <p:spPr>
          <a:xfrm>
            <a:off x="52578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10</a:t>
            </a:r>
            <a:endParaRPr lang="en-US" sz="788" dirty="0"/>
          </a:p>
        </p:txBody>
      </p:sp>
      <p:sp>
        <p:nvSpPr>
          <p:cNvPr id="22" name="Text 20"/>
          <p:cNvSpPr txBox="1"/>
          <p:nvPr/>
        </p:nvSpPr>
        <p:spPr>
          <a:xfrm>
            <a:off x="71437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</a:t>
            </a:r>
            <a:endParaRPr lang="en-US" sz="788" dirty="0"/>
          </a:p>
        </p:txBody>
      </p:sp>
      <p:sp>
        <p:nvSpPr>
          <p:cNvPr id="23" name="Text 21"/>
          <p:cNvSpPr txBox="1"/>
          <p:nvPr/>
        </p:nvSpPr>
        <p:spPr>
          <a:xfrm>
            <a:off x="902970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30</a:t>
            </a:r>
            <a:endParaRPr lang="en-US" sz="788" dirty="0"/>
          </a:p>
        </p:txBody>
      </p:sp>
      <p:sp>
        <p:nvSpPr>
          <p:cNvPr id="24" name="Text 22"/>
          <p:cNvSpPr txBox="1"/>
          <p:nvPr/>
        </p:nvSpPr>
        <p:spPr>
          <a:xfrm>
            <a:off x="10915650" y="5029200"/>
            <a:ext cx="457200" cy="12001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ts val="945"/>
              </a:lnSpc>
              <a:buNone/>
            </a:pPr>
            <a:r>
              <a:rPr lang="en-US" sz="788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40</a:t>
            </a:r>
            <a:endParaRPr lang="en-US" sz="788" dirty="0"/>
          </a:p>
        </p:txBody>
      </p:sp>
      <p:sp>
        <p:nvSpPr>
          <p:cNvPr id="25" name="Shape 23"/>
          <p:cNvSpPr/>
          <p:nvPr/>
        </p:nvSpPr>
        <p:spPr>
          <a:xfrm flipV="1">
            <a:off x="1714500" y="3131487"/>
            <a:ext cx="377190" cy="2165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 flipV="1">
            <a:off x="1714500" y="2978166"/>
            <a:ext cx="377190" cy="2165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2091690" y="3114548"/>
            <a:ext cx="377190" cy="169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28" name="Shape 26"/>
          <p:cNvSpPr/>
          <p:nvPr/>
        </p:nvSpPr>
        <p:spPr>
          <a:xfrm flipV="1">
            <a:off x="2091690" y="2961227"/>
            <a:ext cx="377190" cy="1693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2468880" y="3103023"/>
            <a:ext cx="377190" cy="1152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 flipV="1">
            <a:off x="2468880" y="2949702"/>
            <a:ext cx="377190" cy="1152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2846070" y="3067749"/>
            <a:ext cx="377190" cy="3527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 flipV="1">
            <a:off x="2846070" y="2914428"/>
            <a:ext cx="377190" cy="3527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3223260" y="3025315"/>
            <a:ext cx="377190" cy="4243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 flipV="1">
            <a:off x="3223260" y="2894695"/>
            <a:ext cx="377190" cy="1973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00450" y="3025315"/>
            <a:ext cx="377190" cy="2933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3600450" y="2894695"/>
            <a:ext cx="377190" cy="303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977640" y="3054652"/>
            <a:ext cx="377190" cy="319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3977640" y="2925080"/>
            <a:ext cx="377190" cy="5116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4354830" y="3086608"/>
            <a:ext cx="377190" cy="3579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354830" y="2976245"/>
            <a:ext cx="377190" cy="5134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4732020" y="3122406"/>
            <a:ext cx="377190" cy="40688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732020" y="3027585"/>
            <a:ext cx="377190" cy="4767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5109210" y="3163094"/>
            <a:ext cx="377190" cy="44704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5109210" y="3075257"/>
            <a:ext cx="377190" cy="42259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5486400" y="3207798"/>
            <a:ext cx="377190" cy="494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6" name="Shape 44"/>
          <p:cNvSpPr/>
          <p:nvPr/>
        </p:nvSpPr>
        <p:spPr>
          <a:xfrm>
            <a:off x="5486400" y="3117517"/>
            <a:ext cx="377190" cy="41212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>
            <a:off x="5863590" y="3257217"/>
            <a:ext cx="377190" cy="663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48" name="Shape 46"/>
          <p:cNvSpPr/>
          <p:nvPr/>
        </p:nvSpPr>
        <p:spPr>
          <a:xfrm>
            <a:off x="5863590" y="3158728"/>
            <a:ext cx="377190" cy="5954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>
            <a:off x="6240780" y="3323574"/>
            <a:ext cx="377190" cy="7246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0" name="Shape 48"/>
          <p:cNvSpPr/>
          <p:nvPr/>
        </p:nvSpPr>
        <p:spPr>
          <a:xfrm>
            <a:off x="6240780" y="3218275"/>
            <a:ext cx="377190" cy="74216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617970" y="3396043"/>
            <a:ext cx="377190" cy="7631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2" name="Shape 50"/>
          <p:cNvSpPr/>
          <p:nvPr/>
        </p:nvSpPr>
        <p:spPr>
          <a:xfrm>
            <a:off x="6617970" y="3292491"/>
            <a:ext cx="377190" cy="91503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>
            <a:off x="6995160" y="3472355"/>
            <a:ext cx="377190" cy="83122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4" name="Shape 52"/>
          <p:cNvSpPr/>
          <p:nvPr/>
        </p:nvSpPr>
        <p:spPr>
          <a:xfrm>
            <a:off x="6995160" y="3383994"/>
            <a:ext cx="377190" cy="11158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7372350" y="3555476"/>
            <a:ext cx="377190" cy="904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6" name="Shape 54"/>
          <p:cNvSpPr/>
          <p:nvPr/>
        </p:nvSpPr>
        <p:spPr>
          <a:xfrm>
            <a:off x="7372350" y="3495580"/>
            <a:ext cx="377190" cy="12642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>
            <a:off x="7749540" y="3645932"/>
            <a:ext cx="377190" cy="9761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58" name="Shape 56"/>
          <p:cNvSpPr/>
          <p:nvPr/>
        </p:nvSpPr>
        <p:spPr>
          <a:xfrm>
            <a:off x="7749540" y="3622008"/>
            <a:ext cx="377190" cy="13289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>
            <a:off x="8126730" y="3743547"/>
            <a:ext cx="377190" cy="7875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0" name="Shape 58"/>
          <p:cNvSpPr/>
          <p:nvPr/>
        </p:nvSpPr>
        <p:spPr>
          <a:xfrm>
            <a:off x="8126730" y="3754898"/>
            <a:ext cx="377190" cy="104077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8503920" y="3822303"/>
            <a:ext cx="377190" cy="10983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2" name="Shape 60"/>
          <p:cNvSpPr/>
          <p:nvPr/>
        </p:nvSpPr>
        <p:spPr>
          <a:xfrm>
            <a:off x="8503920" y="3858974"/>
            <a:ext cx="377190" cy="11961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>
            <a:off x="8881110" y="3932142"/>
            <a:ext cx="377190" cy="118745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4" name="Shape 62"/>
          <p:cNvSpPr/>
          <p:nvPr/>
        </p:nvSpPr>
        <p:spPr>
          <a:xfrm>
            <a:off x="8881110" y="3978592"/>
            <a:ext cx="377190" cy="112284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9258300" y="4050887"/>
            <a:ext cx="377190" cy="131143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6" name="Shape 64"/>
          <p:cNvSpPr/>
          <p:nvPr/>
        </p:nvSpPr>
        <p:spPr>
          <a:xfrm>
            <a:off x="9258300" y="4090876"/>
            <a:ext cx="377190" cy="11280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>
            <a:off x="9635490" y="4182031"/>
            <a:ext cx="377190" cy="141621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68" name="Shape 66"/>
          <p:cNvSpPr/>
          <p:nvPr/>
        </p:nvSpPr>
        <p:spPr>
          <a:xfrm>
            <a:off x="9635490" y="4203684"/>
            <a:ext cx="377190" cy="118221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>
            <a:off x="10012680" y="4323652"/>
            <a:ext cx="377190" cy="148257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0" name="Shape 68"/>
          <p:cNvSpPr/>
          <p:nvPr/>
        </p:nvSpPr>
        <p:spPr>
          <a:xfrm>
            <a:off x="10012680" y="4321905"/>
            <a:ext cx="377190" cy="126778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>
            <a:off x="10389870" y="4471908"/>
            <a:ext cx="377190" cy="150876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2" name="Shape 70"/>
          <p:cNvSpPr/>
          <p:nvPr/>
        </p:nvSpPr>
        <p:spPr>
          <a:xfrm>
            <a:off x="10389870" y="4448683"/>
            <a:ext cx="377190" cy="137430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>
            <a:off x="10767060" y="4622784"/>
            <a:ext cx="377190" cy="165719"/>
          </a:xfrm>
          <a:prstGeom prst="line">
            <a:avLst/>
          </a:prstGeom>
          <a:noFill/>
          <a:ln w="17780">
            <a:solidFill>
              <a:srgbClr val="6E7780"/>
            </a:solidFill>
            <a:prstDash val="dash"/>
          </a:ln>
        </p:spPr>
      </p:sp>
      <p:sp>
        <p:nvSpPr>
          <p:cNvPr id="74" name="Shape 72"/>
          <p:cNvSpPr/>
          <p:nvPr/>
        </p:nvSpPr>
        <p:spPr>
          <a:xfrm>
            <a:off x="10767060" y="4586113"/>
            <a:ext cx="377190" cy="165545"/>
          </a:xfrm>
          <a:prstGeom prst="line">
            <a:avLst/>
          </a:prstGeom>
          <a:noFill/>
          <a:ln w="22860">
            <a:solidFill>
              <a:srgbClr val="EA002C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3211640" y="281121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6" name="Shape 74"/>
          <p:cNvSpPr/>
          <p:nvPr/>
        </p:nvSpPr>
        <p:spPr>
          <a:xfrm>
            <a:off x="3296507" y="281947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7" name="Shape 75"/>
          <p:cNvSpPr/>
          <p:nvPr/>
        </p:nvSpPr>
        <p:spPr>
          <a:xfrm>
            <a:off x="3928301" y="287079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8" name="Shape 76"/>
          <p:cNvSpPr/>
          <p:nvPr/>
        </p:nvSpPr>
        <p:spPr>
          <a:xfrm>
            <a:off x="4305491" y="29563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79" name="Shape 77"/>
          <p:cNvSpPr/>
          <p:nvPr/>
        </p:nvSpPr>
        <p:spPr>
          <a:xfrm>
            <a:off x="4701540" y="29970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0" name="Shape 78"/>
          <p:cNvSpPr/>
          <p:nvPr/>
        </p:nvSpPr>
        <p:spPr>
          <a:xfrm>
            <a:off x="4890135" y="300501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1" name="Shape 79"/>
          <p:cNvSpPr/>
          <p:nvPr/>
        </p:nvSpPr>
        <p:spPr>
          <a:xfrm>
            <a:off x="5078730" y="30531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2" name="Shape 80"/>
          <p:cNvSpPr/>
          <p:nvPr/>
        </p:nvSpPr>
        <p:spPr>
          <a:xfrm>
            <a:off x="5248466" y="302366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3" name="Shape 81"/>
          <p:cNvSpPr/>
          <p:nvPr/>
        </p:nvSpPr>
        <p:spPr>
          <a:xfrm>
            <a:off x="5361623" y="31134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4" name="Shape 82"/>
          <p:cNvSpPr/>
          <p:nvPr/>
        </p:nvSpPr>
        <p:spPr>
          <a:xfrm>
            <a:off x="5682234" y="31369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5" name="Shape 83"/>
          <p:cNvSpPr/>
          <p:nvPr/>
        </p:nvSpPr>
        <p:spPr>
          <a:xfrm>
            <a:off x="5965127" y="31423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6" name="Shape 84"/>
          <p:cNvSpPr/>
          <p:nvPr/>
        </p:nvSpPr>
        <p:spPr>
          <a:xfrm>
            <a:off x="6021705" y="3105826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7" name="Shape 85"/>
          <p:cNvSpPr/>
          <p:nvPr/>
        </p:nvSpPr>
        <p:spPr>
          <a:xfrm>
            <a:off x="6078284" y="317995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8" name="Shape 86"/>
          <p:cNvSpPr/>
          <p:nvPr/>
        </p:nvSpPr>
        <p:spPr>
          <a:xfrm>
            <a:off x="6285738" y="31647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89" name="Shape 87"/>
          <p:cNvSpPr/>
          <p:nvPr/>
        </p:nvSpPr>
        <p:spPr>
          <a:xfrm>
            <a:off x="6304598" y="318812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0" name="Shape 88"/>
          <p:cNvSpPr/>
          <p:nvPr/>
        </p:nvSpPr>
        <p:spPr>
          <a:xfrm>
            <a:off x="6417755" y="326798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1" name="Shape 89"/>
          <p:cNvSpPr/>
          <p:nvPr/>
        </p:nvSpPr>
        <p:spPr>
          <a:xfrm>
            <a:off x="6700647" y="32718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2" name="Shape 90"/>
          <p:cNvSpPr/>
          <p:nvPr/>
        </p:nvSpPr>
        <p:spPr>
          <a:xfrm>
            <a:off x="6719506" y="326597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3" name="Shape 91"/>
          <p:cNvSpPr/>
          <p:nvPr/>
        </p:nvSpPr>
        <p:spPr>
          <a:xfrm>
            <a:off x="7587044" y="356971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4" name="Shape 92"/>
          <p:cNvSpPr/>
          <p:nvPr/>
        </p:nvSpPr>
        <p:spPr>
          <a:xfrm>
            <a:off x="8303704" y="382865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5" name="Shape 93"/>
          <p:cNvSpPr/>
          <p:nvPr/>
        </p:nvSpPr>
        <p:spPr>
          <a:xfrm>
            <a:off x="8341423" y="384917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6" name="Shape 94"/>
          <p:cNvSpPr/>
          <p:nvPr/>
        </p:nvSpPr>
        <p:spPr>
          <a:xfrm>
            <a:off x="8360283" y="3801934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7" name="Shape 95"/>
          <p:cNvSpPr/>
          <p:nvPr/>
        </p:nvSpPr>
        <p:spPr>
          <a:xfrm>
            <a:off x="8416862" y="380404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8" name="Shape 96"/>
          <p:cNvSpPr/>
          <p:nvPr/>
        </p:nvSpPr>
        <p:spPr>
          <a:xfrm>
            <a:off x="8737473" y="394832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99" name="Shape 97"/>
          <p:cNvSpPr/>
          <p:nvPr/>
        </p:nvSpPr>
        <p:spPr>
          <a:xfrm>
            <a:off x="8982647" y="398644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0" name="Shape 98"/>
          <p:cNvSpPr/>
          <p:nvPr/>
        </p:nvSpPr>
        <p:spPr>
          <a:xfrm>
            <a:off x="9265539" y="40484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1" name="Shape 99"/>
          <p:cNvSpPr/>
          <p:nvPr/>
        </p:nvSpPr>
        <p:spPr>
          <a:xfrm>
            <a:off x="9265539" y="402877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2" name="Shape 100"/>
          <p:cNvSpPr/>
          <p:nvPr/>
        </p:nvSpPr>
        <p:spPr>
          <a:xfrm>
            <a:off x="9359837" y="408063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3" name="Shape 101"/>
          <p:cNvSpPr/>
          <p:nvPr/>
        </p:nvSpPr>
        <p:spPr>
          <a:xfrm>
            <a:off x="9397556" y="407971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4" name="Shape 102"/>
          <p:cNvSpPr/>
          <p:nvPr/>
        </p:nvSpPr>
        <p:spPr>
          <a:xfrm>
            <a:off x="9548432" y="4166795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5" name="Shape 103"/>
          <p:cNvSpPr/>
          <p:nvPr/>
        </p:nvSpPr>
        <p:spPr>
          <a:xfrm>
            <a:off x="9680448" y="416237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6" name="Shape 104"/>
          <p:cNvSpPr/>
          <p:nvPr/>
        </p:nvSpPr>
        <p:spPr>
          <a:xfrm>
            <a:off x="9737027" y="4195923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7" name="Shape 105"/>
          <p:cNvSpPr/>
          <p:nvPr/>
        </p:nvSpPr>
        <p:spPr>
          <a:xfrm>
            <a:off x="9755886" y="411468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8" name="Shape 106"/>
          <p:cNvSpPr/>
          <p:nvPr/>
        </p:nvSpPr>
        <p:spPr>
          <a:xfrm>
            <a:off x="9755886" y="4127260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09" name="Shape 107"/>
          <p:cNvSpPr/>
          <p:nvPr/>
        </p:nvSpPr>
        <p:spPr>
          <a:xfrm>
            <a:off x="9755886" y="4178321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0" name="Shape 108"/>
          <p:cNvSpPr/>
          <p:nvPr/>
        </p:nvSpPr>
        <p:spPr>
          <a:xfrm>
            <a:off x="9906762" y="4281332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1" name="Shape 109"/>
          <p:cNvSpPr/>
          <p:nvPr/>
        </p:nvSpPr>
        <p:spPr>
          <a:xfrm>
            <a:off x="9944481" y="433380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2" name="Shape 110"/>
          <p:cNvSpPr/>
          <p:nvPr/>
        </p:nvSpPr>
        <p:spPr>
          <a:xfrm>
            <a:off x="10095357" y="428026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3" name="Shape 111"/>
          <p:cNvSpPr/>
          <p:nvPr/>
        </p:nvSpPr>
        <p:spPr>
          <a:xfrm>
            <a:off x="10378250" y="4404757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4" name="Shape 112"/>
          <p:cNvSpPr/>
          <p:nvPr/>
        </p:nvSpPr>
        <p:spPr>
          <a:xfrm>
            <a:off x="10717721" y="4567438"/>
            <a:ext cx="60960" cy="60960"/>
          </a:xfrm>
          <a:prstGeom prst="ellipse">
            <a:avLst/>
          </a:prstGeom>
          <a:solidFill>
            <a:srgbClr val="333333"/>
          </a:solidFill>
          <a:ln/>
        </p:spPr>
      </p:sp>
      <p:sp>
        <p:nvSpPr>
          <p:cNvPr id="115" name="Shape 113"/>
          <p:cNvSpPr/>
          <p:nvPr/>
        </p:nvSpPr>
        <p:spPr>
          <a:xfrm>
            <a:off x="1866900" y="2628900"/>
            <a:ext cx="171450" cy="28575"/>
          </a:xfrm>
          <a:prstGeom prst="rect">
            <a:avLst/>
          </a:prstGeom>
          <a:solidFill>
            <a:srgbClr val="6E7780"/>
          </a:solidFill>
          <a:ln/>
        </p:spPr>
      </p:sp>
      <p:sp>
        <p:nvSpPr>
          <p:cNvPr id="116" name="Text 114"/>
          <p:cNvSpPr txBox="1"/>
          <p:nvPr/>
        </p:nvSpPr>
        <p:spPr>
          <a:xfrm>
            <a:off x="2114550" y="2562225"/>
            <a:ext cx="85725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6E7780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계산값</a:t>
            </a:r>
            <a:endParaRPr lang="en-US" sz="900" dirty="0"/>
          </a:p>
        </p:txBody>
      </p:sp>
      <p:sp>
        <p:nvSpPr>
          <p:cNvPr id="117" name="Shape 115"/>
          <p:cNvSpPr/>
          <p:nvPr/>
        </p:nvSpPr>
        <p:spPr>
          <a:xfrm>
            <a:off x="2952750" y="2628900"/>
            <a:ext cx="171450" cy="28575"/>
          </a:xfrm>
          <a:prstGeom prst="rect">
            <a:avLst/>
          </a:prstGeom>
          <a:solidFill>
            <a:srgbClr val="EA002C"/>
          </a:solidFill>
          <a:ln/>
        </p:spPr>
      </p:sp>
      <p:sp>
        <p:nvSpPr>
          <p:cNvPr id="118" name="Text 116"/>
          <p:cNvSpPr txBox="1"/>
          <p:nvPr/>
        </p:nvSpPr>
        <p:spPr>
          <a:xfrm>
            <a:off x="3200400" y="2562225"/>
            <a:ext cx="1905000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080"/>
              </a:lnSpc>
              <a:buNone/>
            </a:pPr>
            <a:r>
              <a:rPr lang="en-US" sz="900" dirty="0">
                <a:solidFill>
                  <a:srgbClr val="EA002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도구가 신고하는 값</a:t>
            </a:r>
            <a:endParaRPr lang="en-US" sz="900" dirty="0"/>
          </a:p>
        </p:txBody>
      </p:sp>
      <p:sp>
        <p:nvSpPr>
          <p:cNvPr id="119" name="Shape 117"/>
          <p:cNvSpPr/>
          <p:nvPr/>
        </p:nvSpPr>
        <p:spPr>
          <a:xfrm>
            <a:off x="685800" y="6153150"/>
            <a:ext cx="10820400" cy="0"/>
          </a:xfrm>
          <a:prstGeom prst="line">
            <a:avLst/>
          </a:prstGeom>
          <a:noFill/>
          <a:ln w="12700">
            <a:solidFill>
              <a:srgbClr val="C9D0D8"/>
            </a:solidFill>
            <a:prstDash val="solid"/>
          </a:ln>
        </p:spPr>
      </p:sp>
      <p:sp>
        <p:nvSpPr>
          <p:cNvPr id="120" name="Text 118"/>
          <p:cNvSpPr txBox="1"/>
          <p:nvPr/>
        </p:nvSpPr>
        <p:spPr>
          <a:xfrm>
            <a:off x="685800" y="6305550"/>
            <a:ext cx="5715000" cy="1866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1470"/>
              </a:lnSpc>
              <a:buNone/>
            </a:pPr>
            <a:r>
              <a:rPr lang="en-US" sz="1050" dirty="0">
                <a:solidFill>
                  <a:srgbClr val="5A5A5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주현M   ·   정상우M</a:t>
            </a:r>
            <a:endParaRPr lang="en-US" sz="1050" dirty="0"/>
          </a:p>
        </p:txBody>
      </p:sp>
      <p:sp>
        <p:nvSpPr>
          <p:cNvPr id="121" name="Text 119"/>
          <p:cNvSpPr txBox="1"/>
          <p:nvPr/>
        </p:nvSpPr>
        <p:spPr>
          <a:xfrm>
            <a:off x="6743700" y="6324600"/>
            <a:ext cx="4762500" cy="1600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ts val="1260"/>
              </a:lnSpc>
              <a:buNone/>
            </a:pPr>
            <a:r>
              <a:rPr lang="en-US" sz="900" spc="140" kern="0" dirty="0">
                <a:solidFill>
                  <a:srgbClr val="8C8C8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위례열병합발전소  ·  공급가능용량 입찰 산정 Tool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나래에너지서비스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공급가능용량 산정 Tool — 최종 발표</dc:title>
  <dc:subject>위례열병합발전소 공급가능용량 산정 체계 개선</dc:subject>
  <dc:creator>주현M, 정상우M</dc:creator>
  <cp:lastModifiedBy>주현M, 정상우M</cp:lastModifiedBy>
  <cp:revision>1</cp:revision>
  <dcterms:created xsi:type="dcterms:W3CDTF">2026-09-18T04:30:44Z</dcterms:created>
  <dcterms:modified xsi:type="dcterms:W3CDTF">2026-09-18T04:30:44Z</dcterms:modified>
</cp:coreProperties>
</file>