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26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145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19621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19716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19526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2383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526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3145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3622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3717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3526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6384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7527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7146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7622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7717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7527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0384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152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114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162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171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도출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152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438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5528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257300" y="3514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448050" y="3562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선정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8058150" y="3571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예측/보정 모델 개발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3552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5800" y="38385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39528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257300" y="39147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3448050" y="39624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8058150" y="39719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10972800" y="39528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85800" y="42386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43529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257300" y="43148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3448050" y="43624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8058150" y="43719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10972800" y="43529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85800" y="46386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47529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257300" y="47148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3448050" y="47625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51" name="Text 49"/>
          <p:cNvSpPr txBox="1"/>
          <p:nvPr/>
        </p:nvSpPr>
        <p:spPr>
          <a:xfrm>
            <a:off x="8058150" y="47720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52" name="Text 50"/>
          <p:cNvSpPr txBox="1"/>
          <p:nvPr/>
        </p:nvSpPr>
        <p:spPr>
          <a:xfrm>
            <a:off x="10972800" y="47529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85800" y="50387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51530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257300" y="51149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3448050" y="51625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058150" y="51720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10972800" y="51530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85800" y="54387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85800" y="560070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61" name="Text 59"/>
          <p:cNvSpPr txBox="1"/>
          <p:nvPr/>
        </p:nvSpPr>
        <p:spPr>
          <a:xfrm>
            <a:off x="1257300" y="556260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62" name="Text 60"/>
          <p:cNvSpPr txBox="1"/>
          <p:nvPr/>
        </p:nvSpPr>
        <p:spPr>
          <a:xfrm>
            <a:off x="3448050" y="561022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0972800" y="56007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그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를 길잡이로 삼아 직접 공부하고 풀어내는 성취감을 맛보고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파일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 보고 싶었고, 마침 눈에 보이던 비효율이 그 대상이었습니다.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값을 하나로 끝냈습니다. 그래서 신고한 숫자가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296525" y="1847850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합친다.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쌓아, 더하는 값을 온도마다 다르게 만든다.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5334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이것만으로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흔들림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쓰고 있습니다 (두 번 반영)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같이 움직입니다 (겹침 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흔들리는 폭이 ±0.08 이므로 그보다 작은 차이는 차이로 볼 수 없습니다. 한 회를 가리고 나머지로 그 회를 맞혀 보는 방식으로 채점했습니다.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 대부분을 설명한다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85% 가 온도로 설명됩니다. 추우면 커지고 더우면 작아집니다.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차이가 반대로 움직입니다 (겹침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내야 합니다. 입력이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조작입니다(IGV turn-up). 그 조작을 하지 않고 측정한 날이었습니다. 덜 올린 채로 쟀으니 낮게 나온 것입니다.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접고 나니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하나는 흩어진 과정을 도구 하나로 합친 것입니다. 다른 하나는 더하는 값을 온도마다 다르게 한 것입니다.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 두 가지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72600" y="1790700"/>
            <a:ext cx="2019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계산식은 손대지 않았습니다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621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28700" y="1981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257300" y="1962150"/>
            <a:ext cx="23812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과정을 합쳤다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714750" y="1990725"/>
            <a:ext cx="600075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4371975" y="1990725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600575" y="1971675"/>
            <a:ext cx="1238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088" dirty="0"/>
          </a:p>
        </p:txBody>
      </p:sp>
      <p:sp>
        <p:nvSpPr>
          <p:cNvPr id="26" name="Shape 24"/>
          <p:cNvSpPr/>
          <p:nvPr/>
        </p:nvSpPr>
        <p:spPr>
          <a:xfrm>
            <a:off x="5981700" y="1943100"/>
            <a:ext cx="0" cy="3238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19621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24600" y="1981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200" y="1962150"/>
            <a:ext cx="23812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온도마다 다르게</a:t>
            </a:r>
            <a:endParaRPr lang="en-US" sz="1125" dirty="0"/>
          </a:p>
        </p:txBody>
      </p:sp>
      <p:sp>
        <p:nvSpPr>
          <p:cNvPr id="30" name="Text 28"/>
          <p:cNvSpPr txBox="1"/>
          <p:nvPr/>
        </p:nvSpPr>
        <p:spPr>
          <a:xfrm>
            <a:off x="9010650" y="1990725"/>
            <a:ext cx="466725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1개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9534525" y="1990725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763125" y="1971675"/>
            <a:ext cx="1504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</a:t>
            </a:r>
            <a:endParaRPr lang="en-US" sz="1088" dirty="0"/>
          </a:p>
        </p:txBody>
      </p:sp>
      <p:sp>
        <p:nvSpPr>
          <p:cNvPr id="33" name="Shape 31"/>
          <p:cNvSpPr/>
          <p:nvPr/>
        </p:nvSpPr>
        <p:spPr>
          <a:xfrm>
            <a:off x="685800" y="26003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247650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19150" y="2533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1009650" y="253365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pic>
        <p:nvPicPr>
          <p:cNvPr id="37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838450"/>
            <a:ext cx="8572500" cy="30099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66775" y="2828925"/>
            <a:ext cx="8591550" cy="30289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639300" y="28384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25" dirty="0"/>
          </a:p>
        </p:txBody>
      </p:sp>
      <p:sp>
        <p:nvSpPr>
          <p:cNvPr id="40" name="Text 37"/>
          <p:cNvSpPr txBox="1"/>
          <p:nvPr/>
        </p:nvSpPr>
        <p:spPr>
          <a:xfrm>
            <a:off x="9639300" y="30099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</a:t>
            </a:r>
            <a:endParaRPr lang="en-US" sz="825" dirty="0"/>
          </a:p>
        </p:txBody>
      </p:sp>
      <p:sp>
        <p:nvSpPr>
          <p:cNvPr id="41" name="Text 38"/>
          <p:cNvSpPr txBox="1"/>
          <p:nvPr/>
        </p:nvSpPr>
        <p:spPr>
          <a:xfrm>
            <a:off x="9639300" y="37528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25" dirty="0"/>
          </a:p>
        </p:txBody>
      </p:sp>
      <p:sp>
        <p:nvSpPr>
          <p:cNvPr id="42" name="Text 39"/>
          <p:cNvSpPr txBox="1"/>
          <p:nvPr/>
        </p:nvSpPr>
        <p:spPr>
          <a:xfrm>
            <a:off x="9639300" y="39243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더할 값(보정값)과 시험 실적 점</a:t>
            </a:r>
            <a:endParaRPr lang="en-US" sz="825" dirty="0"/>
          </a:p>
        </p:txBody>
      </p:sp>
      <p:sp>
        <p:nvSpPr>
          <p:cNvPr id="43" name="Text 40"/>
          <p:cNvSpPr txBox="1"/>
          <p:nvPr/>
        </p:nvSpPr>
        <p:spPr>
          <a:xfrm>
            <a:off x="9639300" y="46672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825" dirty="0"/>
          </a:p>
        </p:txBody>
      </p:sp>
      <p:sp>
        <p:nvSpPr>
          <p:cNvPr id="44" name="Text 41"/>
          <p:cNvSpPr txBox="1"/>
          <p:nvPr/>
        </p:nvSpPr>
        <p:spPr>
          <a:xfrm>
            <a:off x="9639300" y="48387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선이 벌어진 만큼이 그 온도에서 더하는 값입니다</a:t>
            </a:r>
            <a:endParaRPr lang="en-US" sz="825" dirty="0"/>
          </a:p>
        </p:txBody>
      </p:sp>
      <p:sp>
        <p:nvSpPr>
          <p:cNvPr id="45" name="Text 42"/>
          <p:cNvSpPr txBox="1"/>
          <p:nvPr/>
        </p:nvSpPr>
        <p:spPr>
          <a:xfrm>
            <a:off x="876300" y="5905500"/>
            <a:ext cx="1038225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이 보정 곡선을 무엇으로 그리는지 — 후보 회귀 모델 7가지를 겨루게 해서 고른 과정은 다음 장에 있습니다.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9" name="Text 4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계산식을 그대로 두었으니 다른 발전소에도 옮겨 심을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선정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하는지 우리가 정할 수 없었습니다. 후보 7가지를 같은 데이터로 겨루게 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781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 성적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24975" y="1790700"/>
            <a:ext cx="2066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채점 · 단위 MW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2495550" y="1981200"/>
            <a:ext cx="0" cy="121920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20002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863" dirty="0"/>
          </a:p>
        </p:txBody>
      </p:sp>
      <p:sp>
        <p:nvSpPr>
          <p:cNvPr id="22" name="Shape 20"/>
          <p:cNvSpPr/>
          <p:nvPr/>
        </p:nvSpPr>
        <p:spPr>
          <a:xfrm>
            <a:off x="2495550" y="2028825"/>
            <a:ext cx="47625" cy="857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0" y="20002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825" dirty="0"/>
          </a:p>
        </p:txBody>
      </p:sp>
      <p:sp>
        <p:nvSpPr>
          <p:cNvPr id="24" name="Text 22"/>
          <p:cNvSpPr txBox="1"/>
          <p:nvPr/>
        </p:nvSpPr>
        <p:spPr>
          <a:xfrm>
            <a:off x="6115050" y="20002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20002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26" name="Text 24"/>
          <p:cNvSpPr txBox="1"/>
          <p:nvPr/>
        </p:nvSpPr>
        <p:spPr>
          <a:xfrm>
            <a:off x="876300" y="21717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RQ</a:t>
            </a:r>
            <a:endParaRPr lang="en-US" sz="863" dirty="0"/>
          </a:p>
        </p:txBody>
      </p:sp>
      <p:sp>
        <p:nvSpPr>
          <p:cNvPr id="27" name="Shape 25"/>
          <p:cNvSpPr/>
          <p:nvPr/>
        </p:nvSpPr>
        <p:spPr>
          <a:xfrm>
            <a:off x="2505075" y="2209800"/>
            <a:ext cx="666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0" y="21717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825" dirty="0"/>
          </a:p>
        </p:txBody>
      </p:sp>
      <p:sp>
        <p:nvSpPr>
          <p:cNvPr id="29" name="Text 27"/>
          <p:cNvSpPr txBox="1"/>
          <p:nvPr/>
        </p:nvSpPr>
        <p:spPr>
          <a:xfrm>
            <a:off x="6115050" y="21717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+0.004</a:t>
            </a:r>
            <a:endParaRPr lang="en-US" sz="825" dirty="0"/>
          </a:p>
        </p:txBody>
      </p:sp>
      <p:sp>
        <p:nvSpPr>
          <p:cNvPr id="30" name="Text 28"/>
          <p:cNvSpPr txBox="1"/>
          <p:nvPr/>
        </p:nvSpPr>
        <p:spPr>
          <a:xfrm>
            <a:off x="6858000" y="21717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굵기의 파동을 섞은 곡선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23431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863" dirty="0"/>
          </a:p>
        </p:txBody>
      </p:sp>
      <p:sp>
        <p:nvSpPr>
          <p:cNvPr id="32" name="Shape 30"/>
          <p:cNvSpPr/>
          <p:nvPr/>
        </p:nvSpPr>
        <p:spPr>
          <a:xfrm>
            <a:off x="2505075" y="2381250"/>
            <a:ext cx="1524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23431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6115050" y="23431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+0.009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23431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조금 덜 부드러운 곡선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25146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505075" y="2552700"/>
            <a:ext cx="3429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0" y="25146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6115050" y="25146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+0.021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6858000" y="25146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덜 부드러운 곡선</a:t>
            </a:r>
            <a:endParaRPr lang="en-US" sz="825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26860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2505075" y="2724150"/>
            <a:ext cx="104775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0" y="26860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6115050" y="26860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+0.064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6858000" y="26860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꺾임을 허용하는 곡선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28575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63" dirty="0"/>
          </a:p>
        </p:txBody>
      </p:sp>
      <p:sp>
        <p:nvSpPr>
          <p:cNvPr id="47" name="Shape 45"/>
          <p:cNvSpPr/>
          <p:nvPr/>
        </p:nvSpPr>
        <p:spPr>
          <a:xfrm>
            <a:off x="2505075" y="2895600"/>
            <a:ext cx="19335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0" y="28575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6115050" y="28575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+0.118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6858000" y="28575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시험에 무게를 더 주는 평균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876300" y="30289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63" dirty="0"/>
          </a:p>
        </p:txBody>
      </p:sp>
      <p:sp>
        <p:nvSpPr>
          <p:cNvPr id="52" name="Shape 50"/>
          <p:cNvSpPr/>
          <p:nvPr/>
        </p:nvSpPr>
        <p:spPr>
          <a:xfrm>
            <a:off x="2505075" y="3067050"/>
            <a:ext cx="28575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86400" y="30289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825" dirty="0"/>
          </a:p>
        </p:txBody>
      </p:sp>
      <p:sp>
        <p:nvSpPr>
          <p:cNvPr id="54" name="Text 52"/>
          <p:cNvSpPr txBox="1"/>
          <p:nvPr/>
        </p:nvSpPr>
        <p:spPr>
          <a:xfrm>
            <a:off x="6115050" y="30289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+0.174</a:t>
            </a:r>
            <a:endParaRPr lang="en-US" sz="825" dirty="0"/>
          </a:p>
        </p:txBody>
      </p:sp>
      <p:sp>
        <p:nvSpPr>
          <p:cNvPr id="55" name="Text 53"/>
          <p:cNvSpPr txBox="1"/>
          <p:nvPr/>
        </p:nvSpPr>
        <p:spPr>
          <a:xfrm>
            <a:off x="6858000" y="30289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구간을 나눠 그 안의 평균을 씀 — 가장 단순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876300" y="32385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이름 · 막대는 1등과의 차이(오른쪽으로 갈수록 더 틀린 것) · 가운데 숫자가 평균 오차 · 채점은 시험 39회를 한 회씩 가려 맞혀 보는 방식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340995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GP = 가우시안 프로세스. 값 하나를 내는 것이 아니라 곡선 전체를 후보로 두고 실적에 가장 잘 맞는 곡선을 고릅니다. 뒤에 붙은 이름(RBF · Matérn …)은 곡선이 얼마나 부드러운지를 정하는 설정입니다.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3743325"/>
            <a:ext cx="10820400" cy="2352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800" y="361950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19150" y="3676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009650" y="367665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안에서 고릅니다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943975" y="3810000"/>
            <a:ext cx="2447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선정 화면 · 위 표와 같은 숫자입니다</a:t>
            </a:r>
            <a:endParaRPr lang="en-US" sz="825" dirty="0"/>
          </a:p>
        </p:txBody>
      </p:sp>
      <p:pic>
        <p:nvPicPr>
          <p:cNvPr id="63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981450"/>
            <a:ext cx="7410450" cy="2152650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866775" y="3971925"/>
            <a:ext cx="7429500" cy="21717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572500" y="3981450"/>
            <a:ext cx="2686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도구에 넣었나</a:t>
            </a:r>
            <a:endParaRPr lang="en-US" sz="863" dirty="0"/>
          </a:p>
        </p:txBody>
      </p:sp>
      <p:sp>
        <p:nvSpPr>
          <p:cNvPr id="66" name="Text 63"/>
          <p:cNvSpPr txBox="1"/>
          <p:nvPr/>
        </p:nvSpPr>
        <p:spPr>
          <a:xfrm>
            <a:off x="8572500" y="4152900"/>
            <a:ext cx="26860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40회뿐입니다. 실적이 늘면 성적이 바뀔 수 있어 그때마다 다시 채점해야 합니다.</a:t>
            </a:r>
            <a:endParaRPr lang="en-US" sz="825" dirty="0"/>
          </a:p>
        </p:txBody>
      </p:sp>
      <p:sp>
        <p:nvSpPr>
          <p:cNvPr id="67" name="Text 64"/>
          <p:cNvSpPr txBox="1"/>
          <p:nvPr/>
        </p:nvSpPr>
        <p:spPr>
          <a:xfrm>
            <a:off x="8572500" y="4705350"/>
            <a:ext cx="2686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채점하나</a:t>
            </a:r>
            <a:endParaRPr lang="en-US" sz="863" dirty="0"/>
          </a:p>
        </p:txBody>
      </p:sp>
      <p:sp>
        <p:nvSpPr>
          <p:cNvPr id="68" name="Text 65"/>
          <p:cNvSpPr txBox="1"/>
          <p:nvPr/>
        </p:nvSpPr>
        <p:spPr>
          <a:xfrm>
            <a:off x="8572500" y="4876800"/>
            <a:ext cx="26860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봅니다. 전 회차를 돌아가며 반복해 평균을 냅니다.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8572500" y="5429250"/>
            <a:ext cx="2686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앞서면 바꾼다</a:t>
            </a:r>
            <a:endParaRPr lang="en-US" sz="863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600700"/>
            <a:ext cx="26860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모델이 앞서면 그때 바꿉니다. 지금은 GP·RBF 가 앞섭니다.</a:t>
            </a:r>
            <a:endParaRPr lang="en-US" sz="825" dirty="0"/>
          </a:p>
        </p:txBody>
      </p:sp>
      <p:sp>
        <p:nvSpPr>
          <p:cNvPr id="71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고른 것이 아니라 성적이 골랐습니다. 그 채점이 도구 안에 들어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방식과 나란히 돌렸습니다. 예측을 먼저 적어 두고 시험이 끝난 뒤 실제와 맞춰 봤습니다.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평균 어긋난 폭은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치우침은 -0.04 MW 로 한쪽으로 쏠리지 않았습니다.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돌린 결과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8534400" y="3124200"/>
            <a:ext cx="2857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날짜와 시각만 넣고 산정을 누른 결과</a:t>
            </a:r>
            <a:endParaRPr lang="en-US" sz="825" dirty="0"/>
          </a:p>
        </p:txBody>
      </p:sp>
      <p:pic>
        <p:nvPicPr>
          <p:cNvPr id="47" name="Image 0" descr="/home/user/Narae-AI/docs/ppt/assets/tool_win_run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295650"/>
            <a:ext cx="8953500" cy="2581275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866775" y="3286125"/>
            <a:ext cx="8972550" cy="2600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963150" y="3352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863" dirty="0"/>
          </a:p>
        </p:txBody>
      </p:sp>
      <p:sp>
        <p:nvSpPr>
          <p:cNvPr id="50" name="Text 47"/>
          <p:cNvSpPr txBox="1"/>
          <p:nvPr/>
        </p:nvSpPr>
        <p:spPr>
          <a:xfrm>
            <a:off x="9963150" y="3524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계산식으로 낸 값</a:t>
            </a:r>
            <a:endParaRPr lang="en-US" sz="825" dirty="0"/>
          </a:p>
        </p:txBody>
      </p:sp>
      <p:sp>
        <p:nvSpPr>
          <p:cNvPr id="51" name="Text 48"/>
          <p:cNvSpPr txBox="1"/>
          <p:nvPr/>
        </p:nvSpPr>
        <p:spPr>
          <a:xfrm>
            <a:off x="9963150" y="4114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863" dirty="0"/>
          </a:p>
        </p:txBody>
      </p:sp>
      <p:sp>
        <p:nvSpPr>
          <p:cNvPr id="52" name="Text 49"/>
          <p:cNvSpPr txBox="1"/>
          <p:nvPr/>
        </p:nvSpPr>
        <p:spPr>
          <a:xfrm>
            <a:off x="9963150" y="4286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다른 더할 값</a:t>
            </a:r>
            <a:endParaRPr lang="en-US" sz="825" dirty="0"/>
          </a:p>
        </p:txBody>
      </p:sp>
      <p:sp>
        <p:nvSpPr>
          <p:cNvPr id="53" name="Text 50"/>
          <p:cNvSpPr txBox="1"/>
          <p:nvPr/>
        </p:nvSpPr>
        <p:spPr>
          <a:xfrm>
            <a:off x="9963150" y="4876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현실화</a:t>
            </a:r>
            <a:endParaRPr lang="en-US" sz="863" dirty="0"/>
          </a:p>
        </p:txBody>
      </p:sp>
      <p:sp>
        <p:nvSpPr>
          <p:cNvPr id="54" name="Text 51"/>
          <p:cNvSpPr txBox="1"/>
          <p:nvPr/>
        </p:nvSpPr>
        <p:spPr>
          <a:xfrm>
            <a:off x="9963150" y="5048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신고하는 값</a:t>
            </a:r>
            <a:endParaRPr lang="en-US" sz="825" dirty="0"/>
          </a:p>
        </p:txBody>
      </p:sp>
      <p:sp>
        <p:nvSpPr>
          <p:cNvPr id="55" name="Text 52"/>
          <p:cNvSpPr txBox="1"/>
          <p:nvPr/>
        </p:nvSpPr>
        <p:spPr>
          <a:xfrm>
            <a:off x="876300" y="5943600"/>
            <a:ext cx="1038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61구간이 한 표에 나옵니다. 이 표를 그대로 입찰에 씁니다. 쌓인 실적으로 곡선을 다시 고르는 화면은 7장에 있습니다.</a:t>
            </a:r>
            <a:endParaRPr lang="en-US" sz="825" dirty="0"/>
          </a:p>
        </p:txBody>
      </p:sp>
      <p:sp>
        <p:nvSpPr>
          <p:cNvPr id="56" name="Shape 5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59" name="Text 5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계산이 아니라, 넉 달을 기존 방식과 나란히 돌려 확인한 결과입니다.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933700"/>
            <a:ext cx="4914900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오가며 61개 값을 옮기던 일이, 날짜와 시각을 넣는 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324225"/>
            <a:ext cx="10820400" cy="9429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20040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5755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9090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957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그것뿐이어서 가리면 비교 대상 방식 하나가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05325"/>
            <a:ext cx="10820400" cy="1590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3815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38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386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5720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74345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3395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1015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89585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3400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1495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58165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2440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7434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7434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49911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49911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387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387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4864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4864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79120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맞았습니다. 처음에 세운 목표 두 가지입니다.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어렵지만 일하는 방식에서 달라진 것들입니다.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더할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대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말고도, 일하는 방식이 사람 손에서 도구 쪽으로 옮겨 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 만들고, 입찰을 하는 다른 사업소로 넓힙니다.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514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어디가 비어 있나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515475" y="1790700"/>
            <a:ext cx="18764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 · 온도대별 시험 횟수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8194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76350" y="2743200"/>
            <a:ext cx="419100" cy="762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300" y="2552700"/>
            <a:ext cx="1219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2회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28956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−14 ~ 0℃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2095500" y="2133600"/>
            <a:ext cx="0" cy="647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2543175"/>
            <a:ext cx="419100" cy="2762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2200" y="2352675"/>
            <a:ext cx="1219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7회</a:t>
            </a:r>
            <a:endParaRPr lang="en-US" sz="1125" dirty="0"/>
          </a:p>
        </p:txBody>
      </p:sp>
      <p:sp>
        <p:nvSpPr>
          <p:cNvPr id="27" name="Text 25"/>
          <p:cNvSpPr txBox="1"/>
          <p:nvPr/>
        </p:nvSpPr>
        <p:spPr>
          <a:xfrm>
            <a:off x="2362200" y="28956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10℃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3581400" y="2133600"/>
            <a:ext cx="0" cy="647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48150" y="2581275"/>
            <a:ext cx="419100" cy="2381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48100" y="2390775"/>
            <a:ext cx="1219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3848100" y="28956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~ 15℃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5067300" y="2133600"/>
            <a:ext cx="0" cy="647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4050" y="2705100"/>
            <a:ext cx="419100" cy="1143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334000" y="2514600"/>
            <a:ext cx="1219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3회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5334000" y="28956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~ 20℃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553200" y="2133600"/>
            <a:ext cx="0" cy="647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19950" y="2781300"/>
            <a:ext cx="419100" cy="381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19900" y="2590800"/>
            <a:ext cx="1219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1회</a:t>
            </a:r>
            <a:endParaRPr lang="en-US" sz="1125" dirty="0"/>
          </a:p>
        </p:txBody>
      </p:sp>
      <p:sp>
        <p:nvSpPr>
          <p:cNvPr id="39" name="Text 37"/>
          <p:cNvSpPr txBox="1"/>
          <p:nvPr/>
        </p:nvSpPr>
        <p:spPr>
          <a:xfrm>
            <a:off x="6819900" y="28956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8039100" y="2133600"/>
            <a:ext cx="0" cy="647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05850" y="2581275"/>
            <a:ext cx="419100" cy="2381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305800" y="2390775"/>
            <a:ext cx="1219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125" dirty="0"/>
          </a:p>
        </p:txBody>
      </p:sp>
      <p:sp>
        <p:nvSpPr>
          <p:cNvPr id="43" name="Text 41"/>
          <p:cNvSpPr txBox="1"/>
          <p:nvPr/>
        </p:nvSpPr>
        <p:spPr>
          <a:xfrm>
            <a:off x="8305800" y="28956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~ 30℃</a:t>
            </a:r>
            <a:endParaRPr lang="en-US" sz="788" dirty="0"/>
          </a:p>
        </p:txBody>
      </p:sp>
      <p:sp>
        <p:nvSpPr>
          <p:cNvPr id="44" name="Shape 42"/>
          <p:cNvSpPr/>
          <p:nvPr/>
        </p:nvSpPr>
        <p:spPr>
          <a:xfrm>
            <a:off x="9525000" y="2133600"/>
            <a:ext cx="0" cy="647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1750" y="2228850"/>
            <a:ext cx="419100" cy="590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91700" y="2038350"/>
            <a:ext cx="1219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15회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9791700" y="28956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~ 41℃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302895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주황은 3회 이하 — 더 쌓아야 하는 온도대입니다. 신고는 −20 ~ 40℃ 전부인데 실적은 −1.9 ~ 37.9℃ 뿐이라, 그 밖은 끝값을 그대로 씁니다.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85800" y="3476625"/>
            <a:ext cx="10820400" cy="2619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5800" y="33528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19150" y="34099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1009650" y="34099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계획</a:t>
            </a:r>
            <a:endParaRPr lang="en-US" sz="1013" dirty="0"/>
          </a:p>
        </p:txBody>
      </p:sp>
      <p:sp>
        <p:nvSpPr>
          <p:cNvPr id="53" name="Text 51"/>
          <p:cNvSpPr txBox="1"/>
          <p:nvPr/>
        </p:nvSpPr>
        <p:spPr>
          <a:xfrm>
            <a:off x="10134600" y="3543300"/>
            <a:ext cx="1257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→ 2028</a:t>
            </a:r>
            <a:endParaRPr lang="en-US" sz="825" dirty="0"/>
          </a:p>
        </p:txBody>
      </p:sp>
      <p:sp>
        <p:nvSpPr>
          <p:cNvPr id="54" name="Shape 52"/>
          <p:cNvSpPr/>
          <p:nvPr/>
        </p:nvSpPr>
        <p:spPr>
          <a:xfrm>
            <a:off x="2076450" y="3752850"/>
            <a:ext cx="0" cy="23241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6300" y="37338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 하반기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2033588" y="3767138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286000" y="3714750"/>
            <a:ext cx="89725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 · 빈 온도대 채우기</a:t>
            </a:r>
            <a:endParaRPr lang="en-US" sz="1125" dirty="0"/>
          </a:p>
        </p:txBody>
      </p:sp>
      <p:sp>
        <p:nvSpPr>
          <p:cNvPr id="58" name="Text 56"/>
          <p:cNvSpPr txBox="1"/>
          <p:nvPr/>
        </p:nvSpPr>
        <p:spPr>
          <a:xfrm>
            <a:off x="2286000" y="3924300"/>
            <a:ext cx="89725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 실적이 얇은 온도대부터 채웁니다 — 20~25℃ 는 1회, 15~20℃ 는 3회뿐입니다. 표본이 붙는 만큼 그 온도의 오차가 줄어듭니다.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43434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60" name="Shape 58"/>
          <p:cNvSpPr/>
          <p:nvPr/>
        </p:nvSpPr>
        <p:spPr>
          <a:xfrm>
            <a:off x="2033588" y="4376738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2286000" y="4324350"/>
            <a:ext cx="89725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구간 전체 실적 확보 · 회귀 모델 재선정</a:t>
            </a:r>
            <a:endParaRPr lang="en-US" sz="1125" dirty="0"/>
          </a:p>
        </p:txBody>
      </p:sp>
      <p:sp>
        <p:nvSpPr>
          <p:cNvPr id="62" name="Text 60"/>
          <p:cNvSpPr txBox="1"/>
          <p:nvPr/>
        </p:nvSpPr>
        <p:spPr>
          <a:xfrm>
            <a:off x="2286000" y="4533900"/>
            <a:ext cx="89725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한 번 더 지나면 신고 구간 전체에 실적이 붙습니다. 그 데이터로 후보 7가지를 다시 채점(LOOCV)해 최적 회귀 모델을 다시 고릅니다 — 지금 1등이 계속 1등일 필요는 없습니다.</a:t>
            </a:r>
            <a:endParaRPr lang="en-US" sz="863" dirty="0"/>
          </a:p>
        </p:txBody>
      </p:sp>
      <p:sp>
        <p:nvSpPr>
          <p:cNvPr id="63" name="Text 61"/>
          <p:cNvSpPr txBox="1"/>
          <p:nvPr/>
        </p:nvSpPr>
        <p:spPr>
          <a:xfrm>
            <a:off x="876300" y="49530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64" name="Shape 62"/>
          <p:cNvSpPr/>
          <p:nvPr/>
        </p:nvSpPr>
        <p:spPr>
          <a:xfrm>
            <a:off x="2033588" y="4986338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286000" y="4933950"/>
            <a:ext cx="89725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다른 사업소로 · 파주 · 여주 · 하남</a:t>
            </a:r>
            <a:endParaRPr lang="en-US" sz="1125" dirty="0"/>
          </a:p>
        </p:txBody>
      </p:sp>
      <p:sp>
        <p:nvSpPr>
          <p:cNvPr id="66" name="Text 64"/>
          <p:cNvSpPr txBox="1"/>
          <p:nvPr/>
        </p:nvSpPr>
        <p:spPr>
          <a:xfrm>
            <a:off x="2286000" y="5143500"/>
            <a:ext cx="89725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절차는 그대로 옮깁니다. 특성 곡선표만 그 사업소 것으로 바꿔 넣으면 됩니다 — 곡선은 코드가 아니라 온도 61줄 표 파일로 읽습니다. 보정 곡선은 그 사업소 시험 실적으로 새로 쌓습니다(위례 곡선을 베껴 쓰지 않습니다).</a:t>
            </a:r>
            <a:endParaRPr lang="en-US" sz="863" dirty="0"/>
          </a:p>
        </p:txBody>
      </p:sp>
      <p:sp>
        <p:nvSpPr>
          <p:cNvPr id="67" name="Text 65"/>
          <p:cNvSpPr txBox="1"/>
          <p:nvPr/>
        </p:nvSpPr>
        <p:spPr>
          <a:xfrm>
            <a:off x="876300" y="55626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2028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2033588" y="5595938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2286000" y="5543550"/>
            <a:ext cx="89725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 표준 절차로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2286000" y="5753100"/>
            <a:ext cx="89725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시험부터 신고까지의 순서를 표준 절차서로 정리합니다. 담당자가 바뀌어도 같은 숫자가 나오게 하는 것이 마지막 단계입니다.</a:t>
            </a:r>
            <a:endParaRPr lang="en-US" sz="863" dirty="0"/>
          </a:p>
        </p:txBody>
      </p:sp>
      <p:sp>
        <p:nvSpPr>
          <p:cNvPr id="71" name="Shape 6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쌓일수록 촘촘해지고, 옮겨 심을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맛보고 싶었습니다. 그 마음이 끝까지 가게 한 힘이었습니다.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696450" y="3181350"/>
            <a:ext cx="1695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를 길잡이로 삼아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85800" y="2447925"/>
            <a:ext cx="10820400" cy="2886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324100"/>
            <a:ext cx="17145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9150" y="2381250"/>
            <a:ext cx="1466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9572625" y="251460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검은 점은 실제 시험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18" name="Shape 16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Shape 77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0" name="Shape 78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9" name="Shape 87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0" name="Shape 88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1" name="Shape 89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2" name="Shape 90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3" name="Shape 91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4" name="Shape 92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5" name="Shape 93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6" name="Shape 94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7" name="Shape 95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8" name="Shape 96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9" name="Shape 97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1" name="Shape 99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2026-09-18T05:45:55Z</dcterms:created>
  <dcterms:modified xsi:type="dcterms:W3CDTF">2026-09-18T05:45:55Z</dcterms:modified>
</cp:coreProperties>
</file>