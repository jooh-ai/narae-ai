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 </a:t>
            </a:r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및 추진 배경</a:t>
            </a:r>
            <a:pPr algn="l" indent="0" marL="0">
              <a:lnSpc>
                <a:spcPts val="1440"/>
              </a:lnSpc>
              <a:buNone/>
            </a:pPr>
            <a:r>
              <a:rPr lang="en-US" sz="975" spc="60" kern="0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추진 배경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10668000" y="419100"/>
            <a:ext cx="38100" cy="14287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4" name="Shape 2"/>
          <p:cNvSpPr/>
          <p:nvPr/>
        </p:nvSpPr>
        <p:spPr>
          <a:xfrm>
            <a:off x="108013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5" name="Shape 3"/>
          <p:cNvSpPr/>
          <p:nvPr/>
        </p:nvSpPr>
        <p:spPr>
          <a:xfrm>
            <a:off x="109347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6" name="Shape 4"/>
          <p:cNvSpPr/>
          <p:nvPr/>
        </p:nvSpPr>
        <p:spPr>
          <a:xfrm>
            <a:off x="110680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8" name="Shape 6"/>
          <p:cNvSpPr/>
          <p:nvPr/>
        </p:nvSpPr>
        <p:spPr>
          <a:xfrm>
            <a:off x="113347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9" name="Shape 7"/>
          <p:cNvSpPr/>
          <p:nvPr/>
        </p:nvSpPr>
        <p:spPr>
          <a:xfrm>
            <a:off x="114681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914400"/>
            <a:ext cx="10287000" cy="44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기존에는 이렇게 했습니다</a:t>
            </a:r>
            <a:endParaRPr lang="en-US" sz="2775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600200"/>
            <a:ext cx="2533650" cy="179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4"/>
              </a:lnSpc>
              <a:buNone/>
            </a:pPr>
            <a:r>
              <a:rPr lang="en-US" sz="108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값 받아오기</a:t>
            </a:r>
            <a:endParaRPr lang="en-US" sz="1088" dirty="0"/>
          </a:p>
        </p:txBody>
      </p:sp>
      <p:sp>
        <p:nvSpPr>
          <p:cNvPr id="13" name="Shape 11"/>
          <p:cNvSpPr/>
          <p:nvPr/>
        </p:nvSpPr>
        <p:spPr>
          <a:xfrm>
            <a:off x="685800" y="1828800"/>
            <a:ext cx="2533650" cy="18669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pic>
        <p:nvPicPr>
          <p:cNvPr id="14" name="Image 0" descr="/home/user/Narae-AI/docs/ppt/assets/엑셀1-1_날짜, 시간 입력 후(RiMS 데이터 가져오기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2382795"/>
            <a:ext cx="2343150" cy="758909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71525" y="2373270"/>
            <a:ext cx="2362200" cy="777959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38500" y="2686050"/>
            <a:ext cx="190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75" dirty="0"/>
          </a:p>
        </p:txBody>
      </p:sp>
      <p:sp>
        <p:nvSpPr>
          <p:cNvPr id="17" name="Text 14"/>
          <p:cNvSpPr txBox="1"/>
          <p:nvPr/>
        </p:nvSpPr>
        <p:spPr>
          <a:xfrm>
            <a:off x="3448050" y="1600200"/>
            <a:ext cx="2533650" cy="179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4"/>
              </a:lnSpc>
              <a:buNone/>
            </a:pPr>
            <a:r>
              <a:rPr lang="en-US" sz="108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온도별 계산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3448050" y="1828800"/>
            <a:ext cx="2533650" cy="18669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pic>
        <p:nvPicPr>
          <p:cNvPr id="19" name="Image 1" descr="/home/user/Narae-AI/docs/ppt/assets/엑셀2-1_G열 대기압 입력 후 온도별 이론값 생성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423" y="1905000"/>
            <a:ext cx="2024905" cy="17145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692898" y="1895475"/>
            <a:ext cx="2043955" cy="17335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000750" y="2686050"/>
            <a:ext cx="190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75" dirty="0"/>
          </a:p>
        </p:txBody>
      </p:sp>
      <p:sp>
        <p:nvSpPr>
          <p:cNvPr id="22" name="Text 18"/>
          <p:cNvSpPr txBox="1"/>
          <p:nvPr/>
        </p:nvSpPr>
        <p:spPr>
          <a:xfrm>
            <a:off x="6210300" y="1600200"/>
            <a:ext cx="2533650" cy="179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4"/>
              </a:lnSpc>
              <a:buNone/>
            </a:pPr>
            <a:r>
              <a:rPr lang="en-US" sz="108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차이 더하기</a:t>
            </a:r>
            <a:endParaRPr lang="en-US" sz="1088" dirty="0"/>
          </a:p>
        </p:txBody>
      </p:sp>
      <p:sp>
        <p:nvSpPr>
          <p:cNvPr id="23" name="Shape 19"/>
          <p:cNvSpPr/>
          <p:nvPr/>
        </p:nvSpPr>
        <p:spPr>
          <a:xfrm>
            <a:off x="6210300" y="1828800"/>
            <a:ext cx="2533650" cy="18669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pic>
        <p:nvPicPr>
          <p:cNvPr id="24" name="Image 2" descr="/home/user/Narae-AI/docs/ppt/assets/엑셀2-2_IGV Turn up 적용 및, 테스트 온도 지점의 실제 출력과 이론값 비교하여 BTL(보정값) 적용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2512979"/>
            <a:ext cx="2343150" cy="498543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296025" y="2503454"/>
            <a:ext cx="2362200" cy="517593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763000" y="2686050"/>
            <a:ext cx="190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75" dirty="0"/>
          </a:p>
        </p:txBody>
      </p:sp>
      <p:sp>
        <p:nvSpPr>
          <p:cNvPr id="27" name="Text 22"/>
          <p:cNvSpPr txBox="1"/>
          <p:nvPr/>
        </p:nvSpPr>
        <p:spPr>
          <a:xfrm>
            <a:off x="8972550" y="1600200"/>
            <a:ext cx="2533650" cy="179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4"/>
              </a:lnSpc>
              <a:buNone/>
            </a:pPr>
            <a:r>
              <a:rPr lang="en-US" sz="108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프로파일 완성</a:t>
            </a:r>
            <a:endParaRPr lang="en-US" sz="1088" dirty="0"/>
          </a:p>
        </p:txBody>
      </p:sp>
      <p:sp>
        <p:nvSpPr>
          <p:cNvPr id="28" name="Shape 23"/>
          <p:cNvSpPr/>
          <p:nvPr/>
        </p:nvSpPr>
        <p:spPr>
          <a:xfrm>
            <a:off x="8972550" y="1828800"/>
            <a:ext cx="2533650" cy="18669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pic>
        <p:nvPicPr>
          <p:cNvPr id="29" name="Image 3" descr="/home/user/Narae-AI/docs/ppt/assets/xl_pro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800" y="2067983"/>
            <a:ext cx="2343150" cy="1388533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9058275" y="2058458"/>
            <a:ext cx="2362200" cy="1407583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85800" y="3848100"/>
            <a:ext cx="10820400" cy="20955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914400" y="3962400"/>
            <a:ext cx="4762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시험한 온도는 하루에 한 곳뿐입니다</a:t>
            </a:r>
            <a:endParaRPr lang="en-US" sz="788" dirty="0"/>
          </a:p>
        </p:txBody>
      </p:sp>
      <p:sp>
        <p:nvSpPr>
          <p:cNvPr id="33" name="Shape 27"/>
          <p:cNvSpPr/>
          <p:nvPr/>
        </p:nvSpPr>
        <p:spPr>
          <a:xfrm>
            <a:off x="2038350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2182178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2326005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2469833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2613660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2757488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2901315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3045143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3188970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3332798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3476625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3620453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3764280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3908107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4051935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4195763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4339590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4483418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4627245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4771073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4914900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5058727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5202555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5346383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5490210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5634038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5777865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5921693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6065520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6209347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6353175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6497002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6640830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6784657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6928485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7072313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7216140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7359968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7503795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7647623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7791450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7935278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8079105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8222933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8366760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8510588" y="5314950"/>
            <a:ext cx="0" cy="152400"/>
          </a:xfrm>
          <a:prstGeom prst="line">
            <a:avLst/>
          </a:prstGeom>
          <a:noFill/>
          <a:ln w="25400">
            <a:solidFill>
              <a:srgbClr val="EFB13C"/>
            </a:solidFill>
            <a:prstDash val="solid"/>
          </a:ln>
        </p:spPr>
      </p:sp>
      <p:sp>
        <p:nvSpPr>
          <p:cNvPr id="79" name="Shape 73"/>
          <p:cNvSpPr/>
          <p:nvPr/>
        </p:nvSpPr>
        <p:spPr>
          <a:xfrm>
            <a:off x="8654415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80" name="Shape 74"/>
          <p:cNvSpPr/>
          <p:nvPr/>
        </p:nvSpPr>
        <p:spPr>
          <a:xfrm>
            <a:off x="8798243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81" name="Shape 75"/>
          <p:cNvSpPr/>
          <p:nvPr/>
        </p:nvSpPr>
        <p:spPr>
          <a:xfrm>
            <a:off x="8942070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82" name="Shape 76"/>
          <p:cNvSpPr/>
          <p:nvPr/>
        </p:nvSpPr>
        <p:spPr>
          <a:xfrm>
            <a:off x="9085898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83" name="Shape 77"/>
          <p:cNvSpPr/>
          <p:nvPr/>
        </p:nvSpPr>
        <p:spPr>
          <a:xfrm>
            <a:off x="9229725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84" name="Shape 78"/>
          <p:cNvSpPr/>
          <p:nvPr/>
        </p:nvSpPr>
        <p:spPr>
          <a:xfrm>
            <a:off x="9373553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85" name="Shape 79"/>
          <p:cNvSpPr/>
          <p:nvPr/>
        </p:nvSpPr>
        <p:spPr>
          <a:xfrm>
            <a:off x="9517380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86" name="Shape 80"/>
          <p:cNvSpPr/>
          <p:nvPr/>
        </p:nvSpPr>
        <p:spPr>
          <a:xfrm>
            <a:off x="9661207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87" name="Shape 81"/>
          <p:cNvSpPr/>
          <p:nvPr/>
        </p:nvSpPr>
        <p:spPr>
          <a:xfrm>
            <a:off x="9805035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88" name="Shape 82"/>
          <p:cNvSpPr/>
          <p:nvPr/>
        </p:nvSpPr>
        <p:spPr>
          <a:xfrm>
            <a:off x="9948863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89" name="Shape 83"/>
          <p:cNvSpPr/>
          <p:nvPr/>
        </p:nvSpPr>
        <p:spPr>
          <a:xfrm>
            <a:off x="10092690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90" name="Shape 84"/>
          <p:cNvSpPr/>
          <p:nvPr/>
        </p:nvSpPr>
        <p:spPr>
          <a:xfrm>
            <a:off x="10236517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91" name="Shape 85"/>
          <p:cNvSpPr/>
          <p:nvPr/>
        </p:nvSpPr>
        <p:spPr>
          <a:xfrm>
            <a:off x="10380345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92" name="Shape 86"/>
          <p:cNvSpPr/>
          <p:nvPr/>
        </p:nvSpPr>
        <p:spPr>
          <a:xfrm>
            <a:off x="10524173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93" name="Shape 87"/>
          <p:cNvSpPr/>
          <p:nvPr/>
        </p:nvSpPr>
        <p:spPr>
          <a:xfrm>
            <a:off x="10668000" y="5400675"/>
            <a:ext cx="0" cy="66675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94" name="Shape 88"/>
          <p:cNvSpPr/>
          <p:nvPr/>
        </p:nvSpPr>
        <p:spPr>
          <a:xfrm>
            <a:off x="1962150" y="5467350"/>
            <a:ext cx="878205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95" name="Text 89"/>
          <p:cNvSpPr txBox="1"/>
          <p:nvPr/>
        </p:nvSpPr>
        <p:spPr>
          <a:xfrm>
            <a:off x="1809750" y="5543550"/>
            <a:ext cx="45720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88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-20</a:t>
            </a:r>
            <a:endParaRPr lang="en-US" sz="788" dirty="0"/>
          </a:p>
        </p:txBody>
      </p:sp>
      <p:sp>
        <p:nvSpPr>
          <p:cNvPr id="96" name="Text 90"/>
          <p:cNvSpPr txBox="1"/>
          <p:nvPr/>
        </p:nvSpPr>
        <p:spPr>
          <a:xfrm>
            <a:off x="3248025" y="5543550"/>
            <a:ext cx="45720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88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</a:t>
            </a:r>
            <a:endParaRPr lang="en-US" sz="788" dirty="0"/>
          </a:p>
        </p:txBody>
      </p:sp>
      <p:sp>
        <p:nvSpPr>
          <p:cNvPr id="97" name="Text 91"/>
          <p:cNvSpPr txBox="1"/>
          <p:nvPr/>
        </p:nvSpPr>
        <p:spPr>
          <a:xfrm>
            <a:off x="4686300" y="5543550"/>
            <a:ext cx="45720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88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88" dirty="0"/>
          </a:p>
        </p:txBody>
      </p:sp>
      <p:sp>
        <p:nvSpPr>
          <p:cNvPr id="98" name="Text 92"/>
          <p:cNvSpPr txBox="1"/>
          <p:nvPr/>
        </p:nvSpPr>
        <p:spPr>
          <a:xfrm>
            <a:off x="6124575" y="5543550"/>
            <a:ext cx="45720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88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</a:t>
            </a:r>
            <a:endParaRPr lang="en-US" sz="788" dirty="0"/>
          </a:p>
        </p:txBody>
      </p:sp>
      <p:sp>
        <p:nvSpPr>
          <p:cNvPr id="99" name="Text 93"/>
          <p:cNvSpPr txBox="1"/>
          <p:nvPr/>
        </p:nvSpPr>
        <p:spPr>
          <a:xfrm>
            <a:off x="7562850" y="5543550"/>
            <a:ext cx="45720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88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</a:t>
            </a:r>
            <a:endParaRPr lang="en-US" sz="788" dirty="0"/>
          </a:p>
        </p:txBody>
      </p:sp>
      <p:sp>
        <p:nvSpPr>
          <p:cNvPr id="100" name="Text 94"/>
          <p:cNvSpPr txBox="1"/>
          <p:nvPr/>
        </p:nvSpPr>
        <p:spPr>
          <a:xfrm>
            <a:off x="9001125" y="5543550"/>
            <a:ext cx="45720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88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+30</a:t>
            </a:r>
            <a:endParaRPr lang="en-US" sz="788" dirty="0"/>
          </a:p>
        </p:txBody>
      </p:sp>
      <p:sp>
        <p:nvSpPr>
          <p:cNvPr id="101" name="Text 95"/>
          <p:cNvSpPr txBox="1"/>
          <p:nvPr/>
        </p:nvSpPr>
        <p:spPr>
          <a:xfrm>
            <a:off x="10439400" y="5543550"/>
            <a:ext cx="45720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88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+40</a:t>
            </a:r>
            <a:endParaRPr lang="en-US" sz="788" dirty="0"/>
          </a:p>
        </p:txBody>
      </p:sp>
      <p:sp>
        <p:nvSpPr>
          <p:cNvPr id="102" name="Text 96"/>
          <p:cNvSpPr txBox="1"/>
          <p:nvPr/>
        </p:nvSpPr>
        <p:spPr>
          <a:xfrm>
            <a:off x="10915650" y="5543550"/>
            <a:ext cx="22860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℃</a:t>
            </a:r>
            <a:endParaRPr lang="en-US" sz="788" dirty="0"/>
          </a:p>
        </p:txBody>
      </p:sp>
      <p:sp>
        <p:nvSpPr>
          <p:cNvPr id="103" name="Shape 97"/>
          <p:cNvSpPr/>
          <p:nvPr/>
        </p:nvSpPr>
        <p:spPr>
          <a:xfrm>
            <a:off x="2038350" y="4724400"/>
            <a:ext cx="8629650" cy="0"/>
          </a:xfrm>
          <a:prstGeom prst="line">
            <a:avLst/>
          </a:prstGeom>
          <a:noFill/>
          <a:ln w="17780">
            <a:solidFill>
              <a:srgbClr val="A8BCD1"/>
            </a:solidFill>
            <a:prstDash val="dash"/>
          </a:ln>
        </p:spPr>
      </p:sp>
      <p:sp>
        <p:nvSpPr>
          <p:cNvPr id="104" name="Shape 98"/>
          <p:cNvSpPr/>
          <p:nvPr/>
        </p:nvSpPr>
        <p:spPr>
          <a:xfrm>
            <a:off x="8443913" y="4657725"/>
            <a:ext cx="133350" cy="133350"/>
          </a:xfrm>
          <a:prstGeom prst="ellipse">
            <a:avLst/>
          </a:prstGeom>
          <a:solidFill>
            <a:srgbClr val="EFB13C"/>
          </a:solidFill>
          <a:ln/>
        </p:spPr>
      </p:sp>
      <p:sp>
        <p:nvSpPr>
          <p:cNvPr id="105" name="Shape 99"/>
          <p:cNvSpPr/>
          <p:nvPr/>
        </p:nvSpPr>
        <p:spPr>
          <a:xfrm>
            <a:off x="8510588" y="4800600"/>
            <a:ext cx="0" cy="514350"/>
          </a:xfrm>
          <a:prstGeom prst="line">
            <a:avLst/>
          </a:prstGeom>
          <a:noFill/>
          <a:ln w="12700">
            <a:solidFill>
              <a:srgbClr val="EFB13C"/>
            </a:solidFill>
            <a:prstDash val="dash"/>
          </a:ln>
        </p:spPr>
      </p:sp>
      <p:sp>
        <p:nvSpPr>
          <p:cNvPr id="106" name="Text 100"/>
          <p:cNvSpPr txBox="1"/>
          <p:nvPr/>
        </p:nvSpPr>
        <p:spPr>
          <a:xfrm>
            <a:off x="7177088" y="4438650"/>
            <a:ext cx="2667000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시험했습니다</a:t>
            </a:r>
            <a:endParaRPr lang="en-US" sz="1050" dirty="0"/>
          </a:p>
        </p:txBody>
      </p:sp>
      <p:sp>
        <p:nvSpPr>
          <p:cNvPr id="107" name="Text 101"/>
          <p:cNvSpPr txBox="1"/>
          <p:nvPr/>
        </p:nvSpPr>
        <p:spPr>
          <a:xfrm>
            <a:off x="914400" y="4400550"/>
            <a:ext cx="228600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나온 차이를</a:t>
            </a:r>
            <a:endParaRPr lang="en-US" sz="1013" dirty="0"/>
          </a:p>
        </p:txBody>
      </p:sp>
      <p:sp>
        <p:nvSpPr>
          <p:cNvPr id="108" name="Text 102"/>
          <p:cNvSpPr txBox="1"/>
          <p:nvPr/>
        </p:nvSpPr>
        <p:spPr>
          <a:xfrm>
            <a:off x="914400" y="4781550"/>
            <a:ext cx="228600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A8BC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61개 온도 전부에 똑같이 얹었습니다</a:t>
            </a:r>
            <a:endParaRPr lang="en-US" sz="1013" dirty="0"/>
          </a:p>
        </p:txBody>
      </p:sp>
      <p:sp>
        <p:nvSpPr>
          <p:cNvPr id="109" name="Text 103"/>
          <p:cNvSpPr txBox="1"/>
          <p:nvPr/>
        </p:nvSpPr>
        <p:spPr>
          <a:xfrm>
            <a:off x="2038350" y="5753100"/>
            <a:ext cx="8629650" cy="160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60개 온도는 시험해 보지 않았습니다</a:t>
            </a:r>
            <a:endParaRPr lang="en-US" sz="975" dirty="0"/>
          </a:p>
        </p:txBody>
      </p:sp>
      <p:sp>
        <p:nvSpPr>
          <p:cNvPr id="110" name="Shape 104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11" name="Text 105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112" name="Text 106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그때는 이게 최선이었습니다.</a:t>
            </a:r>
            <a:endParaRPr lang="en-US" sz="123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 </a:t>
            </a:r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 및 문제 정의</a:t>
            </a:r>
            <a:pPr algn="l" indent="0" marL="0">
              <a:lnSpc>
                <a:spcPts val="1440"/>
              </a:lnSpc>
              <a:buNone/>
            </a:pPr>
            <a:r>
              <a:rPr lang="en-US" sz="975" spc="60" kern="0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문제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106680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4" name="Shape 2"/>
          <p:cNvSpPr/>
          <p:nvPr/>
        </p:nvSpPr>
        <p:spPr>
          <a:xfrm>
            <a:off x="10801350" y="419100"/>
            <a:ext cx="38100" cy="14287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5" name="Shape 3"/>
          <p:cNvSpPr/>
          <p:nvPr/>
        </p:nvSpPr>
        <p:spPr>
          <a:xfrm>
            <a:off x="109347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6" name="Shape 4"/>
          <p:cNvSpPr/>
          <p:nvPr/>
        </p:nvSpPr>
        <p:spPr>
          <a:xfrm>
            <a:off x="110680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8" name="Shape 6"/>
          <p:cNvSpPr/>
          <p:nvPr/>
        </p:nvSpPr>
        <p:spPr>
          <a:xfrm>
            <a:off x="113347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9" name="Shape 7"/>
          <p:cNvSpPr/>
          <p:nvPr/>
        </p:nvSpPr>
        <p:spPr>
          <a:xfrm>
            <a:off x="114681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914400"/>
            <a:ext cx="10287000" cy="44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문제가 있었습니다</a:t>
            </a:r>
            <a:endParaRPr lang="en-US" sz="2775" dirty="0"/>
          </a:p>
        </p:txBody>
      </p:sp>
      <p:sp>
        <p:nvSpPr>
          <p:cNvPr id="12" name="Shape 10"/>
          <p:cNvSpPr/>
          <p:nvPr/>
        </p:nvSpPr>
        <p:spPr>
          <a:xfrm>
            <a:off x="685800" y="1600200"/>
            <a:ext cx="6172200" cy="38481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6300" y="1714500"/>
            <a:ext cx="4762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기존 실적 시트에서 세 열만 오렸습니다</a:t>
            </a:r>
            <a:endParaRPr lang="en-US" sz="788" dirty="0"/>
          </a:p>
        </p:txBody>
      </p:sp>
      <p:pic>
        <p:nvPicPr>
          <p:cNvPr id="14" name="Image 0" descr="/home/user/Narae-AI/docs/ppt/assets/xl1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231" y="1943100"/>
            <a:ext cx="5785338" cy="32004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69706" y="1933575"/>
            <a:ext cx="5804388" cy="32194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6300" y="5238750"/>
            <a:ext cx="5791200" cy="13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시트 같은 회차이고, 열 사이 거리만 좁혔습니다.</a:t>
            </a:r>
            <a:endParaRPr lang="en-US" sz="863" dirty="0"/>
          </a:p>
        </p:txBody>
      </p:sp>
      <p:sp>
        <p:nvSpPr>
          <p:cNvPr id="17" name="Shape 14"/>
          <p:cNvSpPr/>
          <p:nvPr/>
        </p:nvSpPr>
        <p:spPr>
          <a:xfrm>
            <a:off x="7162800" y="1714500"/>
            <a:ext cx="228600" cy="12382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486650" y="1657350"/>
            <a:ext cx="4019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시험할 때마다 달랐습니다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162800" y="1962150"/>
            <a:ext cx="43434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08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11이 나온 날도 있고 4가 나온 날도 있었습니다.</a:t>
            </a:r>
            <a:endParaRPr lang="en-US" sz="1088" dirty="0"/>
          </a:p>
        </p:txBody>
      </p:sp>
      <p:sp>
        <p:nvSpPr>
          <p:cNvPr id="20" name="Shape 17"/>
          <p:cNvSpPr/>
          <p:nvPr/>
        </p:nvSpPr>
        <p:spPr>
          <a:xfrm>
            <a:off x="7162800" y="2438400"/>
            <a:ext cx="228600" cy="123825"/>
          </a:xfrm>
          <a:prstGeom prst="rect">
            <a:avLst/>
          </a:prstGeom>
          <a:solidFill>
            <a:srgbClr val="718BA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486650" y="2381250"/>
            <a:ext cx="4019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더하는 값은 늘 같았습니다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162800" y="2686050"/>
            <a:ext cx="43434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08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차이가 얼마든 4를 더했습니다.</a:t>
            </a:r>
            <a:endParaRPr lang="en-US" sz="1088" dirty="0"/>
          </a:p>
        </p:txBody>
      </p:sp>
      <p:sp>
        <p:nvSpPr>
          <p:cNvPr id="23" name="Shape 20"/>
          <p:cNvSpPr/>
          <p:nvPr/>
        </p:nvSpPr>
        <p:spPr>
          <a:xfrm>
            <a:off x="7162800" y="3067050"/>
            <a:ext cx="4343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162800" y="3200400"/>
            <a:ext cx="3238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시험 40회를 온도별로 전부 찍으면</a:t>
            </a:r>
            <a:endParaRPr lang="en-US" sz="788" dirty="0"/>
          </a:p>
        </p:txBody>
      </p:sp>
      <p:sp>
        <p:nvSpPr>
          <p:cNvPr id="25" name="Shape 22"/>
          <p:cNvSpPr/>
          <p:nvPr/>
        </p:nvSpPr>
        <p:spPr>
          <a:xfrm>
            <a:off x="7391400" y="3718560"/>
            <a:ext cx="394335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91400" y="4069080"/>
            <a:ext cx="394335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91400" y="4419600"/>
            <a:ext cx="394335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91400" y="5120640"/>
            <a:ext cx="394335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91400" y="4770120"/>
            <a:ext cx="394335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29450" y="3651885"/>
            <a:ext cx="304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7029450" y="4002405"/>
            <a:ext cx="304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7029450" y="4352925"/>
            <a:ext cx="304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7029450" y="4703445"/>
            <a:ext cx="304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50" dirty="0"/>
          </a:p>
        </p:txBody>
      </p:sp>
      <p:sp>
        <p:nvSpPr>
          <p:cNvPr id="34" name="Text 31"/>
          <p:cNvSpPr txBox="1"/>
          <p:nvPr/>
        </p:nvSpPr>
        <p:spPr>
          <a:xfrm>
            <a:off x="7029450" y="5053965"/>
            <a:ext cx="304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7674293" y="5295900"/>
            <a:ext cx="0" cy="47625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464743" y="5372100"/>
            <a:ext cx="419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0℃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8617268" y="5295900"/>
            <a:ext cx="0" cy="47625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407718" y="5372100"/>
            <a:ext cx="419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9560243" y="5295900"/>
            <a:ext cx="0" cy="47625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350693" y="5372100"/>
            <a:ext cx="419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10503218" y="5295900"/>
            <a:ext cx="0" cy="47625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293668" y="5372100"/>
            <a:ext cx="419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391400" y="4554988"/>
            <a:ext cx="3943350" cy="0"/>
          </a:xfrm>
          <a:prstGeom prst="line">
            <a:avLst/>
          </a:prstGeom>
          <a:noFill/>
          <a:ln w="17780">
            <a:solidFill>
              <a:srgbClr val="A8BCD1"/>
            </a:solidFill>
            <a:prstDash val="dash"/>
          </a:ln>
        </p:spPr>
      </p:sp>
      <p:sp>
        <p:nvSpPr>
          <p:cNvPr id="44" name="Text 41"/>
          <p:cNvSpPr txBox="1"/>
          <p:nvPr/>
        </p:nvSpPr>
        <p:spPr>
          <a:xfrm>
            <a:off x="9937433" y="4364488"/>
            <a:ext cx="1524000" cy="13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A8BC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더하던 값</a:t>
            </a:r>
            <a:endParaRPr lang="en-US" sz="863" dirty="0"/>
          </a:p>
        </p:txBody>
      </p:sp>
      <p:sp>
        <p:nvSpPr>
          <p:cNvPr id="45" name="Shape 42"/>
          <p:cNvSpPr/>
          <p:nvPr/>
        </p:nvSpPr>
        <p:spPr>
          <a:xfrm>
            <a:off x="7464647" y="3605270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46" name="Shape 43"/>
          <p:cNvSpPr/>
          <p:nvPr/>
        </p:nvSpPr>
        <p:spPr>
          <a:xfrm>
            <a:off x="7507081" y="3646719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47" name="Shape 44"/>
          <p:cNvSpPr/>
          <p:nvPr/>
        </p:nvSpPr>
        <p:spPr>
          <a:xfrm>
            <a:off x="7822978" y="3969986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48" name="Shape 45"/>
          <p:cNvSpPr/>
          <p:nvPr/>
        </p:nvSpPr>
        <p:spPr>
          <a:xfrm>
            <a:off x="8011573" y="4239010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49" name="Shape 46"/>
          <p:cNvSpPr/>
          <p:nvPr/>
        </p:nvSpPr>
        <p:spPr>
          <a:xfrm>
            <a:off x="8209598" y="4263459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0" name="Shape 47"/>
          <p:cNvSpPr/>
          <p:nvPr/>
        </p:nvSpPr>
        <p:spPr>
          <a:xfrm>
            <a:off x="8303895" y="4303505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1" name="Shape 48"/>
          <p:cNvSpPr/>
          <p:nvPr/>
        </p:nvSpPr>
        <p:spPr>
          <a:xfrm>
            <a:off x="8398193" y="4340661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2" name="Shape 49"/>
          <p:cNvSpPr/>
          <p:nvPr/>
        </p:nvSpPr>
        <p:spPr>
          <a:xfrm>
            <a:off x="8483060" y="4192916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3" name="Shape 50"/>
          <p:cNvSpPr/>
          <p:nvPr/>
        </p:nvSpPr>
        <p:spPr>
          <a:xfrm>
            <a:off x="8539639" y="4419177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4" name="Shape 51"/>
          <p:cNvSpPr/>
          <p:nvPr/>
        </p:nvSpPr>
        <p:spPr>
          <a:xfrm>
            <a:off x="8699945" y="4288871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5" name="Shape 52"/>
          <p:cNvSpPr/>
          <p:nvPr/>
        </p:nvSpPr>
        <p:spPr>
          <a:xfrm>
            <a:off x="8841391" y="4316037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6" name="Shape 53"/>
          <p:cNvSpPr/>
          <p:nvPr/>
        </p:nvSpPr>
        <p:spPr>
          <a:xfrm>
            <a:off x="8869680" y="4132890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7" name="Shape 54"/>
          <p:cNvSpPr/>
          <p:nvPr/>
        </p:nvSpPr>
        <p:spPr>
          <a:xfrm>
            <a:off x="8897969" y="4171885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8" name="Shape 55"/>
          <p:cNvSpPr/>
          <p:nvPr/>
        </p:nvSpPr>
        <p:spPr>
          <a:xfrm>
            <a:off x="9001697" y="4095472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9" name="Shape 56"/>
          <p:cNvSpPr/>
          <p:nvPr/>
        </p:nvSpPr>
        <p:spPr>
          <a:xfrm>
            <a:off x="9011126" y="4212896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0" name="Shape 57"/>
          <p:cNvSpPr/>
          <p:nvPr/>
        </p:nvSpPr>
        <p:spPr>
          <a:xfrm>
            <a:off x="9067705" y="4249964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1" name="Shape 58"/>
          <p:cNvSpPr/>
          <p:nvPr/>
        </p:nvSpPr>
        <p:spPr>
          <a:xfrm>
            <a:off x="9209151" y="4269417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2" name="Shape 59"/>
          <p:cNvSpPr/>
          <p:nvPr/>
        </p:nvSpPr>
        <p:spPr>
          <a:xfrm>
            <a:off x="9218581" y="4239886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3" name="Shape 60"/>
          <p:cNvSpPr/>
          <p:nvPr/>
        </p:nvSpPr>
        <p:spPr>
          <a:xfrm>
            <a:off x="9652349" y="4510137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4" name="Shape 61"/>
          <p:cNvSpPr/>
          <p:nvPr/>
        </p:nvSpPr>
        <p:spPr>
          <a:xfrm>
            <a:off x="10010680" y="4924452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5" name="Shape 62"/>
          <p:cNvSpPr/>
          <p:nvPr/>
        </p:nvSpPr>
        <p:spPr>
          <a:xfrm>
            <a:off x="10029539" y="5027417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6" name="Shape 63"/>
          <p:cNvSpPr/>
          <p:nvPr/>
        </p:nvSpPr>
        <p:spPr>
          <a:xfrm>
            <a:off x="10038969" y="4790378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7" name="Shape 64"/>
          <p:cNvSpPr/>
          <p:nvPr/>
        </p:nvSpPr>
        <p:spPr>
          <a:xfrm>
            <a:off x="10067258" y="4800981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8" name="Shape 65"/>
          <p:cNvSpPr/>
          <p:nvPr/>
        </p:nvSpPr>
        <p:spPr>
          <a:xfrm>
            <a:off x="10227564" y="4973787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9" name="Shape 66"/>
          <p:cNvSpPr/>
          <p:nvPr/>
        </p:nvSpPr>
        <p:spPr>
          <a:xfrm>
            <a:off x="10350151" y="5165084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0" name="Shape 67"/>
          <p:cNvSpPr/>
          <p:nvPr/>
        </p:nvSpPr>
        <p:spPr>
          <a:xfrm>
            <a:off x="10491597" y="4880286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1" name="Shape 68"/>
          <p:cNvSpPr/>
          <p:nvPr/>
        </p:nvSpPr>
        <p:spPr>
          <a:xfrm>
            <a:off x="10491597" y="4781615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2" name="Shape 69"/>
          <p:cNvSpPr/>
          <p:nvPr/>
        </p:nvSpPr>
        <p:spPr>
          <a:xfrm>
            <a:off x="10538746" y="5041876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3" name="Shape 70"/>
          <p:cNvSpPr/>
          <p:nvPr/>
        </p:nvSpPr>
        <p:spPr>
          <a:xfrm>
            <a:off x="10557605" y="5037231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4" name="Shape 71"/>
          <p:cNvSpPr/>
          <p:nvPr/>
        </p:nvSpPr>
        <p:spPr>
          <a:xfrm>
            <a:off x="10633043" y="4816141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5" name="Shape 72"/>
          <p:cNvSpPr/>
          <p:nvPr/>
        </p:nvSpPr>
        <p:spPr>
          <a:xfrm>
            <a:off x="10699052" y="4793971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6" name="Shape 73"/>
          <p:cNvSpPr/>
          <p:nvPr/>
        </p:nvSpPr>
        <p:spPr>
          <a:xfrm>
            <a:off x="10727341" y="4962308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7" name="Shape 74"/>
          <p:cNvSpPr/>
          <p:nvPr/>
        </p:nvSpPr>
        <p:spPr>
          <a:xfrm>
            <a:off x="10736771" y="4554653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8" name="Shape 75"/>
          <p:cNvSpPr/>
          <p:nvPr/>
        </p:nvSpPr>
        <p:spPr>
          <a:xfrm>
            <a:off x="10736771" y="4617747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9" name="Shape 76"/>
          <p:cNvSpPr/>
          <p:nvPr/>
        </p:nvSpPr>
        <p:spPr>
          <a:xfrm>
            <a:off x="10736771" y="4873977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80" name="Shape 77"/>
          <p:cNvSpPr/>
          <p:nvPr/>
        </p:nvSpPr>
        <p:spPr>
          <a:xfrm>
            <a:off x="10812209" y="4680227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81" name="Shape 78"/>
          <p:cNvSpPr/>
          <p:nvPr/>
        </p:nvSpPr>
        <p:spPr>
          <a:xfrm>
            <a:off x="10831068" y="4943555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82" name="Shape 79"/>
          <p:cNvSpPr/>
          <p:nvPr/>
        </p:nvSpPr>
        <p:spPr>
          <a:xfrm>
            <a:off x="10906506" y="4674881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83" name="Shape 80"/>
          <p:cNvSpPr/>
          <p:nvPr/>
        </p:nvSpPr>
        <p:spPr>
          <a:xfrm>
            <a:off x="11047952" y="4555617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84" name="Shape 81"/>
          <p:cNvSpPr/>
          <p:nvPr/>
        </p:nvSpPr>
        <p:spPr>
          <a:xfrm>
            <a:off x="11217688" y="4614855"/>
            <a:ext cx="60960" cy="6096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7162800" y="5543550"/>
            <a:ext cx="4343400" cy="13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하나가 시험 한 번입니다.</a:t>
            </a:r>
            <a:endParaRPr lang="en-US" sz="863" dirty="0"/>
          </a:p>
        </p:txBody>
      </p:sp>
      <p:sp>
        <p:nvSpPr>
          <p:cNvPr id="86" name="Shape 83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88" name="Text 85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날씨마다 다른 것을 하나로 맞추려니 맞을 수가 없었습니다.</a:t>
            </a:r>
            <a:endParaRPr lang="en-US" sz="12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나래에너지서비스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공급가능용량 산정 Tool — 최종 발표</dc:title>
  <dc:subject>위례열병합발전소 공급가능용량 산정 체계 개선</dc:subject>
  <dc:creator>주현M, 정상우M</dc:creator>
  <cp:lastModifiedBy>주현M, 정상우M</cp:lastModifiedBy>
  <cp:revision>1</cp:revision>
  <dcterms:created xsi:type="dcterms:W3CDTF">2026-09-16T04:46:01Z</dcterms:created>
  <dcterms:modified xsi:type="dcterms:W3CDTF">2026-09-16T04:46:01Z</dcterms:modified>
</cp:coreProperties>
</file>