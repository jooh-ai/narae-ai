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5528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선정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47529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51" name="Text 49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2" name="Text 50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61" name="Text 59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2" name="Text 60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를 길잡이로 삼아 직접 공부하고 풀어내는 성취감을 맛보고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 보고 싶었고, 마침 눈에 보이던 비효율이 그 대상이었습니다.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값을 하나로 끝냈습니다.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합친다.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쌓아, 더하는 값을 온도마다 다르게 만든다.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5334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같이 움직입니다 (겹침 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차이가 반대로 움직입니다 (겹침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하나는 흩어진 과정을 도구 하나로 합친 것입니다. 다른 하나는 더하는 값을 온도마다 다르게 한 것입니다.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72600" y="1790700"/>
            <a:ext cx="2019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계산식은 손대지 않았습니다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287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2573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합쳤다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714750" y="1990725"/>
            <a:ext cx="60007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437197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600575" y="1971675"/>
            <a:ext cx="1238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088" dirty="0"/>
          </a:p>
        </p:txBody>
      </p:sp>
      <p:sp>
        <p:nvSpPr>
          <p:cNvPr id="26" name="Shape 24"/>
          <p:cNvSpPr/>
          <p:nvPr/>
        </p:nvSpPr>
        <p:spPr>
          <a:xfrm>
            <a:off x="5981700" y="1943100"/>
            <a:ext cx="0" cy="3238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246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2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온도마다 다르게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9010650" y="1990725"/>
            <a:ext cx="46672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1개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953452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763125" y="1971675"/>
            <a:ext cx="1504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</a:t>
            </a:r>
            <a:endParaRPr lang="en-US" sz="1088" dirty="0"/>
          </a:p>
        </p:txBody>
      </p:sp>
      <p:sp>
        <p:nvSpPr>
          <p:cNvPr id="33" name="Shape 31"/>
          <p:cNvSpPr/>
          <p:nvPr/>
        </p:nvSpPr>
        <p:spPr>
          <a:xfrm>
            <a:off x="685800" y="26003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247650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19150" y="2533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1009650" y="253365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pic>
        <p:nvPicPr>
          <p:cNvPr id="37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838450"/>
            <a:ext cx="8572500" cy="30099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66775" y="2828925"/>
            <a:ext cx="8591550" cy="30289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639300" y="28384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25" dirty="0"/>
          </a:p>
        </p:txBody>
      </p:sp>
      <p:sp>
        <p:nvSpPr>
          <p:cNvPr id="40" name="Text 37"/>
          <p:cNvSpPr txBox="1"/>
          <p:nvPr/>
        </p:nvSpPr>
        <p:spPr>
          <a:xfrm>
            <a:off x="9639300" y="30099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</a:t>
            </a:r>
            <a:endParaRPr lang="en-US" sz="825" dirty="0"/>
          </a:p>
        </p:txBody>
      </p:sp>
      <p:sp>
        <p:nvSpPr>
          <p:cNvPr id="41" name="Text 38"/>
          <p:cNvSpPr txBox="1"/>
          <p:nvPr/>
        </p:nvSpPr>
        <p:spPr>
          <a:xfrm>
            <a:off x="9639300" y="37528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25" dirty="0"/>
          </a:p>
        </p:txBody>
      </p:sp>
      <p:sp>
        <p:nvSpPr>
          <p:cNvPr id="42" name="Text 39"/>
          <p:cNvSpPr txBox="1"/>
          <p:nvPr/>
        </p:nvSpPr>
        <p:spPr>
          <a:xfrm>
            <a:off x="9639300" y="39243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더할 값(보정값)과 시험 실적 점</a:t>
            </a:r>
            <a:endParaRPr lang="en-US" sz="825" dirty="0"/>
          </a:p>
        </p:txBody>
      </p:sp>
      <p:sp>
        <p:nvSpPr>
          <p:cNvPr id="43" name="Text 40"/>
          <p:cNvSpPr txBox="1"/>
          <p:nvPr/>
        </p:nvSpPr>
        <p:spPr>
          <a:xfrm>
            <a:off x="9639300" y="46672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825" dirty="0"/>
          </a:p>
        </p:txBody>
      </p:sp>
      <p:sp>
        <p:nvSpPr>
          <p:cNvPr id="44" name="Text 41"/>
          <p:cNvSpPr txBox="1"/>
          <p:nvPr/>
        </p:nvSpPr>
        <p:spPr>
          <a:xfrm>
            <a:off x="9639300" y="48387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선이 벌어진 만큼이 그 온도에서 더하는 값입니다</a:t>
            </a:r>
            <a:endParaRPr lang="en-US" sz="825" dirty="0"/>
          </a:p>
        </p:txBody>
      </p:sp>
      <p:sp>
        <p:nvSpPr>
          <p:cNvPr id="45" name="Text 42"/>
          <p:cNvSpPr txBox="1"/>
          <p:nvPr/>
        </p:nvSpPr>
        <p:spPr>
          <a:xfrm>
            <a:off x="876300" y="5905500"/>
            <a:ext cx="1038225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이 보정 곡선을 무엇으로 그리는지 — 후보 회귀 모델 7가지를 겨루게 해서 고른 과정은 다음 장에 있습니다.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9" name="Text 4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계산식을 그대로 두었으니 다른 발전소에도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선정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하는지 우리가 정할 수 없었습니다. 후보 7가지를 같은 데이터로 겨루게 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781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2192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20002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63" dirty="0"/>
          </a:p>
        </p:txBody>
      </p:sp>
      <p:sp>
        <p:nvSpPr>
          <p:cNvPr id="22" name="Shape 20"/>
          <p:cNvSpPr/>
          <p:nvPr/>
        </p:nvSpPr>
        <p:spPr>
          <a:xfrm>
            <a:off x="2495550" y="2028825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20002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825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20002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20002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717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63" dirty="0"/>
          </a:p>
        </p:txBody>
      </p:sp>
      <p:sp>
        <p:nvSpPr>
          <p:cNvPr id="27" name="Shape 25"/>
          <p:cNvSpPr/>
          <p:nvPr/>
        </p:nvSpPr>
        <p:spPr>
          <a:xfrm>
            <a:off x="2505075" y="2209800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717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825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717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825" dirty="0"/>
          </a:p>
        </p:txBody>
      </p:sp>
      <p:sp>
        <p:nvSpPr>
          <p:cNvPr id="30" name="Text 28"/>
          <p:cNvSpPr txBox="1"/>
          <p:nvPr/>
        </p:nvSpPr>
        <p:spPr>
          <a:xfrm>
            <a:off x="6858000" y="21717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굵기의 파동을 섞은 곡선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3431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63" dirty="0"/>
          </a:p>
        </p:txBody>
      </p:sp>
      <p:sp>
        <p:nvSpPr>
          <p:cNvPr id="32" name="Shape 30"/>
          <p:cNvSpPr/>
          <p:nvPr/>
        </p:nvSpPr>
        <p:spPr>
          <a:xfrm>
            <a:off x="2505075" y="2381250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3431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3431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23431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조금 덜 부드러운 곡선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5146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505075" y="2552700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5146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5146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6858000" y="25146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덜 부드러운 곡선</a:t>
            </a:r>
            <a:endParaRPr lang="en-US" sz="825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6860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2505075" y="2724150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6860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6860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6858000" y="26860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꺾임을 허용하는 곡선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8575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63" dirty="0"/>
          </a:p>
        </p:txBody>
      </p:sp>
      <p:sp>
        <p:nvSpPr>
          <p:cNvPr id="47" name="Shape 45"/>
          <p:cNvSpPr/>
          <p:nvPr/>
        </p:nvSpPr>
        <p:spPr>
          <a:xfrm>
            <a:off x="2505075" y="2895600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8575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8575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6858000" y="28575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시험에 무게를 더 주는 평균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30289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63" dirty="0"/>
          </a:p>
        </p:txBody>
      </p:sp>
      <p:sp>
        <p:nvSpPr>
          <p:cNvPr id="52" name="Shape 50"/>
          <p:cNvSpPr/>
          <p:nvPr/>
        </p:nvSpPr>
        <p:spPr>
          <a:xfrm>
            <a:off x="2505075" y="3067050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30289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825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30289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825" dirty="0"/>
          </a:p>
        </p:txBody>
      </p:sp>
      <p:sp>
        <p:nvSpPr>
          <p:cNvPr id="55" name="Text 53"/>
          <p:cNvSpPr txBox="1"/>
          <p:nvPr/>
        </p:nvSpPr>
        <p:spPr>
          <a:xfrm>
            <a:off x="6858000" y="30289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구간을 나눠 그 안의 평균을 씀 — 가장 단순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2385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이름 · 막대는 1등과의 차이(오른쪽으로 갈수록 더 틀린 것) · 가운데 숫자가 평균 오차 · 채점은 시험 39회를 한 회씩 가려 맞혀 보는 방식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40995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프로세스. 값 하나를 내는 것이 아니라 곡선 전체를 후보로 두고 실적에 가장 잘 맞는 곡선을 고릅니다. 뒤에 붙은 이름(RBF · Matérn …)은 곡선이 얼마나 부드러운지를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743325"/>
            <a:ext cx="10820400" cy="2352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6195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676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6766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안에서 고릅니다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943975" y="3810000"/>
            <a:ext cx="2447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선정 화면 · 위 표와 같은 숫자입니다</a:t>
            </a:r>
            <a:endParaRPr lang="en-US" sz="825" dirty="0"/>
          </a:p>
        </p:txBody>
      </p:sp>
      <p:pic>
        <p:nvPicPr>
          <p:cNvPr id="63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981450"/>
            <a:ext cx="7410450" cy="215265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971925"/>
            <a:ext cx="7429500" cy="21717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572500" y="39814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도구에 넣었나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8572500" y="41529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40회뿐입니다. 실적이 늘면 성적이 바뀔 수 있어 그때마다 다시 채점해야 합니다.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8572500" y="47053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채점하나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8572500" y="48768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봅니다. 전 회차를 돌아가며 반복해 평균을 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8572500" y="54292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앞서면 바꾼다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6007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모델이 앞서면 그때 바꿉니다. 지금은 GP·RBF 가 앞섭니다.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채점이 도구 안에 들어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방식과 나란히 돌렸습니다. 예측을 먼저 적어 두고 시험이 끝난 뒤 실제와 맞춰 봤습니다.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치우침은 -0.04 MW 로 한쪽으로 쏠리지 않았습니다.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돌린 결과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8534400" y="3124200"/>
            <a:ext cx="2857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날짜와 시각만 넣고 산정을 누른 결과</a:t>
            </a:r>
            <a:endParaRPr lang="en-US" sz="825" dirty="0"/>
          </a:p>
        </p:txBody>
      </p:sp>
      <p:pic>
        <p:nvPicPr>
          <p:cNvPr id="47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295650"/>
            <a:ext cx="8953500" cy="2581275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866775" y="3286125"/>
            <a:ext cx="8972550" cy="2600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963150" y="3352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863" dirty="0"/>
          </a:p>
        </p:txBody>
      </p:sp>
      <p:sp>
        <p:nvSpPr>
          <p:cNvPr id="50" name="Text 47"/>
          <p:cNvSpPr txBox="1"/>
          <p:nvPr/>
        </p:nvSpPr>
        <p:spPr>
          <a:xfrm>
            <a:off x="9963150" y="3524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</a:t>
            </a:r>
            <a:endParaRPr lang="en-US" sz="825" dirty="0"/>
          </a:p>
        </p:txBody>
      </p:sp>
      <p:sp>
        <p:nvSpPr>
          <p:cNvPr id="51" name="Text 48"/>
          <p:cNvSpPr txBox="1"/>
          <p:nvPr/>
        </p:nvSpPr>
        <p:spPr>
          <a:xfrm>
            <a:off x="9963150" y="4114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863" dirty="0"/>
          </a:p>
        </p:txBody>
      </p:sp>
      <p:sp>
        <p:nvSpPr>
          <p:cNvPr id="52" name="Text 49"/>
          <p:cNvSpPr txBox="1"/>
          <p:nvPr/>
        </p:nvSpPr>
        <p:spPr>
          <a:xfrm>
            <a:off x="9963150" y="4286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다른 더할 값</a:t>
            </a:r>
            <a:endParaRPr lang="en-US" sz="825" dirty="0"/>
          </a:p>
        </p:txBody>
      </p:sp>
      <p:sp>
        <p:nvSpPr>
          <p:cNvPr id="53" name="Text 50"/>
          <p:cNvSpPr txBox="1"/>
          <p:nvPr/>
        </p:nvSpPr>
        <p:spPr>
          <a:xfrm>
            <a:off x="9963150" y="4876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현실화</a:t>
            </a:r>
            <a:endParaRPr lang="en-US" sz="863" dirty="0"/>
          </a:p>
        </p:txBody>
      </p:sp>
      <p:sp>
        <p:nvSpPr>
          <p:cNvPr id="54" name="Text 51"/>
          <p:cNvSpPr txBox="1"/>
          <p:nvPr/>
        </p:nvSpPr>
        <p:spPr>
          <a:xfrm>
            <a:off x="9963150" y="5048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신고하는 값</a:t>
            </a:r>
            <a:endParaRPr lang="en-US" sz="825" dirty="0"/>
          </a:p>
        </p:txBody>
      </p:sp>
      <p:sp>
        <p:nvSpPr>
          <p:cNvPr id="55" name="Text 52"/>
          <p:cNvSpPr txBox="1"/>
          <p:nvPr/>
        </p:nvSpPr>
        <p:spPr>
          <a:xfrm>
            <a:off x="876300" y="5943600"/>
            <a:ext cx="1038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61구간이 한 표에 나옵니다. 이 표를 그대로 입찰에 씁니다. 쌓인 실적으로 곡선을 다시 고르는 화면은 7장에 있습니다.</a:t>
            </a:r>
            <a:endParaRPr lang="en-US" sz="825" dirty="0"/>
          </a:p>
        </p:txBody>
      </p:sp>
      <p:sp>
        <p:nvSpPr>
          <p:cNvPr id="56" name="Shape 5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59" name="Text 5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계산이 아니라, 넉 달을 기존 방식과 나란히 돌려 확인한 결과입니다.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933700"/>
            <a:ext cx="4914900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오가며 61개 값을 옮기던 일이, 날짜와 시각을 넣는 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324225"/>
            <a:ext cx="10820400" cy="9429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2004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575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9090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957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05325"/>
            <a:ext cx="10820400" cy="1590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3815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38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386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5720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74345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3395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1015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89585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3400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1495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58165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2440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7434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7434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49911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49911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387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387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4864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4864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79120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맞았습니다.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더할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대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 만들고, 입찰을 하는 다른 사업소로 넓힙니다.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362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어디가 비어 있나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515475" y="1790700"/>
            <a:ext cx="18764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· 온도대별 시험 횟수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7051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76350" y="2638425"/>
            <a:ext cx="419100" cy="666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300" y="24574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2회</a:t>
            </a:r>
            <a:endParaRPr lang="en-US" sz="1088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−14 ~ 0℃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20955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2457450"/>
            <a:ext cx="419100" cy="2476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2200" y="22764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7회</a:t>
            </a:r>
            <a:endParaRPr lang="en-US" sz="1088" dirty="0"/>
          </a:p>
        </p:txBody>
      </p:sp>
      <p:sp>
        <p:nvSpPr>
          <p:cNvPr id="27" name="Text 25"/>
          <p:cNvSpPr txBox="1"/>
          <p:nvPr/>
        </p:nvSpPr>
        <p:spPr>
          <a:xfrm>
            <a:off x="23622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10℃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35814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481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481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31" name="Text 29"/>
          <p:cNvSpPr txBox="1"/>
          <p:nvPr/>
        </p:nvSpPr>
        <p:spPr>
          <a:xfrm>
            <a:off x="38481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~ 15℃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50673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4050" y="2600325"/>
            <a:ext cx="419100" cy="1047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34000" y="24193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3회</a:t>
            </a:r>
            <a:endParaRPr lang="en-US" sz="1088" dirty="0"/>
          </a:p>
        </p:txBody>
      </p:sp>
      <p:sp>
        <p:nvSpPr>
          <p:cNvPr id="35" name="Text 33"/>
          <p:cNvSpPr txBox="1"/>
          <p:nvPr/>
        </p:nvSpPr>
        <p:spPr>
          <a:xfrm>
            <a:off x="53340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~ 20℃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5532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19950" y="2667000"/>
            <a:ext cx="419100" cy="381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9900" y="24860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1회</a:t>
            </a:r>
            <a:endParaRPr lang="en-US" sz="1088" dirty="0"/>
          </a:p>
        </p:txBody>
      </p:sp>
      <p:sp>
        <p:nvSpPr>
          <p:cNvPr id="39" name="Text 37"/>
          <p:cNvSpPr txBox="1"/>
          <p:nvPr/>
        </p:nvSpPr>
        <p:spPr>
          <a:xfrm>
            <a:off x="68199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80391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58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3058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43" name="Text 41"/>
          <p:cNvSpPr txBox="1"/>
          <p:nvPr/>
        </p:nvSpPr>
        <p:spPr>
          <a:xfrm>
            <a:off x="83058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~ 30℃</a:t>
            </a:r>
            <a:endParaRPr lang="en-US" sz="788" dirty="0"/>
          </a:p>
        </p:txBody>
      </p:sp>
      <p:sp>
        <p:nvSpPr>
          <p:cNvPr id="44" name="Shape 42"/>
          <p:cNvSpPr/>
          <p:nvPr/>
        </p:nvSpPr>
        <p:spPr>
          <a:xfrm>
            <a:off x="95250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1750" y="2171700"/>
            <a:ext cx="419100" cy="5334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91700" y="19907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15회</a:t>
            </a:r>
            <a:endParaRPr lang="en-US" sz="1088" dirty="0"/>
          </a:p>
        </p:txBody>
      </p:sp>
      <p:sp>
        <p:nvSpPr>
          <p:cNvPr id="47" name="Text 45"/>
          <p:cNvSpPr txBox="1"/>
          <p:nvPr/>
        </p:nvSpPr>
        <p:spPr>
          <a:xfrm>
            <a:off x="97917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~ 41℃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295275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주황은 3회 이하 — 더 쌓아야 하는 온도대입니다. 신고는 −20 ~ 40℃ 전부인데 실적은 −1.9 ~ 37.9℃ 뿐이라, 그 밖은 끝값을 그대로 씁니다.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85800" y="3324225"/>
            <a:ext cx="10820400" cy="27717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32004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1009650" y="32575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계획</a:t>
            </a:r>
            <a:endParaRPr lang="en-US" sz="1013" dirty="0"/>
          </a:p>
        </p:txBody>
      </p:sp>
      <p:sp>
        <p:nvSpPr>
          <p:cNvPr id="53" name="Text 51"/>
          <p:cNvSpPr txBox="1"/>
          <p:nvPr/>
        </p:nvSpPr>
        <p:spPr>
          <a:xfrm>
            <a:off x="10134600" y="3390900"/>
            <a:ext cx="1257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→ 2028</a:t>
            </a:r>
            <a:endParaRPr lang="en-US" sz="825" dirty="0"/>
          </a:p>
        </p:txBody>
      </p:sp>
      <p:sp>
        <p:nvSpPr>
          <p:cNvPr id="54" name="Shape 52"/>
          <p:cNvSpPr/>
          <p:nvPr/>
        </p:nvSpPr>
        <p:spPr>
          <a:xfrm>
            <a:off x="2076450" y="3600450"/>
            <a:ext cx="0" cy="24384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6300" y="35814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하반기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2033588" y="36052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286000" y="35623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 · 빈 온도대 채우기</a:t>
            </a:r>
            <a:endParaRPr lang="en-US" sz="1088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7528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 20~25℃ 1회, 15~20℃ 3회처럼 얇은 온도대부터 채웁니다.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2047875" y="39814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286000" y="39243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예보 자동 취득</a:t>
            </a:r>
            <a:endParaRPr lang="en-US" sz="1088" dirty="0"/>
          </a:p>
        </p:txBody>
      </p:sp>
      <p:sp>
        <p:nvSpPr>
          <p:cNvPr id="61" name="Text 59"/>
          <p:cNvSpPr txBox="1"/>
          <p:nvPr/>
        </p:nvSpPr>
        <p:spPr>
          <a:xfrm>
            <a:off x="2286000" y="41148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예보 파일을 손으로 올립니다. 이 한 단계를 자동화하면 날짜만 넣으면 끝입니다.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2286000" y="42100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76300" y="43053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2033588" y="43291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286000" y="42862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구간 전체 실적 확보 · 회귀 모델 재선정</a:t>
            </a:r>
            <a:endParaRPr lang="en-US" sz="1088" dirty="0"/>
          </a:p>
        </p:txBody>
      </p:sp>
      <p:sp>
        <p:nvSpPr>
          <p:cNvPr id="66" name="Text 64"/>
          <p:cNvSpPr txBox="1"/>
          <p:nvPr/>
        </p:nvSpPr>
        <p:spPr>
          <a:xfrm>
            <a:off x="2286000" y="447675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한 번 더 지나면 신고 구간 전체에 실적이 붙습니다. 그 데이터로 후보 7가지를 다시 채점(LOOCV)해 최적 회귀 모델을 다시 고릅니다 — 지금 1등이 계속 1등일 필요는 없습니다.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2286000" y="472440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6300" y="481965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2033588" y="484346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286000" y="48006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다른 사업소로 · 파주 · 여주 · 하남</a:t>
            </a:r>
            <a:endParaRPr lang="en-US" sz="1088" dirty="0"/>
          </a:p>
        </p:txBody>
      </p:sp>
      <p:sp>
        <p:nvSpPr>
          <p:cNvPr id="71" name="Text 69"/>
          <p:cNvSpPr txBox="1"/>
          <p:nvPr/>
        </p:nvSpPr>
        <p:spPr>
          <a:xfrm>
            <a:off x="2286000" y="499110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절차는 그대로 옮기고 특성 곡선표만 그 사업소 것으로 바꿔 넣습니다 — 곡선은 코드가 아니라 온도 61줄 표 파일로 읽습니다. 보정 곡선은 그 사업소 실적으로 새로 쌓습니다.</a:t>
            </a:r>
            <a:endParaRPr lang="en-US" sz="825" dirty="0"/>
          </a:p>
        </p:txBody>
      </p:sp>
      <p:sp>
        <p:nvSpPr>
          <p:cNvPr id="72" name="Shape 70"/>
          <p:cNvSpPr/>
          <p:nvPr/>
        </p:nvSpPr>
        <p:spPr>
          <a:xfrm>
            <a:off x="2286000" y="52387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76300" y="53340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2028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2033588" y="53578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286000" y="53149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 전후 구분</a:t>
            </a:r>
            <a:endParaRPr lang="en-US" sz="1088" dirty="0"/>
          </a:p>
        </p:txBody>
      </p:sp>
      <p:sp>
        <p:nvSpPr>
          <p:cNvPr id="76" name="Text 74"/>
          <p:cNvSpPr txBox="1"/>
          <p:nvPr/>
        </p:nvSpPr>
        <p:spPr>
          <a:xfrm>
            <a:off x="2286000" y="55054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대정비를 하면 출력 특성이 달라집니다. 정비 이력을 회차에 표시해 두고 정비 뒤 실적으로 곡선을 다시 세웁니다.</a:t>
            </a:r>
            <a:endParaRPr lang="en-US" sz="825" dirty="0"/>
          </a:p>
        </p:txBody>
      </p:sp>
      <p:sp>
        <p:nvSpPr>
          <p:cNvPr id="77" name="Shape 75"/>
          <p:cNvSpPr/>
          <p:nvPr/>
        </p:nvSpPr>
        <p:spPr>
          <a:xfrm>
            <a:off x="2047875" y="57340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286000" y="56769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 표준 절차로</a:t>
            </a:r>
            <a:endParaRPr lang="en-US" sz="1088" dirty="0"/>
          </a:p>
        </p:txBody>
      </p:sp>
      <p:sp>
        <p:nvSpPr>
          <p:cNvPr id="79" name="Text 77"/>
          <p:cNvSpPr txBox="1"/>
          <p:nvPr/>
        </p:nvSpPr>
        <p:spPr>
          <a:xfrm>
            <a:off x="2286000" y="58674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시험부터 신고까지의 순서를 표준 절차서로 정리합니다. 담당자가 바뀌어도 같은 숫자가 나오게 합니다.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쌓일수록 촘촘해지고,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696450" y="3181350"/>
            <a:ext cx="1695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를 길잡이로 삼아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85800" y="2447925"/>
            <a:ext cx="10820400" cy="2886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324100"/>
            <a:ext cx="17145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9150" y="2381250"/>
            <a:ext cx="1466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9572625" y="251460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검은 점은 실제 시험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18" name="Shape 16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Shape 77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0" name="Shape 78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9" name="Shape 87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0" name="Shape 88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1" name="Shape 89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2" name="Shape 90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3" name="Shape 91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4" name="Shape 92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5" name="Shape 93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6" name="Shape 94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7" name="Shape 95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8" name="Shape 96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9" name="Shape 97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1" name="Shape 99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2026-09-18T05:55:04Z</dcterms:created>
  <dcterms:modified xsi:type="dcterms:W3CDTF">2026-09-18T05:55:04Z</dcterms:modified>
</cp:coreProperties>
</file>