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9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57300" y="1971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48050" y="2019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8" name="Text 6"/>
          <p:cNvSpPr txBox="1"/>
          <p:nvPr/>
        </p:nvSpPr>
        <p:spPr>
          <a:xfrm>
            <a:off x="8058150" y="2028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9" name="Text 7"/>
          <p:cNvSpPr txBox="1"/>
          <p:nvPr/>
        </p:nvSpPr>
        <p:spPr>
          <a:xfrm>
            <a:off x="10972800" y="2009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2343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4574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57300" y="24193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48050" y="24669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문제였나</a:t>
            </a:r>
            <a:endParaRPr lang="en-US" sz="1013" dirty="0"/>
          </a:p>
        </p:txBody>
      </p:sp>
      <p:sp>
        <p:nvSpPr>
          <p:cNvPr id="14" name="Text 12"/>
          <p:cNvSpPr txBox="1"/>
          <p:nvPr/>
        </p:nvSpPr>
        <p:spPr>
          <a:xfrm>
            <a:off x="8058150" y="24765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5" name="Text 13"/>
          <p:cNvSpPr txBox="1"/>
          <p:nvPr/>
        </p:nvSpPr>
        <p:spPr>
          <a:xfrm>
            <a:off x="10972800" y="24574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27908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9051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57300" y="28670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448050" y="29146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1013" dirty="0"/>
          </a:p>
        </p:txBody>
      </p:sp>
      <p:sp>
        <p:nvSpPr>
          <p:cNvPr id="20" name="Text 18"/>
          <p:cNvSpPr txBox="1"/>
          <p:nvPr/>
        </p:nvSpPr>
        <p:spPr>
          <a:xfrm>
            <a:off x="8058150" y="29241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29051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3528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57300" y="33147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3448050" y="33623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8058150" y="33718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및 모델 개발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10972800" y="33528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" y="36861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8004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57300" y="37623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8100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쓰면서 확인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8195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8004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4133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24815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421005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425767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시간과 정확도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426720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42481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5815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695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657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705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714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695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5029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85800" y="5143500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257300" y="5105400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3448050" y="5153025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8058150" y="5162550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10972800" y="51435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85800" y="54768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257300" y="561975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4" name="Text 52"/>
          <p:cNvSpPr txBox="1"/>
          <p:nvPr/>
        </p:nvSpPr>
        <p:spPr>
          <a:xfrm>
            <a:off x="1905000" y="558165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1275" dirty="0"/>
          </a:p>
        </p:txBody>
      </p:sp>
      <p:sp>
        <p:nvSpPr>
          <p:cNvPr id="55" name="Text 53"/>
          <p:cNvSpPr txBox="1"/>
          <p:nvPr/>
        </p:nvSpPr>
        <p:spPr>
          <a:xfrm>
            <a:off x="3448050" y="562927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· 푼 방법 · 역할 분담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61975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62484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알려야 합니다. 그 숫자를 만드는 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409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011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알리는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87000" y="18573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다릅니다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047750" y="3048000"/>
            <a:ext cx="3238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04900" y="2329590"/>
            <a:ext cx="121920" cy="8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226820" y="2322636"/>
            <a:ext cx="121920" cy="69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348740" y="2317904"/>
            <a:ext cx="121920" cy="473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470660" y="2303422"/>
            <a:ext cx="121920" cy="1448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592580" y="2286000"/>
            <a:ext cx="121920" cy="1742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14500" y="2286000"/>
            <a:ext cx="121920" cy="120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36420" y="2298045"/>
            <a:ext cx="121920" cy="1312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58340" y="2311165"/>
            <a:ext cx="121920" cy="1469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80260" y="2325862"/>
            <a:ext cx="121920" cy="1670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02180" y="2342567"/>
            <a:ext cx="121920" cy="1835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24100" y="2360921"/>
            <a:ext cx="121920" cy="202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46020" y="2381210"/>
            <a:ext cx="121920" cy="272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67940" y="2408454"/>
            <a:ext cx="121920" cy="297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89860" y="2438208"/>
            <a:ext cx="121920" cy="3133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11780" y="2469538"/>
            <a:ext cx="121920" cy="3412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33700" y="2503665"/>
            <a:ext cx="121920" cy="3713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55620" y="2540802"/>
            <a:ext cx="121920" cy="40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7540" y="2580880"/>
            <a:ext cx="121920" cy="3233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9460" y="2613214"/>
            <a:ext cx="121920" cy="4509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421380" y="2658310"/>
            <a:ext cx="121920" cy="4875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43300" y="2707062"/>
            <a:ext cx="121920" cy="5384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65220" y="2760905"/>
            <a:ext cx="121920" cy="581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87140" y="2819049"/>
            <a:ext cx="121920" cy="6086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909060" y="2879918"/>
            <a:ext cx="121920" cy="6194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30980" y="2941862"/>
            <a:ext cx="121920" cy="6803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47750" y="21717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추우면 많이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3333750" y="2819400"/>
            <a:ext cx="10096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더우면 적게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667250" y="2152650"/>
            <a:ext cx="32385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4667250" y="2571750"/>
            <a:ext cx="32385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영하 20도부터 40도까지 61개 온도의 숫자를 따로 냅니다.</a:t>
            </a:r>
            <a:endParaRPr lang="en-US" sz="938" dirty="0"/>
          </a:p>
        </p:txBody>
      </p:sp>
      <p:sp>
        <p:nvSpPr>
          <p:cNvPr id="50" name="Shape 48"/>
          <p:cNvSpPr/>
          <p:nvPr/>
        </p:nvSpPr>
        <p:spPr>
          <a:xfrm>
            <a:off x="8210550" y="2114550"/>
            <a:ext cx="0" cy="9144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477250" y="2133600"/>
            <a:ext cx="2857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숫자가 어긋나면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8477250" y="2362200"/>
            <a:ext cx="18097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알리고 못 내면</a:t>
            </a:r>
            <a:endParaRPr lang="en-US" sz="975" dirty="0"/>
          </a:p>
        </p:txBody>
      </p:sp>
      <p:sp>
        <p:nvSpPr>
          <p:cNvPr id="53" name="Text 51"/>
          <p:cNvSpPr txBox="1"/>
          <p:nvPr/>
        </p:nvSpPr>
        <p:spPr>
          <a:xfrm>
            <a:off x="10344150" y="2343150"/>
            <a:ext cx="952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벌칙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477250" y="2647950"/>
            <a:ext cx="13906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알리면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9963150" y="26289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기회를 놓침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85800" y="3295650"/>
            <a:ext cx="5295900" cy="2647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5325" y="33051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85800" y="35814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95325" y="3305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57250" y="3371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85850" y="3371850"/>
            <a:ext cx="40862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우리가 이 과제를 골랐나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5172075" y="3381375"/>
            <a:ext cx="676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876300" y="3695700"/>
            <a:ext cx="49149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</a:t>
            </a:r>
            <a:endParaRPr lang="en-US" sz="1125" dirty="0"/>
          </a:p>
        </p:txBody>
      </p:sp>
      <p:sp>
        <p:nvSpPr>
          <p:cNvPr id="64" name="Text 62"/>
          <p:cNvSpPr txBox="1"/>
          <p:nvPr/>
        </p:nvSpPr>
        <p:spPr>
          <a:xfrm>
            <a:off x="876300" y="3943350"/>
            <a:ext cx="4914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정비기술팀입니다. 절차도 원리도 몰랐습니다.</a:t>
            </a:r>
            <a:endParaRPr lang="en-US" sz="1013" dirty="0"/>
          </a:p>
        </p:txBody>
      </p:sp>
      <p:sp>
        <p:nvSpPr>
          <p:cNvPr id="65" name="Shape 63"/>
          <p:cNvSpPr/>
          <p:nvPr/>
        </p:nvSpPr>
        <p:spPr>
          <a:xfrm>
            <a:off x="876300" y="4381500"/>
            <a:ext cx="38100" cy="4191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66800" y="436245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눈에 먼저 보였다</a:t>
            </a:r>
            <a:endParaRPr lang="en-US" sz="1163" dirty="0"/>
          </a:p>
        </p:txBody>
      </p:sp>
      <p:sp>
        <p:nvSpPr>
          <p:cNvPr id="67" name="Text 65"/>
          <p:cNvSpPr txBox="1"/>
          <p:nvPr/>
        </p:nvSpPr>
        <p:spPr>
          <a:xfrm>
            <a:off x="1066800" y="459105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네 개를 오가는 일이 번거로워 보였습니다.</a:t>
            </a:r>
            <a:endParaRPr lang="en-US" sz="975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66800" y="4953000"/>
            <a:ext cx="47244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163" dirty="0"/>
          </a:p>
        </p:txBody>
      </p:sp>
      <p:sp>
        <p:nvSpPr>
          <p:cNvPr id="70" name="Text 68"/>
          <p:cNvSpPr txBox="1"/>
          <p:nvPr/>
        </p:nvSpPr>
        <p:spPr>
          <a:xfrm>
            <a:off x="1066800" y="5181600"/>
            <a:ext cx="47244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정확해지면 그만큼 손해가 줄어듭니다.</a:t>
            </a:r>
            <a:endParaRPr lang="en-US" sz="975" dirty="0"/>
          </a:p>
        </p:txBody>
      </p:sp>
      <p:sp>
        <p:nvSpPr>
          <p:cNvPr id="71" name="Text 69"/>
          <p:cNvSpPr txBox="1"/>
          <p:nvPr/>
        </p:nvSpPr>
        <p:spPr>
          <a:xfrm>
            <a:off x="876300" y="5657850"/>
            <a:ext cx="49149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 팀 일이 아닌데도 과제로 잡았습니다.</a:t>
            </a:r>
            <a:endParaRPr lang="en-US" sz="938" dirty="0"/>
          </a:p>
        </p:txBody>
      </p:sp>
      <p:sp>
        <p:nvSpPr>
          <p:cNvPr id="72" name="Shape 70"/>
          <p:cNvSpPr/>
          <p:nvPr/>
        </p:nvSpPr>
        <p:spPr>
          <a:xfrm>
            <a:off x="6134100" y="3295650"/>
            <a:ext cx="5372100" cy="2647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143625" y="33051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74" name="Shape 72"/>
          <p:cNvSpPr/>
          <p:nvPr/>
        </p:nvSpPr>
        <p:spPr>
          <a:xfrm>
            <a:off x="6134100" y="35814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143625" y="3305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305550" y="3371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77" name="Text 75"/>
          <p:cNvSpPr txBox="1"/>
          <p:nvPr/>
        </p:nvSpPr>
        <p:spPr>
          <a:xfrm>
            <a:off x="6534150" y="3371850"/>
            <a:ext cx="30194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숫자를 만든 순서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9553575" y="3381375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63246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324600" y="388620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1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4739" y="3924300"/>
            <a:ext cx="1940972" cy="628650"/>
          </a:xfrm>
          <a:prstGeom prst="rect">
            <a:avLst/>
          </a:prstGeom>
        </p:spPr>
      </p:pic>
      <p:sp>
        <p:nvSpPr>
          <p:cNvPr id="82" name="Shape 79"/>
          <p:cNvSpPr/>
          <p:nvPr/>
        </p:nvSpPr>
        <p:spPr>
          <a:xfrm>
            <a:off x="6535214" y="3914775"/>
            <a:ext cx="1960022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8915400" y="36957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84" name="Shape 81"/>
          <p:cNvSpPr/>
          <p:nvPr/>
        </p:nvSpPr>
        <p:spPr>
          <a:xfrm>
            <a:off x="8915400" y="388620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5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793" y="3924300"/>
            <a:ext cx="742465" cy="628650"/>
          </a:xfrm>
          <a:prstGeom prst="rect">
            <a:avLst/>
          </a:prstGeom>
        </p:spPr>
      </p:pic>
      <p:sp>
        <p:nvSpPr>
          <p:cNvPr id="86" name="Shape 82"/>
          <p:cNvSpPr/>
          <p:nvPr/>
        </p:nvSpPr>
        <p:spPr>
          <a:xfrm>
            <a:off x="9725268" y="3914775"/>
            <a:ext cx="761515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3246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88" name="Shape 84"/>
          <p:cNvSpPr/>
          <p:nvPr/>
        </p:nvSpPr>
        <p:spPr>
          <a:xfrm>
            <a:off x="6324600" y="501015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89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5119384"/>
            <a:ext cx="2286000" cy="486383"/>
          </a:xfrm>
          <a:prstGeom prst="rect">
            <a:avLst/>
          </a:prstGeom>
        </p:spPr>
      </p:pic>
      <p:sp>
        <p:nvSpPr>
          <p:cNvPr id="90" name="Shape 85"/>
          <p:cNvSpPr/>
          <p:nvPr/>
        </p:nvSpPr>
        <p:spPr>
          <a:xfrm>
            <a:off x="6362700" y="5109859"/>
            <a:ext cx="2305050" cy="50543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91" name="Text 86"/>
          <p:cNvSpPr txBox="1"/>
          <p:nvPr/>
        </p:nvSpPr>
        <p:spPr>
          <a:xfrm>
            <a:off x="8915400" y="48196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92" name="Shape 87"/>
          <p:cNvSpPr/>
          <p:nvPr/>
        </p:nvSpPr>
        <p:spPr>
          <a:xfrm>
            <a:off x="8915400" y="5010150"/>
            <a:ext cx="2381250" cy="704850"/>
          </a:xfrm>
          <a:prstGeom prst="rect">
            <a:avLst/>
          </a:prstGeom>
          <a:ln w="12700">
            <a:solidFill>
              <a:srgbClr val="182838"/>
            </a:solidFill>
            <a:prstDash val="solid"/>
          </a:ln>
        </p:spPr>
      </p:sp>
      <p:pic>
        <p:nvPicPr>
          <p:cNvPr id="93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5602" y="5048250"/>
            <a:ext cx="1060847" cy="628650"/>
          </a:xfrm>
          <a:prstGeom prst="rect">
            <a:avLst/>
          </a:prstGeom>
        </p:spPr>
      </p:pic>
      <p:sp>
        <p:nvSpPr>
          <p:cNvPr id="94" name="Shape 88"/>
          <p:cNvSpPr/>
          <p:nvPr/>
        </p:nvSpPr>
        <p:spPr>
          <a:xfrm>
            <a:off x="9566077" y="5038725"/>
            <a:ext cx="1079897" cy="6477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89"/>
          <p:cNvSpPr txBox="1"/>
          <p:nvPr/>
        </p:nvSpPr>
        <p:spPr>
          <a:xfrm>
            <a:off x="6324600" y="5772150"/>
            <a:ext cx="4991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900" dirty="0"/>
          </a:p>
        </p:txBody>
      </p:sp>
      <p:sp>
        <p:nvSpPr>
          <p:cNvPr id="96" name="Shape 9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업무였지만 비효율이 먼저 보였습니다. 거기서 시작했습니다.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문제였나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불편한 점이 세 가지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5295900" cy="12382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3895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981575" y="1819275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438400" y="2114550"/>
            <a:ext cx="0" cy="419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908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옮기는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90800" y="2286000"/>
            <a:ext cx="3429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1950" dirty="0"/>
          </a:p>
        </p:txBody>
      </p:sp>
      <p:sp>
        <p:nvSpPr>
          <p:cNvPr id="26" name="Text 24"/>
          <p:cNvSpPr txBox="1"/>
          <p:nvPr/>
        </p:nvSpPr>
        <p:spPr>
          <a:xfrm>
            <a:off x="29718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114800" y="2114550"/>
            <a:ext cx="0" cy="4191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67200" y="2133600"/>
            <a:ext cx="15811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267200" y="2286000"/>
            <a:ext cx="1905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950" dirty="0"/>
          </a:p>
        </p:txBody>
      </p:sp>
      <p:sp>
        <p:nvSpPr>
          <p:cNvPr id="30" name="Text 28"/>
          <p:cNvSpPr txBox="1"/>
          <p:nvPr/>
        </p:nvSpPr>
        <p:spPr>
          <a:xfrm>
            <a:off x="4495800" y="23812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2686050"/>
            <a:ext cx="4762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오가며 값을 옮겼습니다.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685800" y="3086100"/>
            <a:ext cx="5295900" cy="28575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5325" y="309562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4" name="Shape 32"/>
          <p:cNvSpPr/>
          <p:nvPr/>
        </p:nvSpPr>
        <p:spPr>
          <a:xfrm>
            <a:off x="685800" y="337185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5325" y="3095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7250" y="31623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1085850" y="3162300"/>
            <a:ext cx="3200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값을 더했다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4286250" y="3171825"/>
            <a:ext cx="15621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~ 4월 13회 · 단위 MW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4400" y="3429000"/>
            <a:ext cx="2971800" cy="2095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914400" y="3638550"/>
            <a:ext cx="29718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00125" y="35052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1647825" y="3505200"/>
            <a:ext cx="8953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차이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2714625" y="3505200"/>
            <a:ext cx="1085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914400" y="38004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00125" y="36480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1647825" y="36480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2714625" y="36480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914400" y="38004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14400" y="39624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0125" y="38100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1647825" y="38100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2714625" y="38100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914400" y="41243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00125" y="39719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647825" y="39719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2714625" y="39719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57" name="Shape 55"/>
          <p:cNvSpPr/>
          <p:nvPr/>
        </p:nvSpPr>
        <p:spPr>
          <a:xfrm>
            <a:off x="914400" y="41243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914400" y="42862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00125" y="41338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647825" y="41338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825" dirty="0"/>
          </a:p>
        </p:txBody>
      </p:sp>
      <p:sp>
        <p:nvSpPr>
          <p:cNvPr id="61" name="Text 59"/>
          <p:cNvSpPr txBox="1"/>
          <p:nvPr/>
        </p:nvSpPr>
        <p:spPr>
          <a:xfrm>
            <a:off x="2714625" y="41338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914400" y="44481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0125" y="42957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1647825" y="42957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2714625" y="42957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66" name="Shape 64"/>
          <p:cNvSpPr/>
          <p:nvPr/>
        </p:nvSpPr>
        <p:spPr>
          <a:xfrm>
            <a:off x="914400" y="44481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914400" y="46101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00125" y="44577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647825" y="44577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714625" y="44577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71" name="Shape 69"/>
          <p:cNvSpPr/>
          <p:nvPr/>
        </p:nvSpPr>
        <p:spPr>
          <a:xfrm>
            <a:off x="914400" y="47720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00125" y="46196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1647825" y="46196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825" dirty="0"/>
          </a:p>
        </p:txBody>
      </p:sp>
      <p:sp>
        <p:nvSpPr>
          <p:cNvPr id="74" name="Text 72"/>
          <p:cNvSpPr txBox="1"/>
          <p:nvPr/>
        </p:nvSpPr>
        <p:spPr>
          <a:xfrm>
            <a:off x="2714625" y="46196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75" name="Shape 73"/>
          <p:cNvSpPr/>
          <p:nvPr/>
        </p:nvSpPr>
        <p:spPr>
          <a:xfrm>
            <a:off x="914400" y="47720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914400" y="49339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0125" y="47815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78" name="Text 76"/>
          <p:cNvSpPr txBox="1"/>
          <p:nvPr/>
        </p:nvSpPr>
        <p:spPr>
          <a:xfrm>
            <a:off x="1647825" y="47815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2714625" y="47815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914400" y="50958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00125" y="49434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647825" y="49434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714625" y="49434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84" name="Shape 82"/>
          <p:cNvSpPr/>
          <p:nvPr/>
        </p:nvSpPr>
        <p:spPr>
          <a:xfrm>
            <a:off x="914400" y="509587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14400" y="525780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0125" y="51054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7" name="Text 85"/>
          <p:cNvSpPr txBox="1"/>
          <p:nvPr/>
        </p:nvSpPr>
        <p:spPr>
          <a:xfrm>
            <a:off x="1647825" y="510540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2714625" y="510540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89" name="Shape 87"/>
          <p:cNvSpPr/>
          <p:nvPr/>
        </p:nvSpPr>
        <p:spPr>
          <a:xfrm>
            <a:off x="914400" y="541972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000125" y="526732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91" name="Text 89"/>
          <p:cNvSpPr txBox="1"/>
          <p:nvPr/>
        </p:nvSpPr>
        <p:spPr>
          <a:xfrm>
            <a:off x="1647825" y="526732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2714625" y="526732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914400" y="5419725"/>
            <a:ext cx="2971800" cy="161925"/>
          </a:xfrm>
          <a:prstGeom prst="rect">
            <a:avLst/>
          </a:prstGeom>
          <a:solidFill>
            <a:srgbClr val="0A1320">
              <a:alpha val="4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914400" y="5581650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000125" y="54292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6" name="Text 94"/>
          <p:cNvSpPr txBox="1"/>
          <p:nvPr/>
        </p:nvSpPr>
        <p:spPr>
          <a:xfrm>
            <a:off x="1647825" y="54292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2714625" y="54292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98" name="Shape 96"/>
          <p:cNvSpPr/>
          <p:nvPr/>
        </p:nvSpPr>
        <p:spPr>
          <a:xfrm>
            <a:off x="914400" y="5743575"/>
            <a:ext cx="29718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00125" y="55911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100" name="Text 98"/>
          <p:cNvSpPr txBox="1"/>
          <p:nvPr/>
        </p:nvSpPr>
        <p:spPr>
          <a:xfrm>
            <a:off x="1647825" y="5591175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825" dirty="0"/>
          </a:p>
        </p:txBody>
      </p:sp>
      <p:sp>
        <p:nvSpPr>
          <p:cNvPr id="101" name="Text 99"/>
          <p:cNvSpPr txBox="1"/>
          <p:nvPr/>
        </p:nvSpPr>
        <p:spPr>
          <a:xfrm>
            <a:off x="2714625" y="5591175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102" name="Shape 100"/>
          <p:cNvSpPr/>
          <p:nvPr/>
        </p:nvSpPr>
        <p:spPr>
          <a:xfrm>
            <a:off x="914400" y="5743575"/>
            <a:ext cx="29718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0125" y="57721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4" name="Text 102"/>
          <p:cNvSpPr txBox="1"/>
          <p:nvPr/>
        </p:nvSpPr>
        <p:spPr>
          <a:xfrm>
            <a:off x="1647825" y="5772150"/>
            <a:ext cx="895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 ~ 11.5</a:t>
            </a:r>
            <a:endParaRPr lang="en-US" sz="825" dirty="0"/>
          </a:p>
        </p:txBody>
      </p:sp>
      <p:sp>
        <p:nvSpPr>
          <p:cNvPr id="105" name="Text 103"/>
          <p:cNvSpPr txBox="1"/>
          <p:nvPr/>
        </p:nvSpPr>
        <p:spPr>
          <a:xfrm>
            <a:off x="2714625" y="5772150"/>
            <a:ext cx="1085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~ 5</a:t>
            </a:r>
            <a:endParaRPr lang="en-US" sz="825" dirty="0"/>
          </a:p>
        </p:txBody>
      </p:sp>
      <p:sp>
        <p:nvSpPr>
          <p:cNvPr id="106" name="Text 104"/>
          <p:cNvSpPr txBox="1"/>
          <p:nvPr/>
        </p:nvSpPr>
        <p:spPr>
          <a:xfrm>
            <a:off x="4076700" y="3810000"/>
            <a:ext cx="18097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결과는 매번 달랐습니다.</a:t>
            </a:r>
            <a:endParaRPr lang="en-US" sz="1088" dirty="0"/>
          </a:p>
        </p:txBody>
      </p:sp>
      <p:sp>
        <p:nvSpPr>
          <p:cNvPr id="107" name="Text 105"/>
          <p:cNvSpPr txBox="1"/>
          <p:nvPr/>
        </p:nvSpPr>
        <p:spPr>
          <a:xfrm>
            <a:off x="4076700" y="4305300"/>
            <a:ext cx="1809750" cy="53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더하는 값은 거의 그대로였습니다.</a:t>
            </a:r>
            <a:endParaRPr lang="en-US" sz="975" dirty="0"/>
          </a:p>
        </p:txBody>
      </p:sp>
      <p:sp>
        <p:nvSpPr>
          <p:cNvPr id="108" name="Text 106"/>
          <p:cNvSpPr txBox="1"/>
          <p:nvPr/>
        </p:nvSpPr>
        <p:spPr>
          <a:xfrm>
            <a:off x="4076700" y="5334000"/>
            <a:ext cx="1809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시트에서 옮겨 적었습니다.</a:t>
            </a:r>
            <a:endParaRPr lang="en-US" sz="788" dirty="0"/>
          </a:p>
        </p:txBody>
      </p:sp>
      <p:sp>
        <p:nvSpPr>
          <p:cNvPr id="109" name="Shape 107"/>
          <p:cNvSpPr/>
          <p:nvPr/>
        </p:nvSpPr>
        <p:spPr>
          <a:xfrm>
            <a:off x="6134100" y="1733550"/>
            <a:ext cx="5372100" cy="24574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143625" y="17430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34100" y="20193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1436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3055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114" name="Text 112"/>
          <p:cNvSpPr txBox="1"/>
          <p:nvPr/>
        </p:nvSpPr>
        <p:spPr>
          <a:xfrm>
            <a:off x="6534150" y="1809750"/>
            <a:ext cx="42005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숫자가 어긋났다</a:t>
            </a:r>
            <a:endParaRPr lang="en-US" sz="1013" dirty="0"/>
          </a:p>
        </p:txBody>
      </p:sp>
      <p:sp>
        <p:nvSpPr>
          <p:cNvPr id="115" name="Text 113"/>
          <p:cNvSpPr txBox="1"/>
          <p:nvPr/>
        </p:nvSpPr>
        <p:spPr>
          <a:xfrm>
            <a:off x="10734675" y="1819275"/>
            <a:ext cx="6381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</a:t>
            </a:r>
            <a:endParaRPr lang="en-US" sz="825" dirty="0"/>
          </a:p>
        </p:txBody>
      </p:sp>
      <p:sp>
        <p:nvSpPr>
          <p:cNvPr id="116" name="Shape 114"/>
          <p:cNvSpPr/>
          <p:nvPr/>
        </p:nvSpPr>
        <p:spPr>
          <a:xfrm>
            <a:off x="6667500" y="225552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667500" y="246126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667500" y="26670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667500" y="307848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67500" y="287274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6286500" y="218884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22" name="Text 120"/>
          <p:cNvSpPr txBox="1"/>
          <p:nvPr/>
        </p:nvSpPr>
        <p:spPr>
          <a:xfrm>
            <a:off x="6286500" y="260032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23" name="Text 121"/>
          <p:cNvSpPr txBox="1"/>
          <p:nvPr/>
        </p:nvSpPr>
        <p:spPr>
          <a:xfrm>
            <a:off x="6286500" y="280606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24" name="Text 122"/>
          <p:cNvSpPr txBox="1"/>
          <p:nvPr/>
        </p:nvSpPr>
        <p:spPr>
          <a:xfrm>
            <a:off x="6286500" y="3011805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25" name="Text 123"/>
          <p:cNvSpPr txBox="1"/>
          <p:nvPr/>
        </p:nvSpPr>
        <p:spPr>
          <a:xfrm>
            <a:off x="682561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26" name="Text 124"/>
          <p:cNvSpPr txBox="1"/>
          <p:nvPr/>
        </p:nvSpPr>
        <p:spPr>
          <a:xfrm>
            <a:off x="798766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27" name="Text 125"/>
          <p:cNvSpPr txBox="1"/>
          <p:nvPr/>
        </p:nvSpPr>
        <p:spPr>
          <a:xfrm>
            <a:off x="914971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28" name="Text 126"/>
          <p:cNvSpPr txBox="1"/>
          <p:nvPr/>
        </p:nvSpPr>
        <p:spPr>
          <a:xfrm>
            <a:off x="10311765" y="322897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6667500" y="2746467"/>
            <a:ext cx="47625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30" name="Text 128"/>
          <p:cNvSpPr txBox="1"/>
          <p:nvPr/>
        </p:nvSpPr>
        <p:spPr>
          <a:xfrm>
            <a:off x="9572625" y="2584542"/>
            <a:ext cx="1333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825" dirty="0"/>
          </a:p>
        </p:txBody>
      </p:sp>
      <p:sp>
        <p:nvSpPr>
          <p:cNvPr id="131" name="Shape 129"/>
          <p:cNvSpPr/>
          <p:nvPr/>
        </p:nvSpPr>
        <p:spPr>
          <a:xfrm>
            <a:off x="6768656" y="218024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20948" y="220457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210235" y="239431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42644" y="255222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86675" y="256657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802880" y="2590078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919085" y="261188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8023670" y="252516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8093393" y="265797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8290941" y="2581488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465249" y="259743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500110" y="248993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534972" y="251282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662797" y="246797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8674418" y="253689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744141" y="255865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918448" y="257007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930069" y="255273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464612" y="2711362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906191" y="295454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929432" y="301498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41052" y="287585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975913" y="2882075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173462" y="298350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324529" y="309578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498836" y="292862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498836" y="287070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556939" y="3023469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580180" y="302074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673144" y="2890973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754487" y="287796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9349" y="2976766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800969" y="2737491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800969" y="2774524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800969" y="292492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0893933" y="281119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917174" y="2965759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1010138" y="2808060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1184446" y="273805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1393615" y="2772827"/>
            <a:ext cx="53340" cy="5334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6286500" y="3371850"/>
            <a:ext cx="51435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실제 차이 MW · 점 하나가 시험 한 번</a:t>
            </a:r>
            <a:endParaRPr lang="en-US" sz="788" dirty="0"/>
          </a:p>
        </p:txBody>
      </p:sp>
      <p:sp>
        <p:nvSpPr>
          <p:cNvPr id="172" name="Text 170"/>
          <p:cNvSpPr txBox="1"/>
          <p:nvPr/>
        </p:nvSpPr>
        <p:spPr>
          <a:xfrm>
            <a:off x="6324600" y="356235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</a:t>
            </a:r>
            <a:endParaRPr lang="en-US" sz="938" dirty="0"/>
          </a:p>
        </p:txBody>
      </p:sp>
      <p:sp>
        <p:nvSpPr>
          <p:cNvPr id="173" name="Text 171"/>
          <p:cNvSpPr txBox="1"/>
          <p:nvPr/>
        </p:nvSpPr>
        <p:spPr>
          <a:xfrm>
            <a:off x="6877050" y="3562350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낼 수 있었는데 적게 알렸습니다.</a:t>
            </a:r>
            <a:endParaRPr lang="en-US" sz="938" dirty="0"/>
          </a:p>
        </p:txBody>
      </p:sp>
      <p:sp>
        <p:nvSpPr>
          <p:cNvPr id="174" name="Text 172"/>
          <p:cNvSpPr txBox="1"/>
          <p:nvPr/>
        </p:nvSpPr>
        <p:spPr>
          <a:xfrm>
            <a:off x="6324600" y="3762375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</a:t>
            </a:r>
            <a:endParaRPr lang="en-US" sz="938" dirty="0"/>
          </a:p>
        </p:txBody>
      </p:sp>
      <p:sp>
        <p:nvSpPr>
          <p:cNvPr id="175" name="Text 173"/>
          <p:cNvSpPr txBox="1"/>
          <p:nvPr/>
        </p:nvSpPr>
        <p:spPr>
          <a:xfrm>
            <a:off x="6877050" y="3762375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내는데 많이 알렸습니다.</a:t>
            </a:r>
            <a:endParaRPr lang="en-US" sz="938" dirty="0"/>
          </a:p>
        </p:txBody>
      </p:sp>
      <p:sp>
        <p:nvSpPr>
          <p:cNvPr id="176" name="Text 174"/>
          <p:cNvSpPr txBox="1"/>
          <p:nvPr/>
        </p:nvSpPr>
        <p:spPr>
          <a:xfrm>
            <a:off x="6324600" y="3962400"/>
            <a:ext cx="476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38" dirty="0"/>
          </a:p>
        </p:txBody>
      </p:sp>
      <p:sp>
        <p:nvSpPr>
          <p:cNvPr id="177" name="Text 175"/>
          <p:cNvSpPr txBox="1"/>
          <p:nvPr/>
        </p:nvSpPr>
        <p:spPr>
          <a:xfrm>
            <a:off x="6877050" y="3962400"/>
            <a:ext cx="447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15회가 알린 만큼 못 냈습니다.</a:t>
            </a:r>
            <a:endParaRPr lang="en-US" sz="938" dirty="0"/>
          </a:p>
        </p:txBody>
      </p:sp>
      <p:sp>
        <p:nvSpPr>
          <p:cNvPr id="178" name="Shape 176"/>
          <p:cNvSpPr/>
          <p:nvPr/>
        </p:nvSpPr>
        <p:spPr>
          <a:xfrm>
            <a:off x="6134100" y="4305300"/>
            <a:ext cx="53721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143625" y="431482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34100" y="459105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143625" y="43148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305550" y="43815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183" name="Text 181"/>
          <p:cNvSpPr txBox="1"/>
          <p:nvPr/>
        </p:nvSpPr>
        <p:spPr>
          <a:xfrm>
            <a:off x="6534150" y="4381500"/>
            <a:ext cx="37433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세운 목표</a:t>
            </a:r>
            <a:endParaRPr lang="en-US" sz="1013" dirty="0"/>
          </a:p>
        </p:txBody>
      </p:sp>
      <p:sp>
        <p:nvSpPr>
          <p:cNvPr id="184" name="Text 182"/>
          <p:cNvSpPr txBox="1"/>
          <p:nvPr/>
        </p:nvSpPr>
        <p:spPr>
          <a:xfrm>
            <a:off x="10277475" y="4391025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185" name="Shape 183"/>
          <p:cNvSpPr/>
          <p:nvPr/>
        </p:nvSpPr>
        <p:spPr>
          <a:xfrm>
            <a:off x="6324600" y="4705350"/>
            <a:ext cx="38100" cy="457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96050" y="46863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7" name="Text 185"/>
          <p:cNvSpPr txBox="1"/>
          <p:nvPr/>
        </p:nvSpPr>
        <p:spPr>
          <a:xfrm>
            <a:off x="6743700" y="4667250"/>
            <a:ext cx="46101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하나로</a:t>
            </a:r>
            <a:endParaRPr lang="en-US" sz="1238" dirty="0"/>
          </a:p>
        </p:txBody>
      </p:sp>
      <p:sp>
        <p:nvSpPr>
          <p:cNvPr id="188" name="Text 186"/>
          <p:cNvSpPr txBox="1"/>
          <p:nvPr/>
        </p:nvSpPr>
        <p:spPr>
          <a:xfrm>
            <a:off x="6743700" y="4914900"/>
            <a:ext cx="46101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도구 하나로 합친다.</a:t>
            </a:r>
            <a:endParaRPr lang="en-US" sz="938" dirty="0"/>
          </a:p>
        </p:txBody>
      </p:sp>
      <p:sp>
        <p:nvSpPr>
          <p:cNvPr id="189" name="Shape 187"/>
          <p:cNvSpPr/>
          <p:nvPr/>
        </p:nvSpPr>
        <p:spPr>
          <a:xfrm>
            <a:off x="6324600" y="5314950"/>
            <a:ext cx="38100" cy="457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496050" y="529590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191" name="Text 189"/>
          <p:cNvSpPr txBox="1"/>
          <p:nvPr/>
        </p:nvSpPr>
        <p:spPr>
          <a:xfrm>
            <a:off x="6743700" y="5276850"/>
            <a:ext cx="46101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238" dirty="0"/>
          </a:p>
        </p:txBody>
      </p:sp>
      <p:sp>
        <p:nvSpPr>
          <p:cNvPr id="192" name="Text 190"/>
          <p:cNvSpPr txBox="1"/>
          <p:nvPr/>
        </p:nvSpPr>
        <p:spPr>
          <a:xfrm>
            <a:off x="6743700" y="5524500"/>
            <a:ext cx="46101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쌓아 온도별로 다른 값을 쓴다.</a:t>
            </a:r>
            <a:endParaRPr lang="en-US" sz="938" dirty="0"/>
          </a:p>
        </p:txBody>
      </p:sp>
      <p:sp>
        <p:nvSpPr>
          <p:cNvPr id="193" name="Shape 19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4" name="Text 19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5" name="Text 19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숫자로는 맞출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때문에 어긋났나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 때문인지 하나씩 확인했습니다. 결국 온도였습니다.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866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2964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382250" y="1857375"/>
            <a:ext cx="990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4개 → 1개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38200" y="2152650"/>
            <a:ext cx="2457450" cy="571500"/>
          </a:xfrm>
          <a:prstGeom prst="rect">
            <a:avLst/>
          </a:prstGeom>
          <a:ln w="20320">
            <a:solidFill>
              <a:srgbClr val="EFB1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5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9715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남았습니다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9715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이것만 보면 됐습니다.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861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195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3619500" y="2438400"/>
            <a:ext cx="1223820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6195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36195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빼면 남는 게 없었습니다.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3410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745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275" dirty="0"/>
          </a:p>
        </p:txBody>
      </p:sp>
      <p:sp>
        <p:nvSpPr>
          <p:cNvPr id="31" name="Shape 29"/>
          <p:cNvSpPr/>
          <p:nvPr/>
        </p:nvSpPr>
        <p:spPr>
          <a:xfrm>
            <a:off x="6267450" y="2438400"/>
            <a:ext cx="591503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6745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26745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계산식이 이미 쓰고 있었습니다.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782050" y="2152650"/>
            <a:ext cx="245745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15400" y="2324100"/>
            <a:ext cx="2190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습도</a:t>
            </a:r>
            <a:endParaRPr lang="en-US" sz="1275" dirty="0"/>
          </a:p>
        </p:txBody>
      </p:sp>
      <p:sp>
        <p:nvSpPr>
          <p:cNvPr id="36" name="Shape 34"/>
          <p:cNvSpPr/>
          <p:nvPr/>
        </p:nvSpPr>
        <p:spPr>
          <a:xfrm>
            <a:off x="8915400" y="2438400"/>
            <a:ext cx="867585" cy="0"/>
          </a:xfrm>
          <a:prstGeom prst="line">
            <a:avLst/>
          </a:prstGeom>
          <a:noFill/>
          <a:ln w="1778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15400" y="2819400"/>
            <a:ext cx="21907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915400" y="3028950"/>
            <a:ext cx="219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넣어도 나아지지 않았습니다.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85800" y="3752850"/>
            <a:ext cx="52959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325" y="37623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685800" y="40386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53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72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1085850" y="3829050"/>
            <a:ext cx="4762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진공도를 세 번 접었다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76300" y="4133850"/>
            <a:ext cx="49149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진공도를 의심했습니다. 여름에 나빠지니 그럴듯했습니다.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47625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600200" y="47625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탓인지 설비 탓인지 갈라 봤습니다.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4495800" y="47625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아니었습니다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876300" y="508635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600200" y="508635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연도를 나눠 봤습니다.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4495800" y="508635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해만 그랬습니다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5410200"/>
            <a:ext cx="6477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600200" y="5410200"/>
            <a:ext cx="285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걷어내고 다시 봤습니다.</a:t>
            </a:r>
            <a:endParaRPr lang="en-US" sz="938" dirty="0"/>
          </a:p>
        </p:txBody>
      </p:sp>
      <p:sp>
        <p:nvSpPr>
          <p:cNvPr id="54" name="Text 52"/>
          <p:cNvSpPr txBox="1"/>
          <p:nvPr/>
        </p:nvSpPr>
        <p:spPr>
          <a:xfrm>
            <a:off x="4495800" y="5410200"/>
            <a:ext cx="1295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사라졌습니다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876300" y="5734050"/>
            <a:ext cx="4914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 다 착각이었습니다.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6134100" y="3752850"/>
            <a:ext cx="5372100" cy="2190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43625" y="37623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8" name="Shape 56"/>
          <p:cNvSpPr/>
          <p:nvPr/>
        </p:nvSpPr>
        <p:spPr>
          <a:xfrm>
            <a:off x="6134100" y="40386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43625" y="37623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305550" y="38290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6534150" y="3829050"/>
            <a:ext cx="4838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결론을 한 번 뒤집었다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6324600" y="4133850"/>
            <a:ext cx="4991100" cy="57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봄 시험이 유별나게 낮았습니다. 설비가 오래됐다고 보고 문서까지 썼습니다.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6324600" y="4762500"/>
            <a:ext cx="38100" cy="876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515100" y="4762500"/>
            <a:ext cx="48006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파 보니 원인이 달랐습니다.</a:t>
            </a:r>
            <a:endParaRPr lang="en-US" sz="1088" dirty="0"/>
          </a:p>
        </p:txBody>
      </p:sp>
      <p:sp>
        <p:nvSpPr>
          <p:cNvPr id="65" name="Text 63"/>
          <p:cNvSpPr txBox="1"/>
          <p:nvPr/>
        </p:nvSpPr>
        <p:spPr>
          <a:xfrm>
            <a:off x="6515100" y="5010150"/>
            <a:ext cx="4800600" cy="767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를 올리지 않고 시험한 날이었습니다. 결론을 거뒀습니다.</a:t>
            </a:r>
            <a:endParaRPr lang="en-US" sz="975" dirty="0"/>
          </a:p>
          <a:p>
            <a:pPr algn="l" indent="0" marL="0">
              <a:lnSpc>
                <a:spcPts val="1511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이런 날의 시험은 도구가 걸러냅니다.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8" name="Text 6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의심을 하나씩 접고 나니 온도만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합친 것입니다. 다른 하나는 숫자를 온도마다 다르게 한 것입니다.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3810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3790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3810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2766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바꿨나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526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8700" y="21526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257300" y="21336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313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2438400"/>
            <a:ext cx="6858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2019300" y="24574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2266950" y="2419350"/>
            <a:ext cx="20383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275" dirty="0"/>
          </a:p>
        </p:txBody>
      </p:sp>
      <p:sp>
        <p:nvSpPr>
          <p:cNvPr id="25" name="Shape 23"/>
          <p:cNvSpPr/>
          <p:nvPr/>
        </p:nvSpPr>
        <p:spPr>
          <a:xfrm>
            <a:off x="876300" y="2990850"/>
            <a:ext cx="38100" cy="5905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28700" y="29908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7" name="Text 25"/>
          <p:cNvSpPr txBox="1"/>
          <p:nvPr/>
        </p:nvSpPr>
        <p:spPr>
          <a:xfrm>
            <a:off x="1257300" y="2971800"/>
            <a:ext cx="2914650" cy="21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6"/>
              </a:lnSpc>
              <a:buNone/>
            </a:pPr>
            <a:r>
              <a:rPr lang="en-US" sz="13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온도마다 다르게</a:t>
            </a:r>
            <a:endParaRPr lang="en-US" sz="1313" dirty="0"/>
          </a:p>
        </p:txBody>
      </p:sp>
      <p:sp>
        <p:nvSpPr>
          <p:cNvPr id="28" name="Text 26"/>
          <p:cNvSpPr txBox="1"/>
          <p:nvPr/>
        </p:nvSpPr>
        <p:spPr>
          <a:xfrm>
            <a:off x="1257300" y="3276600"/>
            <a:ext cx="5334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1866900" y="3295650"/>
            <a:ext cx="2095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2114550" y="3257550"/>
            <a:ext cx="2190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67665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않았습니다.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4648200" y="1771650"/>
            <a:ext cx="6858000" cy="22098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57725" y="1781175"/>
            <a:ext cx="68389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4" name="Shape 32"/>
          <p:cNvSpPr/>
          <p:nvPr/>
        </p:nvSpPr>
        <p:spPr>
          <a:xfrm>
            <a:off x="4648200" y="2057400"/>
            <a:ext cx="68580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577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196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5048250" y="1847850"/>
            <a:ext cx="4286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그려 주는 화면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334500" y="1857375"/>
            <a:ext cx="20383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주황이 배운 값, 흰 점이 시험 결과</a:t>
            </a:r>
            <a:endParaRPr lang="en-US" sz="825" dirty="0"/>
          </a:p>
        </p:txBody>
      </p:sp>
      <p:pic>
        <p:nvPicPr>
          <p:cNvPr id="39" name="Image 0" descr="/home/user/Narae-AI/docs/ppt/assets/too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6868" y="2114550"/>
            <a:ext cx="6120664" cy="154305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007343" y="2105025"/>
            <a:ext cx="6139714" cy="15621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762500" y="3733800"/>
            <a:ext cx="66294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값이 다릅니다.</a:t>
            </a:r>
            <a:endParaRPr lang="en-US" sz="975" dirty="0"/>
          </a:p>
        </p:txBody>
      </p:sp>
      <p:sp>
        <p:nvSpPr>
          <p:cNvPr id="42" name="Shape 39"/>
          <p:cNvSpPr/>
          <p:nvPr/>
        </p:nvSpPr>
        <p:spPr>
          <a:xfrm>
            <a:off x="685800" y="4095750"/>
            <a:ext cx="10820400" cy="18478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95325" y="41052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4" name="Shape 41"/>
          <p:cNvSpPr/>
          <p:nvPr/>
        </p:nvSpPr>
        <p:spPr>
          <a:xfrm>
            <a:off x="685800" y="43815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95325" y="41052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857250" y="41719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7" name="Text 44"/>
          <p:cNvSpPr txBox="1"/>
          <p:nvPr/>
        </p:nvSpPr>
        <p:spPr>
          <a:xfrm>
            <a:off x="1085850" y="4171950"/>
            <a:ext cx="96012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겪은 일 · 어떤 방법을 써야 하는지 몰랐다</a:t>
            </a:r>
            <a:endParaRPr lang="en-US" sz="1013" dirty="0"/>
          </a:p>
        </p:txBody>
      </p:sp>
      <p:sp>
        <p:nvSpPr>
          <p:cNvPr id="48" name="Text 45"/>
          <p:cNvSpPr txBox="1"/>
          <p:nvPr/>
        </p:nvSpPr>
        <p:spPr>
          <a:xfrm>
            <a:off x="10687050" y="41814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876300" y="4457700"/>
            <a:ext cx="447675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이런 예측을 해 본 적이 없었습니다. 그래서 후보 일곱 가지를 늘어놓고 같은 데이터로 겨루게 했습니다.</a:t>
            </a:r>
            <a:endParaRPr lang="en-US" sz="1013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아니라 성적이 골랐습니다.</a:t>
            </a:r>
            <a:endParaRPr lang="en-US" sz="1013" dirty="0"/>
          </a:p>
        </p:txBody>
      </p:sp>
      <p:sp>
        <p:nvSpPr>
          <p:cNvPr id="50" name="Text 47"/>
          <p:cNvSpPr txBox="1"/>
          <p:nvPr/>
        </p:nvSpPr>
        <p:spPr>
          <a:xfrm>
            <a:off x="5467350" y="44577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RBF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6667500" y="4476750"/>
            <a:ext cx="115443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98130" y="44577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10001250" y="4457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이것을 씁니다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5467350" y="46577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RQ</a:t>
            </a:r>
            <a:endParaRPr lang="en-US" sz="863" dirty="0"/>
          </a:p>
        </p:txBody>
      </p:sp>
      <p:sp>
        <p:nvSpPr>
          <p:cNvPr id="55" name="Shape 52"/>
          <p:cNvSpPr/>
          <p:nvPr/>
        </p:nvSpPr>
        <p:spPr>
          <a:xfrm>
            <a:off x="6667500" y="4676775"/>
            <a:ext cx="12001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943850" y="46577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825" dirty="0"/>
          </a:p>
        </p:txBody>
      </p:sp>
      <p:sp>
        <p:nvSpPr>
          <p:cNvPr id="57" name="Text 54"/>
          <p:cNvSpPr txBox="1"/>
          <p:nvPr/>
        </p:nvSpPr>
        <p:spPr>
          <a:xfrm>
            <a:off x="5467350" y="48577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5/2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667500" y="4876800"/>
            <a:ext cx="125730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001000" y="48577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5467350" y="505777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Matern 3/2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667500" y="5076825"/>
            <a:ext cx="139446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138160" y="505777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</a:t>
            </a:r>
            <a:endParaRPr lang="en-US" sz="825" dirty="0"/>
          </a:p>
        </p:txBody>
      </p:sp>
      <p:sp>
        <p:nvSpPr>
          <p:cNvPr id="63" name="Text 60"/>
          <p:cNvSpPr txBox="1"/>
          <p:nvPr/>
        </p:nvSpPr>
        <p:spPr>
          <a:xfrm>
            <a:off x="5467350" y="525780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endParaRPr lang="en-US" sz="863" dirty="0"/>
          </a:p>
        </p:txBody>
      </p:sp>
      <p:sp>
        <p:nvSpPr>
          <p:cNvPr id="64" name="Shape 61"/>
          <p:cNvSpPr/>
          <p:nvPr/>
        </p:nvSpPr>
        <p:spPr>
          <a:xfrm>
            <a:off x="6667500" y="5276850"/>
            <a:ext cx="18859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8629650" y="525780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825" dirty="0"/>
          </a:p>
        </p:txBody>
      </p:sp>
      <p:sp>
        <p:nvSpPr>
          <p:cNvPr id="66" name="Text 63"/>
          <p:cNvSpPr txBox="1"/>
          <p:nvPr/>
        </p:nvSpPr>
        <p:spPr>
          <a:xfrm>
            <a:off x="5467350" y="5457825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</a:t>
            </a:r>
            <a:endParaRPr lang="en-US" sz="863" dirty="0"/>
          </a:p>
        </p:txBody>
      </p:sp>
      <p:sp>
        <p:nvSpPr>
          <p:cNvPr id="67" name="Shape 64"/>
          <p:cNvSpPr/>
          <p:nvPr/>
        </p:nvSpPr>
        <p:spPr>
          <a:xfrm>
            <a:off x="6667500" y="5476875"/>
            <a:ext cx="250317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9246870" y="5457825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5467350" y="5657850"/>
            <a:ext cx="1162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70" name="Shape 67"/>
          <p:cNvSpPr/>
          <p:nvPr/>
        </p:nvSpPr>
        <p:spPr>
          <a:xfrm>
            <a:off x="6667500" y="5676900"/>
            <a:ext cx="314325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9886950" y="5657850"/>
            <a:ext cx="495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</a:t>
            </a:r>
            <a:endParaRPr lang="en-US" sz="825" dirty="0"/>
          </a:p>
        </p:txBody>
      </p:sp>
      <p:sp>
        <p:nvSpPr>
          <p:cNvPr id="72" name="Text 69"/>
          <p:cNvSpPr txBox="1"/>
          <p:nvPr/>
        </p:nvSpPr>
        <p:spPr>
          <a:xfrm>
            <a:off x="5467350" y="5867400"/>
            <a:ext cx="4191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막대가 짧을수록 잘 맞힌 것입니다. 단위 MW.</a:t>
            </a:r>
            <a:endParaRPr lang="en-US" sz="825" dirty="0"/>
          </a:p>
        </p:txBody>
      </p:sp>
      <p:sp>
        <p:nvSpPr>
          <p:cNvPr id="73" name="Text 70"/>
          <p:cNvSpPr txBox="1"/>
          <p:nvPr/>
        </p:nvSpPr>
        <p:spPr>
          <a:xfrm>
            <a:off x="876300" y="5867400"/>
            <a:ext cx="44767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후보 7가지 = 구간 평균 · 거리가중 평균 · 가우시안 프로세스(GP) 커널 5종. 채점은 교차검증(LOOCV)으로 했고, 곡선의 성질은 학습 데이터만으로 정합니다.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6" name="Text 7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그대로 두었으니 다른 발전소에도 옮겨 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쓰면서 확인했습니다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기존 방식과 나란히 돌렸습니다. 예측을 먼저 적고 실제와 대조했습니다.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10820400" cy="10287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91344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회차가 도는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220325" y="1857375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입력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시험을 한다</a:t>
            </a:r>
            <a:endParaRPr lang="en-US" sz="1088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36004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38671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넣는다</a:t>
            </a:r>
            <a:endParaRPr lang="en-US" sz="1088" dirty="0"/>
          </a:p>
        </p:txBody>
      </p:sp>
      <p:sp>
        <p:nvSpPr>
          <p:cNvPr id="25" name="Text 23"/>
          <p:cNvSpPr txBox="1"/>
          <p:nvPr/>
        </p:nvSpPr>
        <p:spPr>
          <a:xfrm>
            <a:off x="588645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628650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655320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다시 배운다</a:t>
            </a:r>
            <a:endParaRPr lang="en-US" sz="1088" dirty="0"/>
          </a:p>
        </p:txBody>
      </p:sp>
      <p:sp>
        <p:nvSpPr>
          <p:cNvPr id="28" name="Text 26"/>
          <p:cNvSpPr txBox="1"/>
          <p:nvPr/>
        </p:nvSpPr>
        <p:spPr>
          <a:xfrm>
            <a:off x="8572500" y="21907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8972550" y="2209800"/>
            <a:ext cx="2286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239250" y="2190750"/>
            <a:ext cx="19621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1088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숫자에 쓰인다</a:t>
            </a:r>
            <a:endParaRPr lang="en-US" sz="1088" dirty="0"/>
          </a:p>
        </p:txBody>
      </p:sp>
      <p:sp>
        <p:nvSpPr>
          <p:cNvPr id="31" name="Shape 29"/>
          <p:cNvSpPr/>
          <p:nvPr/>
        </p:nvSpPr>
        <p:spPr>
          <a:xfrm>
            <a:off x="685800" y="2914650"/>
            <a:ext cx="6667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5325" y="2924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3" name="Shape 31"/>
          <p:cNvSpPr/>
          <p:nvPr/>
        </p:nvSpPr>
        <p:spPr>
          <a:xfrm>
            <a:off x="685800" y="3200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53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572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6" name="Text 34"/>
          <p:cNvSpPr txBox="1"/>
          <p:nvPr/>
        </p:nvSpPr>
        <p:spPr>
          <a:xfrm>
            <a:off x="1085850" y="2990850"/>
            <a:ext cx="47910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5876925" y="3000375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쌓인 상태</a:t>
            </a:r>
            <a:endParaRPr lang="en-US" sz="825" dirty="0"/>
          </a:p>
        </p:txBody>
      </p:sp>
      <p:pic>
        <p:nvPicPr>
          <p:cNvPr id="3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1876" y="3238500"/>
            <a:ext cx="2835349" cy="190500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2592351" y="3228975"/>
            <a:ext cx="2854399" cy="19240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76300" y="5257800"/>
            <a:ext cx="6286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76300" y="5372100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병행운전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1733550" y="5372100"/>
            <a:ext cx="54292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9회. 예측을 먼저 적고 실제와 대조했습니다. 평균 어긋난 폭은 1.23 MW 였습니다.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7505700" y="2914650"/>
            <a:ext cx="4000500" cy="3028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515225" y="2924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5" name="Shape 42"/>
          <p:cNvSpPr/>
          <p:nvPr/>
        </p:nvSpPr>
        <p:spPr>
          <a:xfrm>
            <a:off x="7505700" y="3200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15225" y="2924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677150" y="2990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8" name="Text 45"/>
          <p:cNvSpPr txBox="1"/>
          <p:nvPr/>
        </p:nvSpPr>
        <p:spPr>
          <a:xfrm>
            <a:off x="7905750" y="2990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회차를 걸러냅니다</a:t>
            </a:r>
            <a:endParaRPr lang="en-US" sz="1013" dirty="0"/>
          </a:p>
        </p:txBody>
      </p:sp>
      <p:sp>
        <p:nvSpPr>
          <p:cNvPr id="49" name="Shape 46"/>
          <p:cNvSpPr/>
          <p:nvPr/>
        </p:nvSpPr>
        <p:spPr>
          <a:xfrm>
            <a:off x="7696200" y="33337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886700" y="33147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7886700" y="35242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아예 쓰지 않습니다</a:t>
            </a:r>
            <a:endParaRPr lang="en-US" sz="1125" dirty="0"/>
          </a:p>
        </p:txBody>
      </p:sp>
      <p:sp>
        <p:nvSpPr>
          <p:cNvPr id="52" name="Text 49"/>
          <p:cNvSpPr txBox="1"/>
          <p:nvPr/>
        </p:nvSpPr>
        <p:spPr>
          <a:xfrm>
            <a:off x="7886700" y="37528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뒤집게 만든 그 시험입니다.</a:t>
            </a:r>
            <a:endParaRPr lang="en-US" sz="863" dirty="0"/>
          </a:p>
        </p:txBody>
      </p:sp>
      <p:sp>
        <p:nvSpPr>
          <p:cNvPr id="53" name="Shape 50"/>
          <p:cNvSpPr/>
          <p:nvPr/>
        </p:nvSpPr>
        <p:spPr>
          <a:xfrm>
            <a:off x="7696200" y="41719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7886700" y="41529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975" dirty="0"/>
          </a:p>
        </p:txBody>
      </p:sp>
      <p:sp>
        <p:nvSpPr>
          <p:cNvPr id="55" name="Text 52"/>
          <p:cNvSpPr txBox="1"/>
          <p:nvPr/>
        </p:nvSpPr>
        <p:spPr>
          <a:xfrm>
            <a:off x="7886700" y="43624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끝값을 그대로 씁니다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7886700" y="45910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구간은 늘려 쓰지 않습니다.</a:t>
            </a:r>
            <a:endParaRPr lang="en-US" sz="863" dirty="0"/>
          </a:p>
        </p:txBody>
      </p:sp>
      <p:sp>
        <p:nvSpPr>
          <p:cNvPr id="57" name="Shape 54"/>
          <p:cNvSpPr/>
          <p:nvPr/>
        </p:nvSpPr>
        <p:spPr>
          <a:xfrm>
            <a:off x="7696200" y="5010150"/>
            <a:ext cx="38100" cy="5905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886700" y="4991100"/>
            <a:ext cx="3429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회차만 골라 만든 관계</a:t>
            </a:r>
            <a:endParaRPr lang="en-US" sz="975" dirty="0"/>
          </a:p>
        </p:txBody>
      </p:sp>
      <p:sp>
        <p:nvSpPr>
          <p:cNvPr id="59" name="Text 56"/>
          <p:cNvSpPr txBox="1"/>
          <p:nvPr/>
        </p:nvSpPr>
        <p:spPr>
          <a:xfrm>
            <a:off x="7886700" y="5200650"/>
            <a:ext cx="34290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검사가 걸러냅니다</a:t>
            </a:r>
            <a:endParaRPr lang="en-US" sz="1125" dirty="0"/>
          </a:p>
        </p:txBody>
      </p:sp>
      <p:sp>
        <p:nvSpPr>
          <p:cNvPr id="60" name="Text 57"/>
          <p:cNvSpPr txBox="1"/>
          <p:nvPr/>
        </p:nvSpPr>
        <p:spPr>
          <a:xfrm>
            <a:off x="7886700" y="5429250"/>
            <a:ext cx="34290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61" name="Shape 5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3" name="Text 6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책상에서만 맞춘 것이 아니라 현장에서 넉 달을 같이 돌려 봤습니다.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좋아졌나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40회에 예전 방법과 새 방법을 각각 써 봤습니다.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52959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52768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52959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4076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62550" y="1819275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171700"/>
            <a:ext cx="13144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324100" y="2266950"/>
            <a:ext cx="3238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0955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810000" y="2362200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62500" y="2114550"/>
            <a:ext cx="0" cy="952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2050" y="21526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972050" y="24193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2781300"/>
            <a:ext cx="49149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넣으면 끝납니다.</a:t>
            </a:r>
            <a:endParaRPr lang="en-US" sz="1013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028950"/>
            <a:ext cx="4914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한 번이면 한 해에 24시간쯤 줄어듭니다.</a:t>
            </a:r>
            <a:endParaRPr lang="en-US" sz="863" dirty="0"/>
          </a:p>
        </p:txBody>
      </p:sp>
      <p:sp>
        <p:nvSpPr>
          <p:cNvPr id="29" name="Shape 27"/>
          <p:cNvSpPr/>
          <p:nvPr/>
        </p:nvSpPr>
        <p:spPr>
          <a:xfrm>
            <a:off x="6134100" y="1733550"/>
            <a:ext cx="5372100" cy="16383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43625" y="1743075"/>
            <a:ext cx="53530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1" name="Shape 29"/>
          <p:cNvSpPr/>
          <p:nvPr/>
        </p:nvSpPr>
        <p:spPr>
          <a:xfrm>
            <a:off x="6134100" y="2019300"/>
            <a:ext cx="53721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436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055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534150" y="1809750"/>
            <a:ext cx="39052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정확도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439400" y="1819275"/>
            <a:ext cx="933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채점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216217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248650" y="21526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8" name="Text 36"/>
          <p:cNvSpPr txBox="1"/>
          <p:nvPr/>
        </p:nvSpPr>
        <p:spPr>
          <a:xfrm>
            <a:off x="8610600" y="21717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8839200" y="21336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9286875" y="21907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0668000" y="21621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324600" y="24384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24600" y="252412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248650" y="251460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5" name="Text 43"/>
          <p:cNvSpPr txBox="1"/>
          <p:nvPr/>
        </p:nvSpPr>
        <p:spPr>
          <a:xfrm>
            <a:off x="8524875" y="253365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8753475" y="249555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8953500" y="255270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8" name="Text 46"/>
          <p:cNvSpPr txBox="1"/>
          <p:nvPr/>
        </p:nvSpPr>
        <p:spPr>
          <a:xfrm>
            <a:off x="10668000" y="252412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6324600" y="28003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24600" y="2886075"/>
            <a:ext cx="1809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알린 양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8248650" y="28765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8524875" y="28956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8753475" y="28575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4" name="Text 52"/>
          <p:cNvSpPr txBox="1"/>
          <p:nvPr/>
        </p:nvSpPr>
        <p:spPr>
          <a:xfrm>
            <a:off x="8953500" y="29146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28860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6324600" y="3181350"/>
            <a:ext cx="49911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한 회를 가리고 나머지로 그 회를 맞혀 보는 방식으로 채점했습니다. 실제로 알린 기록이 아닙니다.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85800" y="3486150"/>
            <a:ext cx="10820400" cy="24574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95325" y="34956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59" name="Shape 57"/>
          <p:cNvSpPr/>
          <p:nvPr/>
        </p:nvSpPr>
        <p:spPr>
          <a:xfrm>
            <a:off x="685800" y="37719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5325" y="34956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57250" y="35623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62" name="Text 60"/>
          <p:cNvSpPr txBox="1"/>
          <p:nvPr/>
        </p:nvSpPr>
        <p:spPr>
          <a:xfrm>
            <a:off x="1085850" y="3562350"/>
            <a:ext cx="94297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63" name="Text 61"/>
          <p:cNvSpPr txBox="1"/>
          <p:nvPr/>
        </p:nvSpPr>
        <p:spPr>
          <a:xfrm>
            <a:off x="10515600" y="3571875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3905250"/>
            <a:ext cx="4000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알려서 못 받던 용량요금</a:t>
            </a:r>
            <a:endParaRPr lang="en-US" sz="975" dirty="0"/>
          </a:p>
        </p:txBody>
      </p:sp>
      <p:sp>
        <p:nvSpPr>
          <p:cNvPr id="65" name="Text 63"/>
          <p:cNvSpPr txBox="1"/>
          <p:nvPr/>
        </p:nvSpPr>
        <p:spPr>
          <a:xfrm>
            <a:off x="914400" y="4114800"/>
            <a:ext cx="1809750" cy="26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800" dirty="0"/>
          </a:p>
        </p:txBody>
      </p:sp>
      <p:sp>
        <p:nvSpPr>
          <p:cNvPr id="66" name="Text 64"/>
          <p:cNvSpPr txBox="1"/>
          <p:nvPr/>
        </p:nvSpPr>
        <p:spPr>
          <a:xfrm>
            <a:off x="2781300" y="4191000"/>
            <a:ext cx="2857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181350" y="4076700"/>
            <a:ext cx="20955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250" dirty="0"/>
          </a:p>
        </p:txBody>
      </p:sp>
      <p:sp>
        <p:nvSpPr>
          <p:cNvPr id="68" name="Text 66"/>
          <p:cNvSpPr txBox="1"/>
          <p:nvPr/>
        </p:nvSpPr>
        <p:spPr>
          <a:xfrm>
            <a:off x="914400" y="4476750"/>
            <a:ext cx="952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해에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914400" y="4762500"/>
            <a:ext cx="38100" cy="5334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104900" y="4762500"/>
            <a:ext cx="4191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 을 되찾습니다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1104900" y="5067300"/>
            <a:ext cx="4191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알린 양이 줄어든 만큼입니다.</a:t>
            </a:r>
            <a:endParaRPr lang="en-US" sz="938" dirty="0"/>
          </a:p>
        </p:txBody>
      </p:sp>
      <p:sp>
        <p:nvSpPr>
          <p:cNvPr id="72" name="Shape 70"/>
          <p:cNvSpPr/>
          <p:nvPr/>
        </p:nvSpPr>
        <p:spPr>
          <a:xfrm>
            <a:off x="5772150" y="3848100"/>
            <a:ext cx="0" cy="1714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096000" y="3867150"/>
            <a:ext cx="1905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조건</a:t>
            </a:r>
            <a:endParaRPr lang="en-US" sz="863" dirty="0"/>
          </a:p>
        </p:txBody>
      </p:sp>
      <p:sp>
        <p:nvSpPr>
          <p:cNvPr id="74" name="Text 72"/>
          <p:cNvSpPr txBox="1"/>
          <p:nvPr/>
        </p:nvSpPr>
        <p:spPr>
          <a:xfrm>
            <a:off x="6096000" y="409575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7905750" y="409575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096000" y="43815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7905750" y="438150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38" dirty="0"/>
          </a:p>
        </p:txBody>
      </p:sp>
      <p:sp>
        <p:nvSpPr>
          <p:cNvPr id="78" name="Text 76"/>
          <p:cNvSpPr txBox="1"/>
          <p:nvPr/>
        </p:nvSpPr>
        <p:spPr>
          <a:xfrm>
            <a:off x="6096000" y="466725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7905750" y="466725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6096000" y="49530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7905750" y="4953000"/>
            <a:ext cx="3409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페널티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6096000" y="52959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바라던 두 가지입니다.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어려운 것들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일하는 방식에서 달라진 것도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33550"/>
            <a:ext cx="6667500" cy="42100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430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193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09750"/>
            <a:ext cx="6134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일하는 방식</a:t>
            </a:r>
            <a:endParaRPr lang="en-US" sz="1013" dirty="0"/>
          </a:p>
        </p:txBody>
      </p:sp>
      <p:sp>
        <p:nvSpPr>
          <p:cNvPr id="19" name="Shape 17"/>
          <p:cNvSpPr/>
          <p:nvPr/>
        </p:nvSpPr>
        <p:spPr>
          <a:xfrm>
            <a:off x="876300" y="21717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21526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시험을 걸러낸다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25146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1390650" y="24955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알아채야 했습니다. 지나치면 그대로 반영됐습니다.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28765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24" name="Text 22"/>
          <p:cNvSpPr txBox="1"/>
          <p:nvPr/>
        </p:nvSpPr>
        <p:spPr>
          <a:xfrm>
            <a:off x="1390650" y="28575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세 가지를 자동으로 걸러냅니다. 반영을 아예 막습니다.</a:t>
            </a:r>
            <a:endParaRPr lang="en-US" sz="1013" dirty="0"/>
          </a:p>
        </p:txBody>
      </p:sp>
      <p:sp>
        <p:nvSpPr>
          <p:cNvPr id="25" name="Shape 23"/>
          <p:cNvSpPr/>
          <p:nvPr/>
        </p:nvSpPr>
        <p:spPr>
          <a:xfrm>
            <a:off x="876300" y="32575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6300" y="34290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66800" y="34099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근거를 말할 수 있다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066800" y="37719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1390650" y="37528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값을 더했는지 관행으로만 설명했습니다.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1066800" y="41338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1390650" y="41148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근거입니다. 어느 회차가 어떻게 쓰였는지 남습니다.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76300" y="45148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6300" y="4686300"/>
            <a:ext cx="38100" cy="2476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66800" y="4667250"/>
            <a:ext cx="6286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1066800" y="502920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</a:t>
            </a:r>
            <a:endParaRPr lang="en-US" sz="863" dirty="0"/>
          </a:p>
        </p:txBody>
      </p:sp>
      <p:sp>
        <p:nvSpPr>
          <p:cNvPr id="36" name="Text 34"/>
          <p:cNvSpPr txBox="1"/>
          <p:nvPr/>
        </p:nvSpPr>
        <p:spPr>
          <a:xfrm>
            <a:off x="1390650" y="5010150"/>
            <a:ext cx="5905500" cy="34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 다루는 손버릇에 따라 결과가 달라질 수 있었습니다.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1066800" y="5391150"/>
            <a:ext cx="285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390650" y="5372100"/>
            <a:ext cx="59055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폴더를 넘기면 그대로 이어집니다. 절차가 도구 안에 있습니다.</a:t>
            </a:r>
            <a:endParaRPr lang="en-US" sz="1013" dirty="0"/>
          </a:p>
        </p:txBody>
      </p:sp>
      <p:sp>
        <p:nvSpPr>
          <p:cNvPr id="39" name="Shape 37"/>
          <p:cNvSpPr/>
          <p:nvPr/>
        </p:nvSpPr>
        <p:spPr>
          <a:xfrm>
            <a:off x="7505700" y="1733550"/>
            <a:ext cx="4000500" cy="42100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15225" y="17430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1" name="Shape 39"/>
          <p:cNvSpPr/>
          <p:nvPr/>
        </p:nvSpPr>
        <p:spPr>
          <a:xfrm>
            <a:off x="7505700" y="20193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152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6771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4" name="Text 42"/>
          <p:cNvSpPr txBox="1"/>
          <p:nvPr/>
        </p:nvSpPr>
        <p:spPr>
          <a:xfrm>
            <a:off x="7905750" y="1809750"/>
            <a:ext cx="27241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걸러내는 것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10629900" y="1819275"/>
            <a:ext cx="742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저감</a:t>
            </a:r>
            <a:endParaRPr lang="en-US" sz="825" dirty="0"/>
          </a:p>
        </p:txBody>
      </p:sp>
      <p:pic>
        <p:nvPicPr>
          <p:cNvPr id="46" name="Image 0" descr="/home/user/Narae-AI/docs/ppt/assets/tool_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1259" y="2133600"/>
            <a:ext cx="2609381" cy="142875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8191734" y="2124075"/>
            <a:ext cx="2628431" cy="14478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696200" y="379095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886700" y="377190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공기를 더 넣지 않고 한 시험</a:t>
            </a:r>
            <a:endParaRPr lang="en-US" sz="1013" dirty="0"/>
          </a:p>
        </p:txBody>
      </p:sp>
      <p:sp>
        <p:nvSpPr>
          <p:cNvPr id="50" name="Text 47"/>
          <p:cNvSpPr txBox="1"/>
          <p:nvPr/>
        </p:nvSpPr>
        <p:spPr>
          <a:xfrm>
            <a:off x="7886700" y="409575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결론을 뒤집게 만든 그 시험입니다.</a:t>
            </a:r>
            <a:endParaRPr lang="en-US" sz="863" dirty="0"/>
          </a:p>
        </p:txBody>
      </p:sp>
      <p:sp>
        <p:nvSpPr>
          <p:cNvPr id="51" name="Shape 48"/>
          <p:cNvSpPr/>
          <p:nvPr/>
        </p:nvSpPr>
        <p:spPr>
          <a:xfrm>
            <a:off x="7696200" y="449580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7886700" y="447675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범위를 벗어난 온도</a:t>
            </a:r>
            <a:endParaRPr lang="en-US" sz="1013" dirty="0"/>
          </a:p>
        </p:txBody>
      </p:sp>
      <p:sp>
        <p:nvSpPr>
          <p:cNvPr id="53" name="Text 50"/>
          <p:cNvSpPr txBox="1"/>
          <p:nvPr/>
        </p:nvSpPr>
        <p:spPr>
          <a:xfrm>
            <a:off x="7886700" y="480060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배우지 않은 구간은 늘려 쓰지 않습니다.</a:t>
            </a:r>
            <a:endParaRPr lang="en-US" sz="863" dirty="0"/>
          </a:p>
        </p:txBody>
      </p:sp>
      <p:sp>
        <p:nvSpPr>
          <p:cNvPr id="54" name="Shape 51"/>
          <p:cNvSpPr/>
          <p:nvPr/>
        </p:nvSpPr>
        <p:spPr>
          <a:xfrm>
            <a:off x="7696200" y="5200650"/>
            <a:ext cx="38100" cy="4953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7886700" y="5181600"/>
            <a:ext cx="34290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골라 만든 관계</a:t>
            </a:r>
            <a:endParaRPr lang="en-US" sz="1013" dirty="0"/>
          </a:p>
        </p:txBody>
      </p:sp>
      <p:sp>
        <p:nvSpPr>
          <p:cNvPr id="56" name="Text 53"/>
          <p:cNvSpPr txBox="1"/>
          <p:nvPr/>
        </p:nvSpPr>
        <p:spPr>
          <a:xfrm>
            <a:off x="7886700" y="5505450"/>
            <a:ext cx="3429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진공도에서 세 번 걸렸던 착각입니다.</a:t>
            </a:r>
            <a:endParaRPr lang="en-US" sz="863" dirty="0"/>
          </a:p>
        </p:txBody>
      </p:sp>
      <p:sp>
        <p:nvSpPr>
          <p:cNvPr id="57" name="Text 54"/>
          <p:cNvSpPr txBox="1"/>
          <p:nvPr/>
        </p:nvSpPr>
        <p:spPr>
          <a:xfrm>
            <a:off x="7696200" y="5791200"/>
            <a:ext cx="3619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알린 만큼 못 낸 횟수가 15회에서 4회로 줄었습니다.</a:t>
            </a:r>
            <a:endParaRPr lang="en-US" sz="863" dirty="0"/>
          </a:p>
        </p:txBody>
      </p:sp>
      <p:sp>
        <p:nvSpPr>
          <p:cNvPr id="58" name="Shape 5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0" name="Text 5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놓칠 수 있는 자리를 도구가 대신 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발전소에도 쓰기</a:t>
            </a:r>
            <a:endParaRPr lang="en-US" sz="24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시험은 계속합니다. 쌓이면 더 정확해집니다. 이미 그러고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1771650"/>
            <a:ext cx="6667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5325" y="178117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205740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3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72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1085850" y="1847850"/>
            <a:ext cx="3514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쌓일수록 나아지고 있습니다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600575" y="1857375"/>
            <a:ext cx="2619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순서대로 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333500" y="3133725"/>
            <a:ext cx="1219200" cy="18192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3350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14650" y="3133725"/>
            <a:ext cx="1219200" cy="18192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914650" y="2905125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29146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26회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95800" y="4229100"/>
            <a:ext cx="1219200" cy="7239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95800" y="40005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449580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~ 33회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76950" y="4000500"/>
            <a:ext cx="1219200" cy="9525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76950" y="3771900"/>
            <a:ext cx="1219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6076950" y="5048250"/>
            <a:ext cx="1219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~ 40회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43000" y="49530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857500"/>
            <a:ext cx="4381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  MW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5334000"/>
            <a:ext cx="62865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바뀐 것은 없습니다.</a:t>
            </a:r>
            <a:endParaRPr lang="en-US" sz="975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5695950"/>
            <a:ext cx="62865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7505700" y="1771650"/>
            <a:ext cx="4000500" cy="41719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5225" y="178117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38" name="Shape 36"/>
          <p:cNvSpPr/>
          <p:nvPr/>
        </p:nvSpPr>
        <p:spPr>
          <a:xfrm>
            <a:off x="7505700" y="205740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15225" y="17811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7677150" y="18478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905750" y="1847850"/>
            <a:ext cx="3467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할 일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7696200" y="22098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63" dirty="0"/>
          </a:p>
        </p:txBody>
      </p:sp>
      <p:sp>
        <p:nvSpPr>
          <p:cNvPr id="43" name="Text 41"/>
          <p:cNvSpPr txBox="1"/>
          <p:nvPr/>
        </p:nvSpPr>
        <p:spPr>
          <a:xfrm>
            <a:off x="7696200" y="24003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96200" y="26670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7696200" y="32385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96200" y="34290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7696200" y="36195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7696200" y="38862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계산식을 손대지 않았으니 그대로 옮길 수 있습니다.</a:t>
            </a:r>
            <a:endParaRPr lang="en-US" sz="938" dirty="0"/>
          </a:p>
        </p:txBody>
      </p:sp>
      <p:sp>
        <p:nvSpPr>
          <p:cNvPr id="49" name="Shape 47"/>
          <p:cNvSpPr/>
          <p:nvPr/>
        </p:nvSpPr>
        <p:spPr>
          <a:xfrm>
            <a:off x="7696200" y="4457700"/>
            <a:ext cx="3619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696200" y="46482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63" dirty="0"/>
          </a:p>
        </p:txBody>
      </p:sp>
      <p:sp>
        <p:nvSpPr>
          <p:cNvPr id="51" name="Text 49"/>
          <p:cNvSpPr txBox="1"/>
          <p:nvPr/>
        </p:nvSpPr>
        <p:spPr>
          <a:xfrm>
            <a:off x="7696200" y="4838700"/>
            <a:ext cx="36195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5105400"/>
            <a:ext cx="36195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넣고 숫자를 내는 순서를 사업소 표준으로 정리합니다.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나아집니다.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오는 동안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넘어온 과정</a:t>
            </a:r>
            <a:endParaRPr lang="en-US" sz="24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3906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모르는 업무에서 시작했고 막히는 데가 많았습니다.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733550"/>
            <a:ext cx="10820400" cy="142875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5325" y="174307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01930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5325" y="174307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7250" y="18097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11" name="Text 9"/>
          <p:cNvSpPr txBox="1"/>
          <p:nvPr/>
        </p:nvSpPr>
        <p:spPr>
          <a:xfrm>
            <a:off x="1085850" y="1809750"/>
            <a:ext cx="96107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업무에서 시작했다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10696575" y="1819275"/>
            <a:ext cx="676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133600"/>
            <a:ext cx="4953000" cy="59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우리는 정비기술팀이고, 절차도 원리도 몰랐습니다. 처음에는 사전 지식을 쌓는 것부터 힘들었습니다.</a:t>
            </a:r>
            <a:endParaRPr lang="en-US" sz="1013" dirty="0"/>
          </a:p>
        </p:txBody>
      </p:sp>
      <p:sp>
        <p:nvSpPr>
          <p:cNvPr id="14" name="Shape 12"/>
          <p:cNvSpPr/>
          <p:nvPr/>
        </p:nvSpPr>
        <p:spPr>
          <a:xfrm>
            <a:off x="6153150" y="2095500"/>
            <a:ext cx="0" cy="8763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8900" y="21336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667500" y="21145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모여서 공부했다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1336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둘이 앉아 절차부터 뜯어 봤습니다.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38900" y="24384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667500" y="24193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 물었다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24384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모르는 것은 발전운영팀에 자문을 구했습니다.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38900" y="2743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667500" y="2724150"/>
            <a:ext cx="16192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 봤다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82000" y="2743200"/>
            <a:ext cx="29337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절차를 우리가 직접 해 보며 배웠습니다.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" y="3276600"/>
            <a:ext cx="6667500" cy="26670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5325" y="3286125"/>
            <a:ext cx="6648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85800" y="3562350"/>
            <a:ext cx="6667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325" y="32861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57250" y="33528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1085850" y="3352800"/>
            <a:ext cx="6134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것과 푼 방법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69570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시스템에서 값을 어떻게 받아오나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390525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받아오게 했습니다.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05400" y="371475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257800" y="373380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자동으로 받습니다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76300" y="430530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76300" y="443865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64820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 보게 했습니다. 이 검사를 도구에 넣었습니다.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105400" y="445770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57800" y="447675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쌓일 때마다 다시 검사합니다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876300" y="5048250"/>
            <a:ext cx="6477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5181600"/>
            <a:ext cx="4095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5391150"/>
            <a:ext cx="409575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하나씩 맞춰 봤습니다. 여섯 군데를 고쳤습니다.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105400" y="5200650"/>
            <a:ext cx="38100" cy="323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257800" y="5219700"/>
            <a:ext cx="2057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7505700" y="3276600"/>
            <a:ext cx="4000500" cy="26670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15225" y="3286125"/>
            <a:ext cx="39814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46" name="Shape 44"/>
          <p:cNvSpPr/>
          <p:nvPr/>
        </p:nvSpPr>
        <p:spPr>
          <a:xfrm>
            <a:off x="7505700" y="3562350"/>
            <a:ext cx="40005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15225" y="32861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677150" y="335280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49" name="Text 47"/>
          <p:cNvSpPr txBox="1"/>
          <p:nvPr/>
        </p:nvSpPr>
        <p:spPr>
          <a:xfrm>
            <a:off x="7905750" y="3352800"/>
            <a:ext cx="29622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어떻게 나눴나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10868025" y="3362325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7696200" y="3695700"/>
            <a:ext cx="3619500" cy="914400"/>
          </a:xfrm>
          <a:prstGeom prst="rect">
            <a:avLst/>
          </a:prstGeom>
          <a:ln w="17780">
            <a:solidFill>
              <a:srgbClr val="A8BCD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696200" y="3695700"/>
            <a:ext cx="47625" cy="91440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886700" y="381000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7886700" y="4038600"/>
            <a:ext cx="3238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취합과 분석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4229100"/>
            <a:ext cx="32385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 데이터를 분석했습니다. 문제점과 개선사항을 찾아 넘겼습니다.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7696200" y="4800600"/>
            <a:ext cx="3619500" cy="914400"/>
          </a:xfrm>
          <a:prstGeom prst="rect">
            <a:avLst/>
          </a:prstGeom>
          <a:ln w="1778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96200" y="4800600"/>
            <a:ext cx="47625" cy="9144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886700" y="4914900"/>
            <a:ext cx="14287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275" dirty="0"/>
          </a:p>
        </p:txBody>
      </p:sp>
      <p:sp>
        <p:nvSpPr>
          <p:cNvPr id="59" name="Text 57"/>
          <p:cNvSpPr txBox="1"/>
          <p:nvPr/>
        </p:nvSpPr>
        <p:spPr>
          <a:xfrm>
            <a:off x="7886700" y="5143500"/>
            <a:ext cx="3238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개발과 반영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5334000"/>
            <a:ext cx="32385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7696200" y="5676900"/>
            <a:ext cx="36195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찾으면 넘기고, 고치면 다시 확인했습니다. 이 왕복을 넉 달 돌렸습니다.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자리마다 도구에 검사를 하나씩 심어 두었습니다.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7" name="Shape 5"/>
          <p:cNvSpPr/>
          <p:nvPr/>
        </p:nvSpPr>
        <p:spPr>
          <a:xfrm>
            <a:off x="685800" y="2324100"/>
            <a:ext cx="10820400" cy="3009900"/>
          </a:xfrm>
          <a:prstGeom prst="rect">
            <a:avLst/>
          </a:prstGeom>
          <a:solidFill>
            <a:srgbClr val="0A1320"/>
          </a:solidFill>
          <a:ln w="15240">
            <a:solidFill>
              <a:srgbClr val="2235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5325" y="2333625"/>
            <a:ext cx="10801350" cy="276225"/>
          </a:xfrm>
          <a:prstGeom prst="rect">
            <a:avLst/>
          </a:prstGeom>
          <a:solidFill>
            <a:srgbClr val="17283C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609850"/>
            <a:ext cx="10820400" cy="0"/>
          </a:xfrm>
          <a:prstGeom prst="line">
            <a:avLst/>
          </a:prstGeom>
          <a:noFill/>
          <a:ln w="15240">
            <a:solidFill>
              <a:srgbClr val="2235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5325" y="2333625"/>
            <a:ext cx="38100" cy="2762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7250" y="2400300"/>
            <a:ext cx="88106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spc="3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9667875" y="2409825"/>
            <a:ext cx="17049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흰 점은 실제 시험</a:t>
            </a:r>
            <a:endParaRPr lang="en-US" sz="825" dirty="0"/>
          </a:p>
        </p:txBody>
      </p:sp>
      <p:sp>
        <p:nvSpPr>
          <p:cNvPr id="13" name="Shape 11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7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8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9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Shape 80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3" name="Shape 81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4" name="Shape 82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6" name="Shape 84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8" name="Shape 86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9" name="Shape 87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0" name="Shape 88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1" name="Shape 89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2" name="Shape 90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3" name="Shape 91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4" name="Shape 92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5" name="Shape 93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6" name="Shape 94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7" name="Shape 95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8" name="Shape 96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99" name="Shape 97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1" name="Shape 99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20" name="Shape 118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85800" y="62293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743700" y="62484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2026-09-16T11:52:47Z</dcterms:created>
  <dcterms:modified xsi:type="dcterms:W3CDTF">2026-09-16T11:52:47Z</dcterms:modified>
</cp:coreProperties>
</file>