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6250" y="323850"/>
            <a:ext cx="76200" cy="4191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342900"/>
            <a:ext cx="666750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75" b="1" spc="60" kern="0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</a:t>
            </a:r>
            <a:endParaRPr lang="en-US" sz="975" dirty="0"/>
          </a:p>
        </p:txBody>
      </p:sp>
      <p:sp>
        <p:nvSpPr>
          <p:cNvPr id="4" name="Text 2"/>
          <p:cNvSpPr txBox="1"/>
          <p:nvPr/>
        </p:nvSpPr>
        <p:spPr>
          <a:xfrm>
            <a:off x="7696200" y="361950"/>
            <a:ext cx="38100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spc="160" kern="0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FRONTIER  ·  위례사업소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800100"/>
            <a:ext cx="10287000" cy="396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19"/>
              </a:lnSpc>
              <a:buNone/>
            </a:pPr>
            <a:r>
              <a:rPr lang="en-US" sz="2475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쓰는 회귀 모델</a:t>
            </a:r>
            <a:endParaRPr lang="en-US" sz="2475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76350"/>
            <a:ext cx="10287000" cy="250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6"/>
              </a:lnSpc>
              <a:buNone/>
            </a:pPr>
            <a:r>
              <a:rPr lang="en-US" sz="1275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 시험 결과 점 사이로 곡선을 하나 긋습니다. 곡선을 긋는 방법이 모델마다 다릅니다.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685800" y="1724025"/>
            <a:ext cx="10820400" cy="19526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2114550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19150" y="165735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38" dirty="0"/>
          </a:p>
        </p:txBody>
      </p:sp>
      <p:sp>
        <p:nvSpPr>
          <p:cNvPr id="10" name="Text 8"/>
          <p:cNvSpPr txBox="1"/>
          <p:nvPr/>
        </p:nvSpPr>
        <p:spPr>
          <a:xfrm>
            <a:off x="1009650" y="1657350"/>
            <a:ext cx="167640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(가우시안 프로세스)</a:t>
            </a:r>
            <a:endParaRPr lang="en-US" sz="1013" dirty="0"/>
          </a:p>
        </p:txBody>
      </p:sp>
      <p:sp>
        <p:nvSpPr>
          <p:cNvPr id="11" name="Text 9"/>
          <p:cNvSpPr txBox="1"/>
          <p:nvPr/>
        </p:nvSpPr>
        <p:spPr>
          <a:xfrm>
            <a:off x="8753475" y="1790700"/>
            <a:ext cx="2638425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쓰는 방법 · 점 40개는 실제 시험 결과</a:t>
            </a:r>
            <a:endParaRPr lang="en-US" sz="825" dirty="0"/>
          </a:p>
        </p:txBody>
      </p:sp>
      <p:sp>
        <p:nvSpPr>
          <p:cNvPr id="12" name="Shape 10"/>
          <p:cNvSpPr/>
          <p:nvPr/>
        </p:nvSpPr>
        <p:spPr>
          <a:xfrm>
            <a:off x="1123950" y="1962150"/>
            <a:ext cx="4705350" cy="1543050"/>
          </a:xfrm>
          <a:prstGeom prst="rect">
            <a:avLst/>
          </a:prstGeom>
          <a:ln w="12700">
            <a:solidFill>
              <a:srgbClr val="DEE3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19200" y="3004887"/>
            <a:ext cx="451485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29641" y="2655019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732251" y="2655019"/>
            <a:ext cx="102610" cy="238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1834861" y="2657405"/>
            <a:ext cx="102610" cy="2835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1937472" y="2685759"/>
            <a:ext cx="102610" cy="322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040082" y="2718044"/>
            <a:ext cx="102610" cy="312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142692" y="2749276"/>
            <a:ext cx="102610" cy="258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2245302" y="2775174"/>
            <a:ext cx="102610" cy="177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2347913" y="2792931"/>
            <a:ext cx="102610" cy="82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2450523" y="2799738"/>
            <a:ext cx="102610" cy="14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2553133" y="2790053"/>
            <a:ext cx="102610" cy="968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 flipV="1">
            <a:off x="2655743" y="2774332"/>
            <a:ext cx="102610" cy="1572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 flipV="1">
            <a:off x="2758353" y="2756014"/>
            <a:ext cx="102610" cy="183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 flipV="1">
            <a:off x="2860964" y="2739240"/>
            <a:ext cx="102610" cy="167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 flipV="1">
            <a:off x="2963574" y="2728151"/>
            <a:ext cx="102610" cy="110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 flipV="1">
            <a:off x="3066184" y="2726817"/>
            <a:ext cx="102610" cy="133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3168794" y="2726817"/>
            <a:ext cx="102610" cy="1144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271405" y="2738257"/>
            <a:ext cx="102610" cy="2589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3374015" y="2764155"/>
            <a:ext cx="102610" cy="403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3476625" y="2804511"/>
            <a:ext cx="102610" cy="5341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3579235" y="2857921"/>
            <a:ext cx="102610" cy="637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681845" y="2921719"/>
            <a:ext cx="102610" cy="7039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3784456" y="2992113"/>
            <a:ext cx="102610" cy="730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3887066" y="3065175"/>
            <a:ext cx="102610" cy="713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3989676" y="3136552"/>
            <a:ext cx="102610" cy="6541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092286" y="3201964"/>
            <a:ext cx="102610" cy="5565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194897" y="3257620"/>
            <a:ext cx="102610" cy="426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297507" y="3300292"/>
            <a:ext cx="102610" cy="2723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400117" y="3327524"/>
            <a:ext cx="102610" cy="1052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 flipV="1">
            <a:off x="4502727" y="3331945"/>
            <a:ext cx="102610" cy="610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 flipV="1">
            <a:off x="4605338" y="3310820"/>
            <a:ext cx="102610" cy="2112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4" name="Shape 42"/>
          <p:cNvSpPr/>
          <p:nvPr/>
        </p:nvSpPr>
        <p:spPr>
          <a:xfrm flipV="1">
            <a:off x="4707948" y="3277482"/>
            <a:ext cx="102610" cy="3333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5" name="Shape 43"/>
          <p:cNvSpPr/>
          <p:nvPr/>
        </p:nvSpPr>
        <p:spPr>
          <a:xfrm flipV="1">
            <a:off x="4810558" y="3235582"/>
            <a:ext cx="102610" cy="4190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6" name="Shape 44"/>
          <p:cNvSpPr/>
          <p:nvPr/>
        </p:nvSpPr>
        <p:spPr>
          <a:xfrm flipV="1">
            <a:off x="4913168" y="3189261"/>
            <a:ext cx="102610" cy="463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 flipV="1">
            <a:off x="5015778" y="3142799"/>
            <a:ext cx="102610" cy="464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 flipV="1">
            <a:off x="5118389" y="3100127"/>
            <a:ext cx="102610" cy="426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 flipV="1">
            <a:off x="5220999" y="3064754"/>
            <a:ext cx="102610" cy="3537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 flipV="1">
            <a:off x="5323609" y="3039979"/>
            <a:ext cx="102610" cy="2477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 flipV="1">
            <a:off x="5426219" y="3028890"/>
            <a:ext cx="102610" cy="1108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528830" y="3028890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5631440" y="3028890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629641" y="2304729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1732251" y="2304729"/>
            <a:ext cx="102610" cy="526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6" name="Shape 54"/>
          <p:cNvSpPr/>
          <p:nvPr/>
        </p:nvSpPr>
        <p:spPr>
          <a:xfrm>
            <a:off x="1834861" y="2309993"/>
            <a:ext cx="102610" cy="503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7" name="Shape 55"/>
          <p:cNvSpPr/>
          <p:nvPr/>
        </p:nvSpPr>
        <p:spPr>
          <a:xfrm>
            <a:off x="1937472" y="2360315"/>
            <a:ext cx="102610" cy="448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8" name="Shape 56"/>
          <p:cNvSpPr/>
          <p:nvPr/>
        </p:nvSpPr>
        <p:spPr>
          <a:xfrm>
            <a:off x="2040082" y="2405163"/>
            <a:ext cx="102610" cy="377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59" name="Shape 57"/>
          <p:cNvSpPr/>
          <p:nvPr/>
        </p:nvSpPr>
        <p:spPr>
          <a:xfrm>
            <a:off x="2142692" y="2442922"/>
            <a:ext cx="102610" cy="2947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0" name="Shape 58"/>
          <p:cNvSpPr/>
          <p:nvPr/>
        </p:nvSpPr>
        <p:spPr>
          <a:xfrm>
            <a:off x="2245302" y="2472399"/>
            <a:ext cx="102610" cy="19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1" name="Shape 59"/>
          <p:cNvSpPr/>
          <p:nvPr/>
        </p:nvSpPr>
        <p:spPr>
          <a:xfrm>
            <a:off x="2347913" y="2492261"/>
            <a:ext cx="102610" cy="982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 flipV="1">
            <a:off x="2450523" y="2502017"/>
            <a:ext cx="102610" cy="7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3" name="Shape 61"/>
          <p:cNvSpPr/>
          <p:nvPr/>
        </p:nvSpPr>
        <p:spPr>
          <a:xfrm flipV="1">
            <a:off x="2553133" y="2493595"/>
            <a:ext cx="102610" cy="842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4" name="Shape 62"/>
          <p:cNvSpPr/>
          <p:nvPr/>
        </p:nvSpPr>
        <p:spPr>
          <a:xfrm flipV="1">
            <a:off x="2655743" y="2479347"/>
            <a:ext cx="102610" cy="1424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5" name="Shape 63"/>
          <p:cNvSpPr/>
          <p:nvPr/>
        </p:nvSpPr>
        <p:spPr>
          <a:xfrm flipV="1">
            <a:off x="2758353" y="2462433"/>
            <a:ext cx="102610" cy="1691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6" name="Shape 64"/>
          <p:cNvSpPr/>
          <p:nvPr/>
        </p:nvSpPr>
        <p:spPr>
          <a:xfrm flipV="1">
            <a:off x="2860964" y="2446571"/>
            <a:ext cx="102610" cy="1586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 flipV="1">
            <a:off x="2963574" y="2435412"/>
            <a:ext cx="102610" cy="111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8" name="Shape 66"/>
          <p:cNvSpPr/>
          <p:nvPr/>
        </p:nvSpPr>
        <p:spPr>
          <a:xfrm flipV="1">
            <a:off x="3066184" y="2432254"/>
            <a:ext cx="102610" cy="31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69" name="Shape 67"/>
          <p:cNvSpPr/>
          <p:nvPr/>
        </p:nvSpPr>
        <p:spPr>
          <a:xfrm>
            <a:off x="3168794" y="2432254"/>
            <a:ext cx="102610" cy="786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0" name="Shape 68"/>
          <p:cNvSpPr/>
          <p:nvPr/>
        </p:nvSpPr>
        <p:spPr>
          <a:xfrm>
            <a:off x="3271405" y="2440115"/>
            <a:ext cx="102610" cy="20915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1" name="Shape 69"/>
          <p:cNvSpPr/>
          <p:nvPr/>
        </p:nvSpPr>
        <p:spPr>
          <a:xfrm>
            <a:off x="3374015" y="2461029"/>
            <a:ext cx="102610" cy="3509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3476625" y="2496122"/>
            <a:ext cx="102610" cy="490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3579235" y="2545180"/>
            <a:ext cx="102610" cy="614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3681845" y="2606662"/>
            <a:ext cx="102610" cy="7074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784456" y="2677407"/>
            <a:ext cx="102610" cy="756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3887066" y="2753066"/>
            <a:ext cx="102610" cy="7551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3989676" y="2828584"/>
            <a:ext cx="102610" cy="6997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8" name="Shape 76"/>
          <p:cNvSpPr/>
          <p:nvPr/>
        </p:nvSpPr>
        <p:spPr>
          <a:xfrm>
            <a:off x="4092286" y="2898558"/>
            <a:ext cx="102610" cy="5965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4194897" y="2958214"/>
            <a:ext cx="102610" cy="4562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0" name="Shape 78"/>
          <p:cNvSpPr/>
          <p:nvPr/>
        </p:nvSpPr>
        <p:spPr>
          <a:xfrm>
            <a:off x="4297507" y="3003834"/>
            <a:ext cx="102610" cy="2919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4400117" y="3033031"/>
            <a:ext cx="102610" cy="1207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2" name="Shape 80"/>
          <p:cNvSpPr/>
          <p:nvPr/>
        </p:nvSpPr>
        <p:spPr>
          <a:xfrm flipV="1">
            <a:off x="4502727" y="3040470"/>
            <a:ext cx="102610" cy="4632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 flipV="1">
            <a:off x="4605338" y="3020889"/>
            <a:ext cx="102610" cy="19581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4707948" y="2988885"/>
            <a:ext cx="102610" cy="32004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 flipV="1">
            <a:off x="4810558" y="2947827"/>
            <a:ext cx="102610" cy="4105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6" name="Shape 84"/>
          <p:cNvSpPr/>
          <p:nvPr/>
        </p:nvSpPr>
        <p:spPr>
          <a:xfrm flipV="1">
            <a:off x="4913168" y="2901014"/>
            <a:ext cx="102610" cy="46813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 flipV="1">
            <a:off x="5015778" y="2852166"/>
            <a:ext cx="102610" cy="488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8" name="Shape 86"/>
          <p:cNvSpPr/>
          <p:nvPr/>
        </p:nvSpPr>
        <p:spPr>
          <a:xfrm flipV="1">
            <a:off x="5118389" y="2804300"/>
            <a:ext cx="102610" cy="47866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 flipV="1">
            <a:off x="5220999" y="2759453"/>
            <a:ext cx="102610" cy="44848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0" name="Shape 88"/>
          <p:cNvSpPr/>
          <p:nvPr/>
        </p:nvSpPr>
        <p:spPr>
          <a:xfrm flipV="1">
            <a:off x="5323609" y="2718535"/>
            <a:ext cx="102610" cy="40917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 flipV="1">
            <a:off x="5426219" y="2684777"/>
            <a:ext cx="102610" cy="33759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2" name="Shape 90"/>
          <p:cNvSpPr/>
          <p:nvPr/>
        </p:nvSpPr>
        <p:spPr>
          <a:xfrm>
            <a:off x="5528830" y="2684777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3" name="Shape 91"/>
          <p:cNvSpPr/>
          <p:nvPr/>
        </p:nvSpPr>
        <p:spPr>
          <a:xfrm>
            <a:off x="5631440" y="2684777"/>
            <a:ext cx="102610" cy="0"/>
          </a:xfrm>
          <a:prstGeom prst="line">
            <a:avLst/>
          </a:prstGeom>
          <a:noFill/>
          <a:ln w="12700">
            <a:solidFill>
              <a:srgbClr val="F5A3B0"/>
            </a:solidFill>
            <a:prstDash val="dash"/>
          </a:ln>
        </p:spPr>
      </p:sp>
      <p:sp>
        <p:nvSpPr>
          <p:cNvPr id="94" name="Shape 92"/>
          <p:cNvSpPr/>
          <p:nvPr/>
        </p:nvSpPr>
        <p:spPr>
          <a:xfrm>
            <a:off x="5309105" y="2832735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5" name="Shape 93"/>
          <p:cNvSpPr/>
          <p:nvPr/>
        </p:nvSpPr>
        <p:spPr>
          <a:xfrm>
            <a:off x="4970491" y="2831963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6" name="Shape 94"/>
          <p:cNvSpPr/>
          <p:nvPr/>
        </p:nvSpPr>
        <p:spPr>
          <a:xfrm>
            <a:off x="5155190" y="2928256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7" name="Shape 95"/>
          <p:cNvSpPr/>
          <p:nvPr/>
        </p:nvSpPr>
        <p:spPr>
          <a:xfrm>
            <a:off x="4970491" y="2882496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8" name="Shape 96"/>
          <p:cNvSpPr/>
          <p:nvPr/>
        </p:nvSpPr>
        <p:spPr>
          <a:xfrm>
            <a:off x="5052580" y="2932537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99" name="Shape 97"/>
          <p:cNvSpPr/>
          <p:nvPr/>
        </p:nvSpPr>
        <p:spPr>
          <a:xfrm>
            <a:off x="4960230" y="3158460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0" name="Shape 98"/>
          <p:cNvSpPr/>
          <p:nvPr/>
        </p:nvSpPr>
        <p:spPr>
          <a:xfrm>
            <a:off x="5073102" y="3143441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1" name="Shape 99"/>
          <p:cNvSpPr/>
          <p:nvPr/>
        </p:nvSpPr>
        <p:spPr>
          <a:xfrm>
            <a:off x="4703705" y="3092768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4755010" y="3222187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4416396" y="3167654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4200915" y="3210607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4180393" y="3128140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3790474" y="2796309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3092724" y="2558245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2908026" y="2640851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3082463" y="2464198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2969592" y="2525398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2938809" y="2494166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518107" y="2542243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1799835" y="2363694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2005056" y="2579159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1456091" y="2104784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1409916" y="2071587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2323148" y="2630815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2425758" y="2660573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2220537" y="2598741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3154290" y="2587932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2754110" y="2619094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2579673" y="2723458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3308206" y="2603513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3318467" y="2579861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4241959" y="3029251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4211176" y="3020758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4929447" y="3023636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4549789" y="3320866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4857620" y="3041393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5493804" y="2880180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4703705" y="3013740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4970491" y="3087714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4775532" y="3218467"/>
            <a:ext cx="49530" cy="4953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219200" y="2388669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321810" y="2388669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424420" y="2388669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1527031" y="2388669"/>
            <a:ext cx="102610" cy="9116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1629641" y="2479839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1732251" y="2479839"/>
            <a:ext cx="102610" cy="38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834861" y="2483699"/>
            <a:ext cx="102610" cy="3937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1937472" y="2523072"/>
            <a:ext cx="102610" cy="3853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2040082" y="2561603"/>
            <a:ext cx="102610" cy="3446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2142692" y="2596064"/>
            <a:ext cx="102610" cy="2772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2245302" y="2623787"/>
            <a:ext cx="102610" cy="1880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2347913" y="2642596"/>
            <a:ext cx="102610" cy="898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V="1">
            <a:off x="2450523" y="2650878"/>
            <a:ext cx="102610" cy="70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flipV="1">
            <a:off x="2553133" y="2641824"/>
            <a:ext cx="102610" cy="905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flipV="1">
            <a:off x="2655743" y="2626805"/>
            <a:ext cx="102610" cy="1501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2758353" y="2609258"/>
            <a:ext cx="102610" cy="1754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2860964" y="2592906"/>
            <a:ext cx="102610" cy="1635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2963574" y="2581746"/>
            <a:ext cx="102610" cy="1115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flipV="1">
            <a:off x="3066184" y="2579571"/>
            <a:ext cx="102610" cy="217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3168794" y="2579571"/>
            <a:ext cx="102610" cy="961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3271405" y="2589186"/>
            <a:ext cx="102610" cy="2337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3374015" y="2612557"/>
            <a:ext cx="102610" cy="3775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3476625" y="2650316"/>
            <a:ext cx="102610" cy="5123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3579235" y="2701551"/>
            <a:ext cx="102610" cy="6260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3681845" y="2764155"/>
            <a:ext cx="102610" cy="7060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3784456" y="2834760"/>
            <a:ext cx="102610" cy="7439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3887066" y="2909156"/>
            <a:ext cx="102610" cy="7341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3989676" y="2982568"/>
            <a:ext cx="102610" cy="6765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4092286" y="3050226"/>
            <a:ext cx="102610" cy="57691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4194897" y="3107917"/>
            <a:ext cx="102610" cy="4414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4297507" y="3152063"/>
            <a:ext cx="102610" cy="2821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400117" y="3180277"/>
            <a:ext cx="102610" cy="1130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flipV="1">
            <a:off x="4502727" y="3186173"/>
            <a:ext cx="102610" cy="540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4605338" y="3165819"/>
            <a:ext cx="102610" cy="2035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4707948" y="3133184"/>
            <a:ext cx="102610" cy="3263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4810558" y="3091705"/>
            <a:ext cx="102610" cy="4147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4913168" y="3045173"/>
            <a:ext cx="102610" cy="4653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5015778" y="2997517"/>
            <a:ext cx="102610" cy="4765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5118389" y="2952179"/>
            <a:ext cx="102610" cy="4533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5220999" y="2912103"/>
            <a:ext cx="102610" cy="4007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5323609" y="2879257"/>
            <a:ext cx="102610" cy="3284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5426219" y="2856868"/>
            <a:ext cx="102610" cy="22389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528830" y="2856868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5631440" y="2856868"/>
            <a:ext cx="1026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178" name="Text 176"/>
          <p:cNvSpPr txBox="1"/>
          <p:nvPr/>
        </p:nvSpPr>
        <p:spPr>
          <a:xfrm>
            <a:off x="1439141" y="339090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0℃</a:t>
            </a:r>
            <a:endParaRPr lang="en-US" sz="713" dirty="0"/>
          </a:p>
        </p:txBody>
      </p:sp>
      <p:sp>
        <p:nvSpPr>
          <p:cNvPr id="179" name="Text 177"/>
          <p:cNvSpPr txBox="1"/>
          <p:nvPr/>
        </p:nvSpPr>
        <p:spPr>
          <a:xfrm>
            <a:off x="3491345" y="339090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20℃</a:t>
            </a:r>
            <a:endParaRPr lang="en-US" sz="713" dirty="0"/>
          </a:p>
        </p:txBody>
      </p:sp>
      <p:sp>
        <p:nvSpPr>
          <p:cNvPr id="180" name="Text 178"/>
          <p:cNvSpPr txBox="1"/>
          <p:nvPr/>
        </p:nvSpPr>
        <p:spPr>
          <a:xfrm>
            <a:off x="5543550" y="339090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40℃</a:t>
            </a:r>
            <a:endParaRPr lang="en-US" sz="713" dirty="0"/>
          </a:p>
        </p:txBody>
      </p:sp>
      <p:sp>
        <p:nvSpPr>
          <p:cNvPr id="181" name="Text 179"/>
          <p:cNvSpPr txBox="1"/>
          <p:nvPr/>
        </p:nvSpPr>
        <p:spPr>
          <a:xfrm>
            <a:off x="876300" y="2947737"/>
            <a:ext cx="2286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713" dirty="0"/>
          </a:p>
        </p:txBody>
      </p:sp>
      <p:sp>
        <p:nvSpPr>
          <p:cNvPr id="182" name="Text 180"/>
          <p:cNvSpPr txBox="1"/>
          <p:nvPr/>
        </p:nvSpPr>
        <p:spPr>
          <a:xfrm>
            <a:off x="876300" y="2596816"/>
            <a:ext cx="2286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+5</a:t>
            </a:r>
            <a:endParaRPr lang="en-US" sz="713" dirty="0"/>
          </a:p>
        </p:txBody>
      </p:sp>
      <p:sp>
        <p:nvSpPr>
          <p:cNvPr id="183" name="Text 181"/>
          <p:cNvSpPr txBox="1"/>
          <p:nvPr/>
        </p:nvSpPr>
        <p:spPr>
          <a:xfrm>
            <a:off x="1123950" y="3562350"/>
            <a:ext cx="4705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가로 외기온도(℃) · 세로 더하는 값(MW) · 빨간 선이 도구가 쓰는 곡선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6172200" y="1981200"/>
            <a:ext cx="38100" cy="3810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6343650" y="1962150"/>
            <a:ext cx="49149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는 곡선을 하나만 고르지 않습니다</a:t>
            </a:r>
            <a:endParaRPr lang="en-US" sz="1050" dirty="0"/>
          </a:p>
        </p:txBody>
      </p:sp>
      <p:sp>
        <p:nvSpPr>
          <p:cNvPr id="186" name="Text 184"/>
          <p:cNvSpPr txBox="1"/>
          <p:nvPr/>
        </p:nvSpPr>
        <p:spPr>
          <a:xfrm>
            <a:off x="6343650" y="2152650"/>
            <a:ext cx="491490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점을 지나는 곡선은 여러 개 있습니다. GP 는 그 곡선들의 가운데를 답으로 냅니다.</a:t>
            </a:r>
            <a:endParaRPr lang="en-US" sz="825" dirty="0"/>
          </a:p>
        </p:txBody>
      </p:sp>
      <p:sp>
        <p:nvSpPr>
          <p:cNvPr id="187" name="Shape 185"/>
          <p:cNvSpPr/>
          <p:nvPr/>
        </p:nvSpPr>
        <p:spPr>
          <a:xfrm>
            <a:off x="6172200" y="2533650"/>
            <a:ext cx="38100" cy="3810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6343650" y="2514600"/>
            <a:ext cx="49149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값과 함께 범위도 나옵니다</a:t>
            </a:r>
            <a:endParaRPr lang="en-US" sz="1050" dirty="0"/>
          </a:p>
        </p:txBody>
      </p:sp>
      <p:sp>
        <p:nvSpPr>
          <p:cNvPr id="189" name="Text 187"/>
          <p:cNvSpPr txBox="1"/>
          <p:nvPr/>
        </p:nvSpPr>
        <p:spPr>
          <a:xfrm>
            <a:off x="6343650" y="2705100"/>
            <a:ext cx="491490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점선 두 줄 사이가 90% 범위입니다. 다른 방법은 값만 주고 범위는 주지 않습니다.</a:t>
            </a:r>
            <a:endParaRPr lang="en-US" sz="825" dirty="0"/>
          </a:p>
        </p:txBody>
      </p:sp>
      <p:sp>
        <p:nvSpPr>
          <p:cNvPr id="190" name="Shape 188"/>
          <p:cNvSpPr/>
          <p:nvPr/>
        </p:nvSpPr>
        <p:spPr>
          <a:xfrm>
            <a:off x="6172200" y="3086100"/>
            <a:ext cx="38100" cy="381000"/>
          </a:xfrm>
          <a:prstGeom prst="rect">
            <a:avLst/>
          </a:prstGeom>
          <a:solidFill>
            <a:srgbClr val="EA002C"/>
          </a:solidFill>
          <a:ln/>
        </p:spPr>
      </p:sp>
      <p:sp>
        <p:nvSpPr>
          <p:cNvPr id="191" name="Text 189"/>
          <p:cNvSpPr txBox="1"/>
          <p:nvPr/>
        </p:nvSpPr>
        <p:spPr>
          <a:xfrm>
            <a:off x="6343650" y="3067050"/>
            <a:ext cx="491490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커널이 곡선 모양을 정합니다</a:t>
            </a:r>
            <a:endParaRPr lang="en-US" sz="1050" dirty="0"/>
          </a:p>
        </p:txBody>
      </p:sp>
      <p:sp>
        <p:nvSpPr>
          <p:cNvPr id="192" name="Text 190"/>
          <p:cNvSpPr txBox="1"/>
          <p:nvPr/>
        </p:nvSpPr>
        <p:spPr>
          <a:xfrm>
            <a:off x="6343650" y="3257550"/>
            <a:ext cx="4914900" cy="293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곡선을 얼마나 부드럽게 그을지 정하는 설정입니다. 아래에서 셋을 비교했습니다.</a:t>
            </a:r>
            <a:endParaRPr lang="en-US" sz="825" dirty="0"/>
          </a:p>
        </p:txBody>
      </p:sp>
      <p:sp>
        <p:nvSpPr>
          <p:cNvPr id="193" name="Shape 191"/>
          <p:cNvSpPr/>
          <p:nvPr/>
        </p:nvSpPr>
        <p:spPr>
          <a:xfrm>
            <a:off x="685800" y="3914775"/>
            <a:ext cx="10820400" cy="2181225"/>
          </a:xfrm>
          <a:prstGeom prst="rect">
            <a:avLst/>
          </a:prstGeom>
          <a:solidFill>
            <a:srgbClr val="FFFFFF"/>
          </a:solidFill>
          <a:ln w="12700">
            <a:solidFill>
              <a:srgbClr val="C9D0D8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685800" y="3790950"/>
            <a:ext cx="1743075" cy="247650"/>
          </a:xfrm>
          <a:prstGeom prst="rect">
            <a:avLst>
              <a:gd name="adj" fmla="val 44308"/>
            </a:avLst>
          </a:prstGeom>
          <a:solidFill>
            <a:srgbClr val="EA002C"/>
          </a:solidFill>
          <a:ln/>
        </p:spPr>
      </p:sp>
      <p:sp>
        <p:nvSpPr>
          <p:cNvPr id="195" name="Text 193"/>
          <p:cNvSpPr txBox="1"/>
          <p:nvPr/>
        </p:nvSpPr>
        <p:spPr>
          <a:xfrm>
            <a:off x="819150" y="3848100"/>
            <a:ext cx="15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938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38" dirty="0"/>
          </a:p>
        </p:txBody>
      </p:sp>
      <p:sp>
        <p:nvSpPr>
          <p:cNvPr id="196" name="Text 194"/>
          <p:cNvSpPr txBox="1"/>
          <p:nvPr/>
        </p:nvSpPr>
        <p:spPr>
          <a:xfrm>
            <a:off x="1009650" y="3848100"/>
            <a:ext cx="1304925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세 가지 비교</a:t>
            </a:r>
            <a:endParaRPr lang="en-US" sz="1013" dirty="0"/>
          </a:p>
        </p:txBody>
      </p:sp>
      <p:sp>
        <p:nvSpPr>
          <p:cNvPr id="197" name="Text 195"/>
          <p:cNvSpPr txBox="1"/>
          <p:nvPr/>
        </p:nvSpPr>
        <p:spPr>
          <a:xfrm>
            <a:off x="8486775" y="3981450"/>
            <a:ext cx="2905125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90"/>
              </a:lnSpc>
              <a:buNone/>
            </a:pPr>
            <a:r>
              <a:rPr lang="en-US" sz="825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시험 40회 · 차이가 가장 큰 20~40℃ 를 확대</a:t>
            </a:r>
            <a:endParaRPr lang="en-US" sz="825" dirty="0"/>
          </a:p>
        </p:txBody>
      </p:sp>
      <p:sp>
        <p:nvSpPr>
          <p:cNvPr id="198" name="Text 196"/>
          <p:cNvSpPr txBox="1"/>
          <p:nvPr/>
        </p:nvSpPr>
        <p:spPr>
          <a:xfrm>
            <a:off x="876300" y="4152900"/>
            <a:ext cx="23812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RBF</a:t>
            </a:r>
            <a:endParaRPr lang="en-US" sz="1050" dirty="0"/>
          </a:p>
        </p:txBody>
      </p:sp>
      <p:sp>
        <p:nvSpPr>
          <p:cNvPr id="199" name="Text 197"/>
          <p:cNvSpPr txBox="1"/>
          <p:nvPr/>
        </p:nvSpPr>
        <p:spPr>
          <a:xfrm>
            <a:off x="3295650" y="4181475"/>
            <a:ext cx="895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쓰는 것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876300" y="4362450"/>
            <a:ext cx="3314700" cy="914400"/>
          </a:xfrm>
          <a:prstGeom prst="rect">
            <a:avLst/>
          </a:prstGeom>
          <a:ln w="12700">
            <a:solidFill>
              <a:srgbClr val="DEE3E9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971550" y="4772633"/>
            <a:ext cx="31242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3469386" y="459802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3" name="Shape 201"/>
          <p:cNvSpPr/>
          <p:nvPr/>
        </p:nvSpPr>
        <p:spPr>
          <a:xfrm>
            <a:off x="2953893" y="459719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4" name="Shape 202"/>
          <p:cNvSpPr/>
          <p:nvPr/>
        </p:nvSpPr>
        <p:spPr>
          <a:xfrm>
            <a:off x="3235071" y="470007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5" name="Shape 203"/>
          <p:cNvSpPr/>
          <p:nvPr/>
        </p:nvSpPr>
        <p:spPr>
          <a:xfrm>
            <a:off x="2953893" y="465118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6" name="Shape 204"/>
          <p:cNvSpPr/>
          <p:nvPr/>
        </p:nvSpPr>
        <p:spPr>
          <a:xfrm>
            <a:off x="3078861" y="47046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7" name="Shape 205"/>
          <p:cNvSpPr/>
          <p:nvPr/>
        </p:nvSpPr>
        <p:spPr>
          <a:xfrm>
            <a:off x="2938272" y="4946022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8" name="Shape 206"/>
          <p:cNvSpPr/>
          <p:nvPr/>
        </p:nvSpPr>
        <p:spPr>
          <a:xfrm>
            <a:off x="3110103" y="492997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09" name="Shape 207"/>
          <p:cNvSpPr/>
          <p:nvPr/>
        </p:nvSpPr>
        <p:spPr>
          <a:xfrm>
            <a:off x="2547747" y="487583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0" name="Shape 208"/>
          <p:cNvSpPr/>
          <p:nvPr/>
        </p:nvSpPr>
        <p:spPr>
          <a:xfrm>
            <a:off x="2625852" y="501410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1" name="Shape 209"/>
          <p:cNvSpPr/>
          <p:nvPr/>
        </p:nvSpPr>
        <p:spPr>
          <a:xfrm>
            <a:off x="2110359" y="495584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2" name="Shape 210"/>
          <p:cNvSpPr/>
          <p:nvPr/>
        </p:nvSpPr>
        <p:spPr>
          <a:xfrm>
            <a:off x="1782318" y="50017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3" name="Shape 211"/>
          <p:cNvSpPr/>
          <p:nvPr/>
        </p:nvSpPr>
        <p:spPr>
          <a:xfrm>
            <a:off x="1751076" y="491362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4" name="Shape 212"/>
          <p:cNvSpPr/>
          <p:nvPr/>
        </p:nvSpPr>
        <p:spPr>
          <a:xfrm>
            <a:off x="1157478" y="45591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5" name="Shape 213"/>
          <p:cNvSpPr/>
          <p:nvPr/>
        </p:nvSpPr>
        <p:spPr>
          <a:xfrm>
            <a:off x="1844802" y="480797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797939" y="479890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7" name="Shape 215"/>
          <p:cNvSpPr/>
          <p:nvPr/>
        </p:nvSpPr>
        <p:spPr>
          <a:xfrm>
            <a:off x="2891409" y="480197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8" name="Shape 216"/>
          <p:cNvSpPr/>
          <p:nvPr/>
        </p:nvSpPr>
        <p:spPr>
          <a:xfrm>
            <a:off x="2313432" y="51195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19" name="Shape 217"/>
          <p:cNvSpPr/>
          <p:nvPr/>
        </p:nvSpPr>
        <p:spPr>
          <a:xfrm>
            <a:off x="2782062" y="48209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0" name="Shape 218"/>
          <p:cNvSpPr/>
          <p:nvPr/>
        </p:nvSpPr>
        <p:spPr>
          <a:xfrm>
            <a:off x="3750564" y="464871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1" name="Shape 219"/>
          <p:cNvSpPr/>
          <p:nvPr/>
        </p:nvSpPr>
        <p:spPr>
          <a:xfrm>
            <a:off x="2547747" y="47914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2" name="Shape 220"/>
          <p:cNvSpPr/>
          <p:nvPr/>
        </p:nvSpPr>
        <p:spPr>
          <a:xfrm>
            <a:off x="2953893" y="487043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3" name="Shape 221"/>
          <p:cNvSpPr/>
          <p:nvPr/>
        </p:nvSpPr>
        <p:spPr>
          <a:xfrm>
            <a:off x="2657094" y="501013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24" name="Shape 222"/>
          <p:cNvSpPr/>
          <p:nvPr/>
        </p:nvSpPr>
        <p:spPr>
          <a:xfrm>
            <a:off x="971550" y="4515438"/>
            <a:ext cx="156210" cy="7543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1127760" y="4590872"/>
            <a:ext cx="156210" cy="7948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283970" y="4670355"/>
            <a:ext cx="156210" cy="7843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440180" y="4748788"/>
            <a:ext cx="156210" cy="7228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596390" y="4821073"/>
            <a:ext cx="156210" cy="61637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>
            <a:off x="1752600" y="4882710"/>
            <a:ext cx="156210" cy="4716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>
            <a:off x="1908810" y="4929875"/>
            <a:ext cx="156210" cy="3014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2065020" y="4960018"/>
            <a:ext cx="156210" cy="12072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flipV="1">
            <a:off x="2221230" y="4966317"/>
            <a:ext cx="156210" cy="577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flipV="1">
            <a:off x="2377440" y="4944571"/>
            <a:ext cx="156210" cy="21745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flipV="1">
            <a:off x="2533650" y="4909704"/>
            <a:ext cx="156210" cy="34868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flipV="1">
            <a:off x="2689860" y="4865388"/>
            <a:ext cx="156210" cy="4431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flipV="1">
            <a:off x="2846070" y="4815674"/>
            <a:ext cx="156210" cy="4971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flipV="1">
            <a:off x="3002280" y="4764760"/>
            <a:ext cx="156210" cy="50914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flipV="1">
            <a:off x="3158490" y="4716320"/>
            <a:ext cx="156210" cy="4844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flipV="1">
            <a:off x="3314700" y="4673504"/>
            <a:ext cx="156210" cy="42816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flipV="1">
            <a:off x="3470910" y="4638412"/>
            <a:ext cx="156210" cy="35093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flipV="1">
            <a:off x="3627120" y="4614492"/>
            <a:ext cx="156210" cy="2392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3783330" y="4614492"/>
            <a:ext cx="1562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3939540" y="4614492"/>
            <a:ext cx="156210" cy="0"/>
          </a:xfrm>
          <a:prstGeom prst="line">
            <a:avLst/>
          </a:prstGeom>
          <a:noFill/>
          <a:ln w="22860">
            <a:solidFill>
              <a:srgbClr val="EA002C"/>
            </a:solidFill>
            <a:prstDash val="solid"/>
          </a:ln>
        </p:spPr>
      </p:sp>
      <p:sp>
        <p:nvSpPr>
          <p:cNvPr id="244" name="Text 242"/>
          <p:cNvSpPr txBox="1"/>
          <p:nvPr/>
        </p:nvSpPr>
        <p:spPr>
          <a:xfrm>
            <a:off x="7810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20℃</a:t>
            </a:r>
            <a:endParaRPr lang="en-US" sz="713" dirty="0"/>
          </a:p>
        </p:txBody>
      </p:sp>
      <p:sp>
        <p:nvSpPr>
          <p:cNvPr id="245" name="Text 243"/>
          <p:cNvSpPr txBox="1"/>
          <p:nvPr/>
        </p:nvSpPr>
        <p:spPr>
          <a:xfrm>
            <a:off x="39052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40℃</a:t>
            </a:r>
            <a:endParaRPr lang="en-US" sz="713" dirty="0"/>
          </a:p>
        </p:txBody>
      </p:sp>
      <p:sp>
        <p:nvSpPr>
          <p:cNvPr id="246" name="Text 244"/>
          <p:cNvSpPr txBox="1"/>
          <p:nvPr/>
        </p:nvSpPr>
        <p:spPr>
          <a:xfrm>
            <a:off x="876300" y="5334000"/>
            <a:ext cx="331470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RBF 는 옆 온도와 비슷하게 이어 줍니다. 그래서 곡선이 가장 부드럽습니다.</a:t>
            </a:r>
            <a:endParaRPr lang="en-US" sz="788" dirty="0"/>
          </a:p>
        </p:txBody>
      </p:sp>
      <p:sp>
        <p:nvSpPr>
          <p:cNvPr id="247" name="Text 245"/>
          <p:cNvSpPr txBox="1"/>
          <p:nvPr/>
        </p:nvSpPr>
        <p:spPr>
          <a:xfrm>
            <a:off x="876300" y="56578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248" name="Text 246"/>
          <p:cNvSpPr txBox="1"/>
          <p:nvPr/>
        </p:nvSpPr>
        <p:spPr>
          <a:xfrm>
            <a:off x="1409700" y="5657850"/>
            <a:ext cx="27813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시험이 없는 온도도 채워 줍니다</a:t>
            </a:r>
            <a:endParaRPr lang="en-US" sz="788" dirty="0"/>
          </a:p>
        </p:txBody>
      </p:sp>
      <p:sp>
        <p:nvSpPr>
          <p:cNvPr id="249" name="Text 247"/>
          <p:cNvSpPr txBox="1"/>
          <p:nvPr/>
        </p:nvSpPr>
        <p:spPr>
          <a:xfrm>
            <a:off x="876300" y="58483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250" name="Text 248"/>
          <p:cNvSpPr txBox="1"/>
          <p:nvPr/>
        </p:nvSpPr>
        <p:spPr>
          <a:xfrm>
            <a:off x="1409700" y="5848350"/>
            <a:ext cx="2781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 꺾이는 곳은 놓칩니다</a:t>
            </a:r>
            <a:endParaRPr lang="en-US" sz="788" dirty="0"/>
          </a:p>
        </p:txBody>
      </p:sp>
      <p:sp>
        <p:nvSpPr>
          <p:cNvPr id="251" name="Shape 249"/>
          <p:cNvSpPr/>
          <p:nvPr/>
        </p:nvSpPr>
        <p:spPr>
          <a:xfrm>
            <a:off x="4267200" y="4133850"/>
            <a:ext cx="0" cy="194310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252" name="Text 250"/>
          <p:cNvSpPr txBox="1"/>
          <p:nvPr/>
        </p:nvSpPr>
        <p:spPr>
          <a:xfrm>
            <a:off x="4381500" y="4152900"/>
            <a:ext cx="23812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· 지수</a:t>
            </a:r>
            <a:endParaRPr lang="en-US" sz="1050" dirty="0"/>
          </a:p>
        </p:txBody>
      </p:sp>
      <p:sp>
        <p:nvSpPr>
          <p:cNvPr id="253" name="Shape 251"/>
          <p:cNvSpPr/>
          <p:nvPr/>
        </p:nvSpPr>
        <p:spPr>
          <a:xfrm>
            <a:off x="4381500" y="4362450"/>
            <a:ext cx="3314700" cy="914400"/>
          </a:xfrm>
          <a:prstGeom prst="rect">
            <a:avLst/>
          </a:prstGeom>
          <a:ln w="12700">
            <a:solidFill>
              <a:srgbClr val="DEE3E9"/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>
            <a:off x="4476750" y="4772633"/>
            <a:ext cx="31242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>
            <a:off x="6974586" y="459802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6" name="Shape 254"/>
          <p:cNvSpPr/>
          <p:nvPr/>
        </p:nvSpPr>
        <p:spPr>
          <a:xfrm>
            <a:off x="6459093" y="459719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7" name="Shape 255"/>
          <p:cNvSpPr/>
          <p:nvPr/>
        </p:nvSpPr>
        <p:spPr>
          <a:xfrm>
            <a:off x="6740271" y="470007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8" name="Shape 256"/>
          <p:cNvSpPr/>
          <p:nvPr/>
        </p:nvSpPr>
        <p:spPr>
          <a:xfrm>
            <a:off x="6459093" y="465118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59" name="Shape 257"/>
          <p:cNvSpPr/>
          <p:nvPr/>
        </p:nvSpPr>
        <p:spPr>
          <a:xfrm>
            <a:off x="6584061" y="47046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0" name="Shape 258"/>
          <p:cNvSpPr/>
          <p:nvPr/>
        </p:nvSpPr>
        <p:spPr>
          <a:xfrm>
            <a:off x="6443472" y="4946022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1" name="Shape 259"/>
          <p:cNvSpPr/>
          <p:nvPr/>
        </p:nvSpPr>
        <p:spPr>
          <a:xfrm>
            <a:off x="6615303" y="492997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2" name="Shape 260"/>
          <p:cNvSpPr/>
          <p:nvPr/>
        </p:nvSpPr>
        <p:spPr>
          <a:xfrm>
            <a:off x="6052947" y="487583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3" name="Shape 261"/>
          <p:cNvSpPr/>
          <p:nvPr/>
        </p:nvSpPr>
        <p:spPr>
          <a:xfrm>
            <a:off x="6131052" y="501410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4" name="Shape 262"/>
          <p:cNvSpPr/>
          <p:nvPr/>
        </p:nvSpPr>
        <p:spPr>
          <a:xfrm>
            <a:off x="5615559" y="495584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5" name="Shape 263"/>
          <p:cNvSpPr/>
          <p:nvPr/>
        </p:nvSpPr>
        <p:spPr>
          <a:xfrm>
            <a:off x="5287518" y="50017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6" name="Shape 264"/>
          <p:cNvSpPr/>
          <p:nvPr/>
        </p:nvSpPr>
        <p:spPr>
          <a:xfrm>
            <a:off x="5256276" y="491362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7" name="Shape 265"/>
          <p:cNvSpPr/>
          <p:nvPr/>
        </p:nvSpPr>
        <p:spPr>
          <a:xfrm>
            <a:off x="4662678" y="45591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8" name="Shape 266"/>
          <p:cNvSpPr/>
          <p:nvPr/>
        </p:nvSpPr>
        <p:spPr>
          <a:xfrm>
            <a:off x="5350002" y="480797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69" name="Shape 267"/>
          <p:cNvSpPr/>
          <p:nvPr/>
        </p:nvSpPr>
        <p:spPr>
          <a:xfrm>
            <a:off x="5303139" y="479890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0" name="Shape 268"/>
          <p:cNvSpPr/>
          <p:nvPr/>
        </p:nvSpPr>
        <p:spPr>
          <a:xfrm>
            <a:off x="6396609" y="480197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1" name="Shape 269"/>
          <p:cNvSpPr/>
          <p:nvPr/>
        </p:nvSpPr>
        <p:spPr>
          <a:xfrm>
            <a:off x="5818632" y="51195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2" name="Shape 270"/>
          <p:cNvSpPr/>
          <p:nvPr/>
        </p:nvSpPr>
        <p:spPr>
          <a:xfrm>
            <a:off x="6287262" y="48209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3" name="Shape 271"/>
          <p:cNvSpPr/>
          <p:nvPr/>
        </p:nvSpPr>
        <p:spPr>
          <a:xfrm>
            <a:off x="7255764" y="464871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4" name="Shape 272"/>
          <p:cNvSpPr/>
          <p:nvPr/>
        </p:nvSpPr>
        <p:spPr>
          <a:xfrm>
            <a:off x="6052947" y="47914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5" name="Shape 273"/>
          <p:cNvSpPr/>
          <p:nvPr/>
        </p:nvSpPr>
        <p:spPr>
          <a:xfrm>
            <a:off x="6459093" y="487043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6" name="Shape 274"/>
          <p:cNvSpPr/>
          <p:nvPr/>
        </p:nvSpPr>
        <p:spPr>
          <a:xfrm>
            <a:off x="6162294" y="501013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277" name="Shape 275"/>
          <p:cNvSpPr/>
          <p:nvPr/>
        </p:nvSpPr>
        <p:spPr>
          <a:xfrm>
            <a:off x="4476750" y="4540632"/>
            <a:ext cx="156210" cy="490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4632960" y="4589672"/>
            <a:ext cx="156210" cy="6628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>
            <a:off x="4789170" y="4655958"/>
            <a:ext cx="156210" cy="7400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>
            <a:off x="4945380" y="4729967"/>
            <a:ext cx="156210" cy="7445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>
            <a:off x="5101590" y="4804426"/>
            <a:ext cx="156210" cy="7543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>
            <a:off x="5257800" y="4879860"/>
            <a:ext cx="156210" cy="1874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>
            <a:off x="5414010" y="4898606"/>
            <a:ext cx="156210" cy="4604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>
            <a:off x="5570220" y="4944646"/>
            <a:ext cx="156210" cy="4266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>
            <a:off x="5726430" y="4987312"/>
            <a:ext cx="156210" cy="87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 flipV="1">
            <a:off x="5882640" y="4931149"/>
            <a:ext cx="156210" cy="64936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>
            <a:off x="6038850" y="4931149"/>
            <a:ext cx="156210" cy="322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flipV="1">
            <a:off x="6195060" y="4851966"/>
            <a:ext cx="156210" cy="8240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flipV="1">
            <a:off x="6351270" y="4791679"/>
            <a:ext cx="156210" cy="6028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flipV="1">
            <a:off x="6507480" y="4786355"/>
            <a:ext cx="156210" cy="532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flipV="1">
            <a:off x="6663690" y="4722694"/>
            <a:ext cx="156210" cy="63661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flipV="1">
            <a:off x="6819900" y="4673129"/>
            <a:ext cx="156210" cy="4956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 flipV="1">
            <a:off x="6976110" y="4666456"/>
            <a:ext cx="156210" cy="66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4" name="Shape 292"/>
          <p:cNvSpPr/>
          <p:nvPr/>
        </p:nvSpPr>
        <p:spPr>
          <a:xfrm flipV="1">
            <a:off x="7132320" y="4664881"/>
            <a:ext cx="156210" cy="157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5" name="Shape 293"/>
          <p:cNvSpPr/>
          <p:nvPr/>
        </p:nvSpPr>
        <p:spPr>
          <a:xfrm>
            <a:off x="7288530" y="4664881"/>
            <a:ext cx="156210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6" name="Shape 294"/>
          <p:cNvSpPr/>
          <p:nvPr/>
        </p:nvSpPr>
        <p:spPr>
          <a:xfrm>
            <a:off x="7444740" y="4664881"/>
            <a:ext cx="156210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297" name="Text 295"/>
          <p:cNvSpPr txBox="1"/>
          <p:nvPr/>
        </p:nvSpPr>
        <p:spPr>
          <a:xfrm>
            <a:off x="42862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20℃</a:t>
            </a:r>
            <a:endParaRPr lang="en-US" sz="713" dirty="0"/>
          </a:p>
        </p:txBody>
      </p:sp>
      <p:sp>
        <p:nvSpPr>
          <p:cNvPr id="298" name="Text 296"/>
          <p:cNvSpPr txBox="1"/>
          <p:nvPr/>
        </p:nvSpPr>
        <p:spPr>
          <a:xfrm>
            <a:off x="74104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40℃</a:t>
            </a:r>
            <a:endParaRPr lang="en-US" sz="713" dirty="0"/>
          </a:p>
        </p:txBody>
      </p:sp>
      <p:sp>
        <p:nvSpPr>
          <p:cNvPr id="299" name="Text 297"/>
          <p:cNvSpPr txBox="1"/>
          <p:nvPr/>
        </p:nvSpPr>
        <p:spPr>
          <a:xfrm>
            <a:off x="4381500" y="5334000"/>
            <a:ext cx="331470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지수는 바로 옆 점만 보고 따라갑니다. 그래서 곡선이 구불거립니다.</a:t>
            </a:r>
            <a:endParaRPr lang="en-US" sz="788" dirty="0"/>
          </a:p>
        </p:txBody>
      </p:sp>
      <p:sp>
        <p:nvSpPr>
          <p:cNvPr id="300" name="Text 298"/>
          <p:cNvSpPr txBox="1"/>
          <p:nvPr/>
        </p:nvSpPr>
        <p:spPr>
          <a:xfrm>
            <a:off x="4381500" y="56578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301" name="Text 299"/>
          <p:cNvSpPr txBox="1"/>
          <p:nvPr/>
        </p:nvSpPr>
        <p:spPr>
          <a:xfrm>
            <a:off x="4914900" y="5657850"/>
            <a:ext cx="27813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갑자기 꺾이는 곳도 잡습니다</a:t>
            </a:r>
            <a:endParaRPr lang="en-US" sz="788" dirty="0"/>
          </a:p>
        </p:txBody>
      </p:sp>
      <p:sp>
        <p:nvSpPr>
          <p:cNvPr id="302" name="Text 300"/>
          <p:cNvSpPr txBox="1"/>
          <p:nvPr/>
        </p:nvSpPr>
        <p:spPr>
          <a:xfrm>
            <a:off x="4381500" y="58483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303" name="Text 301"/>
          <p:cNvSpPr txBox="1"/>
          <p:nvPr/>
        </p:nvSpPr>
        <p:spPr>
          <a:xfrm>
            <a:off x="4914900" y="5848350"/>
            <a:ext cx="2781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흔들림까지 따라가 RBF 보다 1.8배 구불거립니다</a:t>
            </a:r>
            <a:endParaRPr lang="en-US" sz="788" dirty="0"/>
          </a:p>
        </p:txBody>
      </p:sp>
      <p:sp>
        <p:nvSpPr>
          <p:cNvPr id="304" name="Shape 302"/>
          <p:cNvSpPr/>
          <p:nvPr/>
        </p:nvSpPr>
        <p:spPr>
          <a:xfrm>
            <a:off x="7772400" y="4133850"/>
            <a:ext cx="0" cy="1943100"/>
          </a:xfrm>
          <a:prstGeom prst="line">
            <a:avLst/>
          </a:prstGeom>
          <a:noFill/>
          <a:ln w="12700">
            <a:solidFill>
              <a:srgbClr val="DEE3E9"/>
            </a:solidFill>
            <a:prstDash val="solid"/>
          </a:ln>
        </p:spPr>
      </p:sp>
      <p:sp>
        <p:nvSpPr>
          <p:cNvPr id="305" name="Text 303"/>
          <p:cNvSpPr txBox="1"/>
          <p:nvPr/>
        </p:nvSpPr>
        <p:spPr>
          <a:xfrm>
            <a:off x="7886700" y="4152900"/>
            <a:ext cx="238125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커널회귀</a:t>
            </a:r>
            <a:endParaRPr lang="en-US" sz="1050" dirty="0"/>
          </a:p>
        </p:txBody>
      </p:sp>
      <p:sp>
        <p:nvSpPr>
          <p:cNvPr id="306" name="Text 304"/>
          <p:cNvSpPr txBox="1"/>
          <p:nvPr/>
        </p:nvSpPr>
        <p:spPr>
          <a:xfrm>
            <a:off x="10306050" y="4181475"/>
            <a:ext cx="89535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50" dirty="0">
                <a:solidFill>
                  <a:srgbClr val="8C8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 가 아닌 방법</a:t>
            </a:r>
            <a:endParaRPr lang="en-US" sz="750" dirty="0"/>
          </a:p>
        </p:txBody>
      </p:sp>
      <p:sp>
        <p:nvSpPr>
          <p:cNvPr id="307" name="Shape 305"/>
          <p:cNvSpPr/>
          <p:nvPr/>
        </p:nvSpPr>
        <p:spPr>
          <a:xfrm>
            <a:off x="7886700" y="4362450"/>
            <a:ext cx="3314700" cy="914400"/>
          </a:xfrm>
          <a:prstGeom prst="rect">
            <a:avLst/>
          </a:prstGeom>
          <a:ln w="12700">
            <a:solidFill>
              <a:srgbClr val="DEE3E9"/>
            </a:solidFill>
            <a:prstDash val="solid"/>
          </a:ln>
        </p:spPr>
      </p:sp>
      <p:sp>
        <p:nvSpPr>
          <p:cNvPr id="308" name="Shape 306"/>
          <p:cNvSpPr/>
          <p:nvPr/>
        </p:nvSpPr>
        <p:spPr>
          <a:xfrm>
            <a:off x="7981950" y="4772633"/>
            <a:ext cx="31242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309" name="Shape 307"/>
          <p:cNvSpPr/>
          <p:nvPr/>
        </p:nvSpPr>
        <p:spPr>
          <a:xfrm>
            <a:off x="10479786" y="459802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0" name="Shape 308"/>
          <p:cNvSpPr/>
          <p:nvPr/>
        </p:nvSpPr>
        <p:spPr>
          <a:xfrm>
            <a:off x="9964293" y="459719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1" name="Shape 309"/>
          <p:cNvSpPr/>
          <p:nvPr/>
        </p:nvSpPr>
        <p:spPr>
          <a:xfrm>
            <a:off x="10245471" y="470007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2" name="Shape 310"/>
          <p:cNvSpPr/>
          <p:nvPr/>
        </p:nvSpPr>
        <p:spPr>
          <a:xfrm>
            <a:off x="9964293" y="465118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3" name="Shape 311"/>
          <p:cNvSpPr/>
          <p:nvPr/>
        </p:nvSpPr>
        <p:spPr>
          <a:xfrm>
            <a:off x="10089261" y="47046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4" name="Shape 312"/>
          <p:cNvSpPr/>
          <p:nvPr/>
        </p:nvSpPr>
        <p:spPr>
          <a:xfrm>
            <a:off x="9948672" y="4946022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5" name="Shape 313"/>
          <p:cNvSpPr/>
          <p:nvPr/>
        </p:nvSpPr>
        <p:spPr>
          <a:xfrm>
            <a:off x="10120503" y="492997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6" name="Shape 314"/>
          <p:cNvSpPr/>
          <p:nvPr/>
        </p:nvSpPr>
        <p:spPr>
          <a:xfrm>
            <a:off x="9558147" y="487583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7" name="Shape 315"/>
          <p:cNvSpPr/>
          <p:nvPr/>
        </p:nvSpPr>
        <p:spPr>
          <a:xfrm>
            <a:off x="9636252" y="501410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8" name="Shape 316"/>
          <p:cNvSpPr/>
          <p:nvPr/>
        </p:nvSpPr>
        <p:spPr>
          <a:xfrm>
            <a:off x="9120759" y="495584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19" name="Shape 317"/>
          <p:cNvSpPr/>
          <p:nvPr/>
        </p:nvSpPr>
        <p:spPr>
          <a:xfrm>
            <a:off x="8792718" y="50017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0" name="Shape 318"/>
          <p:cNvSpPr/>
          <p:nvPr/>
        </p:nvSpPr>
        <p:spPr>
          <a:xfrm>
            <a:off x="8761476" y="491362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1" name="Shape 319"/>
          <p:cNvSpPr/>
          <p:nvPr/>
        </p:nvSpPr>
        <p:spPr>
          <a:xfrm>
            <a:off x="8167878" y="45591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2" name="Shape 320"/>
          <p:cNvSpPr/>
          <p:nvPr/>
        </p:nvSpPr>
        <p:spPr>
          <a:xfrm>
            <a:off x="8855202" y="4807977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3" name="Shape 321"/>
          <p:cNvSpPr/>
          <p:nvPr/>
        </p:nvSpPr>
        <p:spPr>
          <a:xfrm>
            <a:off x="8808339" y="479890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4" name="Shape 322"/>
          <p:cNvSpPr/>
          <p:nvPr/>
        </p:nvSpPr>
        <p:spPr>
          <a:xfrm>
            <a:off x="9901809" y="4801978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5" name="Shape 323"/>
          <p:cNvSpPr/>
          <p:nvPr/>
        </p:nvSpPr>
        <p:spPr>
          <a:xfrm>
            <a:off x="9323832" y="5119536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6" name="Shape 324"/>
          <p:cNvSpPr/>
          <p:nvPr/>
        </p:nvSpPr>
        <p:spPr>
          <a:xfrm>
            <a:off x="9792462" y="482094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7" name="Shape 325"/>
          <p:cNvSpPr/>
          <p:nvPr/>
        </p:nvSpPr>
        <p:spPr>
          <a:xfrm>
            <a:off x="10760964" y="4648711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8" name="Shape 326"/>
          <p:cNvSpPr/>
          <p:nvPr/>
        </p:nvSpPr>
        <p:spPr>
          <a:xfrm>
            <a:off x="9558147" y="4791405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29" name="Shape 327"/>
          <p:cNvSpPr/>
          <p:nvPr/>
        </p:nvSpPr>
        <p:spPr>
          <a:xfrm>
            <a:off x="9964293" y="4870439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0" name="Shape 328"/>
          <p:cNvSpPr/>
          <p:nvPr/>
        </p:nvSpPr>
        <p:spPr>
          <a:xfrm>
            <a:off x="9667494" y="5010134"/>
            <a:ext cx="34290" cy="34290"/>
          </a:xfrm>
          <a:prstGeom prst="ellipse">
            <a:avLst/>
          </a:prstGeom>
          <a:solidFill>
            <a:srgbClr val="333333"/>
          </a:solidFill>
          <a:ln/>
        </p:spPr>
      </p:sp>
      <p:sp>
        <p:nvSpPr>
          <p:cNvPr id="331" name="Shape 329"/>
          <p:cNvSpPr/>
          <p:nvPr/>
        </p:nvSpPr>
        <p:spPr>
          <a:xfrm>
            <a:off x="7981950" y="4543707"/>
            <a:ext cx="156210" cy="10002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2" name="Shape 330"/>
          <p:cNvSpPr/>
          <p:nvPr/>
        </p:nvSpPr>
        <p:spPr>
          <a:xfrm>
            <a:off x="8138160" y="4643735"/>
            <a:ext cx="156210" cy="9350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3" name="Shape 331"/>
          <p:cNvSpPr/>
          <p:nvPr/>
        </p:nvSpPr>
        <p:spPr>
          <a:xfrm>
            <a:off x="8294370" y="4737241"/>
            <a:ext cx="156210" cy="7138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4" name="Shape 332"/>
          <p:cNvSpPr/>
          <p:nvPr/>
        </p:nvSpPr>
        <p:spPr>
          <a:xfrm>
            <a:off x="8450580" y="4808625"/>
            <a:ext cx="156210" cy="47165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5" name="Shape 333"/>
          <p:cNvSpPr/>
          <p:nvPr/>
        </p:nvSpPr>
        <p:spPr>
          <a:xfrm>
            <a:off x="8606790" y="4855790"/>
            <a:ext cx="156210" cy="2804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6" name="Shape 334"/>
          <p:cNvSpPr/>
          <p:nvPr/>
        </p:nvSpPr>
        <p:spPr>
          <a:xfrm>
            <a:off x="8763000" y="4883834"/>
            <a:ext cx="156210" cy="142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7" name="Shape 335"/>
          <p:cNvSpPr/>
          <p:nvPr/>
        </p:nvSpPr>
        <p:spPr>
          <a:xfrm>
            <a:off x="8919210" y="4898081"/>
            <a:ext cx="156210" cy="4349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8" name="Shape 336"/>
          <p:cNvSpPr/>
          <p:nvPr/>
        </p:nvSpPr>
        <p:spPr>
          <a:xfrm flipV="1">
            <a:off x="9075420" y="4899356"/>
            <a:ext cx="156210" cy="3074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39" name="Shape 337"/>
          <p:cNvSpPr/>
          <p:nvPr/>
        </p:nvSpPr>
        <p:spPr>
          <a:xfrm flipV="1">
            <a:off x="9231630" y="4890883"/>
            <a:ext cx="156210" cy="8473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0" name="Shape 338"/>
          <p:cNvSpPr/>
          <p:nvPr/>
        </p:nvSpPr>
        <p:spPr>
          <a:xfrm flipV="1">
            <a:off x="9387840" y="4879035"/>
            <a:ext cx="156210" cy="118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1" name="Shape 339"/>
          <p:cNvSpPr/>
          <p:nvPr/>
        </p:nvSpPr>
        <p:spPr>
          <a:xfrm flipV="1">
            <a:off x="9544050" y="4865163"/>
            <a:ext cx="156210" cy="138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2" name="Shape 340"/>
          <p:cNvSpPr/>
          <p:nvPr/>
        </p:nvSpPr>
        <p:spPr>
          <a:xfrm flipV="1">
            <a:off x="9700260" y="4850316"/>
            <a:ext cx="156210" cy="148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3" name="Shape 341"/>
          <p:cNvSpPr/>
          <p:nvPr/>
        </p:nvSpPr>
        <p:spPr>
          <a:xfrm flipV="1">
            <a:off x="9856470" y="4835170"/>
            <a:ext cx="156210" cy="151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4" name="Shape 342"/>
          <p:cNvSpPr/>
          <p:nvPr/>
        </p:nvSpPr>
        <p:spPr>
          <a:xfrm flipV="1">
            <a:off x="10012680" y="4819798"/>
            <a:ext cx="156210" cy="15372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5" name="Shape 343"/>
          <p:cNvSpPr/>
          <p:nvPr/>
        </p:nvSpPr>
        <p:spPr>
          <a:xfrm flipV="1">
            <a:off x="10168890" y="4804351"/>
            <a:ext cx="156210" cy="154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6" name="Shape 344"/>
          <p:cNvSpPr/>
          <p:nvPr/>
        </p:nvSpPr>
        <p:spPr>
          <a:xfrm flipV="1">
            <a:off x="10325100" y="4788605"/>
            <a:ext cx="156210" cy="157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7" name="Shape 345"/>
          <p:cNvSpPr/>
          <p:nvPr/>
        </p:nvSpPr>
        <p:spPr>
          <a:xfrm flipV="1">
            <a:off x="10481310" y="4772708"/>
            <a:ext cx="156210" cy="1589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8" name="Shape 346"/>
          <p:cNvSpPr/>
          <p:nvPr/>
        </p:nvSpPr>
        <p:spPr>
          <a:xfrm flipV="1">
            <a:off x="10637520" y="4758461"/>
            <a:ext cx="156210" cy="14247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49" name="Shape 347"/>
          <p:cNvSpPr/>
          <p:nvPr/>
        </p:nvSpPr>
        <p:spPr>
          <a:xfrm>
            <a:off x="10793730" y="4758461"/>
            <a:ext cx="156210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0" name="Shape 348"/>
          <p:cNvSpPr/>
          <p:nvPr/>
        </p:nvSpPr>
        <p:spPr>
          <a:xfrm>
            <a:off x="10949940" y="4758461"/>
            <a:ext cx="156210" cy="0"/>
          </a:xfrm>
          <a:prstGeom prst="line">
            <a:avLst/>
          </a:prstGeom>
          <a:noFill/>
          <a:ln w="22860">
            <a:solidFill>
              <a:srgbClr val="6E7780"/>
            </a:solidFill>
            <a:prstDash val="solid"/>
          </a:ln>
        </p:spPr>
      </p:sp>
      <p:sp>
        <p:nvSpPr>
          <p:cNvPr id="351" name="Text 349"/>
          <p:cNvSpPr txBox="1"/>
          <p:nvPr/>
        </p:nvSpPr>
        <p:spPr>
          <a:xfrm>
            <a:off x="77914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20℃</a:t>
            </a:r>
            <a:endParaRPr lang="en-US" sz="713" dirty="0"/>
          </a:p>
        </p:txBody>
      </p:sp>
      <p:sp>
        <p:nvSpPr>
          <p:cNvPr id="352" name="Text 350"/>
          <p:cNvSpPr txBox="1"/>
          <p:nvPr/>
        </p:nvSpPr>
        <p:spPr>
          <a:xfrm>
            <a:off x="10915650" y="5162550"/>
            <a:ext cx="381000" cy="108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55"/>
              </a:lnSpc>
              <a:buNone/>
            </a:pPr>
            <a:r>
              <a:rPr lang="en-US" sz="713" dirty="0">
                <a:solidFill>
                  <a:srgbClr val="8C8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40℃</a:t>
            </a:r>
            <a:endParaRPr lang="en-US" sz="713" dirty="0"/>
          </a:p>
        </p:txBody>
      </p:sp>
      <p:sp>
        <p:nvSpPr>
          <p:cNvPr id="353" name="Text 351"/>
          <p:cNvSpPr txBox="1"/>
          <p:nvPr/>
        </p:nvSpPr>
        <p:spPr>
          <a:xfrm>
            <a:off x="7886700" y="5334000"/>
            <a:ext cx="3314700" cy="270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3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커널회귀는 가까운 온도의 시험값을 평균 냅니다. 가까운 값을 더 크게 봅니다.</a:t>
            </a:r>
            <a:endParaRPr lang="en-US" sz="788" dirty="0"/>
          </a:p>
        </p:txBody>
      </p:sp>
      <p:sp>
        <p:nvSpPr>
          <p:cNvPr id="354" name="Text 352"/>
          <p:cNvSpPr txBox="1"/>
          <p:nvPr/>
        </p:nvSpPr>
        <p:spPr>
          <a:xfrm>
            <a:off x="7886700" y="56578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EA00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좋은 점</a:t>
            </a:r>
            <a:endParaRPr lang="en-US" sz="750" dirty="0"/>
          </a:p>
        </p:txBody>
      </p:sp>
      <p:sp>
        <p:nvSpPr>
          <p:cNvPr id="355" name="Text 353"/>
          <p:cNvSpPr txBox="1"/>
          <p:nvPr/>
        </p:nvSpPr>
        <p:spPr>
          <a:xfrm>
            <a:off x="8420100" y="5657850"/>
            <a:ext cx="27813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계산이 단순해서 이해하기 쉽습니다</a:t>
            </a:r>
            <a:endParaRPr lang="en-US" sz="788" dirty="0"/>
          </a:p>
        </p:txBody>
      </p:sp>
      <p:sp>
        <p:nvSpPr>
          <p:cNvPr id="356" name="Text 354"/>
          <p:cNvSpPr txBox="1"/>
          <p:nvPr/>
        </p:nvSpPr>
        <p:spPr>
          <a:xfrm>
            <a:off x="7886700" y="5848350"/>
            <a:ext cx="4953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50" b="1" dirty="0">
                <a:solidFill>
                  <a:srgbClr val="FF6F0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아쉬운 점</a:t>
            </a:r>
            <a:endParaRPr lang="en-US" sz="750" dirty="0"/>
          </a:p>
        </p:txBody>
      </p:sp>
      <p:sp>
        <p:nvSpPr>
          <p:cNvPr id="357" name="Text 355"/>
          <p:cNvSpPr txBox="1"/>
          <p:nvPr/>
        </p:nvSpPr>
        <p:spPr>
          <a:xfrm>
            <a:off x="8420100" y="5848350"/>
            <a:ext cx="2781300" cy="260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88" dirty="0">
                <a:solidFill>
                  <a:srgbClr val="5A5A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범위가 나오지 않습니다 · RBF 와 최대 1.9 MW 차이</a:t>
            </a:r>
            <a:endParaRPr lang="en-US" sz="788" dirty="0"/>
          </a:p>
        </p:txBody>
      </p:sp>
      <p:sp>
        <p:nvSpPr>
          <p:cNvPr id="358" name="Shape 356"/>
          <p:cNvSpPr/>
          <p:nvPr/>
        </p:nvSpPr>
        <p:spPr>
          <a:xfrm>
            <a:off x="685800" y="6153150"/>
            <a:ext cx="10820400" cy="0"/>
          </a:xfrm>
          <a:prstGeom prst="line">
            <a:avLst/>
          </a:prstGeom>
          <a:noFill/>
          <a:ln w="12700">
            <a:solidFill>
              <a:srgbClr val="C9D0D8"/>
            </a:solidFill>
            <a:prstDash val="solid"/>
          </a:ln>
        </p:spPr>
      </p:sp>
      <p:sp>
        <p:nvSpPr>
          <p:cNvPr id="359" name="Shape 357"/>
          <p:cNvSpPr/>
          <p:nvPr/>
        </p:nvSpPr>
        <p:spPr>
          <a:xfrm>
            <a:off x="685800" y="6296025"/>
            <a:ext cx="438150" cy="190500"/>
          </a:xfrm>
          <a:prstGeom prst="rect">
            <a:avLst>
              <a:gd name="adj" fmla="val 96000"/>
            </a:avLst>
          </a:prstGeom>
          <a:solidFill>
            <a:srgbClr val="EA002C"/>
          </a:solidFill>
          <a:ln/>
        </p:spPr>
      </p:sp>
      <p:sp>
        <p:nvSpPr>
          <p:cNvPr id="360" name="Text 358"/>
          <p:cNvSpPr txBox="1"/>
          <p:nvPr/>
        </p:nvSpPr>
        <p:spPr>
          <a:xfrm>
            <a:off x="685800" y="6324600"/>
            <a:ext cx="438150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90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825" dirty="0"/>
          </a:p>
        </p:txBody>
      </p:sp>
      <p:sp>
        <p:nvSpPr>
          <p:cNvPr id="361" name="Text 359"/>
          <p:cNvSpPr txBox="1"/>
          <p:nvPr/>
        </p:nvSpPr>
        <p:spPr>
          <a:xfrm>
            <a:off x="1238250" y="6305550"/>
            <a:ext cx="9601200" cy="206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3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곡선은 눈으로 봐서 고를 만큼 다르지 않았습니다. 그래서 성적으로 골랐습니다.</a:t>
            </a:r>
            <a:endParaRPr lang="en-US" sz="116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나래에너지서비스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x01_model</dc:title>
  <dc:subject>PptxGenJS Presentation</dc:subject>
  <dc:creator>주현M, 정상우M</dc:creator>
  <cp:lastModifiedBy>주현M, 정상우M</cp:lastModifiedBy>
  <cp:revision>1</cp:revision>
  <dcterms:created xsi:type="dcterms:W3CDTF">2026-09-21T13:15:13Z</dcterms:created>
  <dcterms:modified xsi:type="dcterms:W3CDTF">2026-09-21T13:15:13Z</dcterms:modified>
</cp:coreProperties>
</file>